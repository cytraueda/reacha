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033418" y="171907"/>
            <a:ext cx="4391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P2 アイリスにおけるAI戦略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0102" y="724205"/>
            <a:ext cx="9658807" cy="875995"/>
          </a:xfrm>
          <a:prstGeom prst="roundRect">
            <a:avLst>
              <a:gd name="adj" fmla="val 9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85239" y="838505"/>
            <a:ext cx="9001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AIを戦略的に活用することで、「圧倒的なスピード」と「完璧な品質」を両立し、 従来のトレードオフを超えた競争優位を実現する。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495" y="1790395"/>
            <a:ext cx="11582705" cy="1047902"/>
          </a:xfrm>
          <a:prstGeom prst="roundRect">
            <a:avLst>
              <a:gd name="adj" fmla="val 9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54" y="1800454"/>
            <a:ext cx="462960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35017" y="1800454"/>
            <a:ext cx="9144" cy="1028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4554" y="1800454"/>
            <a:ext cx="57607" cy="10287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9" y="167426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9" y="1845259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世界最速の課題解決企業へ。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4749" y="2217420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〜 Global Local Problem Solver 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9" y="2512771"/>
            <a:ext cx="42437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世界中の「生活の不満」をAIで誰よりも早く見つけ、 日本の品質を世界最速でカタチにして届ける。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9589" y="1800454"/>
            <a:ext cx="6943954" cy="10287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129784" y="1659636"/>
            <a:ext cx="247802" cy="2862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91886" y="1602943"/>
            <a:ext cx="4048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「速いだけではない。AIが品質を保証する。」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91886" y="1945843"/>
            <a:ext cx="62627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世界には「速いが品質が低い」企業と、「品質は良いが遅い」企業しかいません。 我々は、「圧倒的なスピード」と「完璧な品質」を両立させます。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82489" y="2560320"/>
            <a:ext cx="6258154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640934" y="2655418"/>
            <a:ext cx="5672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それを実現するのが、「AIによる業務の自動化と、自律的な改善」です。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449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455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31455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3228746"/>
            <a:ext cx="133502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35024" y="3161995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 toC（生活者）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02359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潜在不満の"超"速解決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455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7375" y="3853282"/>
            <a:ext cx="35012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「POSに出る前の声を拾い、3ヶ月で棚を変える」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" y="4448556"/>
            <a:ext cx="3409798" cy="933602"/>
          </a:xfrm>
          <a:prstGeom prst="roundRect">
            <a:avLst>
              <a:gd name="adj" fmla="val 79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702" y="4610405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8" y="46195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0702" y="4828946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AIによるグローバル・センシング （SNS・レビュー解析）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66344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66598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90702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競合が見落とすニッチな不満を発見し、解決策を提示する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229100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23824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23824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90949" y="3228746"/>
            <a:ext cx="171907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85893" y="3161995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For toB（法人・小売）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5426964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売り場の"最適解"提案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23824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16145" y="385328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「AIの根拠で、棚ごと提案する」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4390949" y="4212641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15307" y="4374490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591202" y="4383634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4515307" y="4593946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トレンド分析×自社販売データを根拠にしたクロスマーチャンダイジング提案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390949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515307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591202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4515307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小売店に「売れる売り場」を提供し、棚の支配力を高める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15370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8162849" y="3066898"/>
            <a:ext cx="3715207" cy="3552444"/>
          </a:xfrm>
          <a:prstGeom prst="roundRect">
            <a:avLst>
              <a:gd name="adj" fmla="val 828"/>
            </a:avLst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62849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1"/>
          <p:cNvSpPr/>
          <p:nvPr/>
        </p:nvSpPr>
        <p:spPr>
          <a:xfrm>
            <a:off x="8162849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315554" y="3228746"/>
            <a:ext cx="190195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819388" y="3161995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 Internal（業務・開発）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9150401" y="339608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自動化と品質の"自律的"進化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8162849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648395" y="3853282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「テストし、改良し、業務を回す」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2522" y="4174236"/>
            <a:ext cx="1638605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26880" y="422178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935870" y="4200754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10146182" y="422178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AI品質保証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315554" y="4533595"/>
            <a:ext cx="3409798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419795" y="4677156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8496605" y="46863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572500" y="4934102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•AIによる商品検証: 設計レビュー・欠陥指摘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8572500" y="5134356"/>
            <a:ext cx="2181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•SW開発の自動化: コード生成・デバッグ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8572500" y="5333695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•業務プロセスの自動化: 定型業務代行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8315554" y="5629046"/>
            <a:ext cx="3409798" cy="838505"/>
          </a:xfrm>
          <a:prstGeom prst="roundRect">
            <a:avLst>
              <a:gd name="adj" fmla="val 99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9795" y="5772607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8496605" y="57817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8572500" y="60295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→手戻りの撲滅・工数削減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8572500" y="6210605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→日本品質の高速展開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105656" y="190195"/>
            <a:ext cx="4196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P5 効果的なAI活用ユースケース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733349"/>
          </a:xfrm>
          <a:prstGeom prst="roundRect">
            <a:avLst>
              <a:gd name="adj" fmla="val 1295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34440" y="743407"/>
            <a:ext cx="985448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アイリスで効果的にAIを活用するためには、以下のユースケースで活用していくべきです。 各ユースケースでは、AIが具体的に何をしているか、どのような効果が期待できるかを明確にしています。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4554" y="2144268"/>
            <a:ext cx="11563502" cy="30449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314554" y="2144268"/>
            <a:ext cx="972007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1" y="2206447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4732" y="2144268"/>
            <a:ext cx="3657600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4503" y="2206447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AIがしていること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41418" y="2144268"/>
            <a:ext cx="3895344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0061" y="2206447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適用業務・シーン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36762" y="2144268"/>
            <a:ext cx="2324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60306" y="220644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期待効果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151108" y="2144268"/>
            <a:ext cx="733349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1108" y="2439619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343132" y="2206447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4554" y="2449678"/>
            <a:ext cx="11563502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2449678"/>
            <a:ext cx="972007" cy="619049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1617" y="2666390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4732" y="2449678"/>
            <a:ext cx="3657600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42339" y="2468880"/>
            <a:ext cx="35149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自然言語からコード生成、バグ検出・修正提案、テストケース自動生成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342339" y="2763317"/>
            <a:ext cx="3600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例：温度センサーの値を読み取り、30度以上ならエアコンをONにする関数を作成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41418" y="2449678"/>
            <a:ext cx="3895344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98110" y="2666390"/>
            <a:ext cx="3229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家電制御PG開発、SW開発※P2戦略「SW開発の自動化」対応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36762" y="2449678"/>
            <a:ext cx="2324405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93454" y="2666390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開発時間50%削減、バグ検出率30%向上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151108" y="3059582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-1911" r="-1911" t="0" b="0"/>
          <a:stretch/>
        </p:blipFill>
        <p:spPr>
          <a:xfrm>
            <a:off x="11248034" y="2623414"/>
            <a:ext cx="133502" cy="11430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11381537" y="2623414"/>
            <a:ext cx="133502" cy="1143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11514125" y="2623414"/>
            <a:ext cx="133502" cy="11430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11647627" y="2623414"/>
            <a:ext cx="133502" cy="114300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11448288" y="2776118"/>
            <a:ext cx="133502" cy="1143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14554" y="3065069"/>
            <a:ext cx="11563502" cy="49560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Shape 29"/>
          <p:cNvSpPr/>
          <p:nvPr/>
        </p:nvSpPr>
        <p:spPr>
          <a:xfrm>
            <a:off x="314554" y="3065069"/>
            <a:ext cx="972007" cy="495605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71246" y="322051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284732" y="3065069"/>
            <a:ext cx="3657600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342339" y="3083357"/>
            <a:ext cx="3620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Excelデータ分析、トレンド抽出、グラフ自動生成、クロスMD提案根拠生成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342339" y="3378708"/>
            <a:ext cx="2658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例：このデータから売上トレンドを分析し、季節性を抽出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4941418" y="3065069"/>
            <a:ext cx="3895344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4998110" y="3144622"/>
            <a:ext cx="37911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売上・トレンド分析、クロスMD提案※P2戦略「For toB:売り場最適解」対応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836762" y="3065069"/>
            <a:ext cx="2324405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893454" y="3144622"/>
            <a:ext cx="22201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分析時間40%削減、洞察発見3倍、意思決定2倍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11151108" y="3551530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11248034" y="3177540"/>
            <a:ext cx="133502" cy="114300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-1911" r="-1911" t="0" b="0"/>
          <a:stretch/>
        </p:blipFill>
        <p:spPr>
          <a:xfrm>
            <a:off x="11381537" y="3177540"/>
            <a:ext cx="133502" cy="114300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11514125" y="3177540"/>
            <a:ext cx="133502" cy="114300"/>
          </a:xfrm>
          <a:prstGeom prst="rect">
            <a:avLst/>
          </a:prstGeom>
        </p:spPr>
      </p:pic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1647627" y="3177540"/>
            <a:ext cx="133502" cy="114300"/>
          </a:xfrm>
          <a:prstGeom prst="rect">
            <a:avLst/>
          </a:prstGeom>
        </p:spPr>
      </p:pic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11448288" y="3330245"/>
            <a:ext cx="133502" cy="114300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314554" y="3557930"/>
            <a:ext cx="11563502" cy="495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0"/>
          <p:cNvSpPr/>
          <p:nvPr/>
        </p:nvSpPr>
        <p:spPr>
          <a:xfrm>
            <a:off x="314554" y="3557930"/>
            <a:ext cx="972007" cy="495605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371246" y="3714293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1284732" y="3557930"/>
            <a:ext cx="3657600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1342339" y="3577133"/>
            <a:ext cx="35149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商品企画アイデア生成、過去事例参照、競合分析と差別化ポイント提示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1342339" y="3872484"/>
            <a:ext cx="2867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例：30代女性向けのキッチン用品の新商品アイデアを10個提案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4941418" y="3557930"/>
            <a:ext cx="3895344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4998110" y="3714293"/>
            <a:ext cx="3724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商品企画会議、マーケ戦略立案※P2戦略「For toC:潜在不満解決」対応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8836762" y="3557930"/>
            <a:ext cx="2324405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8893454" y="3638398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アイデア創出50%削減、企画書作成30%削減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11151108" y="4044391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-1911" r="-1911" t="0" b="0"/>
          <a:stretch/>
        </p:blipFill>
        <p:spPr>
          <a:xfrm>
            <a:off x="11248034" y="3671316"/>
            <a:ext cx="133502" cy="114300"/>
          </a:xfrm>
          <a:prstGeom prst="rect">
            <a:avLst/>
          </a:prstGeom>
        </p:spPr>
      </p:pic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11381537" y="3671316"/>
            <a:ext cx="133502" cy="114300"/>
          </a:xfrm>
          <a:prstGeom prst="rect">
            <a:avLst/>
          </a:prstGeom>
        </p:spPr>
      </p:pic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11514125" y="3671316"/>
            <a:ext cx="133502" cy="114300"/>
          </a:xfrm>
          <a:prstGeom prst="rect">
            <a:avLst/>
          </a:prstGeom>
        </p:spPr>
      </p:pic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11647627" y="3671316"/>
            <a:ext cx="133502" cy="114300"/>
          </a:xfrm>
          <a:prstGeom prst="rect">
            <a:avLst/>
          </a:prstGeom>
        </p:spPr>
      </p:pic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11448288" y="3824021"/>
            <a:ext cx="133502" cy="114300"/>
          </a:xfrm>
          <a:prstGeom prst="rect">
            <a:avLst/>
          </a:prstGeom>
        </p:spPr>
      </p:pic>
      <p:sp>
        <p:nvSpPr>
          <p:cNvPr id="67" name="Shape 50"/>
          <p:cNvSpPr/>
          <p:nvPr/>
        </p:nvSpPr>
        <p:spPr>
          <a:xfrm>
            <a:off x="314554" y="4051706"/>
            <a:ext cx="11563502" cy="37124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Shape 51"/>
          <p:cNvSpPr/>
          <p:nvPr/>
        </p:nvSpPr>
        <p:spPr>
          <a:xfrm>
            <a:off x="314554" y="4051706"/>
            <a:ext cx="972007" cy="371246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591617" y="4146804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70" name="Shape 53"/>
          <p:cNvSpPr/>
          <p:nvPr/>
        </p:nvSpPr>
        <p:spPr>
          <a:xfrm>
            <a:off x="1284732" y="4051706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1342339" y="4085539"/>
            <a:ext cx="2867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仕様書・設計書ドラフト生成、要約、Word→PPT変換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1342339" y="4228186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例：この機能の仕様書を作成。要件、設計、テスト項目を含める</a:t>
            </a:r>
            <a:endParaRPr lang="en-US" sz="800" dirty="0"/>
          </a:p>
        </p:txBody>
      </p:sp>
      <p:sp>
        <p:nvSpPr>
          <p:cNvPr id="73" name="Shape 56"/>
          <p:cNvSpPr/>
          <p:nvPr/>
        </p:nvSpPr>
        <p:spPr>
          <a:xfrm>
            <a:off x="4941418" y="4051706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57"/>
          <p:cNvSpPr txBox="1"/>
          <p:nvPr/>
        </p:nvSpPr>
        <p:spPr>
          <a:xfrm>
            <a:off x="4998110" y="4146804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提案書・報告書・仕様書作成※全社的な業務効率化</a:t>
            </a:r>
            <a:endParaRPr lang="en-US" sz="900" dirty="0"/>
          </a:p>
        </p:txBody>
      </p:sp>
      <p:sp>
        <p:nvSpPr>
          <p:cNvPr id="75" name="Shape 58"/>
          <p:cNvSpPr/>
          <p:nvPr/>
        </p:nvSpPr>
        <p:spPr>
          <a:xfrm>
            <a:off x="8836762" y="4051706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8893454" y="414680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作成時間40%削減、完了0.5-1日短縮</a:t>
            </a:r>
            <a:endParaRPr lang="en-US" sz="900" dirty="0"/>
          </a:p>
        </p:txBody>
      </p:sp>
      <p:sp>
        <p:nvSpPr>
          <p:cNvPr id="77" name="Shape 60"/>
          <p:cNvSpPr/>
          <p:nvPr/>
        </p:nvSpPr>
        <p:spPr>
          <a:xfrm>
            <a:off x="11151108" y="4413809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78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11248034" y="4103827"/>
            <a:ext cx="133502" cy="114300"/>
          </a:xfrm>
          <a:prstGeom prst="rect">
            <a:avLst/>
          </a:prstGeom>
        </p:spPr>
      </p:pic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rcRect l="-1911" r="-1911" t="0" b="0"/>
          <a:stretch/>
        </p:blipFill>
        <p:spPr>
          <a:xfrm>
            <a:off x="11381537" y="4103827"/>
            <a:ext cx="133502" cy="114300"/>
          </a:xfrm>
          <a:prstGeom prst="rect">
            <a:avLst/>
          </a:prstGeom>
        </p:spPr>
      </p:pic>
      <p:pic>
        <p:nvPicPr>
          <p:cNvPr id="80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11514125" y="4103827"/>
            <a:ext cx="133502" cy="114300"/>
          </a:xfrm>
          <a:prstGeom prst="rect">
            <a:avLst/>
          </a:prstGeom>
        </p:spPr>
      </p:pic>
      <p:pic>
        <p:nvPicPr>
          <p:cNvPr id="81" name="Image 18" descr="preencoded.png">    </p:cNvPr>
          <p:cNvPicPr>
            <a:picLocks noChangeAspect="1"/>
          </p:cNvPicPr>
          <p:nvPr/>
        </p:nvPicPr>
        <p:blipFill>
          <a:blip r:embed="rId19"/>
          <a:srcRect l="-1911" r="-1911" t="0" b="0"/>
          <a:stretch/>
        </p:blipFill>
        <p:spPr>
          <a:xfrm>
            <a:off x="11647627" y="4103827"/>
            <a:ext cx="133502" cy="114300"/>
          </a:xfrm>
          <a:prstGeom prst="rect">
            <a:avLst/>
          </a:prstGeom>
        </p:spPr>
      </p:pic>
      <p:pic>
        <p:nvPicPr>
          <p:cNvPr id="82" name="Image 19" descr="preencoded.png">    </p:cNvPr>
          <p:cNvPicPr>
            <a:picLocks noChangeAspect="1"/>
          </p:cNvPicPr>
          <p:nvPr/>
        </p:nvPicPr>
        <p:blipFill>
          <a:blip r:embed="rId20"/>
          <a:srcRect l="-1911" r="-1911" t="0" b="0"/>
          <a:stretch/>
        </p:blipFill>
        <p:spPr>
          <a:xfrm>
            <a:off x="11448288" y="4256532"/>
            <a:ext cx="133502" cy="114300"/>
          </a:xfrm>
          <a:prstGeom prst="rect">
            <a:avLst/>
          </a:prstGeom>
        </p:spPr>
      </p:pic>
      <p:sp>
        <p:nvSpPr>
          <p:cNvPr id="83" name="Shape 61"/>
          <p:cNvSpPr/>
          <p:nvPr/>
        </p:nvSpPr>
        <p:spPr>
          <a:xfrm>
            <a:off x="314554" y="4422953"/>
            <a:ext cx="11563502" cy="371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62"/>
          <p:cNvSpPr/>
          <p:nvPr/>
        </p:nvSpPr>
        <p:spPr>
          <a:xfrm>
            <a:off x="314554" y="4422953"/>
            <a:ext cx="972007" cy="371246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63"/>
          <p:cNvSpPr txBox="1"/>
          <p:nvPr/>
        </p:nvSpPr>
        <p:spPr>
          <a:xfrm>
            <a:off x="371246" y="4518050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86" name="Shape 64"/>
          <p:cNvSpPr/>
          <p:nvPr/>
        </p:nvSpPr>
        <p:spPr>
          <a:xfrm>
            <a:off x="1284732" y="4422953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65"/>
          <p:cNvSpPr txBox="1"/>
          <p:nvPr/>
        </p:nvSpPr>
        <p:spPr>
          <a:xfrm>
            <a:off x="1342339" y="4456786"/>
            <a:ext cx="3514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設計データ・仕様書レビュー、欠陥リスク指摘、契約書リスク抽出</a:t>
            </a:r>
            <a:endParaRPr lang="en-US" sz="900" dirty="0"/>
          </a:p>
        </p:txBody>
      </p:sp>
      <p:sp>
        <p:nvSpPr>
          <p:cNvPr id="88" name="Text 66"/>
          <p:cNvSpPr txBox="1"/>
          <p:nvPr/>
        </p:nvSpPr>
        <p:spPr>
          <a:xfrm>
            <a:off x="1342339" y="4600346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例：この設計には温度上昇のリスクがある</a:t>
            </a:r>
            <a:endParaRPr lang="en-US" sz="800" dirty="0"/>
          </a:p>
        </p:txBody>
      </p:sp>
      <p:sp>
        <p:nvSpPr>
          <p:cNvPr id="89" name="Shape 67"/>
          <p:cNvSpPr/>
          <p:nvPr/>
        </p:nvSpPr>
        <p:spPr>
          <a:xfrm>
            <a:off x="4941418" y="4422953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68"/>
          <p:cNvSpPr txBox="1"/>
          <p:nvPr/>
        </p:nvSpPr>
        <p:spPr>
          <a:xfrm>
            <a:off x="4998110" y="4442155"/>
            <a:ext cx="38011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商品検証、法務チェック、設計レビュー※P2戦略「AI商品検証」「日本品質」対応</a:t>
            </a:r>
            <a:endParaRPr lang="en-US" sz="900" dirty="0"/>
          </a:p>
        </p:txBody>
      </p:sp>
      <p:sp>
        <p:nvSpPr>
          <p:cNvPr id="91" name="Shape 69"/>
          <p:cNvSpPr/>
          <p:nvPr/>
        </p:nvSpPr>
        <p:spPr>
          <a:xfrm>
            <a:off x="8836762" y="4422953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70"/>
          <p:cNvSpPr txBox="1"/>
          <p:nvPr/>
        </p:nvSpPr>
        <p:spPr>
          <a:xfrm>
            <a:off x="8893454" y="4518050"/>
            <a:ext cx="2267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レビュー時間60%削減、見落とし50%低減</a:t>
            </a:r>
            <a:endParaRPr lang="en-US" sz="900" dirty="0"/>
          </a:p>
        </p:txBody>
      </p:sp>
      <p:sp>
        <p:nvSpPr>
          <p:cNvPr id="93" name="Shape 71"/>
          <p:cNvSpPr/>
          <p:nvPr/>
        </p:nvSpPr>
        <p:spPr>
          <a:xfrm>
            <a:off x="11151108" y="4785055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94" name="Image 20" descr="preencoded.png">    </p:cNvPr>
          <p:cNvPicPr>
            <a:picLocks noChangeAspect="1"/>
          </p:cNvPicPr>
          <p:nvPr/>
        </p:nvPicPr>
        <p:blipFill>
          <a:blip r:embed="rId21"/>
          <a:srcRect l="-1911" r="-1911" t="0" b="0"/>
          <a:stretch/>
        </p:blipFill>
        <p:spPr>
          <a:xfrm>
            <a:off x="11248034" y="4475074"/>
            <a:ext cx="133502" cy="114300"/>
          </a:xfrm>
          <a:prstGeom prst="rect">
            <a:avLst/>
          </a:prstGeom>
        </p:spPr>
      </p:pic>
      <p:pic>
        <p:nvPicPr>
          <p:cNvPr id="95" name="Image 21" descr="preencoded.png">    </p:cNvPr>
          <p:cNvPicPr>
            <a:picLocks noChangeAspect="1"/>
          </p:cNvPicPr>
          <p:nvPr/>
        </p:nvPicPr>
        <p:blipFill>
          <a:blip r:embed="rId22"/>
          <a:srcRect l="-1911" r="-1911" t="0" b="0"/>
          <a:stretch/>
        </p:blipFill>
        <p:spPr>
          <a:xfrm>
            <a:off x="11381537" y="4475074"/>
            <a:ext cx="133502" cy="114300"/>
          </a:xfrm>
          <a:prstGeom prst="rect">
            <a:avLst/>
          </a:prstGeom>
        </p:spPr>
      </p:pic>
      <p:pic>
        <p:nvPicPr>
          <p:cNvPr id="96" name="Image 22" descr="preencoded.png">    </p:cNvPr>
          <p:cNvPicPr>
            <a:picLocks noChangeAspect="1"/>
          </p:cNvPicPr>
          <p:nvPr/>
        </p:nvPicPr>
        <p:blipFill>
          <a:blip r:embed="rId23"/>
          <a:srcRect l="-1911" r="-1911" t="0" b="0"/>
          <a:stretch/>
        </p:blipFill>
        <p:spPr>
          <a:xfrm>
            <a:off x="11514125" y="4475074"/>
            <a:ext cx="133502" cy="114300"/>
          </a:xfrm>
          <a:prstGeom prst="rect">
            <a:avLst/>
          </a:prstGeom>
        </p:spPr>
      </p:pic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rcRect l="-1911" r="-1911" t="0" b="0"/>
          <a:stretch/>
        </p:blipFill>
        <p:spPr>
          <a:xfrm>
            <a:off x="11647627" y="4475074"/>
            <a:ext cx="133502" cy="114300"/>
          </a:xfrm>
          <a:prstGeom prst="rect">
            <a:avLst/>
          </a:prstGeom>
        </p:spPr>
      </p:pic>
      <p:pic>
        <p:nvPicPr>
          <p:cNvPr id="98" name="Image 24" descr="preencoded.png">    </p:cNvPr>
          <p:cNvPicPr>
            <a:picLocks noChangeAspect="1"/>
          </p:cNvPicPr>
          <p:nvPr/>
        </p:nvPicPr>
        <p:blipFill>
          <a:blip r:embed="rId25"/>
          <a:srcRect l="-1911" r="-1911" t="0" b="0"/>
          <a:stretch/>
        </p:blipFill>
        <p:spPr>
          <a:xfrm>
            <a:off x="11448288" y="4627778"/>
            <a:ext cx="133502" cy="114300"/>
          </a:xfrm>
          <a:prstGeom prst="rect">
            <a:avLst/>
          </a:prstGeom>
        </p:spPr>
      </p:pic>
      <p:sp>
        <p:nvSpPr>
          <p:cNvPr id="99" name="Shape 72"/>
          <p:cNvSpPr/>
          <p:nvPr/>
        </p:nvSpPr>
        <p:spPr>
          <a:xfrm>
            <a:off x="314554" y="4794199"/>
            <a:ext cx="11563502" cy="37124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0" name="Shape 73"/>
          <p:cNvSpPr/>
          <p:nvPr/>
        </p:nvSpPr>
        <p:spPr>
          <a:xfrm>
            <a:off x="314554" y="4794199"/>
            <a:ext cx="972007" cy="371246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74"/>
          <p:cNvSpPr txBox="1"/>
          <p:nvPr/>
        </p:nvSpPr>
        <p:spPr>
          <a:xfrm>
            <a:off x="371246" y="488929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102" name="Shape 75"/>
          <p:cNvSpPr/>
          <p:nvPr/>
        </p:nvSpPr>
        <p:spPr>
          <a:xfrm>
            <a:off x="1284732" y="4794199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76"/>
          <p:cNvSpPr txBox="1"/>
          <p:nvPr/>
        </p:nvSpPr>
        <p:spPr>
          <a:xfrm>
            <a:off x="1342339" y="4828946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多言語翻訳、社内用語考慮、技術文書専門用語対応</a:t>
            </a:r>
            <a:endParaRPr lang="en-US" sz="900" dirty="0"/>
          </a:p>
        </p:txBody>
      </p:sp>
      <p:sp>
        <p:nvSpPr>
          <p:cNvPr id="104" name="Text 77"/>
          <p:cNvSpPr txBox="1"/>
          <p:nvPr/>
        </p:nvSpPr>
        <p:spPr>
          <a:xfrm>
            <a:off x="1342339" y="4971593"/>
            <a:ext cx="2457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例：この技術文書を英語に翻訳し、専門用語は正確に</a:t>
            </a:r>
            <a:endParaRPr lang="en-US" sz="800" dirty="0"/>
          </a:p>
        </p:txBody>
      </p:sp>
      <p:sp>
        <p:nvSpPr>
          <p:cNvPr id="105" name="Shape 78"/>
          <p:cNvSpPr/>
          <p:nvPr/>
        </p:nvSpPr>
        <p:spPr>
          <a:xfrm>
            <a:off x="4941418" y="4794199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79"/>
          <p:cNvSpPr txBox="1"/>
          <p:nvPr/>
        </p:nvSpPr>
        <p:spPr>
          <a:xfrm>
            <a:off x="4998110" y="4889297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海外展開資料、技術文書翻訳※P2戦略「日本品質の高速展開」対応</a:t>
            </a:r>
            <a:endParaRPr lang="en-US" sz="900" dirty="0"/>
          </a:p>
        </p:txBody>
      </p:sp>
      <p:sp>
        <p:nvSpPr>
          <p:cNvPr id="107" name="Shape 80"/>
          <p:cNvSpPr/>
          <p:nvPr/>
        </p:nvSpPr>
        <p:spPr>
          <a:xfrm>
            <a:off x="8836762" y="4794199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8" name="Text 81"/>
          <p:cNvSpPr txBox="1"/>
          <p:nvPr/>
        </p:nvSpPr>
        <p:spPr>
          <a:xfrm>
            <a:off x="8893454" y="488929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翻訳時間70%削減、コスト80%削減</a:t>
            </a:r>
            <a:endParaRPr lang="en-US" sz="900" dirty="0"/>
          </a:p>
        </p:txBody>
      </p:sp>
      <p:sp>
        <p:nvSpPr>
          <p:cNvPr id="109" name="Shape 82"/>
          <p:cNvSpPr/>
          <p:nvPr/>
        </p:nvSpPr>
        <p:spPr>
          <a:xfrm>
            <a:off x="11151108" y="5156302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10" name="Image 25" descr="preencoded.png">    </p:cNvPr>
          <p:cNvPicPr>
            <a:picLocks noChangeAspect="1"/>
          </p:cNvPicPr>
          <p:nvPr/>
        </p:nvPicPr>
        <p:blipFill>
          <a:blip r:embed="rId26"/>
          <a:srcRect l="-1911" r="-1911" t="0" b="0"/>
          <a:stretch/>
        </p:blipFill>
        <p:spPr>
          <a:xfrm>
            <a:off x="11248034" y="4846320"/>
            <a:ext cx="133502" cy="114300"/>
          </a:xfrm>
          <a:prstGeom prst="rect">
            <a:avLst/>
          </a:prstGeom>
        </p:spPr>
      </p:pic>
      <p:pic>
        <p:nvPicPr>
          <p:cNvPr id="111" name="Image 26" descr="preencoded.png">    </p:cNvPr>
          <p:cNvPicPr>
            <a:picLocks noChangeAspect="1"/>
          </p:cNvPicPr>
          <p:nvPr/>
        </p:nvPicPr>
        <p:blipFill>
          <a:blip r:embed="rId27"/>
          <a:srcRect l="-1911" r="-1911" t="0" b="0"/>
          <a:stretch/>
        </p:blipFill>
        <p:spPr>
          <a:xfrm>
            <a:off x="11381537" y="4846320"/>
            <a:ext cx="133502" cy="114300"/>
          </a:xfrm>
          <a:prstGeom prst="rect">
            <a:avLst/>
          </a:prstGeom>
        </p:spPr>
      </p:pic>
      <p:pic>
        <p:nvPicPr>
          <p:cNvPr id="112" name="Image 27" descr="preencoded.png">    </p:cNvPr>
          <p:cNvPicPr>
            <a:picLocks noChangeAspect="1"/>
          </p:cNvPicPr>
          <p:nvPr/>
        </p:nvPicPr>
        <p:blipFill>
          <a:blip r:embed="rId28"/>
          <a:srcRect l="-1911" r="-1911" t="0" b="0"/>
          <a:stretch/>
        </p:blipFill>
        <p:spPr>
          <a:xfrm>
            <a:off x="11514125" y="4846320"/>
            <a:ext cx="133502" cy="114300"/>
          </a:xfrm>
          <a:prstGeom prst="rect">
            <a:avLst/>
          </a:prstGeom>
        </p:spPr>
      </p:pic>
      <p:pic>
        <p:nvPicPr>
          <p:cNvPr id="113" name="Image 28" descr="preencoded.png">    </p:cNvPr>
          <p:cNvPicPr>
            <a:picLocks noChangeAspect="1"/>
          </p:cNvPicPr>
          <p:nvPr/>
        </p:nvPicPr>
        <p:blipFill>
          <a:blip r:embed="rId29"/>
          <a:srcRect l="-1911" r="-1911" t="0" b="0"/>
          <a:stretch/>
        </p:blipFill>
        <p:spPr>
          <a:xfrm>
            <a:off x="11647627" y="4846320"/>
            <a:ext cx="133502" cy="114300"/>
          </a:xfrm>
          <a:prstGeom prst="rect">
            <a:avLst/>
          </a:prstGeom>
        </p:spPr>
      </p:pic>
      <p:pic>
        <p:nvPicPr>
          <p:cNvPr id="114" name="Image 29" descr="preencoded.png">    </p:cNvPr>
          <p:cNvPicPr>
            <a:picLocks noChangeAspect="1"/>
          </p:cNvPicPr>
          <p:nvPr/>
        </p:nvPicPr>
        <p:blipFill>
          <a:blip r:embed="rId30"/>
          <a:srcRect l="-1911" r="-1911" t="0" b="0"/>
          <a:stretch/>
        </p:blipFill>
        <p:spPr>
          <a:xfrm>
            <a:off x="11448288" y="4999025"/>
            <a:ext cx="133502" cy="114300"/>
          </a:xfrm>
          <a:prstGeom prst="rect">
            <a:avLst/>
          </a:prstGeom>
        </p:spPr>
      </p:pic>
      <p:sp>
        <p:nvSpPr>
          <p:cNvPr id="115" name="Shape 83"/>
          <p:cNvSpPr/>
          <p:nvPr/>
        </p:nvSpPr>
        <p:spPr>
          <a:xfrm>
            <a:off x="314554" y="5165446"/>
            <a:ext cx="11563502" cy="371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84"/>
          <p:cNvSpPr/>
          <p:nvPr/>
        </p:nvSpPr>
        <p:spPr>
          <a:xfrm>
            <a:off x="314554" y="5165446"/>
            <a:ext cx="972007" cy="371246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Text 85"/>
          <p:cNvSpPr txBox="1"/>
          <p:nvPr/>
        </p:nvSpPr>
        <p:spPr>
          <a:xfrm>
            <a:off x="575158" y="5261458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IrisChat</a:t>
            </a:r>
            <a:endParaRPr lang="en-US" sz="900" dirty="0"/>
          </a:p>
        </p:txBody>
      </p:sp>
      <p:sp>
        <p:nvSpPr>
          <p:cNvPr id="118" name="Shape 86"/>
          <p:cNvSpPr/>
          <p:nvPr/>
        </p:nvSpPr>
        <p:spPr>
          <a:xfrm>
            <a:off x="1284732" y="5165446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9" name="Text 87"/>
          <p:cNvSpPr txBox="1"/>
          <p:nvPr/>
        </p:nvSpPr>
        <p:spPr>
          <a:xfrm>
            <a:off x="1342339" y="5200193"/>
            <a:ext cx="3076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SharePoint横断検索、社内規程・手順検索、過去事例抽出</a:t>
            </a:r>
            <a:endParaRPr lang="en-US" sz="900" dirty="0"/>
          </a:p>
        </p:txBody>
      </p:sp>
      <p:sp>
        <p:nvSpPr>
          <p:cNvPr id="120" name="Text 88"/>
          <p:cNvSpPr txBox="1"/>
          <p:nvPr/>
        </p:nvSpPr>
        <p:spPr>
          <a:xfrm>
            <a:off x="1342339" y="5342839"/>
            <a:ext cx="2848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例：社内の全資料から、このキーワードに関連する情報を検索</a:t>
            </a:r>
            <a:endParaRPr lang="en-US" sz="800" dirty="0"/>
          </a:p>
        </p:txBody>
      </p:sp>
      <p:sp>
        <p:nvSpPr>
          <p:cNvPr id="121" name="Shape 89"/>
          <p:cNvSpPr/>
          <p:nvPr/>
        </p:nvSpPr>
        <p:spPr>
          <a:xfrm>
            <a:off x="4941418" y="5165446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2" name="Text 90"/>
          <p:cNvSpPr txBox="1"/>
          <p:nvPr/>
        </p:nvSpPr>
        <p:spPr>
          <a:xfrm>
            <a:off x="4998110" y="5261458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社内情報検索、ナレッジ活用※社内情報活用の基盤</a:t>
            </a:r>
            <a:endParaRPr lang="en-US" sz="900" dirty="0"/>
          </a:p>
        </p:txBody>
      </p:sp>
      <p:sp>
        <p:nvSpPr>
          <p:cNvPr id="123" name="Shape 91"/>
          <p:cNvSpPr/>
          <p:nvPr/>
        </p:nvSpPr>
        <p:spPr>
          <a:xfrm>
            <a:off x="8836762" y="5165446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4" name="Text 92"/>
          <p:cNvSpPr txBox="1"/>
          <p:nvPr/>
        </p:nvSpPr>
        <p:spPr>
          <a:xfrm>
            <a:off x="8893454" y="5261458"/>
            <a:ext cx="1991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検索時間60%削減、発見速度3倍向上</a:t>
            </a:r>
            <a:endParaRPr lang="en-US" sz="900" dirty="0"/>
          </a:p>
        </p:txBody>
      </p:sp>
      <p:sp>
        <p:nvSpPr>
          <p:cNvPr id="125" name="Shape 93"/>
          <p:cNvSpPr/>
          <p:nvPr/>
        </p:nvSpPr>
        <p:spPr>
          <a:xfrm>
            <a:off x="11151108" y="5527548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26" name="Image 30" descr="preencoded.png">    </p:cNvPr>
          <p:cNvPicPr>
            <a:picLocks noChangeAspect="1"/>
          </p:cNvPicPr>
          <p:nvPr/>
        </p:nvPicPr>
        <p:blipFill>
          <a:blip r:embed="rId31"/>
          <a:srcRect l="-1911" r="-1911" t="0" b="0"/>
          <a:stretch/>
        </p:blipFill>
        <p:spPr>
          <a:xfrm>
            <a:off x="11248034" y="5218481"/>
            <a:ext cx="133502" cy="114300"/>
          </a:xfrm>
          <a:prstGeom prst="rect">
            <a:avLst/>
          </a:prstGeom>
        </p:spPr>
      </p:pic>
      <p:pic>
        <p:nvPicPr>
          <p:cNvPr id="127" name="Image 31" descr="preencoded.png">    </p:cNvPr>
          <p:cNvPicPr>
            <a:picLocks noChangeAspect="1"/>
          </p:cNvPicPr>
          <p:nvPr/>
        </p:nvPicPr>
        <p:blipFill>
          <a:blip r:embed="rId32"/>
          <a:srcRect l="-1911" r="-1911" t="0" b="0"/>
          <a:stretch/>
        </p:blipFill>
        <p:spPr>
          <a:xfrm>
            <a:off x="11381537" y="5218481"/>
            <a:ext cx="133502" cy="114300"/>
          </a:xfrm>
          <a:prstGeom prst="rect">
            <a:avLst/>
          </a:prstGeom>
        </p:spPr>
      </p:pic>
      <p:pic>
        <p:nvPicPr>
          <p:cNvPr id="128" name="Image 32" descr="preencoded.png">    </p:cNvPr>
          <p:cNvPicPr>
            <a:picLocks noChangeAspect="1"/>
          </p:cNvPicPr>
          <p:nvPr/>
        </p:nvPicPr>
        <p:blipFill>
          <a:blip r:embed="rId33"/>
          <a:srcRect l="-1911" r="-1911" t="0" b="0"/>
          <a:stretch/>
        </p:blipFill>
        <p:spPr>
          <a:xfrm>
            <a:off x="11514125" y="5218481"/>
            <a:ext cx="133502" cy="114300"/>
          </a:xfrm>
          <a:prstGeom prst="rect">
            <a:avLst/>
          </a:prstGeom>
        </p:spPr>
      </p:pic>
      <p:pic>
        <p:nvPicPr>
          <p:cNvPr id="129" name="Image 33" descr="preencoded.png">    </p:cNvPr>
          <p:cNvPicPr>
            <a:picLocks noChangeAspect="1"/>
          </p:cNvPicPr>
          <p:nvPr/>
        </p:nvPicPr>
        <p:blipFill>
          <a:blip r:embed="rId34"/>
          <a:srcRect l="-1911" r="-1911" t="0" b="0"/>
          <a:stretch/>
        </p:blipFill>
        <p:spPr>
          <a:xfrm>
            <a:off x="11647627" y="5218481"/>
            <a:ext cx="133502" cy="114300"/>
          </a:xfrm>
          <a:prstGeom prst="rect">
            <a:avLst/>
          </a:prstGeom>
        </p:spPr>
      </p:pic>
      <p:pic>
        <p:nvPicPr>
          <p:cNvPr id="130" name="Image 34" descr="preencoded.png">    </p:cNvPr>
          <p:cNvPicPr>
            <a:picLocks noChangeAspect="1"/>
          </p:cNvPicPr>
          <p:nvPr/>
        </p:nvPicPr>
        <p:blipFill>
          <a:blip r:embed="rId35"/>
          <a:srcRect l="-1911" r="-1911" t="0" b="0"/>
          <a:stretch/>
        </p:blipFill>
        <p:spPr>
          <a:xfrm>
            <a:off x="11448288" y="5370271"/>
            <a:ext cx="133502" cy="114300"/>
          </a:xfrm>
          <a:prstGeom prst="rect">
            <a:avLst/>
          </a:prstGeom>
        </p:spPr>
      </p:pic>
      <p:sp>
        <p:nvSpPr>
          <p:cNvPr id="131" name="Shape 94"/>
          <p:cNvSpPr/>
          <p:nvPr/>
        </p:nvSpPr>
        <p:spPr>
          <a:xfrm>
            <a:off x="314554" y="5537606"/>
            <a:ext cx="11563502" cy="36210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2" name="Shape 95"/>
          <p:cNvSpPr/>
          <p:nvPr/>
        </p:nvSpPr>
        <p:spPr>
          <a:xfrm>
            <a:off x="314554" y="5537606"/>
            <a:ext cx="972007" cy="36210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3" name="Shape 96"/>
          <p:cNvSpPr/>
          <p:nvPr/>
        </p:nvSpPr>
        <p:spPr>
          <a:xfrm>
            <a:off x="1277417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4" name="Text 97"/>
          <p:cNvSpPr txBox="1"/>
          <p:nvPr/>
        </p:nvSpPr>
        <p:spPr>
          <a:xfrm>
            <a:off x="591617" y="5632704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135" name="Shape 98"/>
          <p:cNvSpPr/>
          <p:nvPr/>
        </p:nvSpPr>
        <p:spPr>
          <a:xfrm>
            <a:off x="4933188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6" name="Text 99"/>
          <p:cNvSpPr txBox="1"/>
          <p:nvPr/>
        </p:nvSpPr>
        <p:spPr>
          <a:xfrm>
            <a:off x="1342339" y="5571439"/>
            <a:ext cx="3229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会議音声文字起こし、議事録自動生成、論点整理、ToDo抽出</a:t>
            </a:r>
            <a:endParaRPr lang="en-US" sz="900" dirty="0"/>
          </a:p>
        </p:txBody>
      </p:sp>
      <p:sp>
        <p:nvSpPr>
          <p:cNvPr id="137" name="Text 100"/>
          <p:cNvSpPr txBox="1"/>
          <p:nvPr/>
        </p:nvSpPr>
        <p:spPr>
          <a:xfrm>
            <a:off x="1342339" y="5714086"/>
            <a:ext cx="2553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例：この会議の音声を文字起こしし、発言者ごとに整理</a:t>
            </a:r>
            <a:endParaRPr lang="en-US" sz="800" dirty="0"/>
          </a:p>
        </p:txBody>
      </p:sp>
      <p:sp>
        <p:nvSpPr>
          <p:cNvPr id="138" name="Shape 101"/>
          <p:cNvSpPr/>
          <p:nvPr/>
        </p:nvSpPr>
        <p:spPr>
          <a:xfrm>
            <a:off x="8827618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02"/>
          <p:cNvSpPr txBox="1"/>
          <p:nvPr/>
        </p:nvSpPr>
        <p:spPr>
          <a:xfrm>
            <a:off x="4998110" y="5632704"/>
            <a:ext cx="2382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議事録作成、会議効率化※会議効率化に貢献</a:t>
            </a:r>
            <a:endParaRPr lang="en-US" sz="900" dirty="0"/>
          </a:p>
        </p:txBody>
      </p:sp>
      <p:sp>
        <p:nvSpPr>
          <p:cNvPr id="140" name="Shape 103"/>
          <p:cNvSpPr/>
          <p:nvPr/>
        </p:nvSpPr>
        <p:spPr>
          <a:xfrm>
            <a:off x="11152022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1" name="Text 104"/>
          <p:cNvSpPr txBox="1"/>
          <p:nvPr/>
        </p:nvSpPr>
        <p:spPr>
          <a:xfrm>
            <a:off x="8893454" y="5632704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作成時間50%削減、会議後作業40%削減</a:t>
            </a:r>
            <a:endParaRPr lang="en-US" sz="900" dirty="0"/>
          </a:p>
        </p:txBody>
      </p:sp>
      <p:pic>
        <p:nvPicPr>
          <p:cNvPr id="142" name="Image 35" descr="preencoded.png">    </p:cNvPr>
          <p:cNvPicPr>
            <a:picLocks noChangeAspect="1"/>
          </p:cNvPicPr>
          <p:nvPr/>
        </p:nvPicPr>
        <p:blipFill>
          <a:blip r:embed="rId36"/>
          <a:srcRect l="-1911" r="-1911" t="0" b="0"/>
          <a:stretch/>
        </p:blipFill>
        <p:spPr>
          <a:xfrm>
            <a:off x="11248034" y="5589727"/>
            <a:ext cx="133502" cy="114300"/>
          </a:xfrm>
          <a:prstGeom prst="rect">
            <a:avLst/>
          </a:prstGeom>
        </p:spPr>
      </p:pic>
      <p:pic>
        <p:nvPicPr>
          <p:cNvPr id="143" name="Image 36" descr="preencoded.png">    </p:cNvPr>
          <p:cNvPicPr>
            <a:picLocks noChangeAspect="1"/>
          </p:cNvPicPr>
          <p:nvPr/>
        </p:nvPicPr>
        <p:blipFill>
          <a:blip r:embed="rId37"/>
          <a:srcRect l="-1911" r="-1911" t="0" b="0"/>
          <a:stretch/>
        </p:blipFill>
        <p:spPr>
          <a:xfrm>
            <a:off x="11381537" y="5589727"/>
            <a:ext cx="133502" cy="114300"/>
          </a:xfrm>
          <a:prstGeom prst="rect">
            <a:avLst/>
          </a:prstGeom>
        </p:spPr>
      </p:pic>
      <p:pic>
        <p:nvPicPr>
          <p:cNvPr id="144" name="Image 37" descr="preencoded.png">    </p:cNvPr>
          <p:cNvPicPr>
            <a:picLocks noChangeAspect="1"/>
          </p:cNvPicPr>
          <p:nvPr/>
        </p:nvPicPr>
        <p:blipFill>
          <a:blip r:embed="rId38"/>
          <a:srcRect l="-1911" r="-1911" t="0" b="0"/>
          <a:stretch/>
        </p:blipFill>
        <p:spPr>
          <a:xfrm>
            <a:off x="11514125" y="5589727"/>
            <a:ext cx="133502" cy="114300"/>
          </a:xfrm>
          <a:prstGeom prst="rect">
            <a:avLst/>
          </a:prstGeom>
        </p:spPr>
      </p:pic>
      <p:pic>
        <p:nvPicPr>
          <p:cNvPr id="145" name="Image 38" descr="preencoded.png">    </p:cNvPr>
          <p:cNvPicPr>
            <a:picLocks noChangeAspect="1"/>
          </p:cNvPicPr>
          <p:nvPr/>
        </p:nvPicPr>
        <p:blipFill>
          <a:blip r:embed="rId39"/>
          <a:srcRect l="-1911" r="-1911" t="0" b="0"/>
          <a:stretch/>
        </p:blipFill>
        <p:spPr>
          <a:xfrm>
            <a:off x="11647627" y="5589727"/>
            <a:ext cx="133502" cy="114300"/>
          </a:xfrm>
          <a:prstGeom prst="rect">
            <a:avLst/>
          </a:prstGeom>
        </p:spPr>
      </p:pic>
      <p:pic>
        <p:nvPicPr>
          <p:cNvPr id="146" name="Image 39" descr="preencoded.png">    </p:cNvPr>
          <p:cNvPicPr>
            <a:picLocks noChangeAspect="1"/>
          </p:cNvPicPr>
          <p:nvPr/>
        </p:nvPicPr>
        <p:blipFill>
          <a:blip r:embed="rId40"/>
          <a:srcRect l="-1911" r="-1911" t="0" b="0"/>
          <a:stretch/>
        </p:blipFill>
        <p:spPr>
          <a:xfrm>
            <a:off x="11448288" y="5742432"/>
            <a:ext cx="13350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48379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P6 普及に向けて乗り越えるべき壁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47395"/>
          </a:xfrm>
          <a:prstGeom prst="roundRect">
            <a:avLst>
              <a:gd name="adj" fmla="val 1661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24205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AI導入を成功させるためには、5つの壁を乗り越える必要があります。 各壁の具体例と、乗り越えるための要件を明確にすることで、効果的な対策を打つことができます。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455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455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965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554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" y="2223821"/>
            <a:ext cx="1953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AI自体が「業務要求を満たす機能/品質/性能」になっていない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554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3154" y="285292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精度：生成文書が期待と異なる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3154" y="3020263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根拠提示：理由が不明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3154" y="3187598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速度：応答が遅い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3154" y="3355848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コスト：ROIが見えない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3154" y="3523183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社内データ対応：アクセス不可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965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5605" y="556229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•適切なツール選定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5605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•段階的な適用領域の選定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5605" y="5982005"/>
            <a:ext cx="1276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•社内データ連携の実現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5605" y="6191402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•効果測定と改善サイクル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4444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358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358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0829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868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82549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74868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使う"意義"が腹落ちしていない／使ってよい空気がない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868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2549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882189" y="285292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経営層：投資対効果・リスク懸念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882189" y="3020263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管理職：今の業務で十分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82189" y="318759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一般社員：仕事奪われる・時間ない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882189" y="335584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組織文化：失敗恐れる・抵抗感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868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3464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834640" y="5562295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•明確な目的とKPI設定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•経営層のコミットメント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834640" y="598200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•成功事例の可視化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834640" y="6191402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•文化変革の推進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9262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499262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133442" y="1549908"/>
            <a:ext cx="2062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理解の壁（安心含む）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087722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164531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087722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どう使うと効くか、何を入力してよいか等が分からない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87722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164531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221224" y="285292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使い方：起動・プロンプト不明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221224" y="3020263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入力データ：個人/機密情報の可否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221224" y="3187598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検証：確認範囲・責任所在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221224" y="335584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ルール：ガイドライン・禁止事項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87722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7367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173675" y="5562295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•利用ガイドラインの策定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173675" y="5772607"/>
            <a:ext cx="1495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•セキュリティポリシー整備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173675" y="5982005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•階層別教育プログラム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173675" y="619140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•ナレッジシェアの仕組み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2251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3257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7" name="Shape 65"/>
          <p:cNvSpPr/>
          <p:nvPr/>
        </p:nvSpPr>
        <p:spPr>
          <a:xfrm>
            <a:off x="733257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98728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42767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50356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7427671" y="2223821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業務を細分化し、要件・制約・指示・評価観点へ落として回せない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2767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0356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7561174" y="285292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プロンプト設計：何を聞けばよいか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7561174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業務分析：適用業務・フロー不明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7561174" y="318759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評価：測定方法・改善点不明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7561174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技術的理解：連携・統合困難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2767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51362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513625" y="556229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•推進体制の構築（CoE等）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7513625" y="5772607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•技術支援体制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7513625" y="5982005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•実践的な教育プログラム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7513625" y="6191402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•部門別ユースケース開発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66246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67160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6" name="Shape 84"/>
          <p:cNvSpPr/>
          <p:nvPr/>
        </p:nvSpPr>
        <p:spPr>
          <a:xfrm>
            <a:off x="967160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2631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76670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842602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976670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アクセス性・想起性・運用フローがなく、継続利用にならない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6670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9842602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900209" y="2852928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アクセス性：起動・入口不明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9900209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想起性：タイミング・フロー不明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9900209" y="3187598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運用フロー：承認・エラー対応不明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9900209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継続性：効果実感できず離脱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76670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85266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9852660" y="5562295"/>
            <a:ext cx="1162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•使いやすい環境整備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985266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•業務フローへの組み込み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9852660" y="5982005"/>
            <a:ext cx="1257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•フィードバックループ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9852660" y="6191402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•定着化施策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1122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P7 普及に向けて必要なアクション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09905"/>
          </a:xfrm>
          <a:prstGeom prst="roundRect">
            <a:avLst>
              <a:gd name="adj" fmla="val 1874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98778" y="705002"/>
            <a:ext cx="99303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5つの壁を乗り越えるため、5つのカテゴリーで体系的にアクションを実施します。 各カテゴリーは相互に連携し、総合的な対策として機能します。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5605" y="136702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1367028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5つの壁と5つのカテゴリーの対応関係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" y="1600200"/>
            <a:ext cx="30769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1271" y="1643177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35070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5134" y="1643177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主に対応するカテゴリー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2497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66860" y="1643177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補完するカテゴリー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" y="18571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9870" y="19046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35070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4511" y="1904695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2497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9758" y="1904695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" y="21241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9870" y="21717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35070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42332" y="21717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2497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1354" y="2171700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" y="239115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99870" y="243870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35070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2254" y="2438705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ガバナンス・リスク管理(Rules)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32497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01354" y="243870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" y="26572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99870" y="27047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35070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03927" y="270479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32497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74836" y="2704795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" y="29242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99870" y="29718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35070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76495" y="2971800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2497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01938" y="2971800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5605" y="334761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9905" y="3347618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5つのカテゴリー（概要）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0372" y="3688690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戦略・目的(Why &amp; What)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315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43154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何を目指すか、なぜやるかを明確化し、意識の壁を乗り越える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4315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57454" y="4750308"/>
            <a:ext cx="13853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目的の明確化(KGI/KPI設定)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57454" y="4883810"/>
            <a:ext cx="1432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適用領域の選定(段階的展開)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315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4315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②意識、①価値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3131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1371" y="3586277"/>
            <a:ext cx="2162556" cy="49560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1371" y="407273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007462" y="3642970"/>
            <a:ext cx="17291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ガバナンス・リスク管理(Rules)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817266" y="4157777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2817266" y="4315968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安心して使えるルール作りにより、理解の壁を乗り越える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2817266" y="4668012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2931566" y="4826203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利用ガイドライン策定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931566" y="4959706"/>
            <a:ext cx="13569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セキュリティポリシー整備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81726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817266" y="6277356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③理解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0634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1548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1" name="Shape 69"/>
          <p:cNvSpPr/>
          <p:nvPr/>
        </p:nvSpPr>
        <p:spPr>
          <a:xfrm>
            <a:off x="501548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25466" y="3688690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環境・インフラ(Tools)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09229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09229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使いやすい環境整備により、価値の壁と習慣の壁を乗り越える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509229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5206594" y="4750308"/>
            <a:ext cx="10424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5206594" y="4883810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UIの整備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520659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既存システム連携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9229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09229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①価値、⑤習慣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8045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90511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3" name="Shape 81"/>
          <p:cNvSpPr/>
          <p:nvPr/>
        </p:nvSpPr>
        <p:spPr>
          <a:xfrm>
            <a:off x="7290511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7478878" y="368869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組織・人材・文化(People)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366406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7366406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使いこなせる人と文化を育成し、能力の壁と理解の壁を乗り越える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7366406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7480706" y="4750308"/>
            <a:ext cx="1452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体制づくり(CoE, Champion)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7480706" y="4883810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7480706" y="5017313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6640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7366406" y="6277356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④能力、③理解、②意識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55548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56462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5" name="Shape 93"/>
          <p:cNvSpPr/>
          <p:nvPr/>
        </p:nvSpPr>
        <p:spPr>
          <a:xfrm>
            <a:off x="956462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715500" y="3688690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プロセス・運用(Operation)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64143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964143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回し続ける仕組みにより、習慣の壁と能力の壁を乗り越える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964143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9755734" y="4750308"/>
            <a:ext cx="11375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9755734" y="4883810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975573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4143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64143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⑤習慣、④能力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117543" y="190195"/>
            <a:ext cx="41769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P8 戦略・目的（Why &amp; What）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80898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「とりあえずAIを入れてみた」で終わらせないために、最も重要な土台です。 明確な目的とKPI設定により、意識の壁を乗り越えます。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772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目的の明確化（KGI/KPI設定）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985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方向性の決定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48883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業務効率化（マイナスをゼロに）なのか、新規価値創出（ゼロをプラスに）なのかを明確化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48408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アイリスの場合：P2の戦略に基づき、「圧倒的なスピード」と「完璧な品質」の両立を目指す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507992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KGI/KPIの設定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849063"/>
            <a:ext cx="4145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利用率KPI：現状20% → 3ヶ月で50% → 6ヶ月で70% → 12ヶ月で80%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00523"/>
            <a:ext cx="3431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時間削減KPI：1人あたり月平均10-15時間の業務時間削減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5351983"/>
            <a:ext cx="2830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業務効率化KPI：主要業務で20-30%の時間削減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560344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部門別KPI：各事業部で5-10件のユースケース創出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755587" y="1671523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5898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段階的展開戦略の決定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2689250"/>
            <a:ext cx="3593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全社一斉導入か、特定部署からのスモールスタートかを決定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2940710"/>
            <a:ext cx="3812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推奨：スモールスタート（50名 → 500名 → 全社の段階的展開）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5898" y="4507992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優先業務フローの選定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4849063"/>
            <a:ext cx="4307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初期段階（0-6ヶ月）：メール要約、会議要約、文書作成、プレゼン作成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100523"/>
            <a:ext cx="4250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発展段階（6-12ヶ月）：SharePoint横断検索、部門特化AIエージェント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535198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各事業部の特性に応じた優先順位付け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717036" y="190195"/>
            <a:ext cx="49770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P9 ガバナンス・リスク管理（Rules）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11580" y="780898"/>
            <a:ext cx="99020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社員が「安心して」使えるようにするためのガードレールです。 これが曖昧だと、現場は萎縮して使いません。理解の壁を乗り越えます。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利用ガイドラインの策定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入力データのルール明確化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2122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個人情報、機密情報、顧客データの入力可否を明確化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2940710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「入力してはいけないもの」をリスト化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192170"/>
            <a:ext cx="2983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重要：Microsoft 365環境内データは基本的に安全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719779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101084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3843223"/>
            <a:ext cx="14136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出力物の扱いルール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184294"/>
            <a:ext cx="30787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生成物の著作権、ファクトチェックの義務を明確化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435754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「AIの嘘」への責任の所在を明確化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4687214"/>
            <a:ext cx="3973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重要：「AIのミスはプロセスの不備」と割り切る免責ルールの作成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049" y="5214823"/>
            <a:ext cx="5201107" cy="1181405"/>
          </a:xfrm>
          <a:prstGeom prst="roundRect">
            <a:avLst>
              <a:gd name="adj" fmla="val 374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" y="5597042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3407" y="533918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禁止事項の明確化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5680253"/>
            <a:ext cx="39840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競合他社への攻撃的な利用、差別的な生成などの禁止事項を明文化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55587" y="1671523"/>
            <a:ext cx="2039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5898" y="2348179"/>
            <a:ext cx="2271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セキュリティ設定の確認・最適化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2689250"/>
            <a:ext cx="2192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Commercial Data Protectionの確認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2940710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DLP（Data Loss Prevention）ポリシーの設定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92170"/>
            <a:ext cx="21835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ADによるアクセス制御の確認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3443630"/>
            <a:ext cx="2554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重要：導入前に専門家による設定レビュー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95898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監査体制の構築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4849063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ログの保存期間の決定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監査ログの定期レビュー体制の構築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29400" y="535198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インシデント対応マニュアルの作成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210812" y="190195"/>
            <a:ext cx="3986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P10 環境・インフラ（Tools）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448056"/>
          </a:xfrm>
          <a:prstGeom prst="roundRect">
            <a:avLst>
              <a:gd name="adj" fmla="val 3473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84402" y="780898"/>
            <a:ext cx="9559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「使いやすさ」が浸透のスピードを決めます。 適切なツール選定と環境整備により、価値の壁と習慣の壁を乗り越えます。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454810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11226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基本ツールの選定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453335"/>
            <a:ext cx="2945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Copilot for Microsoft 365：全社的なAI民主化の基盤として導入（既にライセンス取得済み）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093415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自社の既存環境（Microsoft 365）との親和性を確認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390034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発展段階ツールの検討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731106"/>
            <a:ext cx="28885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Studio：部門特化AIエージェント構築用（6-12ヶ月後に検討）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76418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AI Services：高度なAI機能実装用（必要に応じて）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80306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89450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9450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2155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37253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25289" y="1454810"/>
            <a:ext cx="2005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インターフェースの整備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42155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599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65599" y="2112264"/>
            <a:ext cx="1404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アクセス方法の統一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99102" y="2453335"/>
            <a:ext cx="2964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Webブラウザ版、API連携、Slack/Teams連携Botなどの選択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99102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推奨：Microsoft 365環境内での利用を基本とし、Teams連携を強化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42155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65599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65599" y="439003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アカウント管理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99102" y="4731106"/>
            <a:ext cx="2421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SSO（シングルサインオン）連携の確認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99102" y="4982566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部署ごとの権限設定の設計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2498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11642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9"/>
          <p:cNvSpPr/>
          <p:nvPr/>
        </p:nvSpPr>
        <p:spPr>
          <a:xfrm>
            <a:off x="8111642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64347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59445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48395" y="1454810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既存システムとの連携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64347" y="1987906"/>
            <a:ext cx="3314700" cy="4410151"/>
          </a:xfrm>
          <a:prstGeom prst="roundRect">
            <a:avLst>
              <a:gd name="adj" fmla="val 47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88706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88706" y="2112264"/>
            <a:ext cx="18425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VBAマクロ資産の活用方針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21294" y="2453335"/>
            <a:ext cx="28026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既存VBAマクロ資産の棚卸し（重要度・使用頻度・置き換え可能性の評価）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521294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既存資産は維持しつつ、新規業務からCopilotを活用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521294" y="3344875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役割分担の明確化：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21294" y="3539642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VBA（定型業務自動化）、Copilot（分析・文書作成）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9352" y="190195"/>
            <a:ext cx="44915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P11 組織・人材・文化（People）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008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ツールがあっても「使いこなせる人」がいなければ意味がありません。 体制づくりと教育により、能力の壁と理解の壁を乗り越えます。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59984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5490" y="1633118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846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002" y="2233879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中央組織（CoE）の設置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9302" y="2534717"/>
            <a:ext cx="1072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推奨構成：6-10名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" y="2743200"/>
            <a:ext cx="31117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AI戦略担当、技術アーキテクト、チェンジマネージャー等で構成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" y="3122676"/>
            <a:ext cx="31400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役割：戦略・ガバナンス・技術支援・標準化・知見共有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02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002" y="3698748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事業部AI推進リーダー（Champion）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" y="3999586"/>
            <a:ext cx="2168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推奨人数：30-50名（部門別に1-3名）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" y="4208983"/>
            <a:ext cx="3025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役割：部門内での活用促進、質問対応、成功事例共有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9302" y="4417466"/>
            <a:ext cx="2215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インセンティブ：月額手当（1-3万円）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9846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002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5002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経営層のコミットメント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9302" y="5465369"/>
            <a:ext cx="25109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AI推進委員会の設置（委員長：取締役CTO）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9302" y="5673852"/>
            <a:ext cx="2234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月1回の定例会議、予算確保、権限委譲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6750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6649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6649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0151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05249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5794" y="1633118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10151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5307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15307" y="2233879"/>
            <a:ext cx="1884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階層別研修プログラムの構築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629607" y="2534717"/>
            <a:ext cx="20345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経営層向け：AI投資の意義、リスク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629607" y="2743200"/>
            <a:ext cx="3034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一般社員向け：プロンプト基礎（2時間eラーニング）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629607" y="2952598"/>
            <a:ext cx="30732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推進者（Champion）向け：高度な活用事例（8時間集中研修）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10151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5307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15307" y="3698748"/>
            <a:ext cx="13414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継続教育体制の構築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29607" y="3999586"/>
            <a:ext cx="2273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月次：AI活用Tips配信、Q&amp;Aセッション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629607" y="4208983"/>
            <a:ext cx="19302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季度：Advanced User Group会合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629607" y="4417466"/>
            <a:ext cx="1911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年次：AIサミット、外部講師招請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10151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5307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15307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ナレッジシェアの仕組み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629607" y="5465369"/>
            <a:ext cx="2654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「すごいプロンプト集」や「成功事例」の共有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629607" y="5673852"/>
            <a:ext cx="20253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全社的なAI活用コミュニティの運営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7689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8695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808695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045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31555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565185" y="1633118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220456" y="2128723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4698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24698" y="2233879"/>
            <a:ext cx="2436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「使わなければ損」という文化の醸成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438998" y="2534717"/>
            <a:ext cx="2892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成功体験の即時共有（社内SNS、メールマガジン）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438998" y="2743200"/>
            <a:ext cx="2901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管理職の率先活用（トップダウン＋ボトムアップ）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20456" y="4326941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4698" y="4678985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324698" y="4431182"/>
            <a:ext cx="1751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失敗を恐れない文化の構築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438998" y="4732934"/>
            <a:ext cx="312999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「AIのミスはプロセスの不備」と割り切る免責ルールの徹底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438998" y="5112410"/>
            <a:ext cx="15590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担当者を罰する文化の排除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84371" y="190195"/>
            <a:ext cx="46442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P12 プロセス・運用（Operation）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922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一度導入して終わりではなく、回し続けるための仕組みです。 フィードバックと改善により、習慣の壁と能力の壁を乗り越えます。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90726"/>
            <a:ext cx="1834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3314700" cy="1543507"/>
          </a:xfrm>
          <a:prstGeom prst="roundRect">
            <a:avLst>
              <a:gd name="adj" fmla="val 21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不満吸い上げ窓口の設置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「使えない」「回答が微妙」といった不満を吸い上げる窓口の設置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定期的なアンケート調査（月次）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386023"/>
            <a:ext cx="2850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フォーカスグループ、1on1インタビューの実施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913632"/>
            <a:ext cx="3314700" cy="1295705"/>
          </a:xfrm>
          <a:prstGeom prst="roundRect">
            <a:avLst>
              <a:gd name="adj" fmla="val 311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295851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4037990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利用状況のモニタリング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379062"/>
            <a:ext cx="2716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365管理センターでの利用ログ分析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630522"/>
            <a:ext cx="302209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Dashboard機能を活用したKPI管理（アクティブユーザー数、利用頻度など）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9" y="5352898"/>
            <a:ext cx="3314700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" y="5734202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3407" y="5476342"/>
            <a:ext cx="16998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効果測定システムの構築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" y="5817413"/>
            <a:ext cx="2621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BVA（Business Value Assessment）の活用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6068873"/>
            <a:ext cx="1526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特定業務の処理時間測定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75995" y="632033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ROI計算（月間削減時間×時給 - ライセンス費用）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80306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89450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89450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42155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37253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25289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42155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65599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65599" y="2348179"/>
            <a:ext cx="2128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定期的な見直しサイクルの設定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699102" y="2689250"/>
            <a:ext cx="29361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AIモデルは進化が早いため、ガイドラインやツールを定期的に見直す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99102" y="3134563"/>
            <a:ext cx="22978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四半期ごとのレビュー、年次での総括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42155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5599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65599" y="4507992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新機能の情報収集・共有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699102" y="4849063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Microsoftの最新情報の継続的な確認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99102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新機能の社内共有、活用方法の検討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02498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11642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8111642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8264347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359445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648395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64347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88706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88706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成功事例の収集・共有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521294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事業部ごとの成功事例創出（日立製作所：1,000件横展開を参考）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521294" y="3134563"/>
            <a:ext cx="29452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成功事例の社内ポータル、メールマガジン、イベントでの共有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64347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88706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88706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表彰制度の構築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521294" y="484906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優秀活用部門・個人の表彰、社内報道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521294" y="5100523"/>
            <a:ext cx="28693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「Copilotチャレンジカップ」などのコンペ開催（九電グループ事例を参考）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2026-01-05T04:56:10Z</dcterms:created>
  <dcterms:modified xsi:type="dcterms:W3CDTF">2026-01-05T04:56:10Z</dcterms:modified>
</cp:coreProperties>
</file>