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image" Target="../media/image-2-51.png"/><Relationship Id="rId52" Type="http://schemas.openxmlformats.org/officeDocument/2006/relationships/image" Target="../media/image-2-52.png"/><Relationship Id="rId53" Type="http://schemas.openxmlformats.org/officeDocument/2006/relationships/image" Target="../media/image-2-53.png"/><Relationship Id="rId54" Type="http://schemas.openxmlformats.org/officeDocument/2006/relationships/image" Target="../media/image-2-54.png"/><Relationship Id="rId55" Type="http://schemas.openxmlformats.org/officeDocument/2006/relationships/image" Target="../media/image-2-55.png"/><Relationship Id="rId56" Type="http://schemas.openxmlformats.org/officeDocument/2006/relationships/image" Target="../media/image-2-56.png"/><Relationship Id="rId57" Type="http://schemas.openxmlformats.org/officeDocument/2006/relationships/image" Target="../media/image-2-57.png"/><Relationship Id="rId58" Type="http://schemas.openxmlformats.org/officeDocument/2006/relationships/image" Target="../media/image-2-58.png"/><Relationship Id="rId59" Type="http://schemas.openxmlformats.org/officeDocument/2006/relationships/image" Target="../media/image-2-59.png"/><Relationship Id="rId60" Type="http://schemas.openxmlformats.org/officeDocument/2006/relationships/image" Target="../media/image-2-60.png"/><Relationship Id="rId61" Type="http://schemas.openxmlformats.org/officeDocument/2006/relationships/slideLayout" Target="../slideLayouts/slideLayout1.xml"/><Relationship Id="rId6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033418" y="171907"/>
            <a:ext cx="4391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P2 アイリスにおけるAI戦略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70102" y="724205"/>
            <a:ext cx="9658807" cy="875995"/>
          </a:xfrm>
          <a:prstGeom prst="roundRect">
            <a:avLst>
              <a:gd name="adj" fmla="val 9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85239" y="838505"/>
            <a:ext cx="90013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AIを戦略的に活用することで、「圧倒的なスピード」と「完璧な品質」を両立し、 従来のトレードオフを超えた競争優位を実現する。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4495" y="1790395"/>
            <a:ext cx="11582705" cy="1047902"/>
          </a:xfrm>
          <a:prstGeom prst="roundRect">
            <a:avLst>
              <a:gd name="adj" fmla="val 9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4554" y="1800454"/>
            <a:ext cx="4629607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35017" y="1800454"/>
            <a:ext cx="9144" cy="1028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314554" y="1800454"/>
            <a:ext cx="57607" cy="10287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9" y="167426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VISION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4749" y="1845259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世界最速の課題解決企業へ。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4749" y="2217420"/>
            <a:ext cx="21003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〜 Global Local Problem Solver 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4749" y="2512771"/>
            <a:ext cx="424373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世界中の「生活の不満」をAIで誰よりも早く見つけ、 日本の品質を世界最速でカタチにして届ける。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9589" y="1800454"/>
            <a:ext cx="6943954" cy="10287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0" b="-530"/>
          <a:stretch/>
        </p:blipFill>
        <p:spPr>
          <a:xfrm>
            <a:off x="5129784" y="1659636"/>
            <a:ext cx="247802" cy="2862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91886" y="1602943"/>
            <a:ext cx="4048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「速いだけではない。AIが品質を保証する。」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91886" y="1945843"/>
            <a:ext cx="62627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世界には「速いが品質が低い」企業と、「品質は良いが遅い」企業しかいません。 我々は、「圧倒的なスピード」と「完璧な品質」を両立させます。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82489" y="2560320"/>
            <a:ext cx="6258154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640934" y="2655418"/>
            <a:ext cx="5672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それを実現するのが、「AIによる業務の自動化と、自律的な改善」です。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0449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455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31455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66344" y="3228746"/>
            <a:ext cx="133502" cy="152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35024" y="3161995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For toC（生活者）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502359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潜在不満の"超"速解決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455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7375" y="3853282"/>
            <a:ext cx="35012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「POSに出る前の声を拾い、3ヶ月で棚を変える」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66344" y="4448556"/>
            <a:ext cx="3409798" cy="933602"/>
          </a:xfrm>
          <a:prstGeom prst="roundRect">
            <a:avLst>
              <a:gd name="adj" fmla="val 79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0702" y="4610405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66598" y="4619549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90702" y="4828946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AIによるグローバル・センシング （SNS・レビュー解析）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66344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0702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66598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90702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競合が見落とすニッチな不満を発見し、解決策を提示する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229100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23824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5"/>
          <p:cNvSpPr/>
          <p:nvPr/>
        </p:nvSpPr>
        <p:spPr>
          <a:xfrm>
            <a:off x="423824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390949" y="3228746"/>
            <a:ext cx="171907" cy="15270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085893" y="3161995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For toB（法人・小売）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5426964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売り場の"最適解"提案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23824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4816145" y="3853282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「AIの根拠で、棚ごと提案する」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4390949" y="4212641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515307" y="4374490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4591202" y="4383634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4515307" y="4593946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トレンド分析×自社販売データを根拠にしたクロスマーチャンダイジング提案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390949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515307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591202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4515307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小売店に「売れる売り場」を提供し、棚の支配力を高める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815370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8162849" y="3066898"/>
            <a:ext cx="3715207" cy="3552444"/>
          </a:xfrm>
          <a:prstGeom prst="roundRect">
            <a:avLst>
              <a:gd name="adj" fmla="val 828"/>
            </a:avLst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162849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Shape 51"/>
          <p:cNvSpPr/>
          <p:nvPr/>
        </p:nvSpPr>
        <p:spPr>
          <a:xfrm>
            <a:off x="8162849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8315554" y="3228746"/>
            <a:ext cx="190195" cy="15270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819388" y="3161995"/>
            <a:ext cx="2539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 Internal（業務・開発）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9150401" y="339608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自動化と品質の"自律的"進化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8162849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8648395" y="3853282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「テストし、改良し、業務を回す」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9202522" y="4174236"/>
            <a:ext cx="1638605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326880" y="422178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業務自動化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9935870" y="4200754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300" dirty="0"/>
          </a:p>
        </p:txBody>
      </p:sp>
      <p:sp>
        <p:nvSpPr>
          <p:cNvPr id="65" name="Text 59"/>
          <p:cNvSpPr txBox="1"/>
          <p:nvPr/>
        </p:nvSpPr>
        <p:spPr>
          <a:xfrm>
            <a:off x="10146182" y="422178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AI品質保証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8315554" y="4533595"/>
            <a:ext cx="3409798" cy="1057046"/>
          </a:xfrm>
          <a:prstGeom prst="roundRect">
            <a:avLst>
              <a:gd name="adj" fmla="val 623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419795" y="4677156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8496605" y="46863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8572500" y="4934102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•AIによる商品検証: 設計レビュー・欠陥指摘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8572500" y="5134356"/>
            <a:ext cx="2181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•SW開発の自動化: コード生成・デバッグ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8572500" y="5333695"/>
            <a:ext cx="2019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•業務プロセスの自動化: 定型業務代行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8315554" y="5629046"/>
            <a:ext cx="3409798" cy="838505"/>
          </a:xfrm>
          <a:prstGeom prst="roundRect">
            <a:avLst>
              <a:gd name="adj" fmla="val 99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8419795" y="5772607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4" name="Text 68"/>
          <p:cNvSpPr txBox="1"/>
          <p:nvPr/>
        </p:nvSpPr>
        <p:spPr>
          <a:xfrm>
            <a:off x="8496605" y="578175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8572500" y="6029554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→手戻りの撲滅・工数削減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8572500" y="6210605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→日本品質の高速展開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058461" y="190195"/>
            <a:ext cx="22914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P5 成果創出事例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733349"/>
          </a:xfrm>
          <a:prstGeom prst="roundRect">
            <a:avLst>
              <a:gd name="adj" fmla="val 1295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743407"/>
            <a:ext cx="994958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Copilotの実証実験・導入事例から、具体的な成果と効果が確認されています。 これらの事例は、導入コストと難易度を踏まえて、自社でも優先的に取り組むべき領域を示しています。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4554" y="2030882"/>
            <a:ext cx="11563502" cy="38130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314554" y="2030882"/>
            <a:ext cx="1933956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39342" y="2121408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1194" y="2030882"/>
            <a:ext cx="3857854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30675" y="2121408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概要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305" y="2030882"/>
            <a:ext cx="2895905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02729" y="2121408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実績・効果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86723" y="2030882"/>
            <a:ext cx="1457554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06510" y="212140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導入コスト（概算）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436962" y="2030882"/>
            <a:ext cx="1447495" cy="3813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36962" y="2403043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56748" y="212140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利用難易度（概算）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4" y="2412187"/>
            <a:ext cx="11563502" cy="543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554" y="2412187"/>
            <a:ext cx="1933956" cy="543154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0430" y="2584094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事例1：メール要約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1194" y="2412187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5494" y="2584094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長いメールスレッドの要約（読む時間の削減）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6305" y="2412187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0605" y="2488082"/>
            <a:ext cx="27194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週12分減 / 定常利用で週30分減 ※Microsoft Research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86723" y="2412187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-1911" r="-1911" t="0" b="0"/>
          <a:stretch/>
        </p:blipFill>
        <p:spPr>
          <a:xfrm>
            <a:off x="9373514" y="2531059"/>
            <a:ext cx="133502" cy="11430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-1911" r="-1911" t="0" b="0"/>
          <a:stretch/>
        </p:blipFill>
        <p:spPr>
          <a:xfrm>
            <a:off x="9507017" y="2531059"/>
            <a:ext cx="133502" cy="11430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9640519" y="2531059"/>
            <a:ext cx="133502" cy="11430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9774022" y="2531059"/>
            <a:ext cx="133502" cy="114300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1911" r="-1911" t="0" b="0"/>
          <a:stretch/>
        </p:blipFill>
        <p:spPr>
          <a:xfrm>
            <a:off x="9906610" y="2531059"/>
            <a:ext cx="133502" cy="1143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213494" y="269839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低（ライセンスのみ）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10436962" y="2946197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10823753" y="2531059"/>
            <a:ext cx="133502" cy="114300"/>
          </a:xfrm>
          <a:prstGeom prst="rect">
            <a:avLst/>
          </a:prstGeom>
        </p:spPr>
      </p:pic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-1911" r="-1911" t="0" b="0"/>
          <a:stretch/>
        </p:blipFill>
        <p:spPr>
          <a:xfrm>
            <a:off x="10957255" y="2531059"/>
            <a:ext cx="133502" cy="114300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11090758" y="2531059"/>
            <a:ext cx="133502" cy="114300"/>
          </a:xfrm>
          <a:prstGeom prst="rect">
            <a:avLst/>
          </a:prstGeom>
        </p:spPr>
      </p:pic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11224260" y="2531059"/>
            <a:ext cx="133502" cy="114300"/>
          </a:xfrm>
          <a:prstGeom prst="rect">
            <a:avLst/>
          </a:prstGeom>
        </p:spPr>
      </p:pic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-1911" r="-1911" t="0" b="0"/>
          <a:stretch/>
        </p:blipFill>
        <p:spPr>
          <a:xfrm>
            <a:off x="11356848" y="2531059"/>
            <a:ext cx="133502" cy="1143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0712196" y="2698394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低（基本操作のみ）</a:t>
            </a:r>
            <a:endParaRPr lang="en-US" sz="800" dirty="0"/>
          </a:p>
        </p:txBody>
      </p:sp>
      <p:sp>
        <p:nvSpPr>
          <p:cNvPr id="40" name="Shape 28"/>
          <p:cNvSpPr/>
          <p:nvPr/>
        </p:nvSpPr>
        <p:spPr>
          <a:xfrm>
            <a:off x="314554" y="2955341"/>
            <a:ext cx="11563502" cy="54315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29"/>
          <p:cNvSpPr/>
          <p:nvPr/>
        </p:nvSpPr>
        <p:spPr>
          <a:xfrm>
            <a:off x="314554" y="2955341"/>
            <a:ext cx="1933956" cy="543154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500177" y="3126334"/>
            <a:ext cx="1653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事例2：文書ドラフト作成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2241194" y="2955341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32"/>
          <p:cNvSpPr txBox="1"/>
          <p:nvPr/>
        </p:nvSpPr>
        <p:spPr>
          <a:xfrm>
            <a:off x="2355494" y="3126334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文書のドラフト作成（ゼロから書く作業の短縮）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096305" y="2955341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6210605" y="3031236"/>
            <a:ext cx="22055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平均0.5日短縮 / 定常利用で1日短縮 ※Microsoft Research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8986723" y="2955341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-1911" r="-1911" t="0" b="0"/>
          <a:stretch/>
        </p:blipFill>
        <p:spPr>
          <a:xfrm>
            <a:off x="9373514" y="3074213"/>
            <a:ext cx="133502" cy="114300"/>
          </a:xfrm>
          <a:prstGeom prst="rect">
            <a:avLst/>
          </a:prstGeom>
        </p:spPr>
      </p:pic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9507017" y="3074213"/>
            <a:ext cx="133502" cy="114300"/>
          </a:xfrm>
          <a:prstGeom prst="rect">
            <a:avLst/>
          </a:prstGeom>
        </p:spPr>
      </p:pic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-1911" r="-1911" t="0" b="0"/>
          <a:stretch/>
        </p:blipFill>
        <p:spPr>
          <a:xfrm>
            <a:off x="9640519" y="3074213"/>
            <a:ext cx="133502" cy="114300"/>
          </a:xfrm>
          <a:prstGeom prst="rect">
            <a:avLst/>
          </a:prstGeom>
        </p:spPr>
      </p:pic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rcRect l="-1911" r="-1911" t="0" b="0"/>
          <a:stretch/>
        </p:blipFill>
        <p:spPr>
          <a:xfrm>
            <a:off x="9774022" y="3074213"/>
            <a:ext cx="133502" cy="114300"/>
          </a:xfrm>
          <a:prstGeom prst="rect">
            <a:avLst/>
          </a:prstGeom>
        </p:spPr>
      </p:pic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rcRect l="-1911" r="-1911" t="0" b="0"/>
          <a:stretch/>
        </p:blipFill>
        <p:spPr>
          <a:xfrm>
            <a:off x="9906610" y="3074213"/>
            <a:ext cx="133502" cy="114300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9213494" y="324063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低（ライセンスのみ）</a:t>
            </a:r>
            <a:endParaRPr lang="en-US" sz="800" dirty="0"/>
          </a:p>
        </p:txBody>
      </p:sp>
      <p:sp>
        <p:nvSpPr>
          <p:cNvPr id="54" name="Shape 37"/>
          <p:cNvSpPr/>
          <p:nvPr/>
        </p:nvSpPr>
        <p:spPr>
          <a:xfrm>
            <a:off x="10436962" y="3489350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-1911" r="-1911" t="0" b="0"/>
          <a:stretch/>
        </p:blipFill>
        <p:spPr>
          <a:xfrm>
            <a:off x="10823753" y="3074213"/>
            <a:ext cx="133502" cy="114300"/>
          </a:xfrm>
          <a:prstGeom prst="rect">
            <a:avLst/>
          </a:prstGeom>
        </p:spPr>
      </p:pic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rcRect l="-1911" r="-1911" t="0" b="0"/>
          <a:stretch/>
        </p:blipFill>
        <p:spPr>
          <a:xfrm>
            <a:off x="10957255" y="3074213"/>
            <a:ext cx="133502" cy="114300"/>
          </a:xfrm>
          <a:prstGeom prst="rect">
            <a:avLst/>
          </a:prstGeom>
        </p:spPr>
      </p:pic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rcRect l="-1911" r="-1911" t="0" b="0"/>
          <a:stretch/>
        </p:blipFill>
        <p:spPr>
          <a:xfrm>
            <a:off x="11090758" y="3074213"/>
            <a:ext cx="133502" cy="114300"/>
          </a:xfrm>
          <a:prstGeom prst="rect">
            <a:avLst/>
          </a:prstGeom>
        </p:spPr>
      </p:pic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rcRect l="-1911" r="-1911" t="0" b="0"/>
          <a:stretch/>
        </p:blipFill>
        <p:spPr>
          <a:xfrm>
            <a:off x="11224260" y="3074213"/>
            <a:ext cx="133502" cy="114300"/>
          </a:xfrm>
          <a:prstGeom prst="rect">
            <a:avLst/>
          </a:prstGeom>
        </p:spPr>
      </p:pic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-1911" r="-1911" t="0" b="0"/>
          <a:stretch/>
        </p:blipFill>
        <p:spPr>
          <a:xfrm>
            <a:off x="11356848" y="3074213"/>
            <a:ext cx="133502" cy="114300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10596982" y="3240634"/>
            <a:ext cx="1200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低-中（プロンプト理解）</a:t>
            </a:r>
            <a:endParaRPr lang="en-US" sz="800" dirty="0"/>
          </a:p>
        </p:txBody>
      </p:sp>
      <p:sp>
        <p:nvSpPr>
          <p:cNvPr id="61" name="Shape 39"/>
          <p:cNvSpPr/>
          <p:nvPr/>
        </p:nvSpPr>
        <p:spPr>
          <a:xfrm>
            <a:off x="314554" y="3498494"/>
            <a:ext cx="11563502" cy="543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40"/>
          <p:cNvSpPr/>
          <p:nvPr/>
        </p:nvSpPr>
        <p:spPr>
          <a:xfrm>
            <a:off x="314554" y="3498494"/>
            <a:ext cx="1933956" cy="543154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41"/>
          <p:cNvSpPr txBox="1"/>
          <p:nvPr/>
        </p:nvSpPr>
        <p:spPr>
          <a:xfrm>
            <a:off x="700430" y="3669487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事例3：会議後作業</a:t>
            </a:r>
            <a:endParaRPr lang="en-US" sz="1000" dirty="0"/>
          </a:p>
        </p:txBody>
      </p:sp>
      <p:sp>
        <p:nvSpPr>
          <p:cNvPr id="64" name="Shape 42"/>
          <p:cNvSpPr/>
          <p:nvPr/>
        </p:nvSpPr>
        <p:spPr>
          <a:xfrm>
            <a:off x="2241194" y="3498494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43"/>
          <p:cNvSpPr txBox="1"/>
          <p:nvPr/>
        </p:nvSpPr>
        <p:spPr>
          <a:xfrm>
            <a:off x="2355494" y="3669487"/>
            <a:ext cx="3225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会議後作業の短縮（議事メモ→論点整理→ToDo化）</a:t>
            </a:r>
            <a:endParaRPr lang="en-US" sz="1000" dirty="0"/>
          </a:p>
        </p:txBody>
      </p:sp>
      <p:sp>
        <p:nvSpPr>
          <p:cNvPr id="66" name="Shape 44"/>
          <p:cNvSpPr/>
          <p:nvPr/>
        </p:nvSpPr>
        <p:spPr>
          <a:xfrm>
            <a:off x="6096305" y="3498494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45"/>
          <p:cNvSpPr txBox="1"/>
          <p:nvPr/>
        </p:nvSpPr>
        <p:spPr>
          <a:xfrm>
            <a:off x="6210605" y="3574390"/>
            <a:ext cx="26718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ドラフト24分減 / プレゼン19分減 ※英国政府レポート他</a:t>
            </a:r>
            <a:endParaRPr lang="en-US" sz="1000" dirty="0"/>
          </a:p>
        </p:txBody>
      </p:sp>
      <p:sp>
        <p:nvSpPr>
          <p:cNvPr id="68" name="Shape 46"/>
          <p:cNvSpPr/>
          <p:nvPr/>
        </p:nvSpPr>
        <p:spPr>
          <a:xfrm>
            <a:off x="8986723" y="3498494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rcRect l="-1911" r="-1911" t="0" b="0"/>
          <a:stretch/>
        </p:blipFill>
        <p:spPr>
          <a:xfrm>
            <a:off x="9373514" y="3617366"/>
            <a:ext cx="133502" cy="114300"/>
          </a:xfrm>
          <a:prstGeom prst="rect">
            <a:avLst/>
          </a:prstGeom>
        </p:spPr>
      </p:pic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rcRect l="-1911" r="-1911" t="0" b="0"/>
          <a:stretch/>
        </p:blipFill>
        <p:spPr>
          <a:xfrm>
            <a:off x="9507017" y="3617366"/>
            <a:ext cx="133502" cy="114300"/>
          </a:xfrm>
          <a:prstGeom prst="rect">
            <a:avLst/>
          </a:prstGeom>
        </p:spPr>
      </p:pic>
      <p:pic>
        <p:nvPicPr>
          <p:cNvPr id="71" name="Image 22" descr="preencoded.png">    </p:cNvPr>
          <p:cNvPicPr>
            <a:picLocks noChangeAspect="1"/>
          </p:cNvPicPr>
          <p:nvPr/>
        </p:nvPicPr>
        <p:blipFill>
          <a:blip r:embed="rId23"/>
          <a:srcRect l="-1911" r="-1911" t="0" b="0"/>
          <a:stretch/>
        </p:blipFill>
        <p:spPr>
          <a:xfrm>
            <a:off x="9640519" y="3617366"/>
            <a:ext cx="133502" cy="114300"/>
          </a:xfrm>
          <a:prstGeom prst="rect">
            <a:avLst/>
          </a:prstGeom>
        </p:spPr>
      </p:pic>
      <p:pic>
        <p:nvPicPr>
          <p:cNvPr id="72" name="Image 23" descr="preencoded.png">    </p:cNvPr>
          <p:cNvPicPr>
            <a:picLocks noChangeAspect="1"/>
          </p:cNvPicPr>
          <p:nvPr/>
        </p:nvPicPr>
        <p:blipFill>
          <a:blip r:embed="rId24"/>
          <a:srcRect l="-1911" r="-1911" t="0" b="0"/>
          <a:stretch/>
        </p:blipFill>
        <p:spPr>
          <a:xfrm>
            <a:off x="9774022" y="3617366"/>
            <a:ext cx="133502" cy="114300"/>
          </a:xfrm>
          <a:prstGeom prst="rect">
            <a:avLst/>
          </a:prstGeom>
        </p:spPr>
      </p:pic>
      <p:pic>
        <p:nvPicPr>
          <p:cNvPr id="73" name="Image 24" descr="preencoded.png">    </p:cNvPr>
          <p:cNvPicPr>
            <a:picLocks noChangeAspect="1"/>
          </p:cNvPicPr>
          <p:nvPr/>
        </p:nvPicPr>
        <p:blipFill>
          <a:blip r:embed="rId25"/>
          <a:srcRect l="-1911" r="-1911" t="0" b="0"/>
          <a:stretch/>
        </p:blipFill>
        <p:spPr>
          <a:xfrm>
            <a:off x="9906610" y="3617366"/>
            <a:ext cx="133502" cy="114300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9360713" y="378378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低（標準機能）</a:t>
            </a:r>
            <a:endParaRPr lang="en-US" sz="800" dirty="0"/>
          </a:p>
        </p:txBody>
      </p:sp>
      <p:sp>
        <p:nvSpPr>
          <p:cNvPr id="75" name="Shape 48"/>
          <p:cNvSpPr/>
          <p:nvPr/>
        </p:nvSpPr>
        <p:spPr>
          <a:xfrm>
            <a:off x="10436962" y="4032504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76" name="Image 25" descr="preencoded.png">    </p:cNvPr>
          <p:cNvPicPr>
            <a:picLocks noChangeAspect="1"/>
          </p:cNvPicPr>
          <p:nvPr/>
        </p:nvPicPr>
        <p:blipFill>
          <a:blip r:embed="rId26"/>
          <a:srcRect l="-1911" r="-1911" t="0" b="0"/>
          <a:stretch/>
        </p:blipFill>
        <p:spPr>
          <a:xfrm>
            <a:off x="10823753" y="3617366"/>
            <a:ext cx="133502" cy="114300"/>
          </a:xfrm>
          <a:prstGeom prst="rect">
            <a:avLst/>
          </a:prstGeom>
        </p:spPr>
      </p:pic>
      <p:pic>
        <p:nvPicPr>
          <p:cNvPr id="77" name="Image 26" descr="preencoded.png">    </p:cNvPr>
          <p:cNvPicPr>
            <a:picLocks noChangeAspect="1"/>
          </p:cNvPicPr>
          <p:nvPr/>
        </p:nvPicPr>
        <p:blipFill>
          <a:blip r:embed="rId27"/>
          <a:srcRect l="-1911" r="-1911" t="0" b="0"/>
          <a:stretch/>
        </p:blipFill>
        <p:spPr>
          <a:xfrm>
            <a:off x="10957255" y="3617366"/>
            <a:ext cx="133502" cy="114300"/>
          </a:xfrm>
          <a:prstGeom prst="rect">
            <a:avLst/>
          </a:prstGeom>
        </p:spPr>
      </p:pic>
      <p:pic>
        <p:nvPicPr>
          <p:cNvPr id="78" name="Image 27" descr="preencoded.png">    </p:cNvPr>
          <p:cNvPicPr>
            <a:picLocks noChangeAspect="1"/>
          </p:cNvPicPr>
          <p:nvPr/>
        </p:nvPicPr>
        <p:blipFill>
          <a:blip r:embed="rId28"/>
          <a:srcRect l="-1911" r="-1911" t="0" b="0"/>
          <a:stretch/>
        </p:blipFill>
        <p:spPr>
          <a:xfrm>
            <a:off x="11090758" y="3617366"/>
            <a:ext cx="133502" cy="114300"/>
          </a:xfrm>
          <a:prstGeom prst="rect">
            <a:avLst/>
          </a:prstGeom>
        </p:spPr>
      </p:pic>
      <p:pic>
        <p:nvPicPr>
          <p:cNvPr id="79" name="Image 28" descr="preencoded.png">    </p:cNvPr>
          <p:cNvPicPr>
            <a:picLocks noChangeAspect="1"/>
          </p:cNvPicPr>
          <p:nvPr/>
        </p:nvPicPr>
        <p:blipFill>
          <a:blip r:embed="rId29"/>
          <a:srcRect l="-1911" r="-1911" t="0" b="0"/>
          <a:stretch/>
        </p:blipFill>
        <p:spPr>
          <a:xfrm>
            <a:off x="11224260" y="3617366"/>
            <a:ext cx="133502" cy="114300"/>
          </a:xfrm>
          <a:prstGeom prst="rect">
            <a:avLst/>
          </a:prstGeom>
        </p:spPr>
      </p:pic>
      <p:pic>
        <p:nvPicPr>
          <p:cNvPr id="80" name="Image 29" descr="preencoded.png">    </p:cNvPr>
          <p:cNvPicPr>
            <a:picLocks noChangeAspect="1"/>
          </p:cNvPicPr>
          <p:nvPr/>
        </p:nvPicPr>
        <p:blipFill>
          <a:blip r:embed="rId30"/>
          <a:srcRect l="-1911" r="-1911" t="0" b="0"/>
          <a:stretch/>
        </p:blipFill>
        <p:spPr>
          <a:xfrm>
            <a:off x="11356848" y="3617366"/>
            <a:ext cx="133502" cy="114300"/>
          </a:xfrm>
          <a:prstGeom prst="rect">
            <a:avLst/>
          </a:prstGeom>
        </p:spPr>
      </p:pic>
      <p:sp>
        <p:nvSpPr>
          <p:cNvPr id="81" name="Text 49"/>
          <p:cNvSpPr txBox="1"/>
          <p:nvPr/>
        </p:nvSpPr>
        <p:spPr>
          <a:xfrm>
            <a:off x="10693908" y="3783787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低-中（Teams連携）</a:t>
            </a:r>
            <a:endParaRPr lang="en-US" sz="800" dirty="0"/>
          </a:p>
        </p:txBody>
      </p:sp>
      <p:sp>
        <p:nvSpPr>
          <p:cNvPr id="82" name="Shape 50"/>
          <p:cNvSpPr/>
          <p:nvPr/>
        </p:nvSpPr>
        <p:spPr>
          <a:xfrm>
            <a:off x="314554" y="4040734"/>
            <a:ext cx="11563502" cy="54315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3" name="Shape 51"/>
          <p:cNvSpPr/>
          <p:nvPr/>
        </p:nvSpPr>
        <p:spPr>
          <a:xfrm>
            <a:off x="314554" y="4040734"/>
            <a:ext cx="1933956" cy="543154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52"/>
          <p:cNvSpPr txBox="1"/>
          <p:nvPr/>
        </p:nvSpPr>
        <p:spPr>
          <a:xfrm>
            <a:off x="700430" y="4212641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事例4：提案書作成</a:t>
            </a:r>
            <a:endParaRPr lang="en-US" sz="1000" dirty="0"/>
          </a:p>
        </p:txBody>
      </p:sp>
      <p:sp>
        <p:nvSpPr>
          <p:cNvPr id="85" name="Shape 53"/>
          <p:cNvSpPr/>
          <p:nvPr/>
        </p:nvSpPr>
        <p:spPr>
          <a:xfrm>
            <a:off x="2241194" y="4040734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6" name="Text 54"/>
          <p:cNvSpPr txBox="1"/>
          <p:nvPr/>
        </p:nvSpPr>
        <p:spPr>
          <a:xfrm>
            <a:off x="2355494" y="4212641"/>
            <a:ext cx="3357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提案書/報告スライドのたたき台作成（構成・文章化）</a:t>
            </a:r>
            <a:endParaRPr lang="en-US" sz="1000" dirty="0"/>
          </a:p>
        </p:txBody>
      </p:sp>
      <p:sp>
        <p:nvSpPr>
          <p:cNvPr id="87" name="Shape 55"/>
          <p:cNvSpPr/>
          <p:nvPr/>
        </p:nvSpPr>
        <p:spPr>
          <a:xfrm>
            <a:off x="6096305" y="4040734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8" name="Text 56"/>
          <p:cNvSpPr txBox="1"/>
          <p:nvPr/>
        </p:nvSpPr>
        <p:spPr>
          <a:xfrm>
            <a:off x="6210605" y="4117543"/>
            <a:ext cx="25484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プレゼン作成削減（Word→PPT連携等）※Prague Airport事例他</a:t>
            </a:r>
            <a:endParaRPr lang="en-US" sz="1000" dirty="0"/>
          </a:p>
        </p:txBody>
      </p:sp>
      <p:sp>
        <p:nvSpPr>
          <p:cNvPr id="89" name="Shape 57"/>
          <p:cNvSpPr/>
          <p:nvPr/>
        </p:nvSpPr>
        <p:spPr>
          <a:xfrm>
            <a:off x="8986723" y="4040734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90" name="Image 30" descr="preencoded.png">    </p:cNvPr>
          <p:cNvPicPr>
            <a:picLocks noChangeAspect="1"/>
          </p:cNvPicPr>
          <p:nvPr/>
        </p:nvPicPr>
        <p:blipFill>
          <a:blip r:embed="rId31"/>
          <a:srcRect l="-1911" r="-1911" t="0" b="0"/>
          <a:stretch/>
        </p:blipFill>
        <p:spPr>
          <a:xfrm>
            <a:off x="9373514" y="4159606"/>
            <a:ext cx="133502" cy="114300"/>
          </a:xfrm>
          <a:prstGeom prst="rect">
            <a:avLst/>
          </a:prstGeom>
        </p:spPr>
      </p:pic>
      <p:pic>
        <p:nvPicPr>
          <p:cNvPr id="91" name="Image 31" descr="preencoded.png">    </p:cNvPr>
          <p:cNvPicPr>
            <a:picLocks noChangeAspect="1"/>
          </p:cNvPicPr>
          <p:nvPr/>
        </p:nvPicPr>
        <p:blipFill>
          <a:blip r:embed="rId32"/>
          <a:srcRect l="-1911" r="-1911" t="0" b="0"/>
          <a:stretch/>
        </p:blipFill>
        <p:spPr>
          <a:xfrm>
            <a:off x="9507017" y="4159606"/>
            <a:ext cx="133502" cy="114300"/>
          </a:xfrm>
          <a:prstGeom prst="rect">
            <a:avLst/>
          </a:prstGeom>
        </p:spPr>
      </p:pic>
      <p:pic>
        <p:nvPicPr>
          <p:cNvPr id="92" name="Image 32" descr="preencoded.png">    </p:cNvPr>
          <p:cNvPicPr>
            <a:picLocks noChangeAspect="1"/>
          </p:cNvPicPr>
          <p:nvPr/>
        </p:nvPicPr>
        <p:blipFill>
          <a:blip r:embed="rId33"/>
          <a:srcRect l="-1911" r="-1911" t="0" b="0"/>
          <a:stretch/>
        </p:blipFill>
        <p:spPr>
          <a:xfrm>
            <a:off x="9640519" y="4159606"/>
            <a:ext cx="133502" cy="114300"/>
          </a:xfrm>
          <a:prstGeom prst="rect">
            <a:avLst/>
          </a:prstGeom>
        </p:spPr>
      </p:pic>
      <p:pic>
        <p:nvPicPr>
          <p:cNvPr id="93" name="Image 33" descr="preencoded.png">    </p:cNvPr>
          <p:cNvPicPr>
            <a:picLocks noChangeAspect="1"/>
          </p:cNvPicPr>
          <p:nvPr/>
        </p:nvPicPr>
        <p:blipFill>
          <a:blip r:embed="rId34"/>
          <a:srcRect l="-1911" r="-1911" t="0" b="0"/>
          <a:stretch/>
        </p:blipFill>
        <p:spPr>
          <a:xfrm>
            <a:off x="9774022" y="4159606"/>
            <a:ext cx="133502" cy="114300"/>
          </a:xfrm>
          <a:prstGeom prst="rect">
            <a:avLst/>
          </a:prstGeom>
        </p:spPr>
      </p:pic>
      <p:pic>
        <p:nvPicPr>
          <p:cNvPr id="94" name="Image 34" descr="preencoded.png">    </p:cNvPr>
          <p:cNvPicPr>
            <a:picLocks noChangeAspect="1"/>
          </p:cNvPicPr>
          <p:nvPr/>
        </p:nvPicPr>
        <p:blipFill>
          <a:blip r:embed="rId35"/>
          <a:srcRect l="-1911" r="-1911" t="0" b="0"/>
          <a:stretch/>
        </p:blipFill>
        <p:spPr>
          <a:xfrm>
            <a:off x="9906610" y="4159606"/>
            <a:ext cx="133502" cy="114300"/>
          </a:xfrm>
          <a:prstGeom prst="rect">
            <a:avLst/>
          </a:prstGeom>
        </p:spPr>
      </p:pic>
      <p:sp>
        <p:nvSpPr>
          <p:cNvPr id="95" name="Text 58"/>
          <p:cNvSpPr txBox="1"/>
          <p:nvPr/>
        </p:nvSpPr>
        <p:spPr>
          <a:xfrm>
            <a:off x="9360713" y="4326941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低（標準機能）</a:t>
            </a:r>
            <a:endParaRPr lang="en-US" sz="800" dirty="0"/>
          </a:p>
        </p:txBody>
      </p:sp>
      <p:sp>
        <p:nvSpPr>
          <p:cNvPr id="96" name="Shape 59"/>
          <p:cNvSpPr/>
          <p:nvPr/>
        </p:nvSpPr>
        <p:spPr>
          <a:xfrm>
            <a:off x="10436962" y="4574743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97" name="Image 35" descr="preencoded.png">    </p:cNvPr>
          <p:cNvPicPr>
            <a:picLocks noChangeAspect="1"/>
          </p:cNvPicPr>
          <p:nvPr/>
        </p:nvPicPr>
        <p:blipFill>
          <a:blip r:embed="rId36"/>
          <a:srcRect l="-1911" r="-1911" t="0" b="0"/>
          <a:stretch/>
        </p:blipFill>
        <p:spPr>
          <a:xfrm>
            <a:off x="10823753" y="4159606"/>
            <a:ext cx="133502" cy="114300"/>
          </a:xfrm>
          <a:prstGeom prst="rect">
            <a:avLst/>
          </a:prstGeom>
        </p:spPr>
      </p:pic>
      <p:pic>
        <p:nvPicPr>
          <p:cNvPr id="98" name="Image 36" descr="preencoded.png">    </p:cNvPr>
          <p:cNvPicPr>
            <a:picLocks noChangeAspect="1"/>
          </p:cNvPicPr>
          <p:nvPr/>
        </p:nvPicPr>
        <p:blipFill>
          <a:blip r:embed="rId37"/>
          <a:srcRect l="-1911" r="-1911" t="0" b="0"/>
          <a:stretch/>
        </p:blipFill>
        <p:spPr>
          <a:xfrm>
            <a:off x="10957255" y="4159606"/>
            <a:ext cx="133502" cy="114300"/>
          </a:xfrm>
          <a:prstGeom prst="rect">
            <a:avLst/>
          </a:prstGeom>
        </p:spPr>
      </p:pic>
      <p:pic>
        <p:nvPicPr>
          <p:cNvPr id="99" name="Image 37" descr="preencoded.png">    </p:cNvPr>
          <p:cNvPicPr>
            <a:picLocks noChangeAspect="1"/>
          </p:cNvPicPr>
          <p:nvPr/>
        </p:nvPicPr>
        <p:blipFill>
          <a:blip r:embed="rId38"/>
          <a:srcRect l="-1911" r="-1911" t="0" b="0"/>
          <a:stretch/>
        </p:blipFill>
        <p:spPr>
          <a:xfrm>
            <a:off x="11090758" y="4159606"/>
            <a:ext cx="133502" cy="114300"/>
          </a:xfrm>
          <a:prstGeom prst="rect">
            <a:avLst/>
          </a:prstGeom>
        </p:spPr>
      </p:pic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rcRect l="-1911" r="-1911" t="0" b="0"/>
          <a:stretch/>
        </p:blipFill>
        <p:spPr>
          <a:xfrm>
            <a:off x="11224260" y="4159606"/>
            <a:ext cx="133502" cy="114300"/>
          </a:xfrm>
          <a:prstGeom prst="rect">
            <a:avLst/>
          </a:prstGeom>
        </p:spPr>
      </p:pic>
      <p:pic>
        <p:nvPicPr>
          <p:cNvPr id="101" name="Image 39" descr="preencoded.png">    </p:cNvPr>
          <p:cNvPicPr>
            <a:picLocks noChangeAspect="1"/>
          </p:cNvPicPr>
          <p:nvPr/>
        </p:nvPicPr>
        <p:blipFill>
          <a:blip r:embed="rId40"/>
          <a:srcRect l="-1911" r="-1911" t="0" b="0"/>
          <a:stretch/>
        </p:blipFill>
        <p:spPr>
          <a:xfrm>
            <a:off x="11356848" y="4159606"/>
            <a:ext cx="133502" cy="114300"/>
          </a:xfrm>
          <a:prstGeom prst="rect">
            <a:avLst/>
          </a:prstGeom>
        </p:spPr>
      </p:pic>
      <p:sp>
        <p:nvSpPr>
          <p:cNvPr id="102" name="Text 60"/>
          <p:cNvSpPr txBox="1"/>
          <p:nvPr/>
        </p:nvSpPr>
        <p:spPr>
          <a:xfrm>
            <a:off x="10645445" y="4326941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低-中（アプリ間連携）</a:t>
            </a:r>
            <a:endParaRPr lang="en-US" sz="800" dirty="0"/>
          </a:p>
        </p:txBody>
      </p:sp>
      <p:sp>
        <p:nvSpPr>
          <p:cNvPr id="103" name="Shape 61"/>
          <p:cNvSpPr/>
          <p:nvPr/>
        </p:nvSpPr>
        <p:spPr>
          <a:xfrm>
            <a:off x="314554" y="4583887"/>
            <a:ext cx="11563502" cy="543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62"/>
          <p:cNvSpPr/>
          <p:nvPr/>
        </p:nvSpPr>
        <p:spPr>
          <a:xfrm>
            <a:off x="314554" y="4583887"/>
            <a:ext cx="1933956" cy="543154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63"/>
          <p:cNvSpPr txBox="1"/>
          <p:nvPr/>
        </p:nvSpPr>
        <p:spPr>
          <a:xfrm>
            <a:off x="633679" y="475579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事例5：長文レビュー</a:t>
            </a:r>
            <a:endParaRPr lang="en-US" sz="1000" dirty="0"/>
          </a:p>
        </p:txBody>
      </p:sp>
      <p:sp>
        <p:nvSpPr>
          <p:cNvPr id="106" name="Shape 64"/>
          <p:cNvSpPr/>
          <p:nvPr/>
        </p:nvSpPr>
        <p:spPr>
          <a:xfrm>
            <a:off x="2241194" y="4583887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65"/>
          <p:cNvSpPr txBox="1"/>
          <p:nvPr/>
        </p:nvSpPr>
        <p:spPr>
          <a:xfrm>
            <a:off x="2355494" y="4755794"/>
            <a:ext cx="2815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契約書・規程など"長文"の要約/レビュー支援</a:t>
            </a:r>
            <a:endParaRPr lang="en-US" sz="1000" dirty="0"/>
          </a:p>
        </p:txBody>
      </p:sp>
      <p:sp>
        <p:nvSpPr>
          <p:cNvPr id="108" name="Shape 66"/>
          <p:cNvSpPr/>
          <p:nvPr/>
        </p:nvSpPr>
        <p:spPr>
          <a:xfrm>
            <a:off x="6096305" y="4583887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67"/>
          <p:cNvSpPr txBox="1"/>
          <p:nvPr/>
        </p:nvSpPr>
        <p:spPr>
          <a:xfrm>
            <a:off x="6210605" y="4659782"/>
            <a:ext cx="27486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法務領域の時間削減 週4時間/人 ※Vodafone事例</a:t>
            </a:r>
            <a:endParaRPr lang="en-US" sz="1000" dirty="0"/>
          </a:p>
        </p:txBody>
      </p:sp>
      <p:sp>
        <p:nvSpPr>
          <p:cNvPr id="110" name="Shape 68"/>
          <p:cNvSpPr/>
          <p:nvPr/>
        </p:nvSpPr>
        <p:spPr>
          <a:xfrm>
            <a:off x="8986723" y="4583887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111" name="Image 40" descr="preencoded.png">    </p:cNvPr>
          <p:cNvPicPr>
            <a:picLocks noChangeAspect="1"/>
          </p:cNvPicPr>
          <p:nvPr/>
        </p:nvPicPr>
        <p:blipFill>
          <a:blip r:embed="rId41"/>
          <a:srcRect l="-1911" r="-1911" t="0" b="0"/>
          <a:stretch/>
        </p:blipFill>
        <p:spPr>
          <a:xfrm>
            <a:off x="9373514" y="4702759"/>
            <a:ext cx="133502" cy="114300"/>
          </a:xfrm>
          <a:prstGeom prst="rect">
            <a:avLst/>
          </a:prstGeom>
        </p:spPr>
      </p:pic>
      <p:pic>
        <p:nvPicPr>
          <p:cNvPr id="112" name="Image 41" descr="preencoded.png">    </p:cNvPr>
          <p:cNvPicPr>
            <a:picLocks noChangeAspect="1"/>
          </p:cNvPicPr>
          <p:nvPr/>
        </p:nvPicPr>
        <p:blipFill>
          <a:blip r:embed="rId42"/>
          <a:srcRect l="-1911" r="-1911" t="0" b="0"/>
          <a:stretch/>
        </p:blipFill>
        <p:spPr>
          <a:xfrm>
            <a:off x="9507017" y="4702759"/>
            <a:ext cx="133502" cy="114300"/>
          </a:xfrm>
          <a:prstGeom prst="rect">
            <a:avLst/>
          </a:prstGeom>
        </p:spPr>
      </p:pic>
      <p:pic>
        <p:nvPicPr>
          <p:cNvPr id="113" name="Image 42" descr="preencoded.png">    </p:cNvPr>
          <p:cNvPicPr>
            <a:picLocks noChangeAspect="1"/>
          </p:cNvPicPr>
          <p:nvPr/>
        </p:nvPicPr>
        <p:blipFill>
          <a:blip r:embed="rId43"/>
          <a:srcRect l="-1911" r="-1911" t="0" b="0"/>
          <a:stretch/>
        </p:blipFill>
        <p:spPr>
          <a:xfrm>
            <a:off x="9640519" y="4702759"/>
            <a:ext cx="133502" cy="114300"/>
          </a:xfrm>
          <a:prstGeom prst="rect">
            <a:avLst/>
          </a:prstGeom>
        </p:spPr>
      </p:pic>
      <p:pic>
        <p:nvPicPr>
          <p:cNvPr id="114" name="Image 43" descr="preencoded.png">    </p:cNvPr>
          <p:cNvPicPr>
            <a:picLocks noChangeAspect="1"/>
          </p:cNvPicPr>
          <p:nvPr/>
        </p:nvPicPr>
        <p:blipFill>
          <a:blip r:embed="rId44"/>
          <a:srcRect l="-1911" r="-1911" t="0" b="0"/>
          <a:stretch/>
        </p:blipFill>
        <p:spPr>
          <a:xfrm>
            <a:off x="9774022" y="4702759"/>
            <a:ext cx="133502" cy="114300"/>
          </a:xfrm>
          <a:prstGeom prst="rect">
            <a:avLst/>
          </a:prstGeom>
        </p:spPr>
      </p:pic>
      <p:pic>
        <p:nvPicPr>
          <p:cNvPr id="115" name="Image 44" descr="preencoded.png">    </p:cNvPr>
          <p:cNvPicPr>
            <a:picLocks noChangeAspect="1"/>
          </p:cNvPicPr>
          <p:nvPr/>
        </p:nvPicPr>
        <p:blipFill>
          <a:blip r:embed="rId45"/>
          <a:srcRect l="-1911" r="-1911" t="0" b="0"/>
          <a:stretch/>
        </p:blipFill>
        <p:spPr>
          <a:xfrm>
            <a:off x="9906610" y="4702759"/>
            <a:ext cx="133502" cy="114300"/>
          </a:xfrm>
          <a:prstGeom prst="rect">
            <a:avLst/>
          </a:prstGeom>
        </p:spPr>
      </p:pic>
      <p:sp>
        <p:nvSpPr>
          <p:cNvPr id="116" name="Text 69"/>
          <p:cNvSpPr txBox="1"/>
          <p:nvPr/>
        </p:nvSpPr>
        <p:spPr>
          <a:xfrm>
            <a:off x="9213494" y="487009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低（ライセンスのみ）</a:t>
            </a:r>
            <a:endParaRPr lang="en-US" sz="800" dirty="0"/>
          </a:p>
        </p:txBody>
      </p:sp>
      <p:sp>
        <p:nvSpPr>
          <p:cNvPr id="117" name="Shape 70"/>
          <p:cNvSpPr/>
          <p:nvPr/>
        </p:nvSpPr>
        <p:spPr>
          <a:xfrm>
            <a:off x="10436962" y="5117897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18" name="Image 45" descr="preencoded.png">    </p:cNvPr>
          <p:cNvPicPr>
            <a:picLocks noChangeAspect="1"/>
          </p:cNvPicPr>
          <p:nvPr/>
        </p:nvPicPr>
        <p:blipFill>
          <a:blip r:embed="rId46"/>
          <a:srcRect l="-1911" r="-1911" t="0" b="0"/>
          <a:stretch/>
        </p:blipFill>
        <p:spPr>
          <a:xfrm>
            <a:off x="10823753" y="4702759"/>
            <a:ext cx="133502" cy="114300"/>
          </a:xfrm>
          <a:prstGeom prst="rect">
            <a:avLst/>
          </a:prstGeom>
        </p:spPr>
      </p:pic>
      <p:pic>
        <p:nvPicPr>
          <p:cNvPr id="119" name="Image 46" descr="preencoded.png">    </p:cNvPr>
          <p:cNvPicPr>
            <a:picLocks noChangeAspect="1"/>
          </p:cNvPicPr>
          <p:nvPr/>
        </p:nvPicPr>
        <p:blipFill>
          <a:blip r:embed="rId47"/>
          <a:srcRect l="-1911" r="-1911" t="0" b="0"/>
          <a:stretch/>
        </p:blipFill>
        <p:spPr>
          <a:xfrm>
            <a:off x="10957255" y="4702759"/>
            <a:ext cx="133502" cy="114300"/>
          </a:xfrm>
          <a:prstGeom prst="rect">
            <a:avLst/>
          </a:prstGeom>
        </p:spPr>
      </p:pic>
      <p:pic>
        <p:nvPicPr>
          <p:cNvPr id="120" name="Image 47" descr="preencoded.png">    </p:cNvPr>
          <p:cNvPicPr>
            <a:picLocks noChangeAspect="1"/>
          </p:cNvPicPr>
          <p:nvPr/>
        </p:nvPicPr>
        <p:blipFill>
          <a:blip r:embed="rId48"/>
          <a:srcRect l="-1911" r="-1911" t="0" b="0"/>
          <a:stretch/>
        </p:blipFill>
        <p:spPr>
          <a:xfrm>
            <a:off x="11090758" y="4702759"/>
            <a:ext cx="133502" cy="114300"/>
          </a:xfrm>
          <a:prstGeom prst="rect">
            <a:avLst/>
          </a:prstGeom>
        </p:spPr>
      </p:pic>
      <p:pic>
        <p:nvPicPr>
          <p:cNvPr id="121" name="Image 48" descr="preencoded.png">    </p:cNvPr>
          <p:cNvPicPr>
            <a:picLocks noChangeAspect="1"/>
          </p:cNvPicPr>
          <p:nvPr/>
        </p:nvPicPr>
        <p:blipFill>
          <a:blip r:embed="rId49"/>
          <a:srcRect l="-1911" r="-1911" t="0" b="0"/>
          <a:stretch/>
        </p:blipFill>
        <p:spPr>
          <a:xfrm>
            <a:off x="11224260" y="4702759"/>
            <a:ext cx="133502" cy="114300"/>
          </a:xfrm>
          <a:prstGeom prst="rect">
            <a:avLst/>
          </a:prstGeom>
        </p:spPr>
      </p:pic>
      <p:pic>
        <p:nvPicPr>
          <p:cNvPr id="122" name="Image 49" descr="preencoded.png">    </p:cNvPr>
          <p:cNvPicPr>
            <a:picLocks noChangeAspect="1"/>
          </p:cNvPicPr>
          <p:nvPr/>
        </p:nvPicPr>
        <p:blipFill>
          <a:blip r:embed="rId50"/>
          <a:srcRect l="-1911" r="-1911" t="0" b="0"/>
          <a:stretch/>
        </p:blipFill>
        <p:spPr>
          <a:xfrm>
            <a:off x="11356848" y="4702759"/>
            <a:ext cx="133502" cy="114300"/>
          </a:xfrm>
          <a:prstGeom prst="rect">
            <a:avLst/>
          </a:prstGeom>
        </p:spPr>
      </p:pic>
      <p:sp>
        <p:nvSpPr>
          <p:cNvPr id="123" name="Text 71"/>
          <p:cNvSpPr txBox="1"/>
          <p:nvPr/>
        </p:nvSpPr>
        <p:spPr>
          <a:xfrm>
            <a:off x="10645445" y="4870094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低-中（長文処理理解）</a:t>
            </a:r>
            <a:endParaRPr lang="en-US" sz="800" dirty="0"/>
          </a:p>
        </p:txBody>
      </p:sp>
      <p:sp>
        <p:nvSpPr>
          <p:cNvPr id="124" name="Shape 72"/>
          <p:cNvSpPr/>
          <p:nvPr/>
        </p:nvSpPr>
        <p:spPr>
          <a:xfrm>
            <a:off x="314554" y="5127041"/>
            <a:ext cx="11563502" cy="54315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5" name="Shape 73"/>
          <p:cNvSpPr/>
          <p:nvPr/>
        </p:nvSpPr>
        <p:spPr>
          <a:xfrm>
            <a:off x="314554" y="5127041"/>
            <a:ext cx="1933956" cy="543154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6" name="Text 74"/>
          <p:cNvSpPr txBox="1"/>
          <p:nvPr/>
        </p:nvSpPr>
        <p:spPr>
          <a:xfrm>
            <a:off x="767182" y="529803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事例6：横断検索</a:t>
            </a:r>
            <a:endParaRPr lang="en-US" sz="1000" dirty="0"/>
          </a:p>
        </p:txBody>
      </p:sp>
      <p:sp>
        <p:nvSpPr>
          <p:cNvPr id="127" name="Shape 75"/>
          <p:cNvSpPr/>
          <p:nvPr/>
        </p:nvSpPr>
        <p:spPr>
          <a:xfrm>
            <a:off x="2241194" y="5127041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8" name="Text 76"/>
          <p:cNvSpPr txBox="1"/>
          <p:nvPr/>
        </p:nvSpPr>
        <p:spPr>
          <a:xfrm>
            <a:off x="2355494" y="5298034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社内規程・手順の横断検索（探す時間の短縮）</a:t>
            </a:r>
            <a:endParaRPr lang="en-US" sz="1000" dirty="0"/>
          </a:p>
        </p:txBody>
      </p:sp>
      <p:sp>
        <p:nvSpPr>
          <p:cNvPr id="129" name="Shape 77"/>
          <p:cNvSpPr/>
          <p:nvPr/>
        </p:nvSpPr>
        <p:spPr>
          <a:xfrm>
            <a:off x="6096305" y="5127041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0" name="Text 78"/>
          <p:cNvSpPr txBox="1"/>
          <p:nvPr/>
        </p:nvSpPr>
        <p:spPr>
          <a:xfrm>
            <a:off x="6210605" y="5202936"/>
            <a:ext cx="26627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SharePoint横断検索エージェント構築、手作業検索を削減 ※Capita事例</a:t>
            </a:r>
            <a:endParaRPr lang="en-US" sz="1000" dirty="0"/>
          </a:p>
        </p:txBody>
      </p:sp>
      <p:sp>
        <p:nvSpPr>
          <p:cNvPr id="131" name="Shape 79"/>
          <p:cNvSpPr/>
          <p:nvPr/>
        </p:nvSpPr>
        <p:spPr>
          <a:xfrm>
            <a:off x="8986723" y="5127041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132" name="Image 50" descr="preencoded.png">    </p:cNvPr>
          <p:cNvPicPr>
            <a:picLocks noChangeAspect="1"/>
          </p:cNvPicPr>
          <p:nvPr/>
        </p:nvPicPr>
        <p:blipFill>
          <a:blip r:embed="rId51"/>
          <a:srcRect l="-1911" r="-1911" t="0" b="0"/>
          <a:stretch/>
        </p:blipFill>
        <p:spPr>
          <a:xfrm>
            <a:off x="9373514" y="5245913"/>
            <a:ext cx="133502" cy="114300"/>
          </a:xfrm>
          <a:prstGeom prst="rect">
            <a:avLst/>
          </a:prstGeom>
        </p:spPr>
      </p:pic>
      <p:pic>
        <p:nvPicPr>
          <p:cNvPr id="133" name="Image 51" descr="preencoded.png">    </p:cNvPr>
          <p:cNvPicPr>
            <a:picLocks noChangeAspect="1"/>
          </p:cNvPicPr>
          <p:nvPr/>
        </p:nvPicPr>
        <p:blipFill>
          <a:blip r:embed="rId52"/>
          <a:srcRect l="-1911" r="-1911" t="0" b="0"/>
          <a:stretch/>
        </p:blipFill>
        <p:spPr>
          <a:xfrm>
            <a:off x="9507017" y="5245913"/>
            <a:ext cx="133502" cy="114300"/>
          </a:xfrm>
          <a:prstGeom prst="rect">
            <a:avLst/>
          </a:prstGeom>
        </p:spPr>
      </p:pic>
      <p:pic>
        <p:nvPicPr>
          <p:cNvPr id="134" name="Image 52" descr="preencoded.png">    </p:cNvPr>
          <p:cNvPicPr>
            <a:picLocks noChangeAspect="1"/>
          </p:cNvPicPr>
          <p:nvPr/>
        </p:nvPicPr>
        <p:blipFill>
          <a:blip r:embed="rId53"/>
          <a:srcRect l="-1911" r="-1911" t="0" b="0"/>
          <a:stretch/>
        </p:blipFill>
        <p:spPr>
          <a:xfrm>
            <a:off x="9640519" y="5245913"/>
            <a:ext cx="133502" cy="114300"/>
          </a:xfrm>
          <a:prstGeom prst="rect">
            <a:avLst/>
          </a:prstGeom>
        </p:spPr>
      </p:pic>
      <p:pic>
        <p:nvPicPr>
          <p:cNvPr id="135" name="Image 53" descr="preencoded.png">    </p:cNvPr>
          <p:cNvPicPr>
            <a:picLocks noChangeAspect="1"/>
          </p:cNvPicPr>
          <p:nvPr/>
        </p:nvPicPr>
        <p:blipFill>
          <a:blip r:embed="rId54"/>
          <a:srcRect l="-1911" r="-1911" t="0" b="0"/>
          <a:stretch/>
        </p:blipFill>
        <p:spPr>
          <a:xfrm>
            <a:off x="9774022" y="5245913"/>
            <a:ext cx="133502" cy="114300"/>
          </a:xfrm>
          <a:prstGeom prst="rect">
            <a:avLst/>
          </a:prstGeom>
        </p:spPr>
      </p:pic>
      <p:pic>
        <p:nvPicPr>
          <p:cNvPr id="136" name="Image 54" descr="preencoded.png">    </p:cNvPr>
          <p:cNvPicPr>
            <a:picLocks noChangeAspect="1"/>
          </p:cNvPicPr>
          <p:nvPr/>
        </p:nvPicPr>
        <p:blipFill>
          <a:blip r:embed="rId55"/>
          <a:srcRect l="-1911" r="-1911" t="0" b="0"/>
          <a:stretch/>
        </p:blipFill>
        <p:spPr>
          <a:xfrm>
            <a:off x="9906610" y="5245913"/>
            <a:ext cx="133502" cy="114300"/>
          </a:xfrm>
          <a:prstGeom prst="rect">
            <a:avLst/>
          </a:prstGeom>
        </p:spPr>
      </p:pic>
      <p:sp>
        <p:nvSpPr>
          <p:cNvPr id="137" name="Text 80"/>
          <p:cNvSpPr txBox="1"/>
          <p:nvPr/>
        </p:nvSpPr>
        <p:spPr>
          <a:xfrm>
            <a:off x="9261958" y="5412334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中（設定・構築要）</a:t>
            </a:r>
            <a:endParaRPr lang="en-US" sz="800" dirty="0"/>
          </a:p>
        </p:txBody>
      </p:sp>
      <p:sp>
        <p:nvSpPr>
          <p:cNvPr id="138" name="Shape 81"/>
          <p:cNvSpPr/>
          <p:nvPr/>
        </p:nvSpPr>
        <p:spPr>
          <a:xfrm>
            <a:off x="10436962" y="5661050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39" name="Image 55" descr="preencoded.png">    </p:cNvPr>
          <p:cNvPicPr>
            <a:picLocks noChangeAspect="1"/>
          </p:cNvPicPr>
          <p:nvPr/>
        </p:nvPicPr>
        <p:blipFill>
          <a:blip r:embed="rId56"/>
          <a:srcRect l="-1911" r="-1911" t="0" b="0"/>
          <a:stretch/>
        </p:blipFill>
        <p:spPr>
          <a:xfrm>
            <a:off x="10823753" y="5245913"/>
            <a:ext cx="133502" cy="114300"/>
          </a:xfrm>
          <a:prstGeom prst="rect">
            <a:avLst/>
          </a:prstGeom>
        </p:spPr>
      </p:pic>
      <p:pic>
        <p:nvPicPr>
          <p:cNvPr id="140" name="Image 56" descr="preencoded.png">    </p:cNvPr>
          <p:cNvPicPr>
            <a:picLocks noChangeAspect="1"/>
          </p:cNvPicPr>
          <p:nvPr/>
        </p:nvPicPr>
        <p:blipFill>
          <a:blip r:embed="rId57"/>
          <a:srcRect l="-1911" r="-1911" t="0" b="0"/>
          <a:stretch/>
        </p:blipFill>
        <p:spPr>
          <a:xfrm>
            <a:off x="10957255" y="5245913"/>
            <a:ext cx="133502" cy="114300"/>
          </a:xfrm>
          <a:prstGeom prst="rect">
            <a:avLst/>
          </a:prstGeom>
        </p:spPr>
      </p:pic>
      <p:pic>
        <p:nvPicPr>
          <p:cNvPr id="141" name="Image 57" descr="preencoded.png">    </p:cNvPr>
          <p:cNvPicPr>
            <a:picLocks noChangeAspect="1"/>
          </p:cNvPicPr>
          <p:nvPr/>
        </p:nvPicPr>
        <p:blipFill>
          <a:blip r:embed="rId58"/>
          <a:srcRect l="-1911" r="-1911" t="0" b="0"/>
          <a:stretch/>
        </p:blipFill>
        <p:spPr>
          <a:xfrm>
            <a:off x="11090758" y="5245913"/>
            <a:ext cx="133502" cy="114300"/>
          </a:xfrm>
          <a:prstGeom prst="rect">
            <a:avLst/>
          </a:prstGeom>
        </p:spPr>
      </p:pic>
      <p:pic>
        <p:nvPicPr>
          <p:cNvPr id="142" name="Image 58" descr="preencoded.png">    </p:cNvPr>
          <p:cNvPicPr>
            <a:picLocks noChangeAspect="1"/>
          </p:cNvPicPr>
          <p:nvPr/>
        </p:nvPicPr>
        <p:blipFill>
          <a:blip r:embed="rId59"/>
          <a:srcRect l="-1911" r="-1911" t="0" b="0"/>
          <a:stretch/>
        </p:blipFill>
        <p:spPr>
          <a:xfrm>
            <a:off x="11224260" y="5245913"/>
            <a:ext cx="133502" cy="114300"/>
          </a:xfrm>
          <a:prstGeom prst="rect">
            <a:avLst/>
          </a:prstGeom>
        </p:spPr>
      </p:pic>
      <p:pic>
        <p:nvPicPr>
          <p:cNvPr id="143" name="Image 59" descr="preencoded.png">    </p:cNvPr>
          <p:cNvPicPr>
            <a:picLocks noChangeAspect="1"/>
          </p:cNvPicPr>
          <p:nvPr/>
        </p:nvPicPr>
        <p:blipFill>
          <a:blip r:embed="rId60"/>
          <a:srcRect l="-1911" r="-1911" t="0" b="0"/>
          <a:stretch/>
        </p:blipFill>
        <p:spPr>
          <a:xfrm>
            <a:off x="11356848" y="5245913"/>
            <a:ext cx="133502" cy="114300"/>
          </a:xfrm>
          <a:prstGeom prst="rect">
            <a:avLst/>
          </a:prstGeom>
        </p:spPr>
      </p:pic>
      <p:sp>
        <p:nvSpPr>
          <p:cNvPr id="144" name="Text 82"/>
          <p:cNvSpPr txBox="1"/>
          <p:nvPr/>
        </p:nvSpPr>
        <p:spPr>
          <a:xfrm>
            <a:off x="10612526" y="5412334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中（知識・サポート要）</a:t>
            </a:r>
            <a:endParaRPr lang="en-US" sz="800" dirty="0"/>
          </a:p>
        </p:txBody>
      </p:sp>
      <p:sp>
        <p:nvSpPr>
          <p:cNvPr id="145" name="Shape 83"/>
          <p:cNvSpPr/>
          <p:nvPr/>
        </p:nvSpPr>
        <p:spPr>
          <a:xfrm>
            <a:off x="314554" y="5670194"/>
            <a:ext cx="1156350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Shape 84"/>
          <p:cNvSpPr/>
          <p:nvPr/>
        </p:nvSpPr>
        <p:spPr>
          <a:xfrm>
            <a:off x="314554" y="5670194"/>
            <a:ext cx="1933956" cy="3429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7" name="Shape 85"/>
          <p:cNvSpPr/>
          <p:nvPr/>
        </p:nvSpPr>
        <p:spPr>
          <a:xfrm>
            <a:off x="2239366" y="5670194"/>
            <a:ext cx="9144" cy="3429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8" name="Text 86"/>
          <p:cNvSpPr txBox="1"/>
          <p:nvPr/>
        </p:nvSpPr>
        <p:spPr>
          <a:xfrm>
            <a:off x="739750" y="5746090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（補足）定常利用</a:t>
            </a:r>
            <a:endParaRPr lang="en-US" sz="1000" dirty="0"/>
          </a:p>
        </p:txBody>
      </p:sp>
      <p:sp>
        <p:nvSpPr>
          <p:cNvPr id="149" name="Shape 87"/>
          <p:cNvSpPr/>
          <p:nvPr/>
        </p:nvSpPr>
        <p:spPr>
          <a:xfrm>
            <a:off x="8984894" y="5670194"/>
            <a:ext cx="9144" cy="3429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0" name="Text 88"/>
          <p:cNvSpPr txBox="1"/>
          <p:nvPr/>
        </p:nvSpPr>
        <p:spPr>
          <a:xfrm>
            <a:off x="2355494" y="5746090"/>
            <a:ext cx="4310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"週次での定常利用"が効果を押し上げる（週1回以上利用者は効果大）</a:t>
            </a:r>
            <a:endParaRPr lang="en-US" sz="1000" dirty="0"/>
          </a:p>
        </p:txBody>
      </p:sp>
      <p:sp>
        <p:nvSpPr>
          <p:cNvPr id="151" name="Shape 89"/>
          <p:cNvSpPr/>
          <p:nvPr/>
        </p:nvSpPr>
        <p:spPr>
          <a:xfrm>
            <a:off x="8986723" y="5670194"/>
            <a:ext cx="1457554" cy="3429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2" name="Shape 90"/>
          <p:cNvSpPr/>
          <p:nvPr/>
        </p:nvSpPr>
        <p:spPr>
          <a:xfrm>
            <a:off x="10435133" y="5670194"/>
            <a:ext cx="9144" cy="3429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3" name="Text 91"/>
          <p:cNvSpPr txBox="1"/>
          <p:nvPr/>
        </p:nvSpPr>
        <p:spPr>
          <a:xfrm>
            <a:off x="9687154" y="5755234"/>
            <a:ext cx="133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</a:t>
            </a:r>
            <a:endParaRPr lang="en-US" sz="900" dirty="0"/>
          </a:p>
        </p:txBody>
      </p:sp>
      <p:sp>
        <p:nvSpPr>
          <p:cNvPr id="154" name="Shape 92"/>
          <p:cNvSpPr/>
          <p:nvPr/>
        </p:nvSpPr>
        <p:spPr>
          <a:xfrm>
            <a:off x="10436962" y="5670194"/>
            <a:ext cx="1447495" cy="3429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5" name="Text 93"/>
          <p:cNvSpPr txBox="1"/>
          <p:nvPr/>
        </p:nvSpPr>
        <p:spPr>
          <a:xfrm>
            <a:off x="11137392" y="5755234"/>
            <a:ext cx="133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2026-01-05T02:53:22Z</dcterms:created>
  <dcterms:modified xsi:type="dcterms:W3CDTF">2026-01-05T02:53:22Z</dcterms:modified>
</cp:coreProperties>
</file>