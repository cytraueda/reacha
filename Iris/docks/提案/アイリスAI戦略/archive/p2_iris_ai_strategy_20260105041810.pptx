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image" Target="../media/image-2-40.png"/><Relationship Id="rId41" Type="http://schemas.openxmlformats.org/officeDocument/2006/relationships/image" Target="../media/image-2-41.png"/><Relationship Id="rId42" Type="http://schemas.openxmlformats.org/officeDocument/2006/relationships/image" Target="../media/image-2-42.png"/><Relationship Id="rId43" Type="http://schemas.openxmlformats.org/officeDocument/2006/relationships/image" Target="../media/image-2-43.png"/><Relationship Id="rId44" Type="http://schemas.openxmlformats.org/officeDocument/2006/relationships/image" Target="../media/image-2-44.png"/><Relationship Id="rId45" Type="http://schemas.openxmlformats.org/officeDocument/2006/relationships/image" Target="../media/image-2-45.png"/><Relationship Id="rId46" Type="http://schemas.openxmlformats.org/officeDocument/2006/relationships/image" Target="../media/image-2-46.png"/><Relationship Id="rId47" Type="http://schemas.openxmlformats.org/officeDocument/2006/relationships/image" Target="../media/image-2-47.png"/><Relationship Id="rId48" Type="http://schemas.openxmlformats.org/officeDocument/2006/relationships/image" Target="../media/image-2-48.png"/><Relationship Id="rId49" Type="http://schemas.openxmlformats.org/officeDocument/2006/relationships/image" Target="../media/image-2-49.png"/><Relationship Id="rId50" Type="http://schemas.openxmlformats.org/officeDocument/2006/relationships/image" Target="../media/image-2-50.png"/><Relationship Id="rId51" Type="http://schemas.openxmlformats.org/officeDocument/2006/relationships/image" Target="../media/image-2-51.png"/><Relationship Id="rId52" Type="http://schemas.openxmlformats.org/officeDocument/2006/relationships/image" Target="../media/image-2-52.png"/><Relationship Id="rId53" Type="http://schemas.openxmlformats.org/officeDocument/2006/relationships/image" Target="../media/image-2-53.png"/><Relationship Id="rId54" Type="http://schemas.openxmlformats.org/officeDocument/2006/relationships/image" Target="../media/image-2-54.png"/><Relationship Id="rId55" Type="http://schemas.openxmlformats.org/officeDocument/2006/relationships/image" Target="../media/image-2-55.png"/><Relationship Id="rId56" Type="http://schemas.openxmlformats.org/officeDocument/2006/relationships/image" Target="../media/image-2-56.png"/><Relationship Id="rId57" Type="http://schemas.openxmlformats.org/officeDocument/2006/relationships/image" Target="../media/image-2-57.png"/><Relationship Id="rId58" Type="http://schemas.openxmlformats.org/officeDocument/2006/relationships/image" Target="../media/image-2-58.png"/><Relationship Id="rId59" Type="http://schemas.openxmlformats.org/officeDocument/2006/relationships/image" Target="../media/image-2-59.png"/><Relationship Id="rId60" Type="http://schemas.openxmlformats.org/officeDocument/2006/relationships/image" Target="../media/image-2-60.png"/><Relationship Id="rId61" Type="http://schemas.openxmlformats.org/officeDocument/2006/relationships/slideLayout" Target="../slideLayouts/slideLayout1.xml"/><Relationship Id="rId6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033418" y="171907"/>
            <a:ext cx="4391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P2 アイリスにおけるAI戦略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270102" y="724205"/>
            <a:ext cx="9658807" cy="875995"/>
          </a:xfrm>
          <a:prstGeom prst="roundRect">
            <a:avLst>
              <a:gd name="adj" fmla="val 90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685239" y="838505"/>
            <a:ext cx="90013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AIを戦略的に活用することで、「圧倒的なスピード」と「完璧な品質」を両立し、 従来のトレードオフを超えた競争優位を実現する。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4495" y="1790395"/>
            <a:ext cx="11582705" cy="1047902"/>
          </a:xfrm>
          <a:prstGeom prst="roundRect">
            <a:avLst>
              <a:gd name="adj" fmla="val 9519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4554" y="1800454"/>
            <a:ext cx="4629607" cy="10287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935017" y="1800454"/>
            <a:ext cx="9144" cy="10287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" name="Shape 8"/>
          <p:cNvSpPr/>
          <p:nvPr/>
        </p:nvSpPr>
        <p:spPr>
          <a:xfrm>
            <a:off x="314554" y="1800454"/>
            <a:ext cx="57607" cy="1028700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749" y="1674266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VISION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4749" y="1845259"/>
            <a:ext cx="3143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世界最速の課題解決企業へ。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04749" y="2217420"/>
            <a:ext cx="210037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〜 Global Local Problem Solver 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4749" y="2512771"/>
            <a:ext cx="424373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世界中の「生活の不満」をAIで誰よりも早く見つけ、 日本の品質を世界最速でカタチにして届ける。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9589" y="1800454"/>
            <a:ext cx="6943954" cy="1028700"/>
          </a:xfrm>
          <a:prstGeom prst="rect">
            <a:avLst/>
          </a:prstGeom>
          <a:solidFill>
            <a:srgbClr val="F9FAF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30" b="-530"/>
          <a:stretch/>
        </p:blipFill>
        <p:spPr>
          <a:xfrm>
            <a:off x="5129784" y="1659636"/>
            <a:ext cx="247802" cy="28620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91886" y="1602943"/>
            <a:ext cx="40489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「速いだけではない。AIが品質を保証する。」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491886" y="1945843"/>
            <a:ext cx="626272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世界には「速いが品質が低い」企業と、「品質は良いが遅い」企業しかいません。 我々は、「圧倒的なスピード」と「完璧な品質」を両立させます。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282489" y="2560320"/>
            <a:ext cx="6258154" cy="437998"/>
          </a:xfrm>
          <a:prstGeom prst="roundRect">
            <a:avLst>
              <a:gd name="adj" fmla="val 3630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5640934" y="2655418"/>
            <a:ext cx="5672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それを実現するのが、「AIによる業務の自動化と、自律的な改善」です。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04495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14554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20"/>
          <p:cNvSpPr/>
          <p:nvPr/>
        </p:nvSpPr>
        <p:spPr>
          <a:xfrm>
            <a:off x="314554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66344" y="3228746"/>
            <a:ext cx="133502" cy="15270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335024" y="3161995"/>
            <a:ext cx="18050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For toC（生活者）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502359" y="33960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潜在不満の"超"速解決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14554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487375" y="3853282"/>
            <a:ext cx="35012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「POSに出る前の声を拾い、3ヶ月で棚を変える」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466344" y="4448556"/>
            <a:ext cx="3409798" cy="933602"/>
          </a:xfrm>
          <a:prstGeom prst="roundRect">
            <a:avLst>
              <a:gd name="adj" fmla="val 799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90702" y="4610405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666598" y="4619549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32" name="Text 28"/>
          <p:cNvSpPr txBox="1"/>
          <p:nvPr/>
        </p:nvSpPr>
        <p:spPr>
          <a:xfrm>
            <a:off x="590702" y="4828946"/>
            <a:ext cx="31720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AIによるグローバル・センシング （SNS・レビュー解析）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66344" y="5586070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90702" y="5747918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666598" y="575797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36" name="Text 32"/>
          <p:cNvSpPr txBox="1"/>
          <p:nvPr/>
        </p:nvSpPr>
        <p:spPr>
          <a:xfrm>
            <a:off x="590702" y="5967374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競合が見落とすニッチな不満を発見し、解決策を提示する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4229100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238244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9" name="Shape 35"/>
          <p:cNvSpPr/>
          <p:nvPr/>
        </p:nvSpPr>
        <p:spPr>
          <a:xfrm>
            <a:off x="4238244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rcRect l="-33" r="-33" t="0" b="0"/>
          <a:stretch/>
        </p:blipFill>
        <p:spPr>
          <a:xfrm>
            <a:off x="4390949" y="3228746"/>
            <a:ext cx="171907" cy="152705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5085893" y="3161995"/>
            <a:ext cx="2157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For toB（法人・小売）</a:t>
            </a:r>
            <a:endParaRPr lang="en-US" sz="1300" dirty="0"/>
          </a:p>
        </p:txBody>
      </p:sp>
      <p:sp>
        <p:nvSpPr>
          <p:cNvPr id="42" name="Text 37"/>
          <p:cNvSpPr txBox="1"/>
          <p:nvPr/>
        </p:nvSpPr>
        <p:spPr>
          <a:xfrm>
            <a:off x="5426964" y="3396082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売り場の"最適解"提案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238244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39"/>
          <p:cNvSpPr txBox="1"/>
          <p:nvPr/>
        </p:nvSpPr>
        <p:spPr>
          <a:xfrm>
            <a:off x="4816145" y="3853282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「AIの根拠で、棚ごと提案する」</a:t>
            </a:r>
            <a:endParaRPr lang="en-US" sz="1300" dirty="0"/>
          </a:p>
        </p:txBody>
      </p:sp>
      <p:sp>
        <p:nvSpPr>
          <p:cNvPr id="45" name="Shape 40"/>
          <p:cNvSpPr/>
          <p:nvPr/>
        </p:nvSpPr>
        <p:spPr>
          <a:xfrm>
            <a:off x="4390949" y="4212641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4515307" y="4374490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4591202" y="4383634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48" name="Text 43"/>
          <p:cNvSpPr txBox="1"/>
          <p:nvPr/>
        </p:nvSpPr>
        <p:spPr>
          <a:xfrm>
            <a:off x="4515307" y="4593946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トレンド分析×自社販売データを根拠にしたクロスマーチャンダイジング提案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390949" y="5586070"/>
            <a:ext cx="3409798" cy="886054"/>
          </a:xfrm>
          <a:prstGeom prst="roundRect">
            <a:avLst>
              <a:gd name="adj" fmla="val 8877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515307" y="5747918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4591202" y="5757977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52" name="Text 47"/>
          <p:cNvSpPr txBox="1"/>
          <p:nvPr/>
        </p:nvSpPr>
        <p:spPr>
          <a:xfrm>
            <a:off x="4515307" y="5967374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小売店に「売れる売り場」を提供し、棚の支配力を高める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8153705" y="3057754"/>
            <a:ext cx="3733495" cy="3571646"/>
          </a:xfrm>
          <a:prstGeom prst="roundRect">
            <a:avLst>
              <a:gd name="adj" fmla="val 81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Shape 49"/>
          <p:cNvSpPr/>
          <p:nvPr/>
        </p:nvSpPr>
        <p:spPr>
          <a:xfrm>
            <a:off x="8162849" y="3066898"/>
            <a:ext cx="3715207" cy="3552444"/>
          </a:xfrm>
          <a:prstGeom prst="roundRect">
            <a:avLst>
              <a:gd name="adj" fmla="val 828"/>
            </a:avLst>
          </a:prstGeom>
          <a:noFill/>
          <a:ln w="25400">
            <a:solidFill>
              <a:srgbClr val="DC143C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8162849" y="3066898"/>
            <a:ext cx="3715207" cy="6473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56" name="Shape 51"/>
          <p:cNvSpPr/>
          <p:nvPr/>
        </p:nvSpPr>
        <p:spPr>
          <a:xfrm>
            <a:off x="8162849" y="3705149"/>
            <a:ext cx="3715207" cy="9144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8315554" y="3228746"/>
            <a:ext cx="190195" cy="152705"/>
          </a:xfrm>
          <a:prstGeom prst="rect">
            <a:avLst/>
          </a:prstGeom>
        </p:spPr>
      </p:pic>
      <p:sp>
        <p:nvSpPr>
          <p:cNvPr id="58" name="Text 52"/>
          <p:cNvSpPr txBox="1"/>
          <p:nvPr/>
        </p:nvSpPr>
        <p:spPr>
          <a:xfrm>
            <a:off x="8819388" y="3161995"/>
            <a:ext cx="25392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 Internal（業務・開発）</a:t>
            </a:r>
            <a:endParaRPr lang="en-US" sz="1300" dirty="0"/>
          </a:p>
        </p:txBody>
      </p:sp>
      <p:sp>
        <p:nvSpPr>
          <p:cNvPr id="59" name="Text 53"/>
          <p:cNvSpPr txBox="1"/>
          <p:nvPr/>
        </p:nvSpPr>
        <p:spPr>
          <a:xfrm>
            <a:off x="9150401" y="3396082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自動化と品質の"自律的"進化</a:t>
            </a:r>
            <a:endParaRPr lang="en-US" sz="1000" dirty="0"/>
          </a:p>
        </p:txBody>
      </p:sp>
      <p:sp>
        <p:nvSpPr>
          <p:cNvPr id="60" name="Shape 54"/>
          <p:cNvSpPr/>
          <p:nvPr/>
        </p:nvSpPr>
        <p:spPr>
          <a:xfrm>
            <a:off x="8162849" y="3709721"/>
            <a:ext cx="3715207" cy="2915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 txBox="1"/>
          <p:nvPr/>
        </p:nvSpPr>
        <p:spPr>
          <a:xfrm>
            <a:off x="8648395" y="3853282"/>
            <a:ext cx="28721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「テストし、改良し、業務を回す」</a:t>
            </a:r>
            <a:endParaRPr lang="en-US" sz="1300" dirty="0"/>
          </a:p>
        </p:txBody>
      </p:sp>
      <p:sp>
        <p:nvSpPr>
          <p:cNvPr id="62" name="Shape 56"/>
          <p:cNvSpPr/>
          <p:nvPr/>
        </p:nvSpPr>
        <p:spPr>
          <a:xfrm>
            <a:off x="9202522" y="4174236"/>
            <a:ext cx="1638605" cy="256946"/>
          </a:xfrm>
          <a:prstGeom prst="roundRect">
            <a:avLst>
              <a:gd name="adj" fmla="val 355872"/>
            </a:avLst>
          </a:prstGeom>
          <a:solidFill>
            <a:srgbClr val="FFFFFF"/>
          </a:solidFill>
          <a:ln w="12700">
            <a:solidFill>
              <a:srgbClr val="DC143C"/>
            </a:solidFill>
            <a:prstDash val="solid"/>
          </a:ln>
        </p:spPr>
      </p:sp>
      <p:sp>
        <p:nvSpPr>
          <p:cNvPr id="63" name="Text 57"/>
          <p:cNvSpPr txBox="1"/>
          <p:nvPr/>
        </p:nvSpPr>
        <p:spPr>
          <a:xfrm>
            <a:off x="9326880" y="4221785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業務自動化</a:t>
            </a:r>
            <a:endParaRPr lang="en-US" sz="900" dirty="0"/>
          </a:p>
        </p:txBody>
      </p:sp>
      <p:sp>
        <p:nvSpPr>
          <p:cNvPr id="64" name="Text 58"/>
          <p:cNvSpPr txBox="1"/>
          <p:nvPr/>
        </p:nvSpPr>
        <p:spPr>
          <a:xfrm>
            <a:off x="9935870" y="4200754"/>
            <a:ext cx="300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×</a:t>
            </a:r>
            <a:endParaRPr lang="en-US" sz="1300" dirty="0"/>
          </a:p>
        </p:txBody>
      </p:sp>
      <p:sp>
        <p:nvSpPr>
          <p:cNvPr id="65" name="Text 59"/>
          <p:cNvSpPr txBox="1"/>
          <p:nvPr/>
        </p:nvSpPr>
        <p:spPr>
          <a:xfrm>
            <a:off x="10146182" y="4221785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AI品質保証</a:t>
            </a:r>
            <a:endParaRPr lang="en-US" sz="900" dirty="0"/>
          </a:p>
        </p:txBody>
      </p:sp>
      <p:sp>
        <p:nvSpPr>
          <p:cNvPr id="66" name="Shape 60"/>
          <p:cNvSpPr/>
          <p:nvPr/>
        </p:nvSpPr>
        <p:spPr>
          <a:xfrm>
            <a:off x="8315554" y="4533595"/>
            <a:ext cx="3409798" cy="1057046"/>
          </a:xfrm>
          <a:prstGeom prst="roundRect">
            <a:avLst>
              <a:gd name="adj" fmla="val 6235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8419795" y="4677156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68" name="Text 62"/>
          <p:cNvSpPr txBox="1"/>
          <p:nvPr/>
        </p:nvSpPr>
        <p:spPr>
          <a:xfrm>
            <a:off x="8496605" y="46863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Action</a:t>
            </a:r>
            <a:endParaRPr lang="en-US" sz="900" dirty="0"/>
          </a:p>
        </p:txBody>
      </p:sp>
      <p:sp>
        <p:nvSpPr>
          <p:cNvPr id="69" name="Text 63"/>
          <p:cNvSpPr txBox="1"/>
          <p:nvPr/>
        </p:nvSpPr>
        <p:spPr>
          <a:xfrm>
            <a:off x="8572500" y="4934102"/>
            <a:ext cx="2343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•AIによる商品検証: 設計レビュー・欠陥指摘</a:t>
            </a:r>
            <a:endParaRPr lang="en-US" sz="900" dirty="0"/>
          </a:p>
        </p:txBody>
      </p:sp>
      <p:sp>
        <p:nvSpPr>
          <p:cNvPr id="70" name="Text 64"/>
          <p:cNvSpPr txBox="1"/>
          <p:nvPr/>
        </p:nvSpPr>
        <p:spPr>
          <a:xfrm>
            <a:off x="8572500" y="5134356"/>
            <a:ext cx="21817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•SW開発の自動化: コード生成・デバッグ</a:t>
            </a:r>
            <a:endParaRPr lang="en-US" sz="900" dirty="0"/>
          </a:p>
        </p:txBody>
      </p:sp>
      <p:sp>
        <p:nvSpPr>
          <p:cNvPr id="71" name="Text 65"/>
          <p:cNvSpPr txBox="1"/>
          <p:nvPr/>
        </p:nvSpPr>
        <p:spPr>
          <a:xfrm>
            <a:off x="8572500" y="5333695"/>
            <a:ext cx="2019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•業務プロセスの自動化: 定型業務代行</a:t>
            </a:r>
            <a:endParaRPr lang="en-US" sz="900" dirty="0"/>
          </a:p>
        </p:txBody>
      </p:sp>
      <p:sp>
        <p:nvSpPr>
          <p:cNvPr id="72" name="Shape 66"/>
          <p:cNvSpPr/>
          <p:nvPr/>
        </p:nvSpPr>
        <p:spPr>
          <a:xfrm>
            <a:off x="8315554" y="5629046"/>
            <a:ext cx="3409798" cy="838505"/>
          </a:xfrm>
          <a:prstGeom prst="roundRect">
            <a:avLst>
              <a:gd name="adj" fmla="val 991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8419795" y="5772607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74" name="Text 68"/>
          <p:cNvSpPr txBox="1"/>
          <p:nvPr/>
        </p:nvSpPr>
        <p:spPr>
          <a:xfrm>
            <a:off x="8496605" y="5781751"/>
            <a:ext cx="4005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Value</a:t>
            </a:r>
            <a:endParaRPr lang="en-US" sz="900" dirty="0"/>
          </a:p>
        </p:txBody>
      </p:sp>
      <p:sp>
        <p:nvSpPr>
          <p:cNvPr id="75" name="Text 69"/>
          <p:cNvSpPr txBox="1"/>
          <p:nvPr/>
        </p:nvSpPr>
        <p:spPr>
          <a:xfrm>
            <a:off x="8572500" y="6029554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→手戻りの撲滅・工数削減</a:t>
            </a:r>
            <a:endParaRPr lang="en-US" sz="900" dirty="0"/>
          </a:p>
        </p:txBody>
      </p:sp>
      <p:sp>
        <p:nvSpPr>
          <p:cNvPr id="76" name="Text 70"/>
          <p:cNvSpPr txBox="1"/>
          <p:nvPr/>
        </p:nvSpPr>
        <p:spPr>
          <a:xfrm>
            <a:off x="8572500" y="6210605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→日本品質の高速展開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058461" y="190195"/>
            <a:ext cx="229148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P5 成果創出事例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47395"/>
            <a:ext cx="10620756" cy="733349"/>
          </a:xfrm>
          <a:prstGeom prst="roundRect">
            <a:avLst>
              <a:gd name="adj" fmla="val 1295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88720" y="743407"/>
            <a:ext cx="9949586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Copilotの実証実験・導入事例から、具体的な成果と効果が確認されています。 これらの事例は、導入コストと難易度を踏まえて、自社でも優先的に取り組むべき領域を示しています。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4554" y="2030882"/>
            <a:ext cx="11563502" cy="381305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8" name="Shape 6"/>
          <p:cNvSpPr/>
          <p:nvPr/>
        </p:nvSpPr>
        <p:spPr>
          <a:xfrm>
            <a:off x="314554" y="2030882"/>
            <a:ext cx="1933956" cy="38130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39342" y="2121408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41194" y="2030882"/>
            <a:ext cx="3857854" cy="38130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30675" y="2121408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概要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305" y="2030882"/>
            <a:ext cx="2895905" cy="38130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02729" y="2121408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実績・効果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86723" y="2030882"/>
            <a:ext cx="1457554" cy="381305"/>
          </a:xfrm>
          <a:prstGeom prst="rect">
            <a:avLst/>
          </a:prstGeom>
          <a:solidFill>
            <a:srgbClr val="E5E7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06510" y="2121408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導入コスト（概算）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436962" y="2030882"/>
            <a:ext cx="1447495" cy="3813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36962" y="2403043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56748" y="2121408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利用難易度（概算）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4554" y="2412187"/>
            <a:ext cx="11563502" cy="5431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14554" y="2412187"/>
            <a:ext cx="1933956" cy="543154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0430" y="2584094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事例1：メール要約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41194" y="2412187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55494" y="2584094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長いメールスレッドの要約（読む時間の削減）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96305" y="2412187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0605" y="2488082"/>
            <a:ext cx="27194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週12分減 / 定常利用で週30分減 ※Microsoft Research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986723" y="2412187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rcRect l="-1911" r="-1911" t="0" b="0"/>
          <a:stretch/>
        </p:blipFill>
        <p:spPr>
          <a:xfrm>
            <a:off x="9373514" y="2531059"/>
            <a:ext cx="133502" cy="114300"/>
          </a:xfrm>
          <a:prstGeom prst="rect">
            <a:avLst/>
          </a:prstGeom>
        </p:spPr>
      </p:pic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-1911" r="-1911" t="0" b="0"/>
          <a:stretch/>
        </p:blipFill>
        <p:spPr>
          <a:xfrm>
            <a:off x="9507017" y="2531059"/>
            <a:ext cx="133502" cy="114300"/>
          </a:xfrm>
          <a:prstGeom prst="rect">
            <a:avLst/>
          </a:prstGeom>
        </p:spPr>
      </p:pic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-1911" r="-1911" t="0" b="0"/>
          <a:stretch/>
        </p:blipFill>
        <p:spPr>
          <a:xfrm>
            <a:off x="9640519" y="2531059"/>
            <a:ext cx="133502" cy="114300"/>
          </a:xfrm>
          <a:prstGeom prst="rect">
            <a:avLst/>
          </a:prstGeom>
        </p:spPr>
      </p:pic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rcRect l="-1911" r="-1911" t="0" b="0"/>
          <a:stretch/>
        </p:blipFill>
        <p:spPr>
          <a:xfrm>
            <a:off x="9774022" y="2531059"/>
            <a:ext cx="133502" cy="114300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-1911" r="-1911" t="0" b="0"/>
          <a:stretch/>
        </p:blipFill>
        <p:spPr>
          <a:xfrm>
            <a:off x="9906610" y="2531059"/>
            <a:ext cx="133502" cy="1143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213494" y="2698394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低（ライセンスのみ）</a:t>
            </a:r>
            <a:endParaRPr lang="en-US" sz="800" dirty="0"/>
          </a:p>
        </p:txBody>
      </p:sp>
      <p:sp>
        <p:nvSpPr>
          <p:cNvPr id="33" name="Shape 26"/>
          <p:cNvSpPr/>
          <p:nvPr/>
        </p:nvSpPr>
        <p:spPr>
          <a:xfrm>
            <a:off x="10436962" y="2946197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rcRect l="-1911" r="-1911" t="0" b="0"/>
          <a:stretch/>
        </p:blipFill>
        <p:spPr>
          <a:xfrm>
            <a:off x="10823753" y="2531059"/>
            <a:ext cx="133502" cy="114300"/>
          </a:xfrm>
          <a:prstGeom prst="rect">
            <a:avLst/>
          </a:prstGeom>
        </p:spPr>
      </p:pic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rcRect l="-1911" r="-1911" t="0" b="0"/>
          <a:stretch/>
        </p:blipFill>
        <p:spPr>
          <a:xfrm>
            <a:off x="10957255" y="2531059"/>
            <a:ext cx="133502" cy="114300"/>
          </a:xfrm>
          <a:prstGeom prst="rect">
            <a:avLst/>
          </a:prstGeom>
        </p:spPr>
      </p:pic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-1911" r="-1911" t="0" b="0"/>
          <a:stretch/>
        </p:blipFill>
        <p:spPr>
          <a:xfrm>
            <a:off x="11090758" y="2531059"/>
            <a:ext cx="133502" cy="114300"/>
          </a:xfrm>
          <a:prstGeom prst="rect">
            <a:avLst/>
          </a:prstGeom>
        </p:spPr>
      </p:pic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rcRect l="-1911" r="-1911" t="0" b="0"/>
          <a:stretch/>
        </p:blipFill>
        <p:spPr>
          <a:xfrm>
            <a:off x="11224260" y="2531059"/>
            <a:ext cx="133502" cy="114300"/>
          </a:xfrm>
          <a:prstGeom prst="rect">
            <a:avLst/>
          </a:prstGeom>
        </p:spPr>
      </p:pic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rcRect l="-1911" r="-1911" t="0" b="0"/>
          <a:stretch/>
        </p:blipFill>
        <p:spPr>
          <a:xfrm>
            <a:off x="11356848" y="2531059"/>
            <a:ext cx="133502" cy="11430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10712196" y="2698394"/>
            <a:ext cx="972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低（基本操作のみ）</a:t>
            </a:r>
            <a:endParaRPr lang="en-US" sz="800" dirty="0"/>
          </a:p>
        </p:txBody>
      </p:sp>
      <p:sp>
        <p:nvSpPr>
          <p:cNvPr id="40" name="Shape 28"/>
          <p:cNvSpPr/>
          <p:nvPr/>
        </p:nvSpPr>
        <p:spPr>
          <a:xfrm>
            <a:off x="314554" y="2955341"/>
            <a:ext cx="11563502" cy="54315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1" name="Shape 29"/>
          <p:cNvSpPr/>
          <p:nvPr/>
        </p:nvSpPr>
        <p:spPr>
          <a:xfrm>
            <a:off x="314554" y="2955341"/>
            <a:ext cx="1933956" cy="543154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30"/>
          <p:cNvSpPr txBox="1"/>
          <p:nvPr/>
        </p:nvSpPr>
        <p:spPr>
          <a:xfrm>
            <a:off x="500177" y="3126334"/>
            <a:ext cx="1653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事例2：文書ドラフト作成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2241194" y="2955341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32"/>
          <p:cNvSpPr txBox="1"/>
          <p:nvPr/>
        </p:nvSpPr>
        <p:spPr>
          <a:xfrm>
            <a:off x="2355494" y="3126334"/>
            <a:ext cx="3033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文書のドラフト作成（ゼロから書く作業の短縮）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6096305" y="2955341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34"/>
          <p:cNvSpPr txBox="1"/>
          <p:nvPr/>
        </p:nvSpPr>
        <p:spPr>
          <a:xfrm>
            <a:off x="6210605" y="3031236"/>
            <a:ext cx="22055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平均0.5日短縮 / 定常利用で1日短縮 ※Microsoft Research</a:t>
            </a:r>
            <a:endParaRPr lang="en-US" sz="1000" dirty="0"/>
          </a:p>
        </p:txBody>
      </p:sp>
      <p:sp>
        <p:nvSpPr>
          <p:cNvPr id="47" name="Shape 35"/>
          <p:cNvSpPr/>
          <p:nvPr/>
        </p:nvSpPr>
        <p:spPr>
          <a:xfrm>
            <a:off x="8986723" y="2955341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rcRect l="-1911" r="-1911" t="0" b="0"/>
          <a:stretch/>
        </p:blipFill>
        <p:spPr>
          <a:xfrm>
            <a:off x="9373514" y="3074213"/>
            <a:ext cx="133502" cy="114300"/>
          </a:xfrm>
          <a:prstGeom prst="rect">
            <a:avLst/>
          </a:prstGeom>
        </p:spPr>
      </p:pic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2"/>
          <a:srcRect l="-1911" r="-1911" t="0" b="0"/>
          <a:stretch/>
        </p:blipFill>
        <p:spPr>
          <a:xfrm>
            <a:off x="9507017" y="3074213"/>
            <a:ext cx="133502" cy="114300"/>
          </a:xfrm>
          <a:prstGeom prst="rect">
            <a:avLst/>
          </a:prstGeom>
        </p:spPr>
      </p:pic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rcRect l="-1911" r="-1911" t="0" b="0"/>
          <a:stretch/>
        </p:blipFill>
        <p:spPr>
          <a:xfrm>
            <a:off x="9640519" y="3074213"/>
            <a:ext cx="133502" cy="114300"/>
          </a:xfrm>
          <a:prstGeom prst="rect">
            <a:avLst/>
          </a:prstGeom>
        </p:spPr>
      </p:pic>
      <p:pic>
        <p:nvPicPr>
          <p:cNvPr id="51" name="Image 13" descr="preencoded.png">    </p:cNvPr>
          <p:cNvPicPr>
            <a:picLocks noChangeAspect="1"/>
          </p:cNvPicPr>
          <p:nvPr/>
        </p:nvPicPr>
        <p:blipFill>
          <a:blip r:embed="rId14"/>
          <a:srcRect l="-1911" r="-1911" t="0" b="0"/>
          <a:stretch/>
        </p:blipFill>
        <p:spPr>
          <a:xfrm>
            <a:off x="9774022" y="3074213"/>
            <a:ext cx="133502" cy="114300"/>
          </a:xfrm>
          <a:prstGeom prst="rect">
            <a:avLst/>
          </a:prstGeom>
        </p:spPr>
      </p:pic>
      <p:pic>
        <p:nvPicPr>
          <p:cNvPr id="52" name="Image 14" descr="preencoded.png">    </p:cNvPr>
          <p:cNvPicPr>
            <a:picLocks noChangeAspect="1"/>
          </p:cNvPicPr>
          <p:nvPr/>
        </p:nvPicPr>
        <p:blipFill>
          <a:blip r:embed="rId15"/>
          <a:srcRect l="-1911" r="-1911" t="0" b="0"/>
          <a:stretch/>
        </p:blipFill>
        <p:spPr>
          <a:xfrm>
            <a:off x="9906610" y="3074213"/>
            <a:ext cx="133502" cy="114300"/>
          </a:xfrm>
          <a:prstGeom prst="rect">
            <a:avLst/>
          </a:prstGeom>
        </p:spPr>
      </p:pic>
      <p:sp>
        <p:nvSpPr>
          <p:cNvPr id="53" name="Text 36"/>
          <p:cNvSpPr txBox="1"/>
          <p:nvPr/>
        </p:nvSpPr>
        <p:spPr>
          <a:xfrm>
            <a:off x="9213494" y="3240634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低（ライセンスのみ）</a:t>
            </a:r>
            <a:endParaRPr lang="en-US" sz="800" dirty="0"/>
          </a:p>
        </p:txBody>
      </p:sp>
      <p:sp>
        <p:nvSpPr>
          <p:cNvPr id="54" name="Shape 37"/>
          <p:cNvSpPr/>
          <p:nvPr/>
        </p:nvSpPr>
        <p:spPr>
          <a:xfrm>
            <a:off x="10436962" y="3489350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55" name="Image 15" descr="preencoded.png">    </p:cNvPr>
          <p:cNvPicPr>
            <a:picLocks noChangeAspect="1"/>
          </p:cNvPicPr>
          <p:nvPr/>
        </p:nvPicPr>
        <p:blipFill>
          <a:blip r:embed="rId16"/>
          <a:srcRect l="-1911" r="-1911" t="0" b="0"/>
          <a:stretch/>
        </p:blipFill>
        <p:spPr>
          <a:xfrm>
            <a:off x="10823753" y="3074213"/>
            <a:ext cx="133502" cy="114300"/>
          </a:xfrm>
          <a:prstGeom prst="rect">
            <a:avLst/>
          </a:prstGeom>
        </p:spPr>
      </p:pic>
      <p:pic>
        <p:nvPicPr>
          <p:cNvPr id="56" name="Image 16" descr="preencoded.png">    </p:cNvPr>
          <p:cNvPicPr>
            <a:picLocks noChangeAspect="1"/>
          </p:cNvPicPr>
          <p:nvPr/>
        </p:nvPicPr>
        <p:blipFill>
          <a:blip r:embed="rId17"/>
          <a:srcRect l="-1911" r="-1911" t="0" b="0"/>
          <a:stretch/>
        </p:blipFill>
        <p:spPr>
          <a:xfrm>
            <a:off x="10957255" y="3074213"/>
            <a:ext cx="133502" cy="114300"/>
          </a:xfrm>
          <a:prstGeom prst="rect">
            <a:avLst/>
          </a:prstGeom>
        </p:spPr>
      </p:pic>
      <p:pic>
        <p:nvPicPr>
          <p:cNvPr id="57" name="Image 17" descr="preencoded.png">    </p:cNvPr>
          <p:cNvPicPr>
            <a:picLocks noChangeAspect="1"/>
          </p:cNvPicPr>
          <p:nvPr/>
        </p:nvPicPr>
        <p:blipFill>
          <a:blip r:embed="rId18"/>
          <a:srcRect l="-1911" r="-1911" t="0" b="0"/>
          <a:stretch/>
        </p:blipFill>
        <p:spPr>
          <a:xfrm>
            <a:off x="11090758" y="3074213"/>
            <a:ext cx="133502" cy="114300"/>
          </a:xfrm>
          <a:prstGeom prst="rect">
            <a:avLst/>
          </a:prstGeom>
        </p:spPr>
      </p:pic>
      <p:pic>
        <p:nvPicPr>
          <p:cNvPr id="58" name="Image 18" descr="preencoded.png">    </p:cNvPr>
          <p:cNvPicPr>
            <a:picLocks noChangeAspect="1"/>
          </p:cNvPicPr>
          <p:nvPr/>
        </p:nvPicPr>
        <p:blipFill>
          <a:blip r:embed="rId19"/>
          <a:srcRect l="-1911" r="-1911" t="0" b="0"/>
          <a:stretch/>
        </p:blipFill>
        <p:spPr>
          <a:xfrm>
            <a:off x="11224260" y="3074213"/>
            <a:ext cx="133502" cy="114300"/>
          </a:xfrm>
          <a:prstGeom prst="rect">
            <a:avLst/>
          </a:prstGeom>
        </p:spPr>
      </p:pic>
      <p:pic>
        <p:nvPicPr>
          <p:cNvPr id="59" name="Image 19" descr="preencoded.png">    </p:cNvPr>
          <p:cNvPicPr>
            <a:picLocks noChangeAspect="1"/>
          </p:cNvPicPr>
          <p:nvPr/>
        </p:nvPicPr>
        <p:blipFill>
          <a:blip r:embed="rId20"/>
          <a:srcRect l="-1911" r="-1911" t="0" b="0"/>
          <a:stretch/>
        </p:blipFill>
        <p:spPr>
          <a:xfrm>
            <a:off x="11356848" y="3074213"/>
            <a:ext cx="133502" cy="114300"/>
          </a:xfrm>
          <a:prstGeom prst="rect">
            <a:avLst/>
          </a:prstGeom>
        </p:spPr>
      </p:pic>
      <p:sp>
        <p:nvSpPr>
          <p:cNvPr id="60" name="Text 38"/>
          <p:cNvSpPr txBox="1"/>
          <p:nvPr/>
        </p:nvSpPr>
        <p:spPr>
          <a:xfrm>
            <a:off x="10596982" y="3240634"/>
            <a:ext cx="12006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低-中（プロンプト理解）</a:t>
            </a:r>
            <a:endParaRPr lang="en-US" sz="800" dirty="0"/>
          </a:p>
        </p:txBody>
      </p:sp>
      <p:sp>
        <p:nvSpPr>
          <p:cNvPr id="61" name="Shape 39"/>
          <p:cNvSpPr/>
          <p:nvPr/>
        </p:nvSpPr>
        <p:spPr>
          <a:xfrm>
            <a:off x="314554" y="3498494"/>
            <a:ext cx="11563502" cy="5431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Shape 40"/>
          <p:cNvSpPr/>
          <p:nvPr/>
        </p:nvSpPr>
        <p:spPr>
          <a:xfrm>
            <a:off x="314554" y="3498494"/>
            <a:ext cx="1933956" cy="543154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41"/>
          <p:cNvSpPr txBox="1"/>
          <p:nvPr/>
        </p:nvSpPr>
        <p:spPr>
          <a:xfrm>
            <a:off x="700430" y="3669487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事例3：会議後作業</a:t>
            </a:r>
            <a:endParaRPr lang="en-US" sz="1000" dirty="0"/>
          </a:p>
        </p:txBody>
      </p:sp>
      <p:sp>
        <p:nvSpPr>
          <p:cNvPr id="64" name="Shape 42"/>
          <p:cNvSpPr/>
          <p:nvPr/>
        </p:nvSpPr>
        <p:spPr>
          <a:xfrm>
            <a:off x="2241194" y="3498494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43"/>
          <p:cNvSpPr txBox="1"/>
          <p:nvPr/>
        </p:nvSpPr>
        <p:spPr>
          <a:xfrm>
            <a:off x="2355494" y="3669487"/>
            <a:ext cx="32250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会議後作業の短縮（議事メモ→論点整理→ToDo化）</a:t>
            </a:r>
            <a:endParaRPr lang="en-US" sz="1000" dirty="0"/>
          </a:p>
        </p:txBody>
      </p:sp>
      <p:sp>
        <p:nvSpPr>
          <p:cNvPr id="66" name="Shape 44"/>
          <p:cNvSpPr/>
          <p:nvPr/>
        </p:nvSpPr>
        <p:spPr>
          <a:xfrm>
            <a:off x="6096305" y="3498494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45"/>
          <p:cNvSpPr txBox="1"/>
          <p:nvPr/>
        </p:nvSpPr>
        <p:spPr>
          <a:xfrm>
            <a:off x="6210605" y="3574390"/>
            <a:ext cx="26718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ドラフト24分減 / プレゼン19分減 ※英国政府レポート他</a:t>
            </a:r>
            <a:endParaRPr lang="en-US" sz="1000" dirty="0"/>
          </a:p>
        </p:txBody>
      </p:sp>
      <p:sp>
        <p:nvSpPr>
          <p:cNvPr id="68" name="Shape 46"/>
          <p:cNvSpPr/>
          <p:nvPr/>
        </p:nvSpPr>
        <p:spPr>
          <a:xfrm>
            <a:off x="8986723" y="3498494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69" name="Image 20" descr="preencoded.png">    </p:cNvPr>
          <p:cNvPicPr>
            <a:picLocks noChangeAspect="1"/>
          </p:cNvPicPr>
          <p:nvPr/>
        </p:nvPicPr>
        <p:blipFill>
          <a:blip r:embed="rId21"/>
          <a:srcRect l="-1911" r="-1911" t="0" b="0"/>
          <a:stretch/>
        </p:blipFill>
        <p:spPr>
          <a:xfrm>
            <a:off x="9373514" y="3617366"/>
            <a:ext cx="133502" cy="114300"/>
          </a:xfrm>
          <a:prstGeom prst="rect">
            <a:avLst/>
          </a:prstGeom>
        </p:spPr>
      </p:pic>
      <p:pic>
        <p:nvPicPr>
          <p:cNvPr id="70" name="Image 21" descr="preencoded.png">    </p:cNvPr>
          <p:cNvPicPr>
            <a:picLocks noChangeAspect="1"/>
          </p:cNvPicPr>
          <p:nvPr/>
        </p:nvPicPr>
        <p:blipFill>
          <a:blip r:embed="rId22"/>
          <a:srcRect l="-1911" r="-1911" t="0" b="0"/>
          <a:stretch/>
        </p:blipFill>
        <p:spPr>
          <a:xfrm>
            <a:off x="9507017" y="3617366"/>
            <a:ext cx="133502" cy="114300"/>
          </a:xfrm>
          <a:prstGeom prst="rect">
            <a:avLst/>
          </a:prstGeom>
        </p:spPr>
      </p:pic>
      <p:pic>
        <p:nvPicPr>
          <p:cNvPr id="71" name="Image 22" descr="preencoded.png">    </p:cNvPr>
          <p:cNvPicPr>
            <a:picLocks noChangeAspect="1"/>
          </p:cNvPicPr>
          <p:nvPr/>
        </p:nvPicPr>
        <p:blipFill>
          <a:blip r:embed="rId23"/>
          <a:srcRect l="-1911" r="-1911" t="0" b="0"/>
          <a:stretch/>
        </p:blipFill>
        <p:spPr>
          <a:xfrm>
            <a:off x="9640519" y="3617366"/>
            <a:ext cx="133502" cy="114300"/>
          </a:xfrm>
          <a:prstGeom prst="rect">
            <a:avLst/>
          </a:prstGeom>
        </p:spPr>
      </p:pic>
      <p:pic>
        <p:nvPicPr>
          <p:cNvPr id="72" name="Image 23" descr="preencoded.png">    </p:cNvPr>
          <p:cNvPicPr>
            <a:picLocks noChangeAspect="1"/>
          </p:cNvPicPr>
          <p:nvPr/>
        </p:nvPicPr>
        <p:blipFill>
          <a:blip r:embed="rId24"/>
          <a:srcRect l="-1911" r="-1911" t="0" b="0"/>
          <a:stretch/>
        </p:blipFill>
        <p:spPr>
          <a:xfrm>
            <a:off x="9774022" y="3617366"/>
            <a:ext cx="133502" cy="114300"/>
          </a:xfrm>
          <a:prstGeom prst="rect">
            <a:avLst/>
          </a:prstGeom>
        </p:spPr>
      </p:pic>
      <p:pic>
        <p:nvPicPr>
          <p:cNvPr id="73" name="Image 24" descr="preencoded.png">    </p:cNvPr>
          <p:cNvPicPr>
            <a:picLocks noChangeAspect="1"/>
          </p:cNvPicPr>
          <p:nvPr/>
        </p:nvPicPr>
        <p:blipFill>
          <a:blip r:embed="rId25"/>
          <a:srcRect l="-1911" r="-1911" t="0" b="0"/>
          <a:stretch/>
        </p:blipFill>
        <p:spPr>
          <a:xfrm>
            <a:off x="9906610" y="3617366"/>
            <a:ext cx="133502" cy="114300"/>
          </a:xfrm>
          <a:prstGeom prst="rect">
            <a:avLst/>
          </a:prstGeom>
        </p:spPr>
      </p:pic>
      <p:sp>
        <p:nvSpPr>
          <p:cNvPr id="74" name="Text 47"/>
          <p:cNvSpPr txBox="1"/>
          <p:nvPr/>
        </p:nvSpPr>
        <p:spPr>
          <a:xfrm>
            <a:off x="9360713" y="378378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低（標準機能）</a:t>
            </a:r>
            <a:endParaRPr lang="en-US" sz="800" dirty="0"/>
          </a:p>
        </p:txBody>
      </p:sp>
      <p:sp>
        <p:nvSpPr>
          <p:cNvPr id="75" name="Shape 48"/>
          <p:cNvSpPr/>
          <p:nvPr/>
        </p:nvSpPr>
        <p:spPr>
          <a:xfrm>
            <a:off x="10436962" y="4032504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76" name="Image 25" descr="preencoded.png">    </p:cNvPr>
          <p:cNvPicPr>
            <a:picLocks noChangeAspect="1"/>
          </p:cNvPicPr>
          <p:nvPr/>
        </p:nvPicPr>
        <p:blipFill>
          <a:blip r:embed="rId26"/>
          <a:srcRect l="-1911" r="-1911" t="0" b="0"/>
          <a:stretch/>
        </p:blipFill>
        <p:spPr>
          <a:xfrm>
            <a:off x="10823753" y="3617366"/>
            <a:ext cx="133502" cy="114300"/>
          </a:xfrm>
          <a:prstGeom prst="rect">
            <a:avLst/>
          </a:prstGeom>
        </p:spPr>
      </p:pic>
      <p:pic>
        <p:nvPicPr>
          <p:cNvPr id="77" name="Image 26" descr="preencoded.png">    </p:cNvPr>
          <p:cNvPicPr>
            <a:picLocks noChangeAspect="1"/>
          </p:cNvPicPr>
          <p:nvPr/>
        </p:nvPicPr>
        <p:blipFill>
          <a:blip r:embed="rId27"/>
          <a:srcRect l="-1911" r="-1911" t="0" b="0"/>
          <a:stretch/>
        </p:blipFill>
        <p:spPr>
          <a:xfrm>
            <a:off x="10957255" y="3617366"/>
            <a:ext cx="133502" cy="114300"/>
          </a:xfrm>
          <a:prstGeom prst="rect">
            <a:avLst/>
          </a:prstGeom>
        </p:spPr>
      </p:pic>
      <p:pic>
        <p:nvPicPr>
          <p:cNvPr id="78" name="Image 27" descr="preencoded.png">    </p:cNvPr>
          <p:cNvPicPr>
            <a:picLocks noChangeAspect="1"/>
          </p:cNvPicPr>
          <p:nvPr/>
        </p:nvPicPr>
        <p:blipFill>
          <a:blip r:embed="rId28"/>
          <a:srcRect l="-1911" r="-1911" t="0" b="0"/>
          <a:stretch/>
        </p:blipFill>
        <p:spPr>
          <a:xfrm>
            <a:off x="11090758" y="3617366"/>
            <a:ext cx="133502" cy="114300"/>
          </a:xfrm>
          <a:prstGeom prst="rect">
            <a:avLst/>
          </a:prstGeom>
        </p:spPr>
      </p:pic>
      <p:pic>
        <p:nvPicPr>
          <p:cNvPr id="79" name="Image 28" descr="preencoded.png">    </p:cNvPr>
          <p:cNvPicPr>
            <a:picLocks noChangeAspect="1"/>
          </p:cNvPicPr>
          <p:nvPr/>
        </p:nvPicPr>
        <p:blipFill>
          <a:blip r:embed="rId29"/>
          <a:srcRect l="-1911" r="-1911" t="0" b="0"/>
          <a:stretch/>
        </p:blipFill>
        <p:spPr>
          <a:xfrm>
            <a:off x="11224260" y="3617366"/>
            <a:ext cx="133502" cy="114300"/>
          </a:xfrm>
          <a:prstGeom prst="rect">
            <a:avLst/>
          </a:prstGeom>
        </p:spPr>
      </p:pic>
      <p:pic>
        <p:nvPicPr>
          <p:cNvPr id="80" name="Image 29" descr="preencoded.png">    </p:cNvPr>
          <p:cNvPicPr>
            <a:picLocks noChangeAspect="1"/>
          </p:cNvPicPr>
          <p:nvPr/>
        </p:nvPicPr>
        <p:blipFill>
          <a:blip r:embed="rId30"/>
          <a:srcRect l="-1911" r="-1911" t="0" b="0"/>
          <a:stretch/>
        </p:blipFill>
        <p:spPr>
          <a:xfrm>
            <a:off x="11356848" y="3617366"/>
            <a:ext cx="133502" cy="114300"/>
          </a:xfrm>
          <a:prstGeom prst="rect">
            <a:avLst/>
          </a:prstGeom>
        </p:spPr>
      </p:pic>
      <p:sp>
        <p:nvSpPr>
          <p:cNvPr id="81" name="Text 49"/>
          <p:cNvSpPr txBox="1"/>
          <p:nvPr/>
        </p:nvSpPr>
        <p:spPr>
          <a:xfrm>
            <a:off x="10693908" y="3783787"/>
            <a:ext cx="10104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低-中（Teams連携）</a:t>
            </a:r>
            <a:endParaRPr lang="en-US" sz="800" dirty="0"/>
          </a:p>
        </p:txBody>
      </p:sp>
      <p:sp>
        <p:nvSpPr>
          <p:cNvPr id="82" name="Shape 50"/>
          <p:cNvSpPr/>
          <p:nvPr/>
        </p:nvSpPr>
        <p:spPr>
          <a:xfrm>
            <a:off x="314554" y="4040734"/>
            <a:ext cx="11563502" cy="54315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3" name="Shape 51"/>
          <p:cNvSpPr/>
          <p:nvPr/>
        </p:nvSpPr>
        <p:spPr>
          <a:xfrm>
            <a:off x="314554" y="4040734"/>
            <a:ext cx="1933956" cy="543154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4" name="Text 52"/>
          <p:cNvSpPr txBox="1"/>
          <p:nvPr/>
        </p:nvSpPr>
        <p:spPr>
          <a:xfrm>
            <a:off x="700430" y="4212641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事例4：提案書作成</a:t>
            </a:r>
            <a:endParaRPr lang="en-US" sz="1000" dirty="0"/>
          </a:p>
        </p:txBody>
      </p:sp>
      <p:sp>
        <p:nvSpPr>
          <p:cNvPr id="85" name="Shape 53"/>
          <p:cNvSpPr/>
          <p:nvPr/>
        </p:nvSpPr>
        <p:spPr>
          <a:xfrm>
            <a:off x="2241194" y="4040734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6" name="Text 54"/>
          <p:cNvSpPr txBox="1"/>
          <p:nvPr/>
        </p:nvSpPr>
        <p:spPr>
          <a:xfrm>
            <a:off x="2355494" y="4212641"/>
            <a:ext cx="3357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提案書/報告スライドのたたき台作成（構成・文章化）</a:t>
            </a:r>
            <a:endParaRPr lang="en-US" sz="1000" dirty="0"/>
          </a:p>
        </p:txBody>
      </p:sp>
      <p:sp>
        <p:nvSpPr>
          <p:cNvPr id="87" name="Shape 55"/>
          <p:cNvSpPr/>
          <p:nvPr/>
        </p:nvSpPr>
        <p:spPr>
          <a:xfrm>
            <a:off x="6096305" y="4040734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8" name="Text 56"/>
          <p:cNvSpPr txBox="1"/>
          <p:nvPr/>
        </p:nvSpPr>
        <p:spPr>
          <a:xfrm>
            <a:off x="6210605" y="4117543"/>
            <a:ext cx="25484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プレゼン作成削減（Word→PPT連携等）※Prague Airport事例他</a:t>
            </a:r>
            <a:endParaRPr lang="en-US" sz="1000" dirty="0"/>
          </a:p>
        </p:txBody>
      </p:sp>
      <p:sp>
        <p:nvSpPr>
          <p:cNvPr id="89" name="Shape 57"/>
          <p:cNvSpPr/>
          <p:nvPr/>
        </p:nvSpPr>
        <p:spPr>
          <a:xfrm>
            <a:off x="8986723" y="4040734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90" name="Image 30" descr="preencoded.png">    </p:cNvPr>
          <p:cNvPicPr>
            <a:picLocks noChangeAspect="1"/>
          </p:cNvPicPr>
          <p:nvPr/>
        </p:nvPicPr>
        <p:blipFill>
          <a:blip r:embed="rId31"/>
          <a:srcRect l="-1911" r="-1911" t="0" b="0"/>
          <a:stretch/>
        </p:blipFill>
        <p:spPr>
          <a:xfrm>
            <a:off x="9373514" y="4159606"/>
            <a:ext cx="133502" cy="114300"/>
          </a:xfrm>
          <a:prstGeom prst="rect">
            <a:avLst/>
          </a:prstGeom>
        </p:spPr>
      </p:pic>
      <p:pic>
        <p:nvPicPr>
          <p:cNvPr id="91" name="Image 31" descr="preencoded.png">    </p:cNvPr>
          <p:cNvPicPr>
            <a:picLocks noChangeAspect="1"/>
          </p:cNvPicPr>
          <p:nvPr/>
        </p:nvPicPr>
        <p:blipFill>
          <a:blip r:embed="rId32"/>
          <a:srcRect l="-1911" r="-1911" t="0" b="0"/>
          <a:stretch/>
        </p:blipFill>
        <p:spPr>
          <a:xfrm>
            <a:off x="9507017" y="4159606"/>
            <a:ext cx="133502" cy="114300"/>
          </a:xfrm>
          <a:prstGeom prst="rect">
            <a:avLst/>
          </a:prstGeom>
        </p:spPr>
      </p:pic>
      <p:pic>
        <p:nvPicPr>
          <p:cNvPr id="92" name="Image 32" descr="preencoded.png">    </p:cNvPr>
          <p:cNvPicPr>
            <a:picLocks noChangeAspect="1"/>
          </p:cNvPicPr>
          <p:nvPr/>
        </p:nvPicPr>
        <p:blipFill>
          <a:blip r:embed="rId33"/>
          <a:srcRect l="-1911" r="-1911" t="0" b="0"/>
          <a:stretch/>
        </p:blipFill>
        <p:spPr>
          <a:xfrm>
            <a:off x="9640519" y="4159606"/>
            <a:ext cx="133502" cy="114300"/>
          </a:xfrm>
          <a:prstGeom prst="rect">
            <a:avLst/>
          </a:prstGeom>
        </p:spPr>
      </p:pic>
      <p:pic>
        <p:nvPicPr>
          <p:cNvPr id="93" name="Image 33" descr="preencoded.png">    </p:cNvPr>
          <p:cNvPicPr>
            <a:picLocks noChangeAspect="1"/>
          </p:cNvPicPr>
          <p:nvPr/>
        </p:nvPicPr>
        <p:blipFill>
          <a:blip r:embed="rId34"/>
          <a:srcRect l="-1911" r="-1911" t="0" b="0"/>
          <a:stretch/>
        </p:blipFill>
        <p:spPr>
          <a:xfrm>
            <a:off x="9774022" y="4159606"/>
            <a:ext cx="133502" cy="114300"/>
          </a:xfrm>
          <a:prstGeom prst="rect">
            <a:avLst/>
          </a:prstGeom>
        </p:spPr>
      </p:pic>
      <p:pic>
        <p:nvPicPr>
          <p:cNvPr id="94" name="Image 34" descr="preencoded.png">    </p:cNvPr>
          <p:cNvPicPr>
            <a:picLocks noChangeAspect="1"/>
          </p:cNvPicPr>
          <p:nvPr/>
        </p:nvPicPr>
        <p:blipFill>
          <a:blip r:embed="rId35"/>
          <a:srcRect l="-1911" r="-1911" t="0" b="0"/>
          <a:stretch/>
        </p:blipFill>
        <p:spPr>
          <a:xfrm>
            <a:off x="9906610" y="4159606"/>
            <a:ext cx="133502" cy="114300"/>
          </a:xfrm>
          <a:prstGeom prst="rect">
            <a:avLst/>
          </a:prstGeom>
        </p:spPr>
      </p:pic>
      <p:sp>
        <p:nvSpPr>
          <p:cNvPr id="95" name="Text 58"/>
          <p:cNvSpPr txBox="1"/>
          <p:nvPr/>
        </p:nvSpPr>
        <p:spPr>
          <a:xfrm>
            <a:off x="9360713" y="4326941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低（標準機能）</a:t>
            </a:r>
            <a:endParaRPr lang="en-US" sz="800" dirty="0"/>
          </a:p>
        </p:txBody>
      </p:sp>
      <p:sp>
        <p:nvSpPr>
          <p:cNvPr id="96" name="Shape 59"/>
          <p:cNvSpPr/>
          <p:nvPr/>
        </p:nvSpPr>
        <p:spPr>
          <a:xfrm>
            <a:off x="10436962" y="4574743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97" name="Image 35" descr="preencoded.png">    </p:cNvPr>
          <p:cNvPicPr>
            <a:picLocks noChangeAspect="1"/>
          </p:cNvPicPr>
          <p:nvPr/>
        </p:nvPicPr>
        <p:blipFill>
          <a:blip r:embed="rId36"/>
          <a:srcRect l="-1911" r="-1911" t="0" b="0"/>
          <a:stretch/>
        </p:blipFill>
        <p:spPr>
          <a:xfrm>
            <a:off x="10823753" y="4159606"/>
            <a:ext cx="133502" cy="114300"/>
          </a:xfrm>
          <a:prstGeom prst="rect">
            <a:avLst/>
          </a:prstGeom>
        </p:spPr>
      </p:pic>
      <p:pic>
        <p:nvPicPr>
          <p:cNvPr id="98" name="Image 36" descr="preencoded.png">    </p:cNvPr>
          <p:cNvPicPr>
            <a:picLocks noChangeAspect="1"/>
          </p:cNvPicPr>
          <p:nvPr/>
        </p:nvPicPr>
        <p:blipFill>
          <a:blip r:embed="rId37"/>
          <a:srcRect l="-1911" r="-1911" t="0" b="0"/>
          <a:stretch/>
        </p:blipFill>
        <p:spPr>
          <a:xfrm>
            <a:off x="10957255" y="4159606"/>
            <a:ext cx="133502" cy="114300"/>
          </a:xfrm>
          <a:prstGeom prst="rect">
            <a:avLst/>
          </a:prstGeom>
        </p:spPr>
      </p:pic>
      <p:pic>
        <p:nvPicPr>
          <p:cNvPr id="99" name="Image 37" descr="preencoded.png">    </p:cNvPr>
          <p:cNvPicPr>
            <a:picLocks noChangeAspect="1"/>
          </p:cNvPicPr>
          <p:nvPr/>
        </p:nvPicPr>
        <p:blipFill>
          <a:blip r:embed="rId38"/>
          <a:srcRect l="-1911" r="-1911" t="0" b="0"/>
          <a:stretch/>
        </p:blipFill>
        <p:spPr>
          <a:xfrm>
            <a:off x="11090758" y="4159606"/>
            <a:ext cx="133502" cy="114300"/>
          </a:xfrm>
          <a:prstGeom prst="rect">
            <a:avLst/>
          </a:prstGeom>
        </p:spPr>
      </p:pic>
      <p:pic>
        <p:nvPicPr>
          <p:cNvPr id="100" name="Image 38" descr="preencoded.png">    </p:cNvPr>
          <p:cNvPicPr>
            <a:picLocks noChangeAspect="1"/>
          </p:cNvPicPr>
          <p:nvPr/>
        </p:nvPicPr>
        <p:blipFill>
          <a:blip r:embed="rId39"/>
          <a:srcRect l="-1911" r="-1911" t="0" b="0"/>
          <a:stretch/>
        </p:blipFill>
        <p:spPr>
          <a:xfrm>
            <a:off x="11224260" y="4159606"/>
            <a:ext cx="133502" cy="114300"/>
          </a:xfrm>
          <a:prstGeom prst="rect">
            <a:avLst/>
          </a:prstGeom>
        </p:spPr>
      </p:pic>
      <p:pic>
        <p:nvPicPr>
          <p:cNvPr id="101" name="Image 39" descr="preencoded.png">    </p:cNvPr>
          <p:cNvPicPr>
            <a:picLocks noChangeAspect="1"/>
          </p:cNvPicPr>
          <p:nvPr/>
        </p:nvPicPr>
        <p:blipFill>
          <a:blip r:embed="rId40"/>
          <a:srcRect l="-1911" r="-1911" t="0" b="0"/>
          <a:stretch/>
        </p:blipFill>
        <p:spPr>
          <a:xfrm>
            <a:off x="11356848" y="4159606"/>
            <a:ext cx="133502" cy="114300"/>
          </a:xfrm>
          <a:prstGeom prst="rect">
            <a:avLst/>
          </a:prstGeom>
        </p:spPr>
      </p:pic>
      <p:sp>
        <p:nvSpPr>
          <p:cNvPr id="102" name="Text 60"/>
          <p:cNvSpPr txBox="1"/>
          <p:nvPr/>
        </p:nvSpPr>
        <p:spPr>
          <a:xfrm>
            <a:off x="10645445" y="4326941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低-中（アプリ間連携）</a:t>
            </a:r>
            <a:endParaRPr lang="en-US" sz="800" dirty="0"/>
          </a:p>
        </p:txBody>
      </p:sp>
      <p:sp>
        <p:nvSpPr>
          <p:cNvPr id="103" name="Shape 61"/>
          <p:cNvSpPr/>
          <p:nvPr/>
        </p:nvSpPr>
        <p:spPr>
          <a:xfrm>
            <a:off x="314554" y="4583887"/>
            <a:ext cx="11563502" cy="54315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Shape 62"/>
          <p:cNvSpPr/>
          <p:nvPr/>
        </p:nvSpPr>
        <p:spPr>
          <a:xfrm>
            <a:off x="314554" y="4583887"/>
            <a:ext cx="1933956" cy="543154"/>
          </a:xfrm>
          <a:prstGeom prst="rect">
            <a:avLst/>
          </a:prstGeom>
          <a:solidFill>
            <a:srgbClr val="F9FA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5" name="Text 63"/>
          <p:cNvSpPr txBox="1"/>
          <p:nvPr/>
        </p:nvSpPr>
        <p:spPr>
          <a:xfrm>
            <a:off x="633679" y="4755794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事例5：長文レビュー</a:t>
            </a:r>
            <a:endParaRPr lang="en-US" sz="1000" dirty="0"/>
          </a:p>
        </p:txBody>
      </p:sp>
      <p:sp>
        <p:nvSpPr>
          <p:cNvPr id="106" name="Shape 64"/>
          <p:cNvSpPr/>
          <p:nvPr/>
        </p:nvSpPr>
        <p:spPr>
          <a:xfrm>
            <a:off x="2241194" y="4583887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7" name="Text 65"/>
          <p:cNvSpPr txBox="1"/>
          <p:nvPr/>
        </p:nvSpPr>
        <p:spPr>
          <a:xfrm>
            <a:off x="2355494" y="4755794"/>
            <a:ext cx="28154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契約書・規程など"長文"の要約/レビュー支援</a:t>
            </a:r>
            <a:endParaRPr lang="en-US" sz="1000" dirty="0"/>
          </a:p>
        </p:txBody>
      </p:sp>
      <p:sp>
        <p:nvSpPr>
          <p:cNvPr id="108" name="Shape 66"/>
          <p:cNvSpPr/>
          <p:nvPr/>
        </p:nvSpPr>
        <p:spPr>
          <a:xfrm>
            <a:off x="6096305" y="4583887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9" name="Text 67"/>
          <p:cNvSpPr txBox="1"/>
          <p:nvPr/>
        </p:nvSpPr>
        <p:spPr>
          <a:xfrm>
            <a:off x="6210605" y="4659782"/>
            <a:ext cx="27486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法務領域の時間削減 週4時間/人 ※Vodafone事例</a:t>
            </a:r>
            <a:endParaRPr lang="en-US" sz="1000" dirty="0"/>
          </a:p>
        </p:txBody>
      </p:sp>
      <p:sp>
        <p:nvSpPr>
          <p:cNvPr id="110" name="Shape 68"/>
          <p:cNvSpPr/>
          <p:nvPr/>
        </p:nvSpPr>
        <p:spPr>
          <a:xfrm>
            <a:off x="8986723" y="4583887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111" name="Image 40" descr="preencoded.png">    </p:cNvPr>
          <p:cNvPicPr>
            <a:picLocks noChangeAspect="1"/>
          </p:cNvPicPr>
          <p:nvPr/>
        </p:nvPicPr>
        <p:blipFill>
          <a:blip r:embed="rId41"/>
          <a:srcRect l="-1911" r="-1911" t="0" b="0"/>
          <a:stretch/>
        </p:blipFill>
        <p:spPr>
          <a:xfrm>
            <a:off x="9373514" y="4702759"/>
            <a:ext cx="133502" cy="114300"/>
          </a:xfrm>
          <a:prstGeom prst="rect">
            <a:avLst/>
          </a:prstGeom>
        </p:spPr>
      </p:pic>
      <p:pic>
        <p:nvPicPr>
          <p:cNvPr id="112" name="Image 41" descr="preencoded.png">    </p:cNvPr>
          <p:cNvPicPr>
            <a:picLocks noChangeAspect="1"/>
          </p:cNvPicPr>
          <p:nvPr/>
        </p:nvPicPr>
        <p:blipFill>
          <a:blip r:embed="rId42"/>
          <a:srcRect l="-1911" r="-1911" t="0" b="0"/>
          <a:stretch/>
        </p:blipFill>
        <p:spPr>
          <a:xfrm>
            <a:off x="9507017" y="4702759"/>
            <a:ext cx="133502" cy="114300"/>
          </a:xfrm>
          <a:prstGeom prst="rect">
            <a:avLst/>
          </a:prstGeom>
        </p:spPr>
      </p:pic>
      <p:pic>
        <p:nvPicPr>
          <p:cNvPr id="113" name="Image 42" descr="preencoded.png">    </p:cNvPr>
          <p:cNvPicPr>
            <a:picLocks noChangeAspect="1"/>
          </p:cNvPicPr>
          <p:nvPr/>
        </p:nvPicPr>
        <p:blipFill>
          <a:blip r:embed="rId43"/>
          <a:srcRect l="-1911" r="-1911" t="0" b="0"/>
          <a:stretch/>
        </p:blipFill>
        <p:spPr>
          <a:xfrm>
            <a:off x="9640519" y="4702759"/>
            <a:ext cx="133502" cy="114300"/>
          </a:xfrm>
          <a:prstGeom prst="rect">
            <a:avLst/>
          </a:prstGeom>
        </p:spPr>
      </p:pic>
      <p:pic>
        <p:nvPicPr>
          <p:cNvPr id="114" name="Image 43" descr="preencoded.png">    </p:cNvPr>
          <p:cNvPicPr>
            <a:picLocks noChangeAspect="1"/>
          </p:cNvPicPr>
          <p:nvPr/>
        </p:nvPicPr>
        <p:blipFill>
          <a:blip r:embed="rId44"/>
          <a:srcRect l="-1911" r="-1911" t="0" b="0"/>
          <a:stretch/>
        </p:blipFill>
        <p:spPr>
          <a:xfrm>
            <a:off x="9774022" y="4702759"/>
            <a:ext cx="133502" cy="114300"/>
          </a:xfrm>
          <a:prstGeom prst="rect">
            <a:avLst/>
          </a:prstGeom>
        </p:spPr>
      </p:pic>
      <p:pic>
        <p:nvPicPr>
          <p:cNvPr id="115" name="Image 44" descr="preencoded.png">    </p:cNvPr>
          <p:cNvPicPr>
            <a:picLocks noChangeAspect="1"/>
          </p:cNvPicPr>
          <p:nvPr/>
        </p:nvPicPr>
        <p:blipFill>
          <a:blip r:embed="rId45"/>
          <a:srcRect l="-1911" r="-1911" t="0" b="0"/>
          <a:stretch/>
        </p:blipFill>
        <p:spPr>
          <a:xfrm>
            <a:off x="9906610" y="4702759"/>
            <a:ext cx="133502" cy="114300"/>
          </a:xfrm>
          <a:prstGeom prst="rect">
            <a:avLst/>
          </a:prstGeom>
        </p:spPr>
      </p:pic>
      <p:sp>
        <p:nvSpPr>
          <p:cNvPr id="116" name="Text 69"/>
          <p:cNvSpPr txBox="1"/>
          <p:nvPr/>
        </p:nvSpPr>
        <p:spPr>
          <a:xfrm>
            <a:off x="9213494" y="4870094"/>
            <a:ext cx="1067105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低（ライセンスのみ）</a:t>
            </a:r>
            <a:endParaRPr lang="en-US" sz="800" dirty="0"/>
          </a:p>
        </p:txBody>
      </p:sp>
      <p:sp>
        <p:nvSpPr>
          <p:cNvPr id="117" name="Shape 70"/>
          <p:cNvSpPr/>
          <p:nvPr/>
        </p:nvSpPr>
        <p:spPr>
          <a:xfrm>
            <a:off x="10436962" y="5117897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118" name="Image 45" descr="preencoded.png">    </p:cNvPr>
          <p:cNvPicPr>
            <a:picLocks noChangeAspect="1"/>
          </p:cNvPicPr>
          <p:nvPr/>
        </p:nvPicPr>
        <p:blipFill>
          <a:blip r:embed="rId46"/>
          <a:srcRect l="-1911" r="-1911" t="0" b="0"/>
          <a:stretch/>
        </p:blipFill>
        <p:spPr>
          <a:xfrm>
            <a:off x="10823753" y="4702759"/>
            <a:ext cx="133502" cy="114300"/>
          </a:xfrm>
          <a:prstGeom prst="rect">
            <a:avLst/>
          </a:prstGeom>
        </p:spPr>
      </p:pic>
      <p:pic>
        <p:nvPicPr>
          <p:cNvPr id="119" name="Image 46" descr="preencoded.png">    </p:cNvPr>
          <p:cNvPicPr>
            <a:picLocks noChangeAspect="1"/>
          </p:cNvPicPr>
          <p:nvPr/>
        </p:nvPicPr>
        <p:blipFill>
          <a:blip r:embed="rId47"/>
          <a:srcRect l="-1911" r="-1911" t="0" b="0"/>
          <a:stretch/>
        </p:blipFill>
        <p:spPr>
          <a:xfrm>
            <a:off x="10957255" y="4702759"/>
            <a:ext cx="133502" cy="114300"/>
          </a:xfrm>
          <a:prstGeom prst="rect">
            <a:avLst/>
          </a:prstGeom>
        </p:spPr>
      </p:pic>
      <p:pic>
        <p:nvPicPr>
          <p:cNvPr id="120" name="Image 47" descr="preencoded.png">    </p:cNvPr>
          <p:cNvPicPr>
            <a:picLocks noChangeAspect="1"/>
          </p:cNvPicPr>
          <p:nvPr/>
        </p:nvPicPr>
        <p:blipFill>
          <a:blip r:embed="rId48"/>
          <a:srcRect l="-1911" r="-1911" t="0" b="0"/>
          <a:stretch/>
        </p:blipFill>
        <p:spPr>
          <a:xfrm>
            <a:off x="11090758" y="4702759"/>
            <a:ext cx="133502" cy="114300"/>
          </a:xfrm>
          <a:prstGeom prst="rect">
            <a:avLst/>
          </a:prstGeom>
        </p:spPr>
      </p:pic>
      <p:pic>
        <p:nvPicPr>
          <p:cNvPr id="121" name="Image 48" descr="preencoded.png">    </p:cNvPr>
          <p:cNvPicPr>
            <a:picLocks noChangeAspect="1"/>
          </p:cNvPicPr>
          <p:nvPr/>
        </p:nvPicPr>
        <p:blipFill>
          <a:blip r:embed="rId49"/>
          <a:srcRect l="-1911" r="-1911" t="0" b="0"/>
          <a:stretch/>
        </p:blipFill>
        <p:spPr>
          <a:xfrm>
            <a:off x="11224260" y="4702759"/>
            <a:ext cx="133502" cy="114300"/>
          </a:xfrm>
          <a:prstGeom prst="rect">
            <a:avLst/>
          </a:prstGeom>
        </p:spPr>
      </p:pic>
      <p:pic>
        <p:nvPicPr>
          <p:cNvPr id="122" name="Image 49" descr="preencoded.png">    </p:cNvPr>
          <p:cNvPicPr>
            <a:picLocks noChangeAspect="1"/>
          </p:cNvPicPr>
          <p:nvPr/>
        </p:nvPicPr>
        <p:blipFill>
          <a:blip r:embed="rId50"/>
          <a:srcRect l="-1911" r="-1911" t="0" b="0"/>
          <a:stretch/>
        </p:blipFill>
        <p:spPr>
          <a:xfrm>
            <a:off x="11356848" y="4702759"/>
            <a:ext cx="133502" cy="114300"/>
          </a:xfrm>
          <a:prstGeom prst="rect">
            <a:avLst/>
          </a:prstGeom>
        </p:spPr>
      </p:pic>
      <p:sp>
        <p:nvSpPr>
          <p:cNvPr id="123" name="Text 71"/>
          <p:cNvSpPr txBox="1"/>
          <p:nvPr/>
        </p:nvSpPr>
        <p:spPr>
          <a:xfrm>
            <a:off x="10645445" y="4870094"/>
            <a:ext cx="11055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低-中（長文処理理解）</a:t>
            </a:r>
            <a:endParaRPr lang="en-US" sz="800" dirty="0"/>
          </a:p>
        </p:txBody>
      </p:sp>
      <p:sp>
        <p:nvSpPr>
          <p:cNvPr id="124" name="Shape 72"/>
          <p:cNvSpPr/>
          <p:nvPr/>
        </p:nvSpPr>
        <p:spPr>
          <a:xfrm>
            <a:off x="314554" y="5127041"/>
            <a:ext cx="11563502" cy="543154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5" name="Shape 73"/>
          <p:cNvSpPr/>
          <p:nvPr/>
        </p:nvSpPr>
        <p:spPr>
          <a:xfrm>
            <a:off x="314554" y="5127041"/>
            <a:ext cx="1933956" cy="543154"/>
          </a:xfrm>
          <a:prstGeom prst="rect">
            <a:avLst/>
          </a:prstGeom>
          <a:solidFill>
            <a:srgbClr val="F3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6" name="Text 74"/>
          <p:cNvSpPr txBox="1"/>
          <p:nvPr/>
        </p:nvSpPr>
        <p:spPr>
          <a:xfrm>
            <a:off x="767182" y="5298034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事例6：横断検索</a:t>
            </a:r>
            <a:endParaRPr lang="en-US" sz="1000" dirty="0"/>
          </a:p>
        </p:txBody>
      </p:sp>
      <p:sp>
        <p:nvSpPr>
          <p:cNvPr id="127" name="Shape 75"/>
          <p:cNvSpPr/>
          <p:nvPr/>
        </p:nvSpPr>
        <p:spPr>
          <a:xfrm>
            <a:off x="2241194" y="5127041"/>
            <a:ext cx="38578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8" name="Text 76"/>
          <p:cNvSpPr txBox="1"/>
          <p:nvPr/>
        </p:nvSpPr>
        <p:spPr>
          <a:xfrm>
            <a:off x="2355494" y="5298034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社内規程・手順の横断検索（探す時間の短縮）</a:t>
            </a:r>
            <a:endParaRPr lang="en-US" sz="1000" dirty="0"/>
          </a:p>
        </p:txBody>
      </p:sp>
      <p:sp>
        <p:nvSpPr>
          <p:cNvPr id="129" name="Shape 77"/>
          <p:cNvSpPr/>
          <p:nvPr/>
        </p:nvSpPr>
        <p:spPr>
          <a:xfrm>
            <a:off x="6096305" y="5127041"/>
            <a:ext cx="2895905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0" name="Text 78"/>
          <p:cNvSpPr txBox="1"/>
          <p:nvPr/>
        </p:nvSpPr>
        <p:spPr>
          <a:xfrm>
            <a:off x="6210605" y="5202936"/>
            <a:ext cx="26627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SharePoint横断検索エージェント構築、手作業検索を削減 ※Capita事例</a:t>
            </a:r>
            <a:endParaRPr lang="en-US" sz="1000" dirty="0"/>
          </a:p>
        </p:txBody>
      </p:sp>
      <p:sp>
        <p:nvSpPr>
          <p:cNvPr id="131" name="Shape 79"/>
          <p:cNvSpPr/>
          <p:nvPr/>
        </p:nvSpPr>
        <p:spPr>
          <a:xfrm>
            <a:off x="8986723" y="5127041"/>
            <a:ext cx="1457554" cy="543154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pic>
        <p:nvPicPr>
          <p:cNvPr id="132" name="Image 50" descr="preencoded.png">    </p:cNvPr>
          <p:cNvPicPr>
            <a:picLocks noChangeAspect="1"/>
          </p:cNvPicPr>
          <p:nvPr/>
        </p:nvPicPr>
        <p:blipFill>
          <a:blip r:embed="rId51"/>
          <a:srcRect l="-1911" r="-1911" t="0" b="0"/>
          <a:stretch/>
        </p:blipFill>
        <p:spPr>
          <a:xfrm>
            <a:off x="9373514" y="5245913"/>
            <a:ext cx="133502" cy="114300"/>
          </a:xfrm>
          <a:prstGeom prst="rect">
            <a:avLst/>
          </a:prstGeom>
        </p:spPr>
      </p:pic>
      <p:pic>
        <p:nvPicPr>
          <p:cNvPr id="133" name="Image 51" descr="preencoded.png">    </p:cNvPr>
          <p:cNvPicPr>
            <a:picLocks noChangeAspect="1"/>
          </p:cNvPicPr>
          <p:nvPr/>
        </p:nvPicPr>
        <p:blipFill>
          <a:blip r:embed="rId52"/>
          <a:srcRect l="-1911" r="-1911" t="0" b="0"/>
          <a:stretch/>
        </p:blipFill>
        <p:spPr>
          <a:xfrm>
            <a:off x="9507017" y="5245913"/>
            <a:ext cx="133502" cy="114300"/>
          </a:xfrm>
          <a:prstGeom prst="rect">
            <a:avLst/>
          </a:prstGeom>
        </p:spPr>
      </p:pic>
      <p:pic>
        <p:nvPicPr>
          <p:cNvPr id="134" name="Image 52" descr="preencoded.png">    </p:cNvPr>
          <p:cNvPicPr>
            <a:picLocks noChangeAspect="1"/>
          </p:cNvPicPr>
          <p:nvPr/>
        </p:nvPicPr>
        <p:blipFill>
          <a:blip r:embed="rId53"/>
          <a:srcRect l="-1911" r="-1911" t="0" b="0"/>
          <a:stretch/>
        </p:blipFill>
        <p:spPr>
          <a:xfrm>
            <a:off x="9640519" y="5245913"/>
            <a:ext cx="133502" cy="114300"/>
          </a:xfrm>
          <a:prstGeom prst="rect">
            <a:avLst/>
          </a:prstGeom>
        </p:spPr>
      </p:pic>
      <p:pic>
        <p:nvPicPr>
          <p:cNvPr id="135" name="Image 53" descr="preencoded.png">    </p:cNvPr>
          <p:cNvPicPr>
            <a:picLocks noChangeAspect="1"/>
          </p:cNvPicPr>
          <p:nvPr/>
        </p:nvPicPr>
        <p:blipFill>
          <a:blip r:embed="rId54"/>
          <a:srcRect l="-1911" r="-1911" t="0" b="0"/>
          <a:stretch/>
        </p:blipFill>
        <p:spPr>
          <a:xfrm>
            <a:off x="9774022" y="5245913"/>
            <a:ext cx="133502" cy="114300"/>
          </a:xfrm>
          <a:prstGeom prst="rect">
            <a:avLst/>
          </a:prstGeom>
        </p:spPr>
      </p:pic>
      <p:pic>
        <p:nvPicPr>
          <p:cNvPr id="136" name="Image 54" descr="preencoded.png">    </p:cNvPr>
          <p:cNvPicPr>
            <a:picLocks noChangeAspect="1"/>
          </p:cNvPicPr>
          <p:nvPr/>
        </p:nvPicPr>
        <p:blipFill>
          <a:blip r:embed="rId55"/>
          <a:srcRect l="-1911" r="-1911" t="0" b="0"/>
          <a:stretch/>
        </p:blipFill>
        <p:spPr>
          <a:xfrm>
            <a:off x="9906610" y="5245913"/>
            <a:ext cx="133502" cy="114300"/>
          </a:xfrm>
          <a:prstGeom prst="rect">
            <a:avLst/>
          </a:prstGeom>
        </p:spPr>
      </p:pic>
      <p:sp>
        <p:nvSpPr>
          <p:cNvPr id="137" name="Text 80"/>
          <p:cNvSpPr txBox="1"/>
          <p:nvPr/>
        </p:nvSpPr>
        <p:spPr>
          <a:xfrm>
            <a:off x="9261958" y="5412334"/>
            <a:ext cx="9720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中（設定・構築要）</a:t>
            </a:r>
            <a:endParaRPr lang="en-US" sz="800" dirty="0"/>
          </a:p>
        </p:txBody>
      </p:sp>
      <p:sp>
        <p:nvSpPr>
          <p:cNvPr id="138" name="Shape 81"/>
          <p:cNvSpPr/>
          <p:nvPr/>
        </p:nvSpPr>
        <p:spPr>
          <a:xfrm>
            <a:off x="10436962" y="5661050"/>
            <a:ext cx="1447495" cy="9144"/>
          </a:xfrm>
          <a:prstGeom prst="rect">
            <a:avLst/>
          </a:prstGeom>
          <a:solidFill>
            <a:srgbClr val="CCCCCC"/>
          </a:solidFill>
          <a:ln/>
        </p:spPr>
      </p:sp>
      <p:pic>
        <p:nvPicPr>
          <p:cNvPr id="139" name="Image 55" descr="preencoded.png">    </p:cNvPr>
          <p:cNvPicPr>
            <a:picLocks noChangeAspect="1"/>
          </p:cNvPicPr>
          <p:nvPr/>
        </p:nvPicPr>
        <p:blipFill>
          <a:blip r:embed="rId56"/>
          <a:srcRect l="-1911" r="-1911" t="0" b="0"/>
          <a:stretch/>
        </p:blipFill>
        <p:spPr>
          <a:xfrm>
            <a:off x="10823753" y="5245913"/>
            <a:ext cx="133502" cy="114300"/>
          </a:xfrm>
          <a:prstGeom prst="rect">
            <a:avLst/>
          </a:prstGeom>
        </p:spPr>
      </p:pic>
      <p:pic>
        <p:nvPicPr>
          <p:cNvPr id="140" name="Image 56" descr="preencoded.png">    </p:cNvPr>
          <p:cNvPicPr>
            <a:picLocks noChangeAspect="1"/>
          </p:cNvPicPr>
          <p:nvPr/>
        </p:nvPicPr>
        <p:blipFill>
          <a:blip r:embed="rId57"/>
          <a:srcRect l="-1911" r="-1911" t="0" b="0"/>
          <a:stretch/>
        </p:blipFill>
        <p:spPr>
          <a:xfrm>
            <a:off x="10957255" y="5245913"/>
            <a:ext cx="133502" cy="114300"/>
          </a:xfrm>
          <a:prstGeom prst="rect">
            <a:avLst/>
          </a:prstGeom>
        </p:spPr>
      </p:pic>
      <p:pic>
        <p:nvPicPr>
          <p:cNvPr id="141" name="Image 57" descr="preencoded.png">    </p:cNvPr>
          <p:cNvPicPr>
            <a:picLocks noChangeAspect="1"/>
          </p:cNvPicPr>
          <p:nvPr/>
        </p:nvPicPr>
        <p:blipFill>
          <a:blip r:embed="rId58"/>
          <a:srcRect l="-1911" r="-1911" t="0" b="0"/>
          <a:stretch/>
        </p:blipFill>
        <p:spPr>
          <a:xfrm>
            <a:off x="11090758" y="5245913"/>
            <a:ext cx="133502" cy="114300"/>
          </a:xfrm>
          <a:prstGeom prst="rect">
            <a:avLst/>
          </a:prstGeom>
        </p:spPr>
      </p:pic>
      <p:pic>
        <p:nvPicPr>
          <p:cNvPr id="142" name="Image 58" descr="preencoded.png">    </p:cNvPr>
          <p:cNvPicPr>
            <a:picLocks noChangeAspect="1"/>
          </p:cNvPicPr>
          <p:nvPr/>
        </p:nvPicPr>
        <p:blipFill>
          <a:blip r:embed="rId59"/>
          <a:srcRect l="-1911" r="-1911" t="0" b="0"/>
          <a:stretch/>
        </p:blipFill>
        <p:spPr>
          <a:xfrm>
            <a:off x="11224260" y="5245913"/>
            <a:ext cx="133502" cy="114300"/>
          </a:xfrm>
          <a:prstGeom prst="rect">
            <a:avLst/>
          </a:prstGeom>
        </p:spPr>
      </p:pic>
      <p:pic>
        <p:nvPicPr>
          <p:cNvPr id="143" name="Image 59" descr="preencoded.png">    </p:cNvPr>
          <p:cNvPicPr>
            <a:picLocks noChangeAspect="1"/>
          </p:cNvPicPr>
          <p:nvPr/>
        </p:nvPicPr>
        <p:blipFill>
          <a:blip r:embed="rId60"/>
          <a:srcRect l="-1911" r="-1911" t="0" b="0"/>
          <a:stretch/>
        </p:blipFill>
        <p:spPr>
          <a:xfrm>
            <a:off x="11356848" y="5245913"/>
            <a:ext cx="133502" cy="114300"/>
          </a:xfrm>
          <a:prstGeom prst="rect">
            <a:avLst/>
          </a:prstGeom>
        </p:spPr>
      </p:pic>
      <p:sp>
        <p:nvSpPr>
          <p:cNvPr id="144" name="Text 82"/>
          <p:cNvSpPr txBox="1"/>
          <p:nvPr/>
        </p:nvSpPr>
        <p:spPr>
          <a:xfrm>
            <a:off x="10612526" y="5412334"/>
            <a:ext cx="1172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中（知識・サポート要）</a:t>
            </a:r>
            <a:endParaRPr lang="en-US" sz="800" dirty="0"/>
          </a:p>
        </p:txBody>
      </p:sp>
      <p:sp>
        <p:nvSpPr>
          <p:cNvPr id="145" name="Shape 83"/>
          <p:cNvSpPr/>
          <p:nvPr/>
        </p:nvSpPr>
        <p:spPr>
          <a:xfrm>
            <a:off x="314554" y="5670194"/>
            <a:ext cx="11563502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6" name="Shape 84"/>
          <p:cNvSpPr/>
          <p:nvPr/>
        </p:nvSpPr>
        <p:spPr>
          <a:xfrm>
            <a:off x="314554" y="5670194"/>
            <a:ext cx="1933956" cy="3429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47" name="Shape 85"/>
          <p:cNvSpPr/>
          <p:nvPr/>
        </p:nvSpPr>
        <p:spPr>
          <a:xfrm>
            <a:off x="2239366" y="5670194"/>
            <a:ext cx="9144" cy="3429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8" name="Text 86"/>
          <p:cNvSpPr txBox="1"/>
          <p:nvPr/>
        </p:nvSpPr>
        <p:spPr>
          <a:xfrm>
            <a:off x="739750" y="5746090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（補足）定常利用</a:t>
            </a:r>
            <a:endParaRPr lang="en-US" sz="1000" dirty="0"/>
          </a:p>
        </p:txBody>
      </p:sp>
      <p:sp>
        <p:nvSpPr>
          <p:cNvPr id="149" name="Shape 87"/>
          <p:cNvSpPr/>
          <p:nvPr/>
        </p:nvSpPr>
        <p:spPr>
          <a:xfrm>
            <a:off x="8984894" y="5670194"/>
            <a:ext cx="9144" cy="3429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0" name="Text 88"/>
          <p:cNvSpPr txBox="1"/>
          <p:nvPr/>
        </p:nvSpPr>
        <p:spPr>
          <a:xfrm>
            <a:off x="2355494" y="5746090"/>
            <a:ext cx="4310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"週次での定常利用"が効果を押し上げる（週1回以上利用者は効果大）</a:t>
            </a:r>
            <a:endParaRPr lang="en-US" sz="1000" dirty="0"/>
          </a:p>
        </p:txBody>
      </p:sp>
      <p:sp>
        <p:nvSpPr>
          <p:cNvPr id="151" name="Shape 89"/>
          <p:cNvSpPr/>
          <p:nvPr/>
        </p:nvSpPr>
        <p:spPr>
          <a:xfrm>
            <a:off x="8986723" y="5670194"/>
            <a:ext cx="1457554" cy="3429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2" name="Shape 90"/>
          <p:cNvSpPr/>
          <p:nvPr/>
        </p:nvSpPr>
        <p:spPr>
          <a:xfrm>
            <a:off x="10435133" y="5670194"/>
            <a:ext cx="9144" cy="34290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3" name="Text 91"/>
          <p:cNvSpPr txBox="1"/>
          <p:nvPr/>
        </p:nvSpPr>
        <p:spPr>
          <a:xfrm>
            <a:off x="9687154" y="5755234"/>
            <a:ext cx="133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</a:t>
            </a:r>
            <a:endParaRPr lang="en-US" sz="900" dirty="0"/>
          </a:p>
        </p:txBody>
      </p:sp>
      <p:sp>
        <p:nvSpPr>
          <p:cNvPr id="154" name="Shape 92"/>
          <p:cNvSpPr/>
          <p:nvPr/>
        </p:nvSpPr>
        <p:spPr>
          <a:xfrm>
            <a:off x="10436962" y="5670194"/>
            <a:ext cx="1447495" cy="3429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55" name="Text 93"/>
          <p:cNvSpPr txBox="1"/>
          <p:nvPr/>
        </p:nvSpPr>
        <p:spPr>
          <a:xfrm>
            <a:off x="11137392" y="5755234"/>
            <a:ext cx="1335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-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948379" y="190195"/>
            <a:ext cx="45107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P6 普及に向けて乗り越えるべき壁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47395"/>
            <a:ext cx="10620756" cy="647395"/>
          </a:xfrm>
          <a:prstGeom prst="roundRect">
            <a:avLst>
              <a:gd name="adj" fmla="val 1661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49070" y="724205"/>
            <a:ext cx="98252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AI導入を成功させるためには、5つの壁を乗り越える必要があります。 各壁の具体例と、乗り越えるための要件を明確にすることで、効果的な対策を打つことができます。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449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4554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14554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9264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価値の壁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09651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5546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09651" y="2223821"/>
            <a:ext cx="19531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AI自体が「業務要求を満たす機能/品質/性能」になっていない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9651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5546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543154" y="2852928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精度：生成文書が期待と異なる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3154" y="3020263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根拠提示：理由が不明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3154" y="3187598"/>
            <a:ext cx="10104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速度：応答が遅い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3154" y="3355848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コスト：ROIが見えない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43154" y="3523183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社内データ対応：アクセス不可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9651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5605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95605" y="5562295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•適切なツール選定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95605" y="5772607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•段階的な適用領域の選定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95605" y="5982005"/>
            <a:ext cx="12765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•社内データ連携の実現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495605" y="6191402"/>
            <a:ext cx="1381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•効果測定と改善サイクル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4444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53589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9" name="Shape 27"/>
          <p:cNvSpPr/>
          <p:nvPr/>
        </p:nvSpPr>
        <p:spPr>
          <a:xfrm>
            <a:off x="2653589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308299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意識の壁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8686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825496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748686" y="2223821"/>
            <a:ext cx="2029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使う"意義"が腹落ちしていない／使ってよい空気がない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8686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825496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882189" y="2852928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経営層：投資対効果・リスク懸念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882189" y="3020263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管理職：今の業務で十分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882189" y="3187598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一般社員：仕事奪われる・時間ない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882189" y="3355848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組織文化：失敗恐れる・抵抗感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8686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834640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834640" y="5562295"/>
            <a:ext cx="12198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•明確な目的とKPI設定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2834640" y="5772607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•経営層のコミットメント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2834640" y="5982005"/>
            <a:ext cx="10479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•成功事例の可視化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834640" y="6191402"/>
            <a:ext cx="9336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•文化変革の推進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983480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992624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8" name="Shape 46"/>
          <p:cNvSpPr/>
          <p:nvPr/>
        </p:nvSpPr>
        <p:spPr>
          <a:xfrm>
            <a:off x="4992624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133442" y="1549908"/>
            <a:ext cx="20628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理解の壁（安心含む）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087722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164531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087722" y="2223821"/>
            <a:ext cx="2029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どう使うと効くか、何を入力してよいか等が分からない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087722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164531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221224" y="2852928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使い方：起動・プロンプト不明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5221224" y="3020263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入力データ：個人/機密情報の可否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5221224" y="3187598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検証：確認範囲・責任所在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5221224" y="3355848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ルール：ガイドライン・禁止事項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087722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73675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173675" y="5562295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•利用ガイドラインの策定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5173675" y="5772607"/>
            <a:ext cx="14959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•セキュリティポリシー整備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5173675" y="5982005"/>
            <a:ext cx="12673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•階層別教育プログラム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5173675" y="6191402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•ナレッジシェアの仕組み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2251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332574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7" name="Shape 65"/>
          <p:cNvSpPr/>
          <p:nvPr/>
        </p:nvSpPr>
        <p:spPr>
          <a:xfrm>
            <a:off x="7332574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7987284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能力の壁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7427671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7503566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7427671" y="2223821"/>
            <a:ext cx="20391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業務を細分化し、要件・制約・指示・評価観点へ落として回せない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27671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503566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7561174" y="2852928"/>
            <a:ext cx="1914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プロンプト設計：何を聞けばよいか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7561174" y="3020263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業務分析：適用業務・フロー不明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7561174" y="3187598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評価：測定方法・改善点不明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7561174" y="3355848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技術的理解：連携・統合困難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427671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513625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7513625" y="5562295"/>
            <a:ext cx="1485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•推進体制の構築（CoE等）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7513625" y="5772607"/>
            <a:ext cx="8193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•技術支援体制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7513625" y="5982005"/>
            <a:ext cx="13816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•実践的な教育プログラム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7513625" y="6191402"/>
            <a:ext cx="13716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•部門別ユースケース開発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662465" y="1442923"/>
            <a:ext cx="2229307" cy="5115154"/>
          </a:xfrm>
          <a:prstGeom prst="roundRect">
            <a:avLst>
              <a:gd name="adj" fmla="val 140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9671609" y="1452982"/>
            <a:ext cx="2210105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6" name="Shape 84"/>
          <p:cNvSpPr/>
          <p:nvPr/>
        </p:nvSpPr>
        <p:spPr>
          <a:xfrm>
            <a:off x="9671609" y="1901038"/>
            <a:ext cx="221010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326319" y="1552651"/>
            <a:ext cx="10341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習慣の壁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9766706" y="2005279"/>
            <a:ext cx="390449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842602" y="2014423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00" dirty="0"/>
          </a:p>
        </p:txBody>
      </p:sp>
      <p:sp>
        <p:nvSpPr>
          <p:cNvPr id="90" name="Text 88"/>
          <p:cNvSpPr txBox="1"/>
          <p:nvPr/>
        </p:nvSpPr>
        <p:spPr>
          <a:xfrm>
            <a:off x="9766706" y="2223821"/>
            <a:ext cx="2029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アクセス性・想起性・運用フローがなく、継続利用にならない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766706" y="2633472"/>
            <a:ext cx="504749" cy="190195"/>
          </a:xfrm>
          <a:prstGeom prst="roundRect">
            <a:avLst>
              <a:gd name="adj" fmla="val 96154"/>
            </a:avLst>
          </a:prstGeom>
          <a:solidFill>
            <a:srgbClr val="F3F4F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9842602" y="2643530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具体例</a:t>
            </a:r>
            <a:endParaRPr lang="en-US" sz="900" dirty="0"/>
          </a:p>
        </p:txBody>
      </p:sp>
      <p:sp>
        <p:nvSpPr>
          <p:cNvPr id="93" name="Text 91"/>
          <p:cNvSpPr txBox="1"/>
          <p:nvPr/>
        </p:nvSpPr>
        <p:spPr>
          <a:xfrm>
            <a:off x="9900209" y="2852928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アクセス性：起動・入口不明</a:t>
            </a:r>
            <a:endParaRPr lang="en-US" sz="900" dirty="0"/>
          </a:p>
        </p:txBody>
      </p:sp>
      <p:sp>
        <p:nvSpPr>
          <p:cNvPr id="94" name="Text 92"/>
          <p:cNvSpPr txBox="1"/>
          <p:nvPr/>
        </p:nvSpPr>
        <p:spPr>
          <a:xfrm>
            <a:off x="9900209" y="3020263"/>
            <a:ext cx="1810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想起性：タイミング・フロー不明</a:t>
            </a:r>
            <a:endParaRPr lang="en-US" sz="900" dirty="0"/>
          </a:p>
        </p:txBody>
      </p:sp>
      <p:sp>
        <p:nvSpPr>
          <p:cNvPr id="95" name="Text 93"/>
          <p:cNvSpPr txBox="1"/>
          <p:nvPr/>
        </p:nvSpPr>
        <p:spPr>
          <a:xfrm>
            <a:off x="9900209" y="3187598"/>
            <a:ext cx="1924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運用フロー：承認・エラー対応不明</a:t>
            </a:r>
            <a:endParaRPr lang="en-US" sz="900" dirty="0"/>
          </a:p>
        </p:txBody>
      </p:sp>
      <p:sp>
        <p:nvSpPr>
          <p:cNvPr id="96" name="Text 94"/>
          <p:cNvSpPr txBox="1"/>
          <p:nvPr/>
        </p:nvSpPr>
        <p:spPr>
          <a:xfrm>
            <a:off x="9900209" y="3355848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継続性：効果実感できず離脱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9766706" y="5286146"/>
            <a:ext cx="2018995" cy="1162202"/>
          </a:xfrm>
          <a:prstGeom prst="roundRect">
            <a:avLst>
              <a:gd name="adj" fmla="val 258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852660" y="5362956"/>
            <a:ext cx="12289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乗り越えるための要件</a:t>
            </a:r>
            <a:endParaRPr lang="en-US" sz="900" dirty="0"/>
          </a:p>
        </p:txBody>
      </p:sp>
      <p:sp>
        <p:nvSpPr>
          <p:cNvPr id="99" name="Text 97"/>
          <p:cNvSpPr txBox="1"/>
          <p:nvPr/>
        </p:nvSpPr>
        <p:spPr>
          <a:xfrm>
            <a:off x="9852660" y="5562295"/>
            <a:ext cx="11622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•使いやすい環境整備</a:t>
            </a:r>
            <a:endParaRPr lang="en-US" sz="900" dirty="0"/>
          </a:p>
        </p:txBody>
      </p:sp>
      <p:sp>
        <p:nvSpPr>
          <p:cNvPr id="100" name="Text 98"/>
          <p:cNvSpPr txBox="1"/>
          <p:nvPr/>
        </p:nvSpPr>
        <p:spPr>
          <a:xfrm>
            <a:off x="9852660" y="5772607"/>
            <a:ext cx="13908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•業務フローへの組み込み</a:t>
            </a:r>
            <a:endParaRPr lang="en-US" sz="900" dirty="0"/>
          </a:p>
        </p:txBody>
      </p:sp>
      <p:sp>
        <p:nvSpPr>
          <p:cNvPr id="101" name="Text 99"/>
          <p:cNvSpPr txBox="1"/>
          <p:nvPr/>
        </p:nvSpPr>
        <p:spPr>
          <a:xfrm>
            <a:off x="9852660" y="5982005"/>
            <a:ext cx="12573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•フィードバックループ</a:t>
            </a:r>
            <a:endParaRPr lang="en-US" sz="900" dirty="0"/>
          </a:p>
        </p:txBody>
      </p:sp>
      <p:sp>
        <p:nvSpPr>
          <p:cNvPr id="102" name="Text 100"/>
          <p:cNvSpPr txBox="1"/>
          <p:nvPr/>
        </p:nvSpPr>
        <p:spPr>
          <a:xfrm>
            <a:off x="9852660" y="6191402"/>
            <a:ext cx="705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•定着化施策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951122" y="190195"/>
            <a:ext cx="45107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P7 普及に向けて必要なアクション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47395"/>
            <a:ext cx="10620756" cy="609905"/>
          </a:xfrm>
          <a:prstGeom prst="roundRect">
            <a:avLst>
              <a:gd name="adj" fmla="val 18741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98778" y="705002"/>
            <a:ext cx="9930384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5つの壁を乗り越えるため、5つのカテゴリーで体系的にアクションを実施します。 各カテゴリーは相互に連携し、総合的な対策として機能します。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95605" y="1367028"/>
            <a:ext cx="38405" cy="190195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09905" y="1367028"/>
            <a:ext cx="2395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5つの壁と5つのカテゴリーの対応関係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" y="1600200"/>
            <a:ext cx="3076956" cy="256946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41271" y="1643177"/>
            <a:ext cx="210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壁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535070" y="1600200"/>
            <a:ext cx="4105656" cy="256946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55134" y="1643177"/>
            <a:ext cx="13533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主に対応するカテゴリー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32497" y="1600200"/>
            <a:ext cx="4105656" cy="256946"/>
          </a:xfrm>
          <a:prstGeom prst="rect">
            <a:avLst/>
          </a:prstGeom>
          <a:solidFill>
            <a:srgbClr val="E8E8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66860" y="1643177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補完するカテゴリー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" y="1857146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99870" y="190469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価値の壁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35070" y="18571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04511" y="1904695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環境・インフラ(Tools)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32497" y="18571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39758" y="1904695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戦略・目的(Why &amp; What)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" y="2124151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99870" y="2171700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意識の壁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35070" y="21241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42332" y="2171700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戦略・目的(Why &amp; What)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32497" y="21241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01354" y="2171700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組織・人材・文化(People)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1772" y="2391156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699870" y="243870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理解の壁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35070" y="239115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72254" y="2438705"/>
            <a:ext cx="1714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ガバナンス・リスク管理(Rules)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632497" y="239115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01354" y="2438705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組織・人材・文化(People)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" y="2657246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699870" y="2704795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能力の壁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35070" y="26572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03927" y="2704795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組織・人材・文化(People)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32497" y="2657246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74836" y="2704795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プロセス・運用(Operation)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1772" y="2924251"/>
            <a:ext cx="30769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99870" y="2971800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習慣の壁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535070" y="29242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76495" y="2971800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プロセス・運用(Operation)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632497" y="2924251"/>
            <a:ext cx="4105656" cy="267005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01938" y="2971800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環境・インフラ(Tools)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5605" y="3347618"/>
            <a:ext cx="38405" cy="190195"/>
          </a:xfrm>
          <a:prstGeom prst="rect">
            <a:avLst/>
          </a:prstGeom>
          <a:solidFill>
            <a:srgbClr val="DC143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09905" y="3347618"/>
            <a:ext cx="1653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5つのカテゴリー（概要）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66344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9" name="Shape 47"/>
          <p:cNvSpPr/>
          <p:nvPr/>
        </p:nvSpPr>
        <p:spPr>
          <a:xfrm>
            <a:off x="466344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90372" y="3688690"/>
            <a:ext cx="1815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戦略・目的(Why &amp; What)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543154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543154" y="4240073"/>
            <a:ext cx="200436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何を目指すか、なぜやるかを明確化し、意識の壁を乗り越える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543154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657454" y="4750308"/>
            <a:ext cx="13853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目的の明確化(KGI/KPI設定)</a:t>
            </a:r>
            <a:endParaRPr lang="en-US" sz="800" dirty="0"/>
          </a:p>
        </p:txBody>
      </p:sp>
      <p:sp>
        <p:nvSpPr>
          <p:cNvPr id="55" name="Text 53"/>
          <p:cNvSpPr txBox="1"/>
          <p:nvPr/>
        </p:nvSpPr>
        <p:spPr>
          <a:xfrm>
            <a:off x="657454" y="4883810"/>
            <a:ext cx="1432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適用領域の選定(段階的展開)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43154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543154" y="6277356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②意識、①価値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31313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2741371" y="3586277"/>
            <a:ext cx="2162556" cy="49560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0" name="Shape 58"/>
          <p:cNvSpPr/>
          <p:nvPr/>
        </p:nvSpPr>
        <p:spPr>
          <a:xfrm>
            <a:off x="2741371" y="407273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3007462" y="3642970"/>
            <a:ext cx="172913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ガバナンス・リスク管理(Rules)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2817266" y="4157777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63" name="Text 61"/>
          <p:cNvSpPr txBox="1"/>
          <p:nvPr/>
        </p:nvSpPr>
        <p:spPr>
          <a:xfrm>
            <a:off x="2817266" y="4315968"/>
            <a:ext cx="19952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安心して使えるルール作りにより、理解の壁を乗り越える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2817266" y="4668012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65" name="Text 63"/>
          <p:cNvSpPr txBox="1"/>
          <p:nvPr/>
        </p:nvSpPr>
        <p:spPr>
          <a:xfrm>
            <a:off x="2931566" y="4826203"/>
            <a:ext cx="11475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利用ガイドライン策定</a:t>
            </a:r>
            <a:endParaRPr lang="en-US" sz="800" dirty="0"/>
          </a:p>
        </p:txBody>
      </p:sp>
      <p:sp>
        <p:nvSpPr>
          <p:cNvPr id="66" name="Text 64"/>
          <p:cNvSpPr txBox="1"/>
          <p:nvPr/>
        </p:nvSpPr>
        <p:spPr>
          <a:xfrm>
            <a:off x="2931566" y="4959706"/>
            <a:ext cx="13569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セキュリティポリシー整備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817266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2817266" y="6277356"/>
            <a:ext cx="6291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③理解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006340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015484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1" name="Shape 69"/>
          <p:cNvSpPr/>
          <p:nvPr/>
        </p:nvSpPr>
        <p:spPr>
          <a:xfrm>
            <a:off x="5015484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5325466" y="3688690"/>
            <a:ext cx="1643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環境・インフラ(Tools)</a:t>
            </a:r>
            <a:endParaRPr lang="en-US" sz="1000" dirty="0"/>
          </a:p>
        </p:txBody>
      </p:sp>
      <p:sp>
        <p:nvSpPr>
          <p:cNvPr id="73" name="Text 71"/>
          <p:cNvSpPr txBox="1"/>
          <p:nvPr/>
        </p:nvSpPr>
        <p:spPr>
          <a:xfrm>
            <a:off x="5092294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74" name="Text 72"/>
          <p:cNvSpPr txBox="1"/>
          <p:nvPr/>
        </p:nvSpPr>
        <p:spPr>
          <a:xfrm>
            <a:off x="5092294" y="4240073"/>
            <a:ext cx="19952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使いやすい環境整備により、価値の壁と習慣の壁を乗り越える</a:t>
            </a:r>
            <a:endParaRPr lang="en-US" sz="800" dirty="0"/>
          </a:p>
        </p:txBody>
      </p:sp>
      <p:sp>
        <p:nvSpPr>
          <p:cNvPr id="75" name="Text 73"/>
          <p:cNvSpPr txBox="1"/>
          <p:nvPr/>
        </p:nvSpPr>
        <p:spPr>
          <a:xfrm>
            <a:off x="5092294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76" name="Text 74"/>
          <p:cNvSpPr txBox="1"/>
          <p:nvPr/>
        </p:nvSpPr>
        <p:spPr>
          <a:xfrm>
            <a:off x="5206594" y="4750308"/>
            <a:ext cx="10424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ツールの選定・契約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5206594" y="4883810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UIの整備</a:t>
            </a:r>
            <a:endParaRPr lang="en-US" sz="800" dirty="0"/>
          </a:p>
        </p:txBody>
      </p:sp>
      <p:sp>
        <p:nvSpPr>
          <p:cNvPr id="78" name="Text 76"/>
          <p:cNvSpPr txBox="1"/>
          <p:nvPr/>
        </p:nvSpPr>
        <p:spPr>
          <a:xfrm>
            <a:off x="5206594" y="5017313"/>
            <a:ext cx="93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既存システム連携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092294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5092294" y="6277356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①価値、⑤習慣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7280453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90511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3" name="Shape 81"/>
          <p:cNvSpPr/>
          <p:nvPr/>
        </p:nvSpPr>
        <p:spPr>
          <a:xfrm>
            <a:off x="7290511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7478878" y="3688690"/>
            <a:ext cx="1890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組織・人材・文化(People)</a:t>
            </a:r>
            <a:endParaRPr lang="en-US" sz="1000" dirty="0"/>
          </a:p>
        </p:txBody>
      </p:sp>
      <p:sp>
        <p:nvSpPr>
          <p:cNvPr id="85" name="Text 83"/>
          <p:cNvSpPr txBox="1"/>
          <p:nvPr/>
        </p:nvSpPr>
        <p:spPr>
          <a:xfrm>
            <a:off x="7366406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86" name="Text 84"/>
          <p:cNvSpPr txBox="1"/>
          <p:nvPr/>
        </p:nvSpPr>
        <p:spPr>
          <a:xfrm>
            <a:off x="7366406" y="4240073"/>
            <a:ext cx="200436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使いこなせる人と文化を育成し、能力の壁と理解の壁を乗り越える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7366406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88" name="Text 86"/>
          <p:cNvSpPr txBox="1"/>
          <p:nvPr/>
        </p:nvSpPr>
        <p:spPr>
          <a:xfrm>
            <a:off x="7480706" y="4750308"/>
            <a:ext cx="14520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体制づくり(CoE, Champion)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7480706" y="4883810"/>
            <a:ext cx="11475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教育・リテラシー向上</a:t>
            </a:r>
            <a:endParaRPr lang="en-US" sz="800" dirty="0"/>
          </a:p>
        </p:txBody>
      </p:sp>
      <p:sp>
        <p:nvSpPr>
          <p:cNvPr id="90" name="Text 88"/>
          <p:cNvSpPr txBox="1"/>
          <p:nvPr/>
        </p:nvSpPr>
        <p:spPr>
          <a:xfrm>
            <a:off x="7480706" y="5017313"/>
            <a:ext cx="50932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文化変革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366406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7366406" y="6277356"/>
            <a:ext cx="1420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④能力、③理解、②意識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9555480" y="3576218"/>
            <a:ext cx="2180844" cy="2943454"/>
          </a:xfrm>
          <a:prstGeom prst="roundRect">
            <a:avLst>
              <a:gd name="adj" fmla="val 109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9564624" y="3586277"/>
            <a:ext cx="2162556" cy="418795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5" name="Shape 93"/>
          <p:cNvSpPr/>
          <p:nvPr/>
        </p:nvSpPr>
        <p:spPr>
          <a:xfrm>
            <a:off x="9564624" y="3995928"/>
            <a:ext cx="2162556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9715500" y="3688690"/>
            <a:ext cx="1967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プロセス・運用(Operation)</a:t>
            </a:r>
            <a:endParaRPr lang="en-US" sz="1000" dirty="0"/>
          </a:p>
        </p:txBody>
      </p:sp>
      <p:sp>
        <p:nvSpPr>
          <p:cNvPr id="97" name="Text 95"/>
          <p:cNvSpPr txBox="1"/>
          <p:nvPr/>
        </p:nvSpPr>
        <p:spPr>
          <a:xfrm>
            <a:off x="9641434" y="4081882"/>
            <a:ext cx="277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</a:t>
            </a:r>
            <a:endParaRPr lang="en-US" sz="800" dirty="0"/>
          </a:p>
        </p:txBody>
      </p:sp>
      <p:sp>
        <p:nvSpPr>
          <p:cNvPr id="98" name="Text 96"/>
          <p:cNvSpPr txBox="1"/>
          <p:nvPr/>
        </p:nvSpPr>
        <p:spPr>
          <a:xfrm>
            <a:off x="9641434" y="4240073"/>
            <a:ext cx="199522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回し続ける仕組みにより、習慣の壁と能力の壁を乗り越える</a:t>
            </a:r>
            <a:endParaRPr lang="en-US" sz="800" dirty="0"/>
          </a:p>
        </p:txBody>
      </p:sp>
      <p:sp>
        <p:nvSpPr>
          <p:cNvPr id="99" name="Text 97"/>
          <p:cNvSpPr txBox="1"/>
          <p:nvPr/>
        </p:nvSpPr>
        <p:spPr>
          <a:xfrm>
            <a:off x="9641434" y="4592117"/>
            <a:ext cx="7717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143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主なアクション</a:t>
            </a:r>
            <a:endParaRPr lang="en-US" sz="800" dirty="0"/>
          </a:p>
        </p:txBody>
      </p:sp>
      <p:sp>
        <p:nvSpPr>
          <p:cNvPr id="100" name="Text 98"/>
          <p:cNvSpPr txBox="1"/>
          <p:nvPr/>
        </p:nvSpPr>
        <p:spPr>
          <a:xfrm>
            <a:off x="9755734" y="4750308"/>
            <a:ext cx="11375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フィードバックループ</a:t>
            </a:r>
            <a:endParaRPr lang="en-US" sz="800" dirty="0"/>
          </a:p>
        </p:txBody>
      </p:sp>
      <p:sp>
        <p:nvSpPr>
          <p:cNvPr id="101" name="Text 99"/>
          <p:cNvSpPr txBox="1"/>
          <p:nvPr/>
        </p:nvSpPr>
        <p:spPr>
          <a:xfrm>
            <a:off x="9755734" y="4883810"/>
            <a:ext cx="93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アップデート対応</a:t>
            </a:r>
            <a:endParaRPr lang="en-US" sz="800" dirty="0"/>
          </a:p>
        </p:txBody>
      </p:sp>
      <p:sp>
        <p:nvSpPr>
          <p:cNvPr id="102" name="Text 100"/>
          <p:cNvSpPr txBox="1"/>
          <p:nvPr/>
        </p:nvSpPr>
        <p:spPr>
          <a:xfrm>
            <a:off x="9755734" y="5017313"/>
            <a:ext cx="9381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成功事例の横展開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9641434" y="6229807"/>
            <a:ext cx="2009851" cy="9144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9641434" y="6277356"/>
            <a:ext cx="1019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対応: ⑤習慣、④能力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117543" y="190195"/>
            <a:ext cx="41769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P8 戦略・目的（Why &amp; What）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49070" y="780898"/>
            <a:ext cx="982522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「とりあえずAIを入れてみた」で終わらせないために、最も重要な土台です。 明確な目的とKPI設定により、意識の壁を乗り越えます。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671523"/>
            <a:ext cx="2772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目的の明確化（KGI/KPI設定）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049" y="2223821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348179"/>
            <a:ext cx="9857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方向性の決定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689250"/>
            <a:ext cx="488838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業務効率化（マイナスをゼロに）なのか、新規価値創出（ゼロをプラスに）なのかを明確化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3134563"/>
            <a:ext cx="48408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アイリスの場合：P2の戦略に基づき、「圧倒的なスピード」と「完璧な品質」の両立を目指す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049" y="4383634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" y="4765853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3407" y="4507992"/>
            <a:ext cx="1089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KGI/KPIの設定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5995" y="4849063"/>
            <a:ext cx="4145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利用率KPI：現状20% → 3ヶ月で50% → 6ヶ月で70% → 12ヶ月で80%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5100523"/>
            <a:ext cx="34317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時間削減KPI：1人あたり月平均10-15時間の業務時間削減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" y="5351983"/>
            <a:ext cx="2830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業務効率化KPI：主要業務で20-30%の時間削減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995" y="5603443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部門別KPI：各事業部で5-10件のユースケース創出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0605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9749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6219749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Shape 26"/>
          <p:cNvSpPr/>
          <p:nvPr/>
        </p:nvSpPr>
        <p:spPr>
          <a:xfrm>
            <a:off x="6372454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67551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755587" y="1671523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適用領域の選定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372454" y="2223821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95898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95898" y="2348179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段階的展開戦略の決定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629400" y="2689250"/>
            <a:ext cx="35935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全社一斉導入か、特定部署からのスモールスタートかを決定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629400" y="2940710"/>
            <a:ext cx="38121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推奨：スモールスタート（50名 → 500名 → 全社の段階的展開）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72454" y="4383634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5898" y="4765853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95898" y="4507992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優先業務フローの選定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4849063"/>
            <a:ext cx="4307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初期段階（0-6ヶ月）：メール要約、会議要約、文書作成、プレゼン作成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5100523"/>
            <a:ext cx="42501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発展段階（6-12ヶ月）：SharePoint横断検索、部門特化AIエージェント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5351983"/>
            <a:ext cx="2307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各事業部の特性に応じた優先順位付け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717036" y="190195"/>
            <a:ext cx="49770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P9 ガバナンス・リスク管理（Rules）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11580" y="780898"/>
            <a:ext cx="99020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社員が「安心して」使えるようにするためのガードレールです。 これが曖昧だと、現場は萎縮して使いません。理解の壁を乗り越えます。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671523"/>
            <a:ext cx="22384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利用ガイドラインの策定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9049" y="2223821"/>
            <a:ext cx="52011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348179"/>
            <a:ext cx="18516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入力データのルール明確化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689250"/>
            <a:ext cx="32122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個人情報、機密情報、顧客データの入力可否を明確化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2940710"/>
            <a:ext cx="24313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「入力してはいけないもの」をリスト化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75995" y="3192170"/>
            <a:ext cx="29836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重要：Microsoft 365環境内データは基本的に安全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049" y="3719779"/>
            <a:ext cx="52011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" y="4101084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3407" y="3843223"/>
            <a:ext cx="14136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出力物の扱いルール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4184294"/>
            <a:ext cx="30787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生成物の著作権、ファクトチェックの義務を明確化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" y="4435754"/>
            <a:ext cx="21643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「AIの嘘」への責任の所在を明確化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75995" y="4687214"/>
            <a:ext cx="3973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重要：「AIのミスはプロセスの不備」と割り切る免責ルールの作成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049" y="5214823"/>
            <a:ext cx="5201107" cy="1181405"/>
          </a:xfrm>
          <a:prstGeom prst="roundRect">
            <a:avLst>
              <a:gd name="adj" fmla="val 3745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3407" y="5597042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3407" y="5339182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禁止事項の明確化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75995" y="5680253"/>
            <a:ext cx="39840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競合他社への攻撃的な利用、差別的な生成などの禁止事項を明文化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0605" y="1557223"/>
            <a:ext cx="5524805" cy="5000854"/>
          </a:xfrm>
          <a:prstGeom prst="roundRect">
            <a:avLst>
              <a:gd name="adj" fmla="val 27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9749" y="1567282"/>
            <a:ext cx="5505602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9749" y="2062886"/>
            <a:ext cx="5505602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Shape 30"/>
          <p:cNvSpPr/>
          <p:nvPr/>
        </p:nvSpPr>
        <p:spPr>
          <a:xfrm>
            <a:off x="6372454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67551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755587" y="1671523"/>
            <a:ext cx="2039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セキュリティポリシー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372454" y="2223821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95898" y="2606040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95898" y="2348179"/>
            <a:ext cx="2271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セキュリティ設定の確認・最適化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629400" y="2689250"/>
            <a:ext cx="21927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Commercial Data Protectionの確認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2940710"/>
            <a:ext cx="27742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DLP（Data Loss Prevention）ポリシーの設定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3192170"/>
            <a:ext cx="21835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Azure ADによるアクセス制御の確認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3443630"/>
            <a:ext cx="25548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重要：導入前に専門家による設定レビュー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72454" y="4383634"/>
            <a:ext cx="5201107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5898" y="4765853"/>
            <a:ext cx="495330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495898" y="4507992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監査体制の構築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6629400" y="4849063"/>
            <a:ext cx="13926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ログの保存期間の決定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629400" y="5100523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監査ログの定期レビュー体制の構築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6629400" y="5351983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インシデント対応マニュアルの作成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210812" y="190195"/>
            <a:ext cx="3986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P10 環境・インフラ（Tools）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448056"/>
          </a:xfrm>
          <a:prstGeom prst="roundRect">
            <a:avLst>
              <a:gd name="adj" fmla="val 34737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384402" y="780898"/>
            <a:ext cx="9559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「使いやすさ」が浸透のスピードを決めます。 適切なツール選定と環境整備により、価値の壁と習慣の壁を乗り越えます。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21308"/>
            <a:ext cx="3638398" cy="5238598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331366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1826971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464869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483157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454810"/>
            <a:ext cx="16724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ツールの選定・契約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049" y="198790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37012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112264"/>
            <a:ext cx="12710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基本ツールの選定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453335"/>
            <a:ext cx="294528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Copilot for Microsoft 365：全社的なAI民主化の基盤として導入（既にライセンス取得済み）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3093415"/>
            <a:ext cx="29836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自社の既存環境（Microsoft 365）との親和性を確認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049" y="426567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3407" y="464789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3407" y="4390034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発展段階ツールの検討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75995" y="4731106"/>
            <a:ext cx="288859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Copilot Studio：部門特化AIエージェント構築用（6-12ヶ月後に検討）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5176418"/>
            <a:ext cx="29169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Azure AI Services：高度なAI機能実装用（必要に応じて）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80306" y="1321308"/>
            <a:ext cx="3638398" cy="5238598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89450" y="1331366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Shape 23"/>
          <p:cNvSpPr/>
          <p:nvPr/>
        </p:nvSpPr>
        <p:spPr>
          <a:xfrm>
            <a:off x="4289450" y="1826971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4"/>
          <p:cNvSpPr/>
          <p:nvPr/>
        </p:nvSpPr>
        <p:spPr>
          <a:xfrm>
            <a:off x="4442155" y="1464869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37253" y="1483157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825289" y="1454810"/>
            <a:ext cx="20052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インターフェースの整備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442155" y="198790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65599" y="237012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65599" y="2112264"/>
            <a:ext cx="14045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アクセス方法の統一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699102" y="2453335"/>
            <a:ext cx="2964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Webブラウザ版、API連携、Slack/Teams連携Botなどの選択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699102" y="2898648"/>
            <a:ext cx="29836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推奨：Microsoft 365環境内での利用を基本とし、Teams連携を強化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42155" y="4265676"/>
            <a:ext cx="3314700" cy="2133295"/>
          </a:xfrm>
          <a:prstGeom prst="roundRect">
            <a:avLst>
              <a:gd name="adj" fmla="val 1148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65599" y="464789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65599" y="4390034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アカウント管理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699102" y="4731106"/>
            <a:ext cx="24213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SSO（シングルサインオン）連携の確認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699102" y="4982566"/>
            <a:ext cx="16504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部署ごとの権限設定の設計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02498" y="1321308"/>
            <a:ext cx="3638398" cy="5238598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111642" y="1331366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1" name="Shape 39"/>
          <p:cNvSpPr/>
          <p:nvPr/>
        </p:nvSpPr>
        <p:spPr>
          <a:xfrm>
            <a:off x="8111642" y="1826971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2" name="Shape 40"/>
          <p:cNvSpPr/>
          <p:nvPr/>
        </p:nvSpPr>
        <p:spPr>
          <a:xfrm>
            <a:off x="8264347" y="1464869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359445" y="1483157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648395" y="1454810"/>
            <a:ext cx="1843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既存システムとの連携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264347" y="1987906"/>
            <a:ext cx="3314700" cy="4410151"/>
          </a:xfrm>
          <a:prstGeom prst="roundRect">
            <a:avLst>
              <a:gd name="adj" fmla="val 476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88706" y="2370125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388706" y="2112264"/>
            <a:ext cx="18425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VBAマクロ資産の活用方針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521294" y="2453335"/>
            <a:ext cx="28026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既存VBAマクロ資産の棚卸し（重要度・使用頻度・置き換え可能性の評価）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8521294" y="2898648"/>
            <a:ext cx="29836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既存資産は維持しつつ、新規業務からCopilotを活用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8521294" y="3344875"/>
            <a:ext cx="12691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役割分担の明確化：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521294" y="3539642"/>
            <a:ext cx="29169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VBA（定型業務自動化）、Copilot（分析・文書作成）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959352" y="190195"/>
            <a:ext cx="44915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P11 組織・人材・文化（People）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07008" y="780898"/>
            <a:ext cx="99111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ツールがあっても「使いこなせる人」がいなければ意味がありません。 体制づくりと教育により、能力の壁と理解の壁を乗り越えます。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18818"/>
            <a:ext cx="3657600" cy="5038344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28877"/>
            <a:ext cx="3638398" cy="4663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1986077"/>
            <a:ext cx="3638398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599846" y="1643177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4944" y="1662379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45490" y="1633118"/>
            <a:ext cx="986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体制づくり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9846" y="2128723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002" y="2481682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5002" y="2233879"/>
            <a:ext cx="15983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中央組織（CoE）の設置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19302" y="2534717"/>
            <a:ext cx="10725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推奨構成：6-10名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19302" y="2743200"/>
            <a:ext cx="311170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AI戦略担当、技術アーキテクト、チェンジマネージャー等で構成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19302" y="3122676"/>
            <a:ext cx="31400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役割：戦略・ガバナンス・技術支援・標準化・知見共有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9846" y="3594506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002" y="3946550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5002" y="3698748"/>
            <a:ext cx="24469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事業部AI推進リーダー（Champion）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19302" y="3999586"/>
            <a:ext cx="21680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推奨人数：30-50名（部門別に1-3名）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19302" y="4208983"/>
            <a:ext cx="302575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役割：部門内での活用促進、質問対応、成功事例共有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9302" y="4417466"/>
            <a:ext cx="22155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インセンティブ：月額手当（1-3万円）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9846" y="5059375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5002" y="5411419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5002" y="5163617"/>
            <a:ext cx="1617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経営層のコミットメント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9302" y="5465369"/>
            <a:ext cx="25109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AI推進委員会の設置（委員長：取締役CTO）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19302" y="5673852"/>
            <a:ext cx="22347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月1回の定例会議、予算確保、権限委譲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67505" y="1518818"/>
            <a:ext cx="3657600" cy="5038344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76649" y="1528877"/>
            <a:ext cx="3638398" cy="4663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4276649" y="1986077"/>
            <a:ext cx="3638398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1"/>
          <p:cNvSpPr/>
          <p:nvPr/>
        </p:nvSpPr>
        <p:spPr>
          <a:xfrm>
            <a:off x="4410151" y="1643177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05249" y="1662379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5794" y="1633118"/>
            <a:ext cx="1843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教育・リテラシー向上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10151" y="2128723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15307" y="2481682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15307" y="2233879"/>
            <a:ext cx="18845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階層別研修プログラムの構築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629607" y="2534717"/>
            <a:ext cx="20345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経営層向け：AI投資の意義、リスク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629607" y="2743200"/>
            <a:ext cx="30348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一般社員向け：プロンプト基礎（2時間eラーニング）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629607" y="2952598"/>
            <a:ext cx="307329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推進者（Champion）向け：高度な活用事例（8時間集中研修）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10151" y="3594506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15307" y="3946550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515307" y="3698748"/>
            <a:ext cx="13414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継続教育体制の構築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629607" y="3999586"/>
            <a:ext cx="22731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月次：AI活用Tips配信、Q&amp;Aセッション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629607" y="4208983"/>
            <a:ext cx="19302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季度：Advanced User Group会合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4629607" y="4417466"/>
            <a:ext cx="1911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年次：AIサミット、外部講師招請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410151" y="5059375"/>
            <a:ext cx="3372307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515307" y="5411419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515307" y="5163617"/>
            <a:ext cx="16175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ナレッジシェアの仕組み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4629607" y="5465369"/>
            <a:ext cx="26545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「すごいプロンプト集」や「成功事例」の共有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629607" y="5673852"/>
            <a:ext cx="20253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全社的なAI活用コミュニティの運営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076895" y="1518818"/>
            <a:ext cx="3657600" cy="5038344"/>
          </a:xfrm>
          <a:prstGeom prst="roundRect">
            <a:avLst>
              <a:gd name="adj" fmla="val 52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086954" y="1528877"/>
            <a:ext cx="3638398" cy="466344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5" name="Shape 53"/>
          <p:cNvSpPr/>
          <p:nvPr/>
        </p:nvSpPr>
        <p:spPr>
          <a:xfrm>
            <a:off x="8086954" y="1986077"/>
            <a:ext cx="3638398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6" name="Shape 54"/>
          <p:cNvSpPr/>
          <p:nvPr/>
        </p:nvSpPr>
        <p:spPr>
          <a:xfrm>
            <a:off x="8220456" y="1643177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315554" y="1662379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8565185" y="1633118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文化変革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220456" y="2128723"/>
            <a:ext cx="3372307" cy="2085746"/>
          </a:xfrm>
          <a:prstGeom prst="roundRect">
            <a:avLst>
              <a:gd name="adj" fmla="val 1201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324698" y="2481682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324698" y="2233879"/>
            <a:ext cx="24368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「使わなければ損」という文化の醸成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8438998" y="2534717"/>
            <a:ext cx="28922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成功体験の即時共有（社内SNS、メールマガジン）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8438998" y="2743200"/>
            <a:ext cx="290139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管理職の率先活用（トップダウン＋ボトムアップ）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220456" y="4326941"/>
            <a:ext cx="3372307" cy="2085746"/>
          </a:xfrm>
          <a:prstGeom prst="roundRect">
            <a:avLst>
              <a:gd name="adj" fmla="val 1201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324698" y="4678985"/>
            <a:ext cx="3161995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8324698" y="4431182"/>
            <a:ext cx="17510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失敗を恐れない文化の構築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8438998" y="4732934"/>
            <a:ext cx="312999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「AIのミスはプロセスの不備」と割り切る免責ルールの徹底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8438998" y="5112410"/>
            <a:ext cx="15590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担当者を罰する文化の排除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3884371" y="190195"/>
            <a:ext cx="46442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P12 プロセス・運用（Operation）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87298" y="685800"/>
            <a:ext cx="10620756" cy="685800"/>
          </a:xfrm>
          <a:prstGeom prst="roundRect">
            <a:avLst>
              <a:gd name="adj" fmla="val 14815"/>
            </a:avLst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207922" y="780898"/>
            <a:ext cx="991118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一度導入して終わりではなく、回し続けるための仕組みです。 フィードバックと改善により、習慣の壁と能力の壁を乗り越えます。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57223"/>
            <a:ext cx="3638398" cy="500085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" y="1567282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" y="2062886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19049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4146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7" y="1690726"/>
            <a:ext cx="18342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フィードバックループ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049" y="2223821"/>
            <a:ext cx="3314700" cy="1543507"/>
          </a:xfrm>
          <a:prstGeom prst="roundRect">
            <a:avLst>
              <a:gd name="adj" fmla="val 21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3407" y="2606040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3407" y="2348179"/>
            <a:ext cx="1709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不満吸い上げ窓口の設置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75995" y="2689250"/>
            <a:ext cx="30120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「使えない」「回答が微妙」といった不満を吸い上げる窓口の設置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75995" y="3134563"/>
            <a:ext cx="20409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定期的なアンケート調査（月次）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75995" y="3386023"/>
            <a:ext cx="28501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フォーカスグループ、1on1インタビューの実施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9049" y="3913632"/>
            <a:ext cx="3314700" cy="1295705"/>
          </a:xfrm>
          <a:prstGeom prst="roundRect">
            <a:avLst>
              <a:gd name="adj" fmla="val 3113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3407" y="4295851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3407" y="4037990"/>
            <a:ext cx="1709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利用状況のモニタリング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75995" y="4379062"/>
            <a:ext cx="2716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365管理センターでの利用ログ分析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75995" y="4630522"/>
            <a:ext cx="302209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Dashboard機能を活用したKPI管理（アクティブユーザー数、利用頻度など）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9049" y="5352898"/>
            <a:ext cx="3314700" cy="1352398"/>
          </a:xfrm>
          <a:prstGeom prst="roundRect">
            <a:avLst>
              <a:gd name="adj" fmla="val 2857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3407" y="5734202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3407" y="5476342"/>
            <a:ext cx="16998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効果測定システムの構築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75995" y="5817413"/>
            <a:ext cx="26215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BVA（Business Value Assessment）の活用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75995" y="6068873"/>
            <a:ext cx="15261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特定業務の処理時間測定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75995" y="6320333"/>
            <a:ext cx="30120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ROI計算（月間削減時間×時給 - ライセンス費用）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280306" y="1557223"/>
            <a:ext cx="3638398" cy="500085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89450" y="1567282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30"/>
          <p:cNvSpPr/>
          <p:nvPr/>
        </p:nvSpPr>
        <p:spPr>
          <a:xfrm>
            <a:off x="4289450" y="2062886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Shape 31"/>
          <p:cNvSpPr/>
          <p:nvPr/>
        </p:nvSpPr>
        <p:spPr>
          <a:xfrm>
            <a:off x="4442155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37253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825289" y="1690726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アップデート対応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442155" y="2223821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65599" y="2606040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565599" y="2348179"/>
            <a:ext cx="21287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定期的な見直しサイクルの設定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699102" y="2689250"/>
            <a:ext cx="2936138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AIモデルは進化が早いため、ガイドラインやツールを定期的に見直す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699102" y="3134563"/>
            <a:ext cx="22978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四半期ごとのレビュー、年次での総括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442155" y="4383634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65599" y="4765853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65599" y="4507992"/>
            <a:ext cx="17090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新機能の情報収集・共有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699102" y="4849063"/>
            <a:ext cx="2221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Microsoftの最新情報の継続的な確認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4699102" y="5100523"/>
            <a:ext cx="21744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新機能の社内共有、活用方法の検討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02498" y="1557223"/>
            <a:ext cx="3638398" cy="5000854"/>
          </a:xfrm>
          <a:prstGeom prst="roundRect">
            <a:avLst>
              <a:gd name="adj" fmla="val 52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111642" y="1567282"/>
            <a:ext cx="3619195" cy="50474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8" name="Shape 46"/>
          <p:cNvSpPr/>
          <p:nvPr/>
        </p:nvSpPr>
        <p:spPr>
          <a:xfrm>
            <a:off x="8111642" y="2062886"/>
            <a:ext cx="3619195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Shape 47"/>
          <p:cNvSpPr/>
          <p:nvPr/>
        </p:nvSpPr>
        <p:spPr>
          <a:xfrm>
            <a:off x="8264347" y="1699870"/>
            <a:ext cx="276149" cy="228600"/>
          </a:xfrm>
          <a:prstGeom prst="roundRect">
            <a:avLst>
              <a:gd name="adj" fmla="val 66667"/>
            </a:avLst>
          </a:prstGeom>
          <a:solidFill>
            <a:srgbClr val="1F293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8359445" y="171907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648395" y="1690726"/>
            <a:ext cx="150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成功事例の横展開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264347" y="2223821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88706" y="2606040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8388706" y="2348179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成功事例の収集・共有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521294" y="2689250"/>
            <a:ext cx="30120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事業部ごとの成功事例創出（日立製作所：1,000件横展開を参考）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521294" y="3134563"/>
            <a:ext cx="294528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成功事例の社内ポータル、メールマガジン、イベントでの共有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64347" y="4383634"/>
            <a:ext cx="3314700" cy="2009851"/>
          </a:xfrm>
          <a:prstGeom prst="roundRect">
            <a:avLst>
              <a:gd name="adj" fmla="val 1294"/>
            </a:avLst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388706" y="4765853"/>
            <a:ext cx="3066898" cy="9144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8388706" y="4507992"/>
            <a:ext cx="11283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表彰制度の構築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8521294" y="4849063"/>
            <a:ext cx="23070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優秀活用部門・個人の表彰、社内報道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521294" y="5100523"/>
            <a:ext cx="286938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「Copilotチャレンジカップ」などのコンペ開催（九電グループ事例を参考）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2026-01-05T04:18:10Z</dcterms:created>
  <dcterms:modified xsi:type="dcterms:W3CDTF">2026-01-05T04:18:10Z</dcterms:modified>
</cp:coreProperties>
</file>