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604" y="1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0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76402" y="476402"/>
            <a:ext cx="228600" cy="228600"/>
          </a:xfrm>
          <a:prstGeom prst="rect">
            <a:avLst/>
          </a:prstGeom>
          <a:noFill/>
          <a:ln w="508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487607" y="6152998"/>
            <a:ext cx="228600" cy="228600"/>
          </a:xfrm>
          <a:prstGeom prst="rect">
            <a:avLst/>
          </a:prstGeom>
          <a:noFill/>
          <a:ln w="508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333549" y="2549347"/>
            <a:ext cx="1047902" cy="1047902"/>
          </a:xfrm>
          <a:prstGeom prst="ellipse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2643530" y="2883103"/>
            <a:ext cx="428854" cy="3813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2354" y="2549347"/>
            <a:ext cx="1047902" cy="1047902"/>
          </a:xfrm>
          <a:prstGeom prst="ellipse">
            <a:avLst/>
          </a:prstGeom>
          <a:solidFill>
            <a:srgbClr val="EFF6FF"/>
          </a:solidFill>
          <a:ln w="25400">
            <a:solidFill>
              <a:srgbClr val="4A90E2"/>
            </a:solidFill>
            <a:prstDash val="solid"/>
          </a:ln>
          <a:effectLst>
            <a:outerShdw blurRad="139700" dist="101600" dir="5400000" algn="bl" rotWithShape="0">
              <a:srgbClr val="4A90E2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24" b="-24"/>
          <a:stretch/>
        </p:blipFill>
        <p:spPr>
          <a:xfrm>
            <a:off x="5857646" y="2883103"/>
            <a:ext cx="476402" cy="3813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810244" y="2549347"/>
            <a:ext cx="1047902" cy="1047902"/>
          </a:xfrm>
          <a:prstGeom prst="ellipse">
            <a:avLst/>
          </a:prstGeom>
          <a:solidFill>
            <a:srgbClr val="F3F4F6"/>
          </a:solidFill>
          <a:ln w="254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9096451" y="2883103"/>
            <a:ext cx="476402" cy="3813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92094" y="920801"/>
            <a:ext cx="54964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AI活用で変わる働き方の未来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3624682" y="1634947"/>
            <a:ext cx="51151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 Copilot 実践シミュレーション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409444" y="3825850"/>
            <a:ext cx="10652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業務起点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250131"/>
            <a:ext cx="16404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指示・トリガー入力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30" b="-30"/>
          <a:stretch/>
        </p:blipFill>
        <p:spPr>
          <a:xfrm>
            <a:off x="4381805" y="2978201"/>
            <a:ext cx="190195" cy="3044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21478" y="3825850"/>
            <a:ext cx="15133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AIが自律遂行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174590" y="4250131"/>
            <a:ext cx="19741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検索・分析・作成・統合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593385" y="4518965"/>
            <a:ext cx="11356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（自動実行）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t="-30" b="-30"/>
          <a:stretch/>
        </p:blipFill>
        <p:spPr>
          <a:xfrm>
            <a:off x="7619695" y="2978201"/>
            <a:ext cx="190195" cy="3044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222638" y="3825850"/>
            <a:ext cx="3886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579815" y="4250131"/>
            <a:ext cx="16404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確認・承認・最終化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204058" y="5444338"/>
            <a:ext cx="604327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人の役割は「実行」から「判断」へ</a:t>
            </a:r>
            <a:endParaRPr lang="en-US" sz="2600" dirty="0"/>
          </a:p>
        </p:txBody>
      </p:sp>
      <p:sp>
        <p:nvSpPr>
          <p:cNvPr id="24" name="Shape 17"/>
          <p:cNvSpPr/>
          <p:nvPr/>
        </p:nvSpPr>
        <p:spPr>
          <a:xfrm>
            <a:off x="3204058" y="5870448"/>
            <a:ext cx="5783580" cy="57607"/>
          </a:xfrm>
          <a:prstGeom prst="rect">
            <a:avLst/>
          </a:prstGeom>
          <a:solidFill>
            <a:srgbClr val="4A90E2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609905" y="1067105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371246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WORK STYLE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533095"/>
            <a:ext cx="48536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AI活用で変わる働き方の未来 | 午前編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485071" y="724205"/>
            <a:ext cx="2205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人の役割: 作業実行 確認・承認のみ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714500"/>
            <a:ext cx="10972800" cy="19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761695" y="1347826"/>
            <a:ext cx="152705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90295" y="1304849"/>
            <a:ext cx="15864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Trigger：業務起点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17590" y="1304849"/>
            <a:ext cx="25575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Action：AI自律遂行 + 人の確認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9905" y="3106217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100" y="2124151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038198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未読メール23件の蓄積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276856"/>
            <a:ext cx="21488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出社時に未読メールが溜まっており、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459736"/>
            <a:ext cx="19202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重要な連絡が埋もれている状態。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459882" y="2076602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09:00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13094" y="2038198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09905" y="4334256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353105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3267151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上司からの曖昧な指示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3504895"/>
            <a:ext cx="24734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Teamsで「2週間前の部長会資料ベースで」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3687775"/>
            <a:ext cx="2168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というファイル名不明の指示を受信。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59882" y="3305556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09:20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13094" y="3267151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609905" y="5563210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0100" y="4581144"/>
            <a:ext cx="15270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449610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資料構成の検討着手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4733849"/>
            <a:ext cx="20445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資料作成を開始するが、背景情報や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" y="4916729"/>
            <a:ext cx="20445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過去の経緯を確認する必要が発生。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459882" y="4533595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10:00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013094" y="4496105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5810098"/>
            <a:ext cx="152705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43000" y="5724144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上司への途中経過報告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143000" y="5962802"/>
            <a:ext cx="14346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作成途中の資料を共有。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" y="6145682"/>
            <a:ext cx="27688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「比較データも必要」という追加要望のリスク。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5459882" y="5762549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11:30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013094" y="5724144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2"/>
          <p:cNvSpPr/>
          <p:nvPr/>
        </p:nvSpPr>
        <p:spPr>
          <a:xfrm>
            <a:off x="609905" y="7019849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3"/>
          <p:cNvSpPr txBox="1"/>
          <p:nvPr/>
        </p:nvSpPr>
        <p:spPr>
          <a:xfrm>
            <a:off x="609905" y="7172554"/>
            <a:ext cx="1886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Future Work Style Analysis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8973922" y="7172554"/>
            <a:ext cx="2695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Source: Microsoft Research, Internal Case Studies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632143" y="2038198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36"/>
          <p:cNvSpPr txBox="1"/>
          <p:nvPr/>
        </p:nvSpPr>
        <p:spPr>
          <a:xfrm>
            <a:off x="6718097" y="205922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2104949"/>
            <a:ext cx="190195" cy="15270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430561" y="204825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3分 (-17分)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6632143" y="2247595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全件スキャン・重要度判定・要約生成を実行。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632143" y="2553005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0"/>
          <p:cNvSpPr txBox="1"/>
          <p:nvPr/>
        </p:nvSpPr>
        <p:spPr>
          <a:xfrm>
            <a:off x="6718097" y="2574036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人の確認</a:t>
            </a:r>
            <a:endParaRPr lang="en-US" sz="8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326734" y="2619756"/>
            <a:ext cx="190195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632143" y="2762402"/>
            <a:ext cx="3110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優先度「高」の3件のみ内容を確認し、対応判断。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632143" y="3267151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3"/>
          <p:cNvSpPr txBox="1"/>
          <p:nvPr/>
        </p:nvSpPr>
        <p:spPr>
          <a:xfrm>
            <a:off x="6718097" y="3288182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3333902"/>
            <a:ext cx="190195" cy="15270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0366553" y="3276295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10秒 (-15分)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632143" y="3476549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指示の意図を解釈し、該当ファイルを特定・提示。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632143" y="3781044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47"/>
          <p:cNvSpPr txBox="1"/>
          <p:nvPr/>
        </p:nvSpPr>
        <p:spPr>
          <a:xfrm>
            <a:off x="6718097" y="3802075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人の確認</a:t>
            </a:r>
            <a:endParaRPr lang="en-US" sz="8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326734" y="3847795"/>
            <a:ext cx="190195" cy="15270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6632143" y="3991356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提示されたファイルが正しいか確認し、開く。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632143" y="4496105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0"/>
          <p:cNvSpPr txBox="1"/>
          <p:nvPr/>
        </p:nvSpPr>
        <p:spPr>
          <a:xfrm>
            <a:off x="6718097" y="451713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4562856"/>
            <a:ext cx="190195" cy="152705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10430561" y="4505249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2分 (-28分)</a:t>
            </a:r>
            <a:endParaRPr lang="en-US" sz="900" dirty="0"/>
          </a:p>
        </p:txBody>
      </p:sp>
      <p:sp>
        <p:nvSpPr>
          <p:cNvPr id="64" name="Text 52"/>
          <p:cNvSpPr txBox="1"/>
          <p:nvPr/>
        </p:nvSpPr>
        <p:spPr>
          <a:xfrm>
            <a:off x="6632143" y="4705502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過去議事録から背景を抽出し、構成案を生成。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6632143" y="5009998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4"/>
          <p:cNvSpPr txBox="1"/>
          <p:nvPr/>
        </p:nvSpPr>
        <p:spPr>
          <a:xfrm>
            <a:off x="6718097" y="5031029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人の確認</a:t>
            </a:r>
            <a:endParaRPr lang="en-US" sz="8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326734" y="5076749"/>
            <a:ext cx="190195" cy="152705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6632143" y="5219395"/>
            <a:ext cx="2367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AI作成の構成案を確認し、採用判断。</a:t>
            </a:r>
            <a:endParaRPr lang="en-US" sz="1000" dirty="0"/>
          </a:p>
        </p:txBody>
      </p:sp>
      <p:sp>
        <p:nvSpPr>
          <p:cNvPr id="69" name="Shape 56"/>
          <p:cNvSpPr/>
          <p:nvPr/>
        </p:nvSpPr>
        <p:spPr>
          <a:xfrm>
            <a:off x="6632143" y="5724144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7"/>
          <p:cNvSpPr txBox="1"/>
          <p:nvPr/>
        </p:nvSpPr>
        <p:spPr>
          <a:xfrm>
            <a:off x="6718097" y="574517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5790895"/>
            <a:ext cx="190195" cy="15270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10430561" y="5734202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0分 (-40分)</a:t>
            </a:r>
            <a:endParaRPr lang="en-US" sz="900" dirty="0"/>
          </a:p>
        </p:txBody>
      </p:sp>
      <p:sp>
        <p:nvSpPr>
          <p:cNvPr id="73" name="Text 59"/>
          <p:cNvSpPr txBox="1"/>
          <p:nvPr/>
        </p:nvSpPr>
        <p:spPr>
          <a:xfrm>
            <a:off x="6632143" y="5934456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過去の傾向から比較データの必要性を予測し準備。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6632143" y="6238951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61"/>
          <p:cNvSpPr txBox="1"/>
          <p:nvPr/>
        </p:nvSpPr>
        <p:spPr>
          <a:xfrm>
            <a:off x="6718097" y="6259982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人の確認</a:t>
            </a:r>
            <a:endParaRPr lang="en-US" sz="800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326734" y="6305702"/>
            <a:ext cx="190195" cy="152705"/>
          </a:xfrm>
          <a:prstGeom prst="rect">
            <a:avLst/>
          </a:prstGeom>
        </p:spPr>
      </p:pic>
      <p:sp>
        <p:nvSpPr>
          <p:cNvPr id="77" name="Text 62"/>
          <p:cNvSpPr txBox="1"/>
          <p:nvPr/>
        </p:nvSpPr>
        <p:spPr>
          <a:xfrm>
            <a:off x="6632143" y="6448349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予測提示されたグラフを確認し、追加を承認。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609905" y="1067105"/>
            <a:ext cx="109728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371246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 WORK STYLE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533095"/>
            <a:ext cx="48536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AI活用で変わる働き方の未来 | 午後編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51569" y="724205"/>
            <a:ext cx="2339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人の役割: 作業実行 承認・最終化のみ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714500"/>
            <a:ext cx="10972800" cy="19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761695" y="1347826"/>
            <a:ext cx="152705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90295" y="1304849"/>
            <a:ext cx="15864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Trigger：業務起点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17590" y="1304849"/>
            <a:ext cx="25575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Action：AI自律遂行 + 人の承認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9905" y="3106217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80898" y="2124151"/>
            <a:ext cx="19019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03819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会議終了・合意形成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276856"/>
            <a:ext cx="20921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「方向性はOK」という曖昧な合意。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459736"/>
            <a:ext cx="2463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ToDoや責任者が不明確な状態で会議終了。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459882" y="2076602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13:30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13094" y="2038198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09905" y="4334256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353105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3267151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データ分析完了・資料化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3504895"/>
            <a:ext cx="13587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Excelでの分析が完了。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3687775"/>
            <a:ext cx="2273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結果をPPT資料へ反映する必要が発生。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59882" y="3305556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15:30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13094" y="3267151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609905" y="5563210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80898" y="4581144"/>
            <a:ext cx="19019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4496105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抽象的フィードバック受領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4733849"/>
            <a:ext cx="22924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上司から「もっと分かりやすく」という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" y="4916729"/>
            <a:ext cx="19202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具体性に欠ける修正指示が発生。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5459882" y="4533595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17:00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013094" y="4496105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5810098"/>
            <a:ext cx="152705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43000" y="5724144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ターゲットの急な変更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143000" y="5962802"/>
            <a:ext cx="24067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「明日役員にも出す」という指示により、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" y="6145682"/>
            <a:ext cx="18059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資料全体の構成変更が必要に。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5459882" y="5762549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18:20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013094" y="5724144"/>
            <a:ext cx="9144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2"/>
          <p:cNvSpPr/>
          <p:nvPr/>
        </p:nvSpPr>
        <p:spPr>
          <a:xfrm>
            <a:off x="609905" y="7019849"/>
            <a:ext cx="10972800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3"/>
          <p:cNvSpPr txBox="1"/>
          <p:nvPr/>
        </p:nvSpPr>
        <p:spPr>
          <a:xfrm>
            <a:off x="609905" y="7172554"/>
            <a:ext cx="1886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Future Work Style Analysis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8973922" y="7172554"/>
            <a:ext cx="2695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Source: Microsoft Research, Internal Case Studies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632143" y="2038198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36"/>
          <p:cNvSpPr txBox="1"/>
          <p:nvPr/>
        </p:nvSpPr>
        <p:spPr>
          <a:xfrm>
            <a:off x="6718097" y="205922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2104949"/>
            <a:ext cx="190195" cy="15270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430561" y="2048256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3分 (-57分)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6632143" y="2247595"/>
            <a:ext cx="3758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発言からToDo・期限・責任者を特定し議事録ドラフト生成。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632143" y="2553005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0"/>
          <p:cNvSpPr txBox="1"/>
          <p:nvPr/>
        </p:nvSpPr>
        <p:spPr>
          <a:xfrm>
            <a:off x="6718097" y="2574036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人の承認</a:t>
            </a:r>
            <a:endParaRPr lang="en-US" sz="8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355994" y="2619756"/>
            <a:ext cx="133502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632143" y="2762402"/>
            <a:ext cx="2701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抽出されたToDo割り当てを確認し、承認。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632143" y="3267151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43"/>
          <p:cNvSpPr txBox="1"/>
          <p:nvPr/>
        </p:nvSpPr>
        <p:spPr>
          <a:xfrm>
            <a:off x="6718097" y="3288182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3333902"/>
            <a:ext cx="190195" cy="15270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0430561" y="3276295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5分 (-40分)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632143" y="3476549"/>
            <a:ext cx="3862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ExcelデータをPPTへ自動転記・グラフ生成・レイアウト調整。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632143" y="3781044"/>
            <a:ext cx="571500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47"/>
          <p:cNvSpPr txBox="1"/>
          <p:nvPr/>
        </p:nvSpPr>
        <p:spPr>
          <a:xfrm>
            <a:off x="6718097" y="3802075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人の確認</a:t>
            </a:r>
            <a:endParaRPr lang="en-US" sz="8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6336792" y="3847795"/>
            <a:ext cx="171907" cy="15270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6632143" y="3991356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数値とグラフの反映結果を目視で確認。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632143" y="4496105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0"/>
          <p:cNvSpPr txBox="1"/>
          <p:nvPr/>
        </p:nvSpPr>
        <p:spPr>
          <a:xfrm>
            <a:off x="6718097" y="451713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4562856"/>
            <a:ext cx="190195" cy="152705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10430561" y="4505249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5分 (-35分)</a:t>
            </a:r>
            <a:endParaRPr lang="en-US" sz="900" dirty="0"/>
          </a:p>
        </p:txBody>
      </p:sp>
      <p:sp>
        <p:nvSpPr>
          <p:cNvPr id="64" name="Text 52"/>
          <p:cNvSpPr txBox="1"/>
          <p:nvPr/>
        </p:nvSpPr>
        <p:spPr>
          <a:xfrm>
            <a:off x="6632143" y="4705502"/>
            <a:ext cx="3910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意図を解釈（専門用語削減等）し、3パターンの修正案を提示。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6632143" y="5009998"/>
            <a:ext cx="771754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4"/>
          <p:cNvSpPr txBox="1"/>
          <p:nvPr/>
        </p:nvSpPr>
        <p:spPr>
          <a:xfrm>
            <a:off x="6718097" y="5031029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人の最終判断</a:t>
            </a:r>
            <a:endParaRPr lang="en-US" sz="8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45936" y="5076749"/>
            <a:ext cx="152705" cy="152705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6632143" y="5219395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最適な案を選択し、採用を決定。</a:t>
            </a:r>
            <a:endParaRPr lang="en-US" sz="1000" dirty="0"/>
          </a:p>
        </p:txBody>
      </p:sp>
      <p:sp>
        <p:nvSpPr>
          <p:cNvPr id="69" name="Shape 56"/>
          <p:cNvSpPr/>
          <p:nvPr/>
        </p:nvSpPr>
        <p:spPr>
          <a:xfrm>
            <a:off x="6632143" y="5724144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7"/>
          <p:cNvSpPr txBox="1"/>
          <p:nvPr/>
        </p:nvSpPr>
        <p:spPr>
          <a:xfrm>
            <a:off x="6718097" y="574517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90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AI自律遂行</a:t>
            </a:r>
            <a:endParaRPr lang="en-US" sz="800" dirty="0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326734" y="5790895"/>
            <a:ext cx="190195" cy="15270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10366553" y="5734202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所要: 6分 (-114分)</a:t>
            </a:r>
            <a:endParaRPr lang="en-US" sz="900" dirty="0"/>
          </a:p>
        </p:txBody>
      </p:sp>
      <p:sp>
        <p:nvSpPr>
          <p:cNvPr id="73" name="Text 59"/>
          <p:cNvSpPr txBox="1"/>
          <p:nvPr/>
        </p:nvSpPr>
        <p:spPr>
          <a:xfrm>
            <a:off x="6632143" y="5934456"/>
            <a:ext cx="3434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役員向けのエグゼクティブサマリー形式へ自動再構成。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6632143" y="6238951"/>
            <a:ext cx="666598" cy="190195"/>
          </a:xfrm>
          <a:prstGeom prst="roundRect">
            <a:avLst>
              <a:gd name="adj" fmla="val 48077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61"/>
          <p:cNvSpPr txBox="1"/>
          <p:nvPr/>
        </p:nvSpPr>
        <p:spPr>
          <a:xfrm>
            <a:off x="6718097" y="6259982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人の最終化</a:t>
            </a:r>
            <a:endParaRPr lang="en-US" sz="800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6336792" y="6305702"/>
            <a:ext cx="171907" cy="152705"/>
          </a:xfrm>
          <a:prstGeom prst="rect">
            <a:avLst/>
          </a:prstGeom>
        </p:spPr>
      </p:pic>
      <p:sp>
        <p:nvSpPr>
          <p:cNvPr id="77" name="Text 62"/>
          <p:cNvSpPr txBox="1"/>
          <p:nvPr/>
        </p:nvSpPr>
        <p:spPr>
          <a:xfrm>
            <a:off x="6632143" y="6448349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全体を俯瞰して確認し、最終化ボタンを押下。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ワイド画面</PresentationFormat>
  <Paragraphs>99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Ryota</cp:lastModifiedBy>
  <cp:revision>2</cp:revision>
  <dcterms:created xsi:type="dcterms:W3CDTF">2026-01-07T07:05:18Z</dcterms:created>
  <dcterms:modified xsi:type="dcterms:W3CDTF">2026-01-07T07:06:12Z</dcterms:modified>
</cp:coreProperties>
</file>