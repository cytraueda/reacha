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67105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71246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WORK STYLE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3095"/>
            <a:ext cx="73398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AI活用で変わる働き方の未来 | 業務サイクル実践イメージ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32113" y="685800"/>
            <a:ext cx="476402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08008" y="71414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FLOW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680753" y="705002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1回の業務サイクルにおけるAI連携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28700" y="1914754"/>
            <a:ext cx="10134295" cy="38405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2571" r="-2571" t="0" b="0"/>
          <a:stretch/>
        </p:blipFill>
        <p:spPr>
          <a:xfrm>
            <a:off x="4069994" y="6344107"/>
            <a:ext cx="105156" cy="1143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251046" y="6314846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業務起点 (Trigger)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5489143" y="6344107"/>
            <a:ext cx="142646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07685" y="6314846"/>
            <a:ext cx="1095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 (Action)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7015277" y="6344107"/>
            <a:ext cx="142646" cy="1143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34733" y="6314846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人の役割 (Check)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218895" y="1839773"/>
            <a:ext cx="761695" cy="7616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66698" y="2182673"/>
            <a:ext cx="267005" cy="26700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161288" y="2830982"/>
            <a:ext cx="886054" cy="267005"/>
          </a:xfrm>
          <a:prstGeom prst="roundRect">
            <a:avLst>
              <a:gd name="adj" fmla="val 14677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1677" r="-1677" t="0" b="0"/>
          <a:stretch/>
        </p:blipFill>
        <p:spPr>
          <a:xfrm>
            <a:off x="1247242" y="2909621"/>
            <a:ext cx="95098" cy="105156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587" b="-1587"/>
          <a:stretch/>
        </p:blipFill>
        <p:spPr>
          <a:xfrm>
            <a:off x="1380744" y="2914193"/>
            <a:ext cx="57607" cy="9509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475842" y="2878531"/>
            <a:ext cx="219456" cy="171907"/>
          </a:xfrm>
          <a:prstGeom prst="roundRect">
            <a:avLst>
              <a:gd name="adj" fmla="val 118203"/>
            </a:avLst>
          </a:prstGeom>
          <a:solidFill>
            <a:srgbClr val="4A90E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587" b="-1587"/>
          <a:stretch/>
        </p:blipFill>
        <p:spPr>
          <a:xfrm>
            <a:off x="1724558" y="2914193"/>
            <a:ext cx="57607" cy="95098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-783" r="-783" t="0" b="0"/>
          <a:stretch/>
        </p:blipFill>
        <p:spPr>
          <a:xfrm>
            <a:off x="1819656" y="2909621"/>
            <a:ext cx="133502" cy="105156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532534" y="1992478"/>
            <a:ext cx="228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1533449" y="2887675"/>
            <a:ext cx="181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647395" y="3207715"/>
            <a:ext cx="1904695" cy="25904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1591056" y="3131820"/>
            <a:ext cx="152705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9"/>
          <p:cNvSpPr/>
          <p:nvPr/>
        </p:nvSpPr>
        <p:spPr>
          <a:xfrm>
            <a:off x="809244" y="3664915"/>
            <a:ext cx="15809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879653" y="3369564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クライアント依頼受信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359" b="-1359"/>
          <a:stretch/>
        </p:blipFill>
        <p:spPr>
          <a:xfrm>
            <a:off x="871423" y="3821278"/>
            <a:ext cx="105156" cy="123444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114654" y="3786530"/>
            <a:ext cx="11356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未読メール蓄積。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14654" y="3981298"/>
            <a:ext cx="11356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緊急依頼が埋もれる。</a:t>
            </a:r>
            <a:endParaRPr lang="en-US" sz="1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524" b="-524"/>
          <a:stretch/>
        </p:blipFill>
        <p:spPr>
          <a:xfrm>
            <a:off x="847649" y="4499762"/>
            <a:ext cx="152705" cy="12344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114654" y="4465015"/>
            <a:ext cx="126918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件名・内容から重要度を自動判定し、要約を表示。</a:t>
            </a:r>
            <a:endParaRPr lang="en-US" sz="10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524" b="-524"/>
          <a:stretch/>
        </p:blipFill>
        <p:spPr>
          <a:xfrm>
            <a:off x="847649" y="5178247"/>
            <a:ext cx="152705" cy="123444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14654" y="5143500"/>
            <a:ext cx="12691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要約を確認し、即座に対応判断。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-1923" r="-1923" t="0" b="0"/>
          <a:stretch/>
        </p:blipFill>
        <p:spPr>
          <a:xfrm>
            <a:off x="2734056" y="2264054"/>
            <a:ext cx="123444" cy="190195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3467405" y="1839773"/>
            <a:ext cx="761695" cy="7616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715207" y="2182673"/>
            <a:ext cx="267005" cy="267005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3409798" y="2830982"/>
            <a:ext cx="886054" cy="267005"/>
          </a:xfrm>
          <a:prstGeom prst="roundRect">
            <a:avLst>
              <a:gd name="adj" fmla="val 14677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-1677" r="-1677" t="0" b="0"/>
          <a:stretch/>
        </p:blipFill>
        <p:spPr>
          <a:xfrm>
            <a:off x="3494837" y="2909621"/>
            <a:ext cx="95098" cy="105156"/>
          </a:xfrm>
          <a:prstGeom prst="rect">
            <a:avLst/>
          </a:prstGeom>
        </p:spPr>
      </p:pic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587" b="-1587"/>
          <a:stretch/>
        </p:blipFill>
        <p:spPr>
          <a:xfrm>
            <a:off x="3628339" y="2914193"/>
            <a:ext cx="57607" cy="95098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3723437" y="2878531"/>
            <a:ext cx="219456" cy="171907"/>
          </a:xfrm>
          <a:prstGeom prst="roundRect">
            <a:avLst>
              <a:gd name="adj" fmla="val 118203"/>
            </a:avLst>
          </a:prstGeom>
          <a:solidFill>
            <a:srgbClr val="4A90E2"/>
          </a:solidFill>
          <a:ln/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587" b="-1587"/>
          <a:stretch/>
        </p:blipFill>
        <p:spPr>
          <a:xfrm>
            <a:off x="3972154" y="2914193"/>
            <a:ext cx="57607" cy="95098"/>
          </a:xfrm>
          <a:prstGeom prst="rect">
            <a:avLst/>
          </a:prstGeom>
        </p:spPr>
      </p:pic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rcRect l="-783" r="-783" t="0" b="0"/>
          <a:stretch/>
        </p:blipFill>
        <p:spPr>
          <a:xfrm>
            <a:off x="4067251" y="2909621"/>
            <a:ext cx="133502" cy="105156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3780130" y="1992478"/>
            <a:ext cx="228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900" dirty="0"/>
          </a:p>
        </p:txBody>
      </p:sp>
      <p:sp>
        <p:nvSpPr>
          <p:cNvPr id="48" name="Text 29"/>
          <p:cNvSpPr txBox="1"/>
          <p:nvPr/>
        </p:nvSpPr>
        <p:spPr>
          <a:xfrm>
            <a:off x="3781044" y="2887675"/>
            <a:ext cx="181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800" dirty="0"/>
          </a:p>
        </p:txBody>
      </p:sp>
      <p:sp>
        <p:nvSpPr>
          <p:cNvPr id="49" name="Shape 30"/>
          <p:cNvSpPr/>
          <p:nvPr/>
        </p:nvSpPr>
        <p:spPr>
          <a:xfrm>
            <a:off x="2895905" y="3207715"/>
            <a:ext cx="1904695" cy="25904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50" name="Shape 31"/>
          <p:cNvSpPr/>
          <p:nvPr/>
        </p:nvSpPr>
        <p:spPr>
          <a:xfrm>
            <a:off x="3838651" y="3131820"/>
            <a:ext cx="152705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32"/>
          <p:cNvSpPr/>
          <p:nvPr/>
        </p:nvSpPr>
        <p:spPr>
          <a:xfrm>
            <a:off x="3057754" y="3664915"/>
            <a:ext cx="15809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2" name="Text 33"/>
          <p:cNvSpPr txBox="1"/>
          <p:nvPr/>
        </p:nvSpPr>
        <p:spPr>
          <a:xfrm>
            <a:off x="3342132" y="336956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上司からの指示</a:t>
            </a:r>
            <a:endParaRPr lang="en-US" sz="11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359" b="-1359"/>
          <a:stretch/>
        </p:blipFill>
        <p:spPr>
          <a:xfrm>
            <a:off x="3119018" y="3821278"/>
            <a:ext cx="105156" cy="123444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>
            <a:off x="3362249" y="3786530"/>
            <a:ext cx="126918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「例の件、資料作って」等の曖昧な指示。</a:t>
            </a:r>
            <a:endParaRPr lang="en-US" sz="1000" dirty="0"/>
          </a:p>
        </p:txBody>
      </p:sp>
      <p:pic>
        <p:nvPicPr>
          <p:cNvPr id="55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524" b="-524"/>
          <a:stretch/>
        </p:blipFill>
        <p:spPr>
          <a:xfrm>
            <a:off x="3095244" y="4499762"/>
            <a:ext cx="152705" cy="123444"/>
          </a:xfrm>
          <a:prstGeom prst="rect">
            <a:avLst/>
          </a:prstGeom>
        </p:spPr>
      </p:pic>
      <p:sp>
        <p:nvSpPr>
          <p:cNvPr id="56" name="Text 35"/>
          <p:cNvSpPr txBox="1"/>
          <p:nvPr/>
        </p:nvSpPr>
        <p:spPr>
          <a:xfrm>
            <a:off x="3362249" y="4465015"/>
            <a:ext cx="126918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指示の文脈を解釈し、該当資料と構成案を自動提示。</a:t>
            </a:r>
            <a:endParaRPr lang="en-US" sz="1000" dirty="0"/>
          </a:p>
        </p:txBody>
      </p:sp>
      <p:pic>
        <p:nvPicPr>
          <p:cNvPr id="57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524" b="-524"/>
          <a:stretch/>
        </p:blipFill>
        <p:spPr>
          <a:xfrm>
            <a:off x="3095244" y="5178247"/>
            <a:ext cx="152705" cy="123444"/>
          </a:xfrm>
          <a:prstGeom prst="rect">
            <a:avLst/>
          </a:prstGeom>
        </p:spPr>
      </p:pic>
      <p:sp>
        <p:nvSpPr>
          <p:cNvPr id="58" name="Text 36"/>
          <p:cNvSpPr txBox="1"/>
          <p:nvPr/>
        </p:nvSpPr>
        <p:spPr>
          <a:xfrm>
            <a:off x="3362249" y="5143500"/>
            <a:ext cx="12691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構成案を確認し、作成開始を承認。</a:t>
            </a:r>
            <a:endParaRPr lang="en-US" sz="1000" dirty="0"/>
          </a:p>
        </p:txBody>
      </p:sp>
      <p:pic>
        <p:nvPicPr>
          <p:cNvPr id="59" name="Image 20" descr="preencoded.png">    </p:cNvPr>
          <p:cNvPicPr>
            <a:picLocks noChangeAspect="1"/>
          </p:cNvPicPr>
          <p:nvPr/>
        </p:nvPicPr>
        <p:blipFill>
          <a:blip r:embed="rId21"/>
          <a:srcRect l="-1923" r="-1923" t="0" b="0"/>
          <a:stretch/>
        </p:blipFill>
        <p:spPr>
          <a:xfrm>
            <a:off x="4981651" y="2264054"/>
            <a:ext cx="123444" cy="190195"/>
          </a:xfrm>
          <a:prstGeom prst="rect">
            <a:avLst/>
          </a:prstGeom>
        </p:spPr>
      </p:pic>
      <p:sp>
        <p:nvSpPr>
          <p:cNvPr id="60" name="Shape 37"/>
          <p:cNvSpPr/>
          <p:nvPr/>
        </p:nvSpPr>
        <p:spPr>
          <a:xfrm>
            <a:off x="5715000" y="1839773"/>
            <a:ext cx="761695" cy="7616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5995721" y="2182673"/>
            <a:ext cx="200254" cy="267005"/>
          </a:xfrm>
          <a:prstGeom prst="rect">
            <a:avLst/>
          </a:prstGeom>
        </p:spPr>
      </p:pic>
      <p:sp>
        <p:nvSpPr>
          <p:cNvPr id="62" name="Shape 38"/>
          <p:cNvSpPr/>
          <p:nvPr/>
        </p:nvSpPr>
        <p:spPr>
          <a:xfrm>
            <a:off x="5657393" y="2830982"/>
            <a:ext cx="886054" cy="267005"/>
          </a:xfrm>
          <a:prstGeom prst="roundRect">
            <a:avLst>
              <a:gd name="adj" fmla="val 14677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3" name="Image 22" descr="preencoded.png">    </p:cNvPr>
          <p:cNvPicPr>
            <a:picLocks noChangeAspect="1"/>
          </p:cNvPicPr>
          <p:nvPr/>
        </p:nvPicPr>
        <p:blipFill>
          <a:blip r:embed="rId23"/>
          <a:srcRect l="-1677" r="-1677" t="0" b="0"/>
          <a:stretch/>
        </p:blipFill>
        <p:spPr>
          <a:xfrm>
            <a:off x="5743346" y="2909621"/>
            <a:ext cx="95098" cy="105156"/>
          </a:xfrm>
          <a:prstGeom prst="rect">
            <a:avLst/>
          </a:prstGeom>
        </p:spPr>
      </p:pic>
      <p:pic>
        <p:nvPicPr>
          <p:cNvPr id="64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587" b="-1587"/>
          <a:stretch/>
        </p:blipFill>
        <p:spPr>
          <a:xfrm>
            <a:off x="5876849" y="2914193"/>
            <a:ext cx="57607" cy="95098"/>
          </a:xfrm>
          <a:prstGeom prst="rect">
            <a:avLst/>
          </a:prstGeom>
        </p:spPr>
      </p:pic>
      <p:sp>
        <p:nvSpPr>
          <p:cNvPr id="65" name="Shape 39"/>
          <p:cNvSpPr/>
          <p:nvPr/>
        </p:nvSpPr>
        <p:spPr>
          <a:xfrm>
            <a:off x="5971946" y="2878531"/>
            <a:ext cx="219456" cy="171907"/>
          </a:xfrm>
          <a:prstGeom prst="roundRect">
            <a:avLst>
              <a:gd name="adj" fmla="val 118203"/>
            </a:avLst>
          </a:prstGeom>
          <a:solidFill>
            <a:srgbClr val="4A90E2"/>
          </a:solidFill>
          <a:ln/>
        </p:spPr>
      </p:sp>
      <p:pic>
        <p:nvPicPr>
          <p:cNvPr id="66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1587" b="-1587"/>
          <a:stretch/>
        </p:blipFill>
        <p:spPr>
          <a:xfrm>
            <a:off x="6220663" y="2914193"/>
            <a:ext cx="57607" cy="95098"/>
          </a:xfrm>
          <a:prstGeom prst="rect">
            <a:avLst/>
          </a:prstGeom>
        </p:spPr>
      </p:pic>
      <p:pic>
        <p:nvPicPr>
          <p:cNvPr id="67" name="Image 25" descr="preencoded.png">    </p:cNvPr>
          <p:cNvPicPr>
            <a:picLocks noChangeAspect="1"/>
          </p:cNvPicPr>
          <p:nvPr/>
        </p:nvPicPr>
        <p:blipFill>
          <a:blip r:embed="rId26"/>
          <a:srcRect l="-783" r="-783" t="0" b="0"/>
          <a:stretch/>
        </p:blipFill>
        <p:spPr>
          <a:xfrm>
            <a:off x="6315761" y="2909621"/>
            <a:ext cx="133502" cy="105156"/>
          </a:xfrm>
          <a:prstGeom prst="rect">
            <a:avLst/>
          </a:prstGeom>
        </p:spPr>
      </p:pic>
      <p:sp>
        <p:nvSpPr>
          <p:cNvPr id="68" name="Text 40"/>
          <p:cNvSpPr txBox="1"/>
          <p:nvPr/>
        </p:nvSpPr>
        <p:spPr>
          <a:xfrm>
            <a:off x="6028639" y="1992478"/>
            <a:ext cx="228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900" dirty="0"/>
          </a:p>
        </p:txBody>
      </p:sp>
      <p:sp>
        <p:nvSpPr>
          <p:cNvPr id="69" name="Text 41"/>
          <p:cNvSpPr txBox="1"/>
          <p:nvPr/>
        </p:nvSpPr>
        <p:spPr>
          <a:xfrm>
            <a:off x="6028639" y="2887675"/>
            <a:ext cx="181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800" dirty="0"/>
          </a:p>
        </p:txBody>
      </p:sp>
      <p:sp>
        <p:nvSpPr>
          <p:cNvPr id="70" name="Shape 42"/>
          <p:cNvSpPr/>
          <p:nvPr/>
        </p:nvSpPr>
        <p:spPr>
          <a:xfrm>
            <a:off x="5143500" y="3207715"/>
            <a:ext cx="1904695" cy="25904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71" name="Shape 43"/>
          <p:cNvSpPr/>
          <p:nvPr/>
        </p:nvSpPr>
        <p:spPr>
          <a:xfrm>
            <a:off x="6086246" y="3131820"/>
            <a:ext cx="152705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44"/>
          <p:cNvSpPr/>
          <p:nvPr/>
        </p:nvSpPr>
        <p:spPr>
          <a:xfrm>
            <a:off x="5305349" y="3664915"/>
            <a:ext cx="15809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3" name="Text 45"/>
          <p:cNvSpPr txBox="1"/>
          <p:nvPr/>
        </p:nvSpPr>
        <p:spPr>
          <a:xfrm>
            <a:off x="5589727" y="336956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途中報告・修正</a:t>
            </a:r>
            <a:endParaRPr lang="en-US" sz="1100" dirty="0"/>
          </a:p>
        </p:txBody>
      </p:sp>
      <p:pic>
        <p:nvPicPr>
          <p:cNvPr id="74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-1359" b="-1359"/>
          <a:stretch/>
        </p:blipFill>
        <p:spPr>
          <a:xfrm>
            <a:off x="5367528" y="3821278"/>
            <a:ext cx="105156" cy="123444"/>
          </a:xfrm>
          <a:prstGeom prst="rect">
            <a:avLst/>
          </a:prstGeom>
        </p:spPr>
      </p:pic>
      <p:sp>
        <p:nvSpPr>
          <p:cNvPr id="75" name="Text 46"/>
          <p:cNvSpPr txBox="1"/>
          <p:nvPr/>
        </p:nvSpPr>
        <p:spPr>
          <a:xfrm>
            <a:off x="5609844" y="3786530"/>
            <a:ext cx="126918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「比較データも欲しい」と追加要望発生。</a:t>
            </a:r>
            <a:endParaRPr lang="en-US" sz="1000" dirty="0"/>
          </a:p>
        </p:txBody>
      </p:sp>
      <p:pic>
        <p:nvPicPr>
          <p:cNvPr id="76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524" b="-524"/>
          <a:stretch/>
        </p:blipFill>
        <p:spPr>
          <a:xfrm>
            <a:off x="5343754" y="4499762"/>
            <a:ext cx="152705" cy="123444"/>
          </a:xfrm>
          <a:prstGeom prst="rect">
            <a:avLst/>
          </a:prstGeom>
        </p:spPr>
      </p:pic>
      <p:sp>
        <p:nvSpPr>
          <p:cNvPr id="77" name="Text 47"/>
          <p:cNvSpPr txBox="1"/>
          <p:nvPr/>
        </p:nvSpPr>
        <p:spPr>
          <a:xfrm>
            <a:off x="5609844" y="4465015"/>
            <a:ext cx="126918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過去データから比較表を自動生成・挿入。</a:t>
            </a:r>
            <a:endParaRPr lang="en-US" sz="1000" dirty="0"/>
          </a:p>
        </p:txBody>
      </p:sp>
      <p:pic>
        <p:nvPicPr>
          <p:cNvPr id="78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-524" b="-524"/>
          <a:stretch/>
        </p:blipFill>
        <p:spPr>
          <a:xfrm>
            <a:off x="5343754" y="5178247"/>
            <a:ext cx="152705" cy="123444"/>
          </a:xfrm>
          <a:prstGeom prst="rect">
            <a:avLst/>
          </a:prstGeom>
        </p:spPr>
      </p:pic>
      <p:sp>
        <p:nvSpPr>
          <p:cNvPr id="79" name="Text 48"/>
          <p:cNvSpPr txBox="1"/>
          <p:nvPr/>
        </p:nvSpPr>
        <p:spPr>
          <a:xfrm>
            <a:off x="5609844" y="5143500"/>
            <a:ext cx="12691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追加内容を確認し、上司へ再送。</a:t>
            </a:r>
            <a:endParaRPr lang="en-US" sz="1000" dirty="0"/>
          </a:p>
        </p:txBody>
      </p:sp>
      <p:pic>
        <p:nvPicPr>
          <p:cNvPr id="80" name="Image 29" descr="preencoded.png">    </p:cNvPr>
          <p:cNvPicPr>
            <a:picLocks noChangeAspect="1"/>
          </p:cNvPicPr>
          <p:nvPr/>
        </p:nvPicPr>
        <p:blipFill>
          <a:blip r:embed="rId30"/>
          <a:srcRect l="-1923" r="-1923" t="0" b="0"/>
          <a:stretch/>
        </p:blipFill>
        <p:spPr>
          <a:xfrm>
            <a:off x="7229246" y="2264054"/>
            <a:ext cx="123444" cy="190195"/>
          </a:xfrm>
          <a:prstGeom prst="rect">
            <a:avLst/>
          </a:prstGeom>
        </p:spPr>
      </p:pic>
      <p:sp>
        <p:nvSpPr>
          <p:cNvPr id="81" name="Shape 49"/>
          <p:cNvSpPr/>
          <p:nvPr/>
        </p:nvSpPr>
        <p:spPr>
          <a:xfrm>
            <a:off x="7962595" y="1839773"/>
            <a:ext cx="761695" cy="7616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82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8177479" y="2182673"/>
            <a:ext cx="333756" cy="267005"/>
          </a:xfrm>
          <a:prstGeom prst="rect">
            <a:avLst/>
          </a:prstGeom>
        </p:spPr>
      </p:pic>
      <p:sp>
        <p:nvSpPr>
          <p:cNvPr id="83" name="Shape 50"/>
          <p:cNvSpPr/>
          <p:nvPr/>
        </p:nvSpPr>
        <p:spPr>
          <a:xfrm>
            <a:off x="7904988" y="2830982"/>
            <a:ext cx="886054" cy="267005"/>
          </a:xfrm>
          <a:prstGeom prst="roundRect">
            <a:avLst>
              <a:gd name="adj" fmla="val 14677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4" name="Image 31" descr="preencoded.png">    </p:cNvPr>
          <p:cNvPicPr>
            <a:picLocks noChangeAspect="1"/>
          </p:cNvPicPr>
          <p:nvPr/>
        </p:nvPicPr>
        <p:blipFill>
          <a:blip r:embed="rId32"/>
          <a:srcRect l="-1677" r="-1677" t="0" b="0"/>
          <a:stretch/>
        </p:blipFill>
        <p:spPr>
          <a:xfrm>
            <a:off x="7990942" y="2909621"/>
            <a:ext cx="95098" cy="105156"/>
          </a:xfrm>
          <a:prstGeom prst="rect">
            <a:avLst/>
          </a:prstGeom>
        </p:spPr>
      </p:pic>
      <p:pic>
        <p:nvPicPr>
          <p:cNvPr id="85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-1587" b="-1587"/>
          <a:stretch/>
        </p:blipFill>
        <p:spPr>
          <a:xfrm>
            <a:off x="8124444" y="2914193"/>
            <a:ext cx="57607" cy="95098"/>
          </a:xfrm>
          <a:prstGeom prst="rect">
            <a:avLst/>
          </a:prstGeom>
        </p:spPr>
      </p:pic>
      <p:sp>
        <p:nvSpPr>
          <p:cNvPr id="86" name="Shape 51"/>
          <p:cNvSpPr/>
          <p:nvPr/>
        </p:nvSpPr>
        <p:spPr>
          <a:xfrm>
            <a:off x="8219542" y="2878531"/>
            <a:ext cx="219456" cy="171907"/>
          </a:xfrm>
          <a:prstGeom prst="roundRect">
            <a:avLst>
              <a:gd name="adj" fmla="val 118203"/>
            </a:avLst>
          </a:prstGeom>
          <a:solidFill>
            <a:srgbClr val="4A90E2"/>
          </a:solidFill>
          <a:ln/>
        </p:spPr>
      </p:sp>
      <p:pic>
        <p:nvPicPr>
          <p:cNvPr id="87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-1587" b="-1587"/>
          <a:stretch/>
        </p:blipFill>
        <p:spPr>
          <a:xfrm>
            <a:off x="8468258" y="2914193"/>
            <a:ext cx="57607" cy="95098"/>
          </a:xfrm>
          <a:prstGeom prst="rect">
            <a:avLst/>
          </a:prstGeom>
        </p:spPr>
      </p:pic>
      <p:pic>
        <p:nvPicPr>
          <p:cNvPr id="88" name="Image 34" descr="preencoded.png">    </p:cNvPr>
          <p:cNvPicPr>
            <a:picLocks noChangeAspect="1"/>
          </p:cNvPicPr>
          <p:nvPr/>
        </p:nvPicPr>
        <p:blipFill>
          <a:blip r:embed="rId35"/>
          <a:srcRect l="-783" r="-783" t="0" b="0"/>
          <a:stretch/>
        </p:blipFill>
        <p:spPr>
          <a:xfrm>
            <a:off x="8563356" y="2909621"/>
            <a:ext cx="133502" cy="105156"/>
          </a:xfrm>
          <a:prstGeom prst="rect">
            <a:avLst/>
          </a:prstGeom>
        </p:spPr>
      </p:pic>
      <p:sp>
        <p:nvSpPr>
          <p:cNvPr id="89" name="Text 52"/>
          <p:cNvSpPr txBox="1"/>
          <p:nvPr/>
        </p:nvSpPr>
        <p:spPr>
          <a:xfrm>
            <a:off x="8276234" y="1992478"/>
            <a:ext cx="228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900" dirty="0"/>
          </a:p>
        </p:txBody>
      </p:sp>
      <p:sp>
        <p:nvSpPr>
          <p:cNvPr id="90" name="Text 53"/>
          <p:cNvSpPr txBox="1"/>
          <p:nvPr/>
        </p:nvSpPr>
        <p:spPr>
          <a:xfrm>
            <a:off x="8277149" y="2887675"/>
            <a:ext cx="181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800" dirty="0"/>
          </a:p>
        </p:txBody>
      </p:sp>
      <p:sp>
        <p:nvSpPr>
          <p:cNvPr id="91" name="Shape 54"/>
          <p:cNvSpPr/>
          <p:nvPr/>
        </p:nvSpPr>
        <p:spPr>
          <a:xfrm>
            <a:off x="7391095" y="3207715"/>
            <a:ext cx="1904695" cy="2391156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92" name="Shape 55"/>
          <p:cNvSpPr/>
          <p:nvPr/>
        </p:nvSpPr>
        <p:spPr>
          <a:xfrm>
            <a:off x="8334756" y="3131820"/>
            <a:ext cx="152705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56"/>
          <p:cNvSpPr/>
          <p:nvPr/>
        </p:nvSpPr>
        <p:spPr>
          <a:xfrm>
            <a:off x="7552944" y="3664915"/>
            <a:ext cx="15809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4" name="Text 57"/>
          <p:cNvSpPr txBox="1"/>
          <p:nvPr/>
        </p:nvSpPr>
        <p:spPr>
          <a:xfrm>
            <a:off x="7837322" y="336956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会議・合意形成</a:t>
            </a:r>
            <a:endParaRPr lang="en-US" sz="1100" dirty="0"/>
          </a:p>
        </p:txBody>
      </p:sp>
      <p:pic>
        <p:nvPicPr>
          <p:cNvPr id="95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-1359" b="-1359"/>
          <a:stretch/>
        </p:blipFill>
        <p:spPr>
          <a:xfrm>
            <a:off x="7615123" y="3821278"/>
            <a:ext cx="105156" cy="123444"/>
          </a:xfrm>
          <a:prstGeom prst="rect">
            <a:avLst/>
          </a:prstGeom>
        </p:spPr>
      </p:pic>
      <p:sp>
        <p:nvSpPr>
          <p:cNvPr id="96" name="Text 58"/>
          <p:cNvSpPr txBox="1"/>
          <p:nvPr/>
        </p:nvSpPr>
        <p:spPr>
          <a:xfrm>
            <a:off x="7858354" y="3786530"/>
            <a:ext cx="126004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会議終了。次のアクションが不明確。</a:t>
            </a:r>
            <a:endParaRPr lang="en-US" sz="1000" dirty="0"/>
          </a:p>
        </p:txBody>
      </p:sp>
      <p:pic>
        <p:nvPicPr>
          <p:cNvPr id="97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-524" b="-524"/>
          <a:stretch/>
        </p:blipFill>
        <p:spPr>
          <a:xfrm>
            <a:off x="7591349" y="4304995"/>
            <a:ext cx="152705" cy="123444"/>
          </a:xfrm>
          <a:prstGeom prst="rect">
            <a:avLst/>
          </a:prstGeom>
        </p:spPr>
      </p:pic>
      <p:sp>
        <p:nvSpPr>
          <p:cNvPr id="98" name="Text 59"/>
          <p:cNvSpPr txBox="1"/>
          <p:nvPr/>
        </p:nvSpPr>
        <p:spPr>
          <a:xfrm>
            <a:off x="7858354" y="4271162"/>
            <a:ext cx="132588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発言からToDo・責任者・期限を特定し議事録化。</a:t>
            </a:r>
            <a:endParaRPr lang="en-US" sz="1000" dirty="0"/>
          </a:p>
        </p:txBody>
      </p:sp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-524" b="-524"/>
          <a:stretch/>
        </p:blipFill>
        <p:spPr>
          <a:xfrm>
            <a:off x="7591349" y="4983480"/>
            <a:ext cx="152705" cy="123444"/>
          </a:xfrm>
          <a:prstGeom prst="rect">
            <a:avLst/>
          </a:prstGeom>
        </p:spPr>
      </p:pic>
      <p:sp>
        <p:nvSpPr>
          <p:cNvPr id="100" name="Text 60"/>
          <p:cNvSpPr txBox="1"/>
          <p:nvPr/>
        </p:nvSpPr>
        <p:spPr>
          <a:xfrm>
            <a:off x="7858354" y="4949647"/>
            <a:ext cx="12691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割り当て内容を承認し、確定。</a:t>
            </a:r>
            <a:endParaRPr lang="en-US" sz="1000" dirty="0"/>
          </a:p>
        </p:txBody>
      </p:sp>
      <p:pic>
        <p:nvPicPr>
          <p:cNvPr id="101" name="Image 38" descr="preencoded.png">    </p:cNvPr>
          <p:cNvPicPr>
            <a:picLocks noChangeAspect="1"/>
          </p:cNvPicPr>
          <p:nvPr/>
        </p:nvPicPr>
        <p:blipFill>
          <a:blip r:embed="rId39"/>
          <a:srcRect l="-1923" r="-1923" t="0" b="0"/>
          <a:stretch/>
        </p:blipFill>
        <p:spPr>
          <a:xfrm>
            <a:off x="9477756" y="2264054"/>
            <a:ext cx="123444" cy="190195"/>
          </a:xfrm>
          <a:prstGeom prst="rect">
            <a:avLst/>
          </a:prstGeom>
        </p:spPr>
      </p:pic>
      <p:sp>
        <p:nvSpPr>
          <p:cNvPr id="102" name="Shape 61"/>
          <p:cNvSpPr/>
          <p:nvPr/>
        </p:nvSpPr>
        <p:spPr>
          <a:xfrm>
            <a:off x="10211105" y="1839773"/>
            <a:ext cx="761695" cy="761695"/>
          </a:xfrm>
          <a:prstGeom prst="ellipse">
            <a:avLst/>
          </a:prstGeom>
          <a:solidFill>
            <a:srgbClr val="F9FAFB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03" name="Image 39" descr="preencoded.png">    </p:cNvPr>
          <p:cNvPicPr>
            <a:picLocks noChangeAspect="1"/>
          </p:cNvPicPr>
          <p:nvPr/>
        </p:nvPicPr>
        <p:blipFill>
          <a:blip r:embed="rId40"/>
          <a:srcRect l="-881" r="-881" t="0" b="0"/>
          <a:stretch/>
        </p:blipFill>
        <p:spPr>
          <a:xfrm>
            <a:off x="10472623" y="2182673"/>
            <a:ext cx="237744" cy="267005"/>
          </a:xfrm>
          <a:prstGeom prst="rect">
            <a:avLst/>
          </a:prstGeom>
        </p:spPr>
      </p:pic>
      <p:sp>
        <p:nvSpPr>
          <p:cNvPr id="104" name="Shape 62"/>
          <p:cNvSpPr/>
          <p:nvPr/>
        </p:nvSpPr>
        <p:spPr>
          <a:xfrm>
            <a:off x="10335463" y="2830982"/>
            <a:ext cx="514807" cy="247802"/>
          </a:xfrm>
          <a:prstGeom prst="roundRect">
            <a:avLst>
              <a:gd name="adj" fmla="val 1703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63"/>
          <p:cNvSpPr txBox="1"/>
          <p:nvPr/>
        </p:nvSpPr>
        <p:spPr>
          <a:xfrm>
            <a:off x="10523830" y="1992478"/>
            <a:ext cx="228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900" dirty="0"/>
          </a:p>
        </p:txBody>
      </p:sp>
      <p:sp>
        <p:nvSpPr>
          <p:cNvPr id="106" name="Text 64"/>
          <p:cNvSpPr txBox="1"/>
          <p:nvPr/>
        </p:nvSpPr>
        <p:spPr>
          <a:xfrm>
            <a:off x="10420502" y="2868473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</a:t>
            </a:r>
            <a:endParaRPr lang="en-US" sz="900" dirty="0"/>
          </a:p>
        </p:txBody>
      </p:sp>
      <p:sp>
        <p:nvSpPr>
          <p:cNvPr id="107" name="Shape 65"/>
          <p:cNvSpPr/>
          <p:nvPr/>
        </p:nvSpPr>
        <p:spPr>
          <a:xfrm>
            <a:off x="9639605" y="3192170"/>
            <a:ext cx="1904695" cy="20958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108" name="Shape 66"/>
          <p:cNvSpPr/>
          <p:nvPr/>
        </p:nvSpPr>
        <p:spPr>
          <a:xfrm>
            <a:off x="10582351" y="3116275"/>
            <a:ext cx="152705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hape 67"/>
          <p:cNvSpPr/>
          <p:nvPr/>
        </p:nvSpPr>
        <p:spPr>
          <a:xfrm>
            <a:off x="9801454" y="3649370"/>
            <a:ext cx="15809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0" name="Text 68"/>
          <p:cNvSpPr txBox="1"/>
          <p:nvPr/>
        </p:nvSpPr>
        <p:spPr>
          <a:xfrm>
            <a:off x="10193731" y="3354019"/>
            <a:ext cx="9089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次のToDoへ</a:t>
            </a:r>
            <a:endParaRPr lang="en-US" sz="1100" dirty="0"/>
          </a:p>
        </p:txBody>
      </p:sp>
      <p:sp>
        <p:nvSpPr>
          <p:cNvPr id="111" name="Text 69"/>
          <p:cNvSpPr txBox="1"/>
          <p:nvPr/>
        </p:nvSpPr>
        <p:spPr>
          <a:xfrm>
            <a:off x="10194646" y="3942893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サイクル継続</a:t>
            </a:r>
            <a:endParaRPr lang="en-US" sz="1000" dirty="0"/>
          </a:p>
        </p:txBody>
      </p:sp>
      <p:pic>
        <p:nvPicPr>
          <p:cNvPr id="112" name="Image 40" descr="preencoded.png">    </p:cNvPr>
          <p:cNvPicPr>
            <a:picLocks noChangeAspect="1"/>
          </p:cNvPicPr>
          <p:nvPr/>
        </p:nvPicPr>
        <p:blipFill>
          <a:blip r:embed="rId41">
            <a:alphaModFix amt="50000"/>
          </a:blip>
          <a:srcRect l="0" r="0" t="0" b="0"/>
          <a:stretch/>
        </p:blipFill>
        <p:spPr>
          <a:xfrm>
            <a:off x="10477195" y="4209898"/>
            <a:ext cx="228600" cy="228600"/>
          </a:xfrm>
          <a:prstGeom prst="rect">
            <a:avLst/>
          </a:prstGeom>
        </p:spPr>
      </p:pic>
      <p:sp>
        <p:nvSpPr>
          <p:cNvPr id="113" name="Text 70"/>
          <p:cNvSpPr txBox="1"/>
          <p:nvPr/>
        </p:nvSpPr>
        <p:spPr>
          <a:xfrm>
            <a:off x="9915754" y="4505249"/>
            <a:ext cx="1438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AIがスケジュール登録し、</a:t>
            </a:r>
            <a:endParaRPr lang="en-US" sz="900" dirty="0"/>
          </a:p>
        </p:txBody>
      </p:sp>
      <p:sp>
        <p:nvSpPr>
          <p:cNvPr id="114" name="Text 71"/>
          <p:cNvSpPr txBox="1"/>
          <p:nvPr/>
        </p:nvSpPr>
        <p:spPr>
          <a:xfrm>
            <a:off x="10134295" y="4657039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次のタスクを準備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2026-01-08T01:40:11Z</dcterms:created>
  <dcterms:modified xsi:type="dcterms:W3CDTF">2026-01-08T01:40:11Z</dcterms:modified>
</cp:coreProperties>
</file>