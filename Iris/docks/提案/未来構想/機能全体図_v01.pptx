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56" y="7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368934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3.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4.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24" Type="http://schemas.openxmlformats.org/officeDocument/2006/relationships/image" Target="../media/image65.png"/><Relationship Id="rId5" Type="http://schemas.openxmlformats.org/officeDocument/2006/relationships/image" Target="../media/image46.png"/><Relationship Id="rId15" Type="http://schemas.openxmlformats.org/officeDocument/2006/relationships/image" Target="../media/image56.png"/><Relationship Id="rId23" Type="http://schemas.openxmlformats.org/officeDocument/2006/relationships/image" Target="../media/image64.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s>
</file>

<file path=ppt/slides/_rels/slide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381305" y="838505"/>
            <a:ext cx="11430000" cy="9144"/>
          </a:xfrm>
          <a:prstGeom prst="rect">
            <a:avLst/>
          </a:prstGeom>
          <a:solidFill>
            <a:srgbClr val="D1D5DB"/>
          </a:solidFill>
          <a:ln/>
        </p:spPr>
      </p:sp>
      <p:sp>
        <p:nvSpPr>
          <p:cNvPr id="5" name="Text 3"/>
          <p:cNvSpPr txBox="1"/>
          <p:nvPr/>
        </p:nvSpPr>
        <p:spPr>
          <a:xfrm>
            <a:off x="381305" y="152705"/>
            <a:ext cx="4500677" cy="419710"/>
          </a:xfrm>
          <a:prstGeom prst="rect">
            <a:avLst/>
          </a:prstGeom>
          <a:noFill/>
          <a:ln/>
        </p:spPr>
        <p:txBody>
          <a:bodyPr wrap="square" lIns="0" tIns="0" rIns="0" bIns="0" rtlCol="0" anchor="ctr"/>
          <a:lstStyle/>
          <a:p>
            <a:pPr marL="0" indent="0" algn="l">
              <a:buNone/>
            </a:pPr>
            <a:r>
              <a:rPr lang="en-US" sz="2200" b="1" dirty="0">
                <a:solidFill>
                  <a:srgbClr val="1F2937"/>
                </a:solidFill>
                <a:latin typeface="Noto Sans JP" pitchFamily="34" charset="0"/>
                <a:ea typeface="Noto Sans JP" pitchFamily="34" charset="-122"/>
                <a:cs typeface="Noto Sans JP" pitchFamily="34" charset="-120"/>
              </a:rPr>
              <a:t>機能全体図（未来の機能全体図）</a:t>
            </a:r>
            <a:endParaRPr lang="en-US" sz="2200" dirty="0"/>
          </a:p>
        </p:txBody>
      </p:sp>
      <p:sp>
        <p:nvSpPr>
          <p:cNvPr id="6" name="Text 4"/>
          <p:cNvSpPr txBox="1"/>
          <p:nvPr/>
        </p:nvSpPr>
        <p:spPr>
          <a:xfrm>
            <a:off x="381305" y="571500"/>
            <a:ext cx="4548226"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業務ドメインからデータソースまでを繋ぐAI活用基盤の4層アーキテクチャ</a:t>
            </a:r>
            <a:endParaRPr lang="en-US" sz="1000" dirty="0"/>
          </a:p>
        </p:txBody>
      </p:sp>
      <p:sp>
        <p:nvSpPr>
          <p:cNvPr id="7" name="Shape 5"/>
          <p:cNvSpPr/>
          <p:nvPr/>
        </p:nvSpPr>
        <p:spPr>
          <a:xfrm>
            <a:off x="10807294" y="552298"/>
            <a:ext cx="1009498" cy="219456"/>
          </a:xfrm>
          <a:prstGeom prst="roundRect">
            <a:avLst>
              <a:gd name="adj" fmla="val 72464"/>
            </a:avLst>
          </a:prstGeom>
          <a:solidFill>
            <a:srgbClr val="F3F4F6"/>
          </a:solidFill>
          <a:ln w="12700">
            <a:solidFill>
              <a:srgbClr val="E5E7EB"/>
            </a:solidFill>
            <a:prstDash val="solid"/>
          </a:ln>
        </p:spPr>
      </p:sp>
      <p:sp>
        <p:nvSpPr>
          <p:cNvPr id="8" name="Text 6"/>
          <p:cNvSpPr txBox="1"/>
          <p:nvPr/>
        </p:nvSpPr>
        <p:spPr>
          <a:xfrm>
            <a:off x="10911535" y="580644"/>
            <a:ext cx="886054" cy="162763"/>
          </a:xfrm>
          <a:prstGeom prst="rect">
            <a:avLst/>
          </a:prstGeom>
          <a:noFill/>
          <a:ln/>
        </p:spPr>
        <p:txBody>
          <a:bodyPr wrap="square" lIns="0" tIns="0" rIns="0" bIns="0" rtlCol="0" anchor="ctr"/>
          <a:lstStyle/>
          <a:p>
            <a:pPr marL="0" indent="0" algn="r">
              <a:buNone/>
            </a:pPr>
            <a:r>
              <a:rPr lang="en-US" sz="900" b="1" dirty="0">
                <a:solidFill>
                  <a:srgbClr val="4B5563"/>
                </a:solidFill>
                <a:latin typeface="Noto Sans JP" pitchFamily="34" charset="0"/>
                <a:ea typeface="Noto Sans JP" pitchFamily="34" charset="-122"/>
                <a:cs typeface="Noto Sans JP" pitchFamily="34" charset="-120"/>
              </a:rPr>
              <a:t>機能設計ベース</a:t>
            </a:r>
            <a:endParaRPr lang="en-US" sz="900" dirty="0"/>
          </a:p>
        </p:txBody>
      </p:sp>
      <p:sp>
        <p:nvSpPr>
          <p:cNvPr id="9" name="Shape 7"/>
          <p:cNvSpPr/>
          <p:nvPr/>
        </p:nvSpPr>
        <p:spPr>
          <a:xfrm>
            <a:off x="10972800" y="0"/>
            <a:ext cx="1218895" cy="1218895"/>
          </a:xfrm>
          <a:prstGeom prst="rect">
            <a:avLst/>
          </a:prstGeom>
          <a:solidFill>
            <a:srgbClr val="F3F4F6">
              <a:alpha val="50000"/>
            </a:srgbClr>
          </a:solidFill>
          <a:ln/>
        </p:spPr>
      </p:sp>
      <p:sp>
        <p:nvSpPr>
          <p:cNvPr id="10" name="Shape 8"/>
          <p:cNvSpPr/>
          <p:nvPr/>
        </p:nvSpPr>
        <p:spPr>
          <a:xfrm>
            <a:off x="0" y="5333695"/>
            <a:ext cx="1524305" cy="1524305"/>
          </a:xfrm>
          <a:prstGeom prst="rect">
            <a:avLst/>
          </a:prstGeom>
          <a:solidFill>
            <a:srgbClr val="F3F4F6">
              <a:alpha val="50000"/>
            </a:srgbClr>
          </a:solidFill>
          <a:ln/>
        </p:spPr>
      </p:sp>
      <p:pic>
        <p:nvPicPr>
          <p:cNvPr id="11" name="Image 0" descr="preencoded.png"/>
          <p:cNvPicPr>
            <a:picLocks noChangeAspect="1"/>
          </p:cNvPicPr>
          <p:nvPr/>
        </p:nvPicPr>
        <p:blipFill>
          <a:blip r:embed="rId3"/>
          <a:srcRect/>
          <a:stretch/>
        </p:blipFill>
        <p:spPr>
          <a:xfrm>
            <a:off x="418795" y="1028700"/>
            <a:ext cx="133502" cy="133502"/>
          </a:xfrm>
          <a:prstGeom prst="rect">
            <a:avLst/>
          </a:prstGeom>
        </p:spPr>
      </p:pic>
      <p:sp>
        <p:nvSpPr>
          <p:cNvPr id="12" name="Text 9"/>
          <p:cNvSpPr txBox="1"/>
          <p:nvPr/>
        </p:nvSpPr>
        <p:spPr>
          <a:xfrm>
            <a:off x="629107" y="1000354"/>
            <a:ext cx="1034186" cy="191110"/>
          </a:xfrm>
          <a:prstGeom prst="rect">
            <a:avLst/>
          </a:prstGeom>
          <a:noFill/>
          <a:ln/>
        </p:spPr>
        <p:txBody>
          <a:bodyPr wrap="square" lIns="0" tIns="0" rIns="0" bIns="0" rtlCol="0" anchor="ctr"/>
          <a:lstStyle/>
          <a:p>
            <a:pPr marL="0" indent="0" algn="l">
              <a:buNone/>
            </a:pPr>
            <a:r>
              <a:rPr lang="en-US" sz="1000" b="1" dirty="0">
                <a:solidFill>
                  <a:srgbClr val="4B5563"/>
                </a:solidFill>
                <a:latin typeface="Noto Sans JP" pitchFamily="34" charset="0"/>
                <a:ea typeface="Noto Sans JP" pitchFamily="34" charset="-122"/>
                <a:cs typeface="Noto Sans JP" pitchFamily="34" charset="-120"/>
              </a:rPr>
              <a:t>業務ドメイン層</a:t>
            </a:r>
            <a:endParaRPr lang="en-US" sz="1000" dirty="0"/>
          </a:p>
        </p:txBody>
      </p:sp>
      <p:sp>
        <p:nvSpPr>
          <p:cNvPr id="13" name="Shape 10"/>
          <p:cNvSpPr/>
          <p:nvPr/>
        </p:nvSpPr>
        <p:spPr>
          <a:xfrm>
            <a:off x="381305" y="1228954"/>
            <a:ext cx="2743200" cy="895198"/>
          </a:xfrm>
          <a:prstGeom prst="roundRect">
            <a:avLst>
              <a:gd name="adj" fmla="val 8693"/>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pic>
        <p:nvPicPr>
          <p:cNvPr id="14" name="Image 1" descr="preencoded.png"/>
          <p:cNvPicPr>
            <a:picLocks noChangeAspect="1"/>
          </p:cNvPicPr>
          <p:nvPr/>
        </p:nvPicPr>
        <p:blipFill>
          <a:blip r:embed="rId4"/>
          <a:srcRect/>
          <a:stretch/>
        </p:blipFill>
        <p:spPr>
          <a:xfrm>
            <a:off x="1633118" y="1352398"/>
            <a:ext cx="237744" cy="190195"/>
          </a:xfrm>
          <a:prstGeom prst="rect">
            <a:avLst/>
          </a:prstGeom>
        </p:spPr>
      </p:pic>
      <p:sp>
        <p:nvSpPr>
          <p:cNvPr id="15" name="Shape 11"/>
          <p:cNvSpPr/>
          <p:nvPr/>
        </p:nvSpPr>
        <p:spPr>
          <a:xfrm>
            <a:off x="3276295" y="1228954"/>
            <a:ext cx="2743200" cy="895198"/>
          </a:xfrm>
          <a:prstGeom prst="roundRect">
            <a:avLst>
              <a:gd name="adj" fmla="val 8693"/>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pic>
        <p:nvPicPr>
          <p:cNvPr id="16" name="Image 2" descr="preencoded.png"/>
          <p:cNvPicPr>
            <a:picLocks noChangeAspect="1"/>
          </p:cNvPicPr>
          <p:nvPr/>
        </p:nvPicPr>
        <p:blipFill>
          <a:blip r:embed="rId5"/>
          <a:srcRect/>
          <a:stretch/>
        </p:blipFill>
        <p:spPr>
          <a:xfrm>
            <a:off x="4529023" y="1352398"/>
            <a:ext cx="237744" cy="190195"/>
          </a:xfrm>
          <a:prstGeom prst="rect">
            <a:avLst/>
          </a:prstGeom>
        </p:spPr>
      </p:pic>
      <p:sp>
        <p:nvSpPr>
          <p:cNvPr id="17" name="Shape 12"/>
          <p:cNvSpPr/>
          <p:nvPr/>
        </p:nvSpPr>
        <p:spPr>
          <a:xfrm>
            <a:off x="6172200" y="1228954"/>
            <a:ext cx="2743200" cy="895198"/>
          </a:xfrm>
          <a:prstGeom prst="roundRect">
            <a:avLst>
              <a:gd name="adj" fmla="val 8693"/>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pic>
        <p:nvPicPr>
          <p:cNvPr id="18" name="Image 3" descr="preencoded.png"/>
          <p:cNvPicPr>
            <a:picLocks noChangeAspect="1"/>
          </p:cNvPicPr>
          <p:nvPr/>
        </p:nvPicPr>
        <p:blipFill>
          <a:blip r:embed="rId6"/>
          <a:srcRect/>
          <a:stretch/>
        </p:blipFill>
        <p:spPr>
          <a:xfrm>
            <a:off x="7472477" y="1352398"/>
            <a:ext cx="142646" cy="190195"/>
          </a:xfrm>
          <a:prstGeom prst="rect">
            <a:avLst/>
          </a:prstGeom>
        </p:spPr>
      </p:pic>
      <p:sp>
        <p:nvSpPr>
          <p:cNvPr id="19" name="Shape 13"/>
          <p:cNvSpPr/>
          <p:nvPr/>
        </p:nvSpPr>
        <p:spPr>
          <a:xfrm>
            <a:off x="9068105" y="1228954"/>
            <a:ext cx="2743200" cy="895198"/>
          </a:xfrm>
          <a:prstGeom prst="roundRect">
            <a:avLst>
              <a:gd name="adj" fmla="val 8693"/>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pic>
        <p:nvPicPr>
          <p:cNvPr id="20" name="Image 4" descr="preencoded.png"/>
          <p:cNvPicPr>
            <a:picLocks noChangeAspect="1"/>
          </p:cNvPicPr>
          <p:nvPr/>
        </p:nvPicPr>
        <p:blipFill>
          <a:blip r:embed="rId7"/>
          <a:srcRect/>
          <a:stretch/>
        </p:blipFill>
        <p:spPr>
          <a:xfrm>
            <a:off x="10344607" y="1352398"/>
            <a:ext cx="190195" cy="190195"/>
          </a:xfrm>
          <a:prstGeom prst="rect">
            <a:avLst/>
          </a:prstGeom>
        </p:spPr>
      </p:pic>
      <p:pic>
        <p:nvPicPr>
          <p:cNvPr id="21" name="Image 5" descr="preencoded.png"/>
          <p:cNvPicPr>
            <a:picLocks noChangeAspect="1"/>
          </p:cNvPicPr>
          <p:nvPr/>
        </p:nvPicPr>
        <p:blipFill>
          <a:blip r:embed="rId8"/>
          <a:srcRect/>
          <a:stretch/>
        </p:blipFill>
        <p:spPr>
          <a:xfrm>
            <a:off x="6001207" y="2115007"/>
            <a:ext cx="190195" cy="190195"/>
          </a:xfrm>
          <a:prstGeom prst="rect">
            <a:avLst/>
          </a:prstGeom>
        </p:spPr>
      </p:pic>
      <p:pic>
        <p:nvPicPr>
          <p:cNvPr id="22" name="Image 6" descr="preencoded.png"/>
          <p:cNvPicPr>
            <a:picLocks noChangeAspect="1"/>
          </p:cNvPicPr>
          <p:nvPr/>
        </p:nvPicPr>
        <p:blipFill>
          <a:blip r:embed="rId8"/>
          <a:srcRect/>
          <a:stretch/>
        </p:blipFill>
        <p:spPr>
          <a:xfrm>
            <a:off x="6001207" y="5429707"/>
            <a:ext cx="190195" cy="190195"/>
          </a:xfrm>
          <a:prstGeom prst="rect">
            <a:avLst/>
          </a:prstGeom>
        </p:spPr>
      </p:pic>
      <p:pic>
        <p:nvPicPr>
          <p:cNvPr id="23" name="Image 7" descr="preencoded.png"/>
          <p:cNvPicPr>
            <a:picLocks noChangeAspect="1"/>
          </p:cNvPicPr>
          <p:nvPr/>
        </p:nvPicPr>
        <p:blipFill>
          <a:blip r:embed="rId9"/>
          <a:srcRect/>
          <a:stretch/>
        </p:blipFill>
        <p:spPr>
          <a:xfrm>
            <a:off x="418795" y="5695798"/>
            <a:ext cx="133502" cy="133502"/>
          </a:xfrm>
          <a:prstGeom prst="rect">
            <a:avLst/>
          </a:prstGeom>
        </p:spPr>
      </p:pic>
      <p:sp>
        <p:nvSpPr>
          <p:cNvPr id="24" name="Text 14"/>
          <p:cNvSpPr txBox="1"/>
          <p:nvPr/>
        </p:nvSpPr>
        <p:spPr>
          <a:xfrm>
            <a:off x="629107" y="5667451"/>
            <a:ext cx="1034186" cy="191110"/>
          </a:xfrm>
          <a:prstGeom prst="rect">
            <a:avLst/>
          </a:prstGeom>
          <a:noFill/>
          <a:ln/>
        </p:spPr>
        <p:txBody>
          <a:bodyPr wrap="square" lIns="0" tIns="0" rIns="0" bIns="0" rtlCol="0" anchor="ctr"/>
          <a:lstStyle/>
          <a:p>
            <a:pPr marL="0" indent="0" algn="l">
              <a:buNone/>
            </a:pPr>
            <a:r>
              <a:rPr lang="en-US" sz="1000" b="1" dirty="0">
                <a:solidFill>
                  <a:srgbClr val="4B5563"/>
                </a:solidFill>
                <a:latin typeface="Noto Sans JP" pitchFamily="34" charset="0"/>
                <a:ea typeface="Noto Sans JP" pitchFamily="34" charset="-122"/>
                <a:cs typeface="Noto Sans JP" pitchFamily="34" charset="-120"/>
              </a:rPr>
              <a:t>データソース層</a:t>
            </a:r>
            <a:endParaRPr lang="en-US" sz="1000" dirty="0"/>
          </a:p>
        </p:txBody>
      </p:sp>
      <p:sp>
        <p:nvSpPr>
          <p:cNvPr id="25" name="Shape 15"/>
          <p:cNvSpPr/>
          <p:nvPr/>
        </p:nvSpPr>
        <p:spPr>
          <a:xfrm>
            <a:off x="381305" y="5896051"/>
            <a:ext cx="2743200" cy="685800"/>
          </a:xfrm>
          <a:prstGeom prst="roundRect">
            <a:avLst>
              <a:gd name="adj" fmla="val 14815"/>
            </a:avLst>
          </a:prstGeom>
          <a:solidFill>
            <a:srgbClr val="F3F4F6"/>
          </a:solidFill>
          <a:ln w="12700">
            <a:solidFill>
              <a:srgbClr val="D1D5DB"/>
            </a:solidFill>
            <a:prstDash val="solid"/>
          </a:ln>
          <a:effectLst>
            <a:outerShdw blurRad="25400" dist="12700" dir="5400000" algn="bl" rotWithShape="0">
              <a:srgbClr val="000000">
                <a:alpha val="5000"/>
              </a:srgbClr>
            </a:outerShdw>
          </a:effectLst>
        </p:spPr>
      </p:sp>
      <p:pic>
        <p:nvPicPr>
          <p:cNvPr id="26" name="Image 8" descr="preencoded.png"/>
          <p:cNvPicPr>
            <a:picLocks noChangeAspect="1"/>
          </p:cNvPicPr>
          <p:nvPr/>
        </p:nvPicPr>
        <p:blipFill>
          <a:blip r:embed="rId10"/>
          <a:srcRect t="-43" b="-43"/>
          <a:stretch/>
        </p:blipFill>
        <p:spPr>
          <a:xfrm>
            <a:off x="1686154" y="6067044"/>
            <a:ext cx="133502" cy="152705"/>
          </a:xfrm>
          <a:prstGeom prst="rect">
            <a:avLst/>
          </a:prstGeom>
        </p:spPr>
      </p:pic>
      <p:sp>
        <p:nvSpPr>
          <p:cNvPr id="27" name="Shape 16"/>
          <p:cNvSpPr/>
          <p:nvPr/>
        </p:nvSpPr>
        <p:spPr>
          <a:xfrm>
            <a:off x="3276295" y="5896051"/>
            <a:ext cx="2743200" cy="685800"/>
          </a:xfrm>
          <a:prstGeom prst="roundRect">
            <a:avLst>
              <a:gd name="adj" fmla="val 14815"/>
            </a:avLst>
          </a:prstGeom>
          <a:solidFill>
            <a:srgbClr val="F3F4F6"/>
          </a:solidFill>
          <a:ln w="12700">
            <a:solidFill>
              <a:srgbClr val="D1D5DB"/>
            </a:solidFill>
            <a:prstDash val="solid"/>
          </a:ln>
          <a:effectLst>
            <a:outerShdw blurRad="25400" dist="12700" dir="5400000" algn="bl" rotWithShape="0">
              <a:srgbClr val="000000">
                <a:alpha val="5000"/>
              </a:srgbClr>
            </a:outerShdw>
          </a:effectLst>
        </p:spPr>
      </p:sp>
      <p:pic>
        <p:nvPicPr>
          <p:cNvPr id="28" name="Image 9" descr="preencoded.png"/>
          <p:cNvPicPr>
            <a:picLocks noChangeAspect="1"/>
          </p:cNvPicPr>
          <p:nvPr/>
        </p:nvPicPr>
        <p:blipFill>
          <a:blip r:embed="rId11"/>
          <a:srcRect t="-180" b="-180"/>
          <a:stretch/>
        </p:blipFill>
        <p:spPr>
          <a:xfrm>
            <a:off x="4552798" y="6067044"/>
            <a:ext cx="190195" cy="152705"/>
          </a:xfrm>
          <a:prstGeom prst="rect">
            <a:avLst/>
          </a:prstGeom>
        </p:spPr>
      </p:pic>
      <p:sp>
        <p:nvSpPr>
          <p:cNvPr id="29" name="Shape 17"/>
          <p:cNvSpPr/>
          <p:nvPr/>
        </p:nvSpPr>
        <p:spPr>
          <a:xfrm>
            <a:off x="6172200" y="5896051"/>
            <a:ext cx="2743200" cy="685800"/>
          </a:xfrm>
          <a:prstGeom prst="roundRect">
            <a:avLst>
              <a:gd name="adj" fmla="val 14815"/>
            </a:avLst>
          </a:prstGeom>
          <a:solidFill>
            <a:srgbClr val="F3F4F6"/>
          </a:solidFill>
          <a:ln w="12700">
            <a:solidFill>
              <a:srgbClr val="D1D5DB"/>
            </a:solidFill>
            <a:prstDash val="solid"/>
          </a:ln>
          <a:effectLst>
            <a:outerShdw blurRad="25400" dist="12700" dir="5400000" algn="bl" rotWithShape="0">
              <a:srgbClr val="000000">
                <a:alpha val="5000"/>
              </a:srgbClr>
            </a:outerShdw>
          </a:effectLst>
        </p:spPr>
      </p:sp>
      <p:pic>
        <p:nvPicPr>
          <p:cNvPr id="30" name="Image 10" descr="preencoded.png"/>
          <p:cNvPicPr>
            <a:picLocks noChangeAspect="1"/>
          </p:cNvPicPr>
          <p:nvPr/>
        </p:nvPicPr>
        <p:blipFill>
          <a:blip r:embed="rId12"/>
          <a:srcRect l="-33" r="-33"/>
          <a:stretch/>
        </p:blipFill>
        <p:spPr>
          <a:xfrm>
            <a:off x="7457846" y="6067044"/>
            <a:ext cx="171907" cy="152705"/>
          </a:xfrm>
          <a:prstGeom prst="rect">
            <a:avLst/>
          </a:prstGeom>
        </p:spPr>
      </p:pic>
      <p:sp>
        <p:nvSpPr>
          <p:cNvPr id="31" name="Shape 18"/>
          <p:cNvSpPr/>
          <p:nvPr/>
        </p:nvSpPr>
        <p:spPr>
          <a:xfrm>
            <a:off x="9068105" y="5896051"/>
            <a:ext cx="2743200" cy="685800"/>
          </a:xfrm>
          <a:prstGeom prst="roundRect">
            <a:avLst>
              <a:gd name="adj" fmla="val 14815"/>
            </a:avLst>
          </a:prstGeom>
          <a:solidFill>
            <a:srgbClr val="F3F4F6"/>
          </a:solidFill>
          <a:ln w="12700">
            <a:solidFill>
              <a:srgbClr val="D1D5DB"/>
            </a:solidFill>
            <a:prstDash val="solid"/>
          </a:ln>
          <a:effectLst>
            <a:outerShdw blurRad="25400" dist="12700" dir="5400000" algn="bl" rotWithShape="0">
              <a:srgbClr val="000000">
                <a:alpha val="5000"/>
              </a:srgbClr>
            </a:outerShdw>
          </a:effectLst>
        </p:spPr>
      </p:sp>
      <p:pic>
        <p:nvPicPr>
          <p:cNvPr id="32" name="Image 11" descr="preencoded.png"/>
          <p:cNvPicPr>
            <a:picLocks noChangeAspect="1"/>
          </p:cNvPicPr>
          <p:nvPr/>
        </p:nvPicPr>
        <p:blipFill>
          <a:blip r:embed="rId13"/>
          <a:srcRect t="-180" b="-180"/>
          <a:stretch/>
        </p:blipFill>
        <p:spPr>
          <a:xfrm>
            <a:off x="10344607" y="6067044"/>
            <a:ext cx="190195" cy="152705"/>
          </a:xfrm>
          <a:prstGeom prst="rect">
            <a:avLst/>
          </a:prstGeom>
        </p:spPr>
      </p:pic>
      <p:sp>
        <p:nvSpPr>
          <p:cNvPr id="33" name="Shape 19"/>
          <p:cNvSpPr/>
          <p:nvPr/>
        </p:nvSpPr>
        <p:spPr>
          <a:xfrm>
            <a:off x="381305" y="6734556"/>
            <a:ext cx="11430000" cy="437998"/>
          </a:xfrm>
          <a:prstGeom prst="roundRect">
            <a:avLst>
              <a:gd name="adj" fmla="val 36307"/>
            </a:avLst>
          </a:prstGeom>
          <a:solidFill>
            <a:srgbClr val="F3F4F6"/>
          </a:solidFill>
          <a:ln w="12700">
            <a:solidFill>
              <a:srgbClr val="D1D5DB"/>
            </a:solidFill>
            <a:prstDash val="solid"/>
          </a:ln>
          <a:effectLst>
            <a:outerShdw blurRad="25400" dist="12700" dir="5400000" algn="bl" rotWithShape="0">
              <a:srgbClr val="000000">
                <a:alpha val="5000"/>
              </a:srgbClr>
            </a:outerShdw>
          </a:effectLst>
        </p:spPr>
      </p:sp>
      <p:pic>
        <p:nvPicPr>
          <p:cNvPr id="34" name="Image 12" descr="preencoded.png"/>
          <p:cNvPicPr>
            <a:picLocks noChangeAspect="1"/>
          </p:cNvPicPr>
          <p:nvPr/>
        </p:nvPicPr>
        <p:blipFill>
          <a:blip r:embed="rId14"/>
          <a:srcRect l="-1507" r="-1507"/>
          <a:stretch/>
        </p:blipFill>
        <p:spPr>
          <a:xfrm>
            <a:off x="657454" y="6886346"/>
            <a:ext cx="171907" cy="133502"/>
          </a:xfrm>
          <a:prstGeom prst="rect">
            <a:avLst/>
          </a:prstGeom>
        </p:spPr>
      </p:pic>
      <p:sp>
        <p:nvSpPr>
          <p:cNvPr id="35" name="Text 20"/>
          <p:cNvSpPr txBox="1"/>
          <p:nvPr/>
        </p:nvSpPr>
        <p:spPr>
          <a:xfrm>
            <a:off x="905256" y="6858000"/>
            <a:ext cx="2233879"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組織・運用レイヤ（全機能に横串）</a:t>
            </a:r>
            <a:endParaRPr lang="en-US" sz="1000" dirty="0"/>
          </a:p>
        </p:txBody>
      </p:sp>
      <p:pic>
        <p:nvPicPr>
          <p:cNvPr id="36" name="Image 13" descr="preencoded.png"/>
          <p:cNvPicPr>
            <a:picLocks noChangeAspect="1"/>
          </p:cNvPicPr>
          <p:nvPr/>
        </p:nvPicPr>
        <p:blipFill>
          <a:blip r:embed="rId15"/>
          <a:srcRect/>
          <a:stretch/>
        </p:blipFill>
        <p:spPr>
          <a:xfrm>
            <a:off x="5954573" y="6896405"/>
            <a:ext cx="114300" cy="114300"/>
          </a:xfrm>
          <a:prstGeom prst="rect">
            <a:avLst/>
          </a:prstGeom>
        </p:spPr>
      </p:pic>
      <p:sp>
        <p:nvSpPr>
          <p:cNvPr id="37" name="Text 21"/>
          <p:cNvSpPr txBox="1"/>
          <p:nvPr/>
        </p:nvSpPr>
        <p:spPr>
          <a:xfrm>
            <a:off x="6107278" y="6877202"/>
            <a:ext cx="1505102" cy="1527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CoE (Center of Excellence)</a:t>
            </a:r>
            <a:endParaRPr lang="en-US" sz="900" dirty="0"/>
          </a:p>
        </p:txBody>
      </p:sp>
      <p:pic>
        <p:nvPicPr>
          <p:cNvPr id="38" name="Image 14" descr="preencoded.png"/>
          <p:cNvPicPr>
            <a:picLocks noChangeAspect="1"/>
          </p:cNvPicPr>
          <p:nvPr/>
        </p:nvPicPr>
        <p:blipFill>
          <a:blip r:embed="rId15"/>
          <a:srcRect/>
          <a:stretch/>
        </p:blipFill>
        <p:spPr>
          <a:xfrm>
            <a:off x="7821778" y="6896405"/>
            <a:ext cx="114300" cy="114300"/>
          </a:xfrm>
          <a:prstGeom prst="rect">
            <a:avLst/>
          </a:prstGeom>
        </p:spPr>
      </p:pic>
      <p:sp>
        <p:nvSpPr>
          <p:cNvPr id="39" name="Text 22"/>
          <p:cNvSpPr txBox="1"/>
          <p:nvPr/>
        </p:nvSpPr>
        <p:spPr>
          <a:xfrm>
            <a:off x="7974482" y="6877202"/>
            <a:ext cx="1028700" cy="1527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事業部 Champion</a:t>
            </a:r>
            <a:endParaRPr lang="en-US" sz="900" dirty="0"/>
          </a:p>
        </p:txBody>
      </p:sp>
      <p:pic>
        <p:nvPicPr>
          <p:cNvPr id="40" name="Image 15" descr="preencoded.png"/>
          <p:cNvPicPr>
            <a:picLocks noChangeAspect="1"/>
          </p:cNvPicPr>
          <p:nvPr/>
        </p:nvPicPr>
        <p:blipFill>
          <a:blip r:embed="rId15"/>
          <a:srcRect/>
          <a:stretch/>
        </p:blipFill>
        <p:spPr>
          <a:xfrm>
            <a:off x="9212580" y="6896405"/>
            <a:ext cx="114300" cy="114300"/>
          </a:xfrm>
          <a:prstGeom prst="rect">
            <a:avLst/>
          </a:prstGeom>
        </p:spPr>
      </p:pic>
      <p:sp>
        <p:nvSpPr>
          <p:cNvPr id="41" name="Text 23"/>
          <p:cNvSpPr txBox="1"/>
          <p:nvPr/>
        </p:nvSpPr>
        <p:spPr>
          <a:xfrm>
            <a:off x="9365285" y="6877202"/>
            <a:ext cx="1010412" cy="1527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教育・ルール整備</a:t>
            </a:r>
            <a:endParaRPr lang="en-US" sz="900" dirty="0"/>
          </a:p>
        </p:txBody>
      </p:sp>
      <p:pic>
        <p:nvPicPr>
          <p:cNvPr id="42" name="Image 16" descr="preencoded.png"/>
          <p:cNvPicPr>
            <a:picLocks noChangeAspect="1"/>
          </p:cNvPicPr>
          <p:nvPr/>
        </p:nvPicPr>
        <p:blipFill>
          <a:blip r:embed="rId15"/>
          <a:srcRect/>
          <a:stretch/>
        </p:blipFill>
        <p:spPr>
          <a:xfrm>
            <a:off x="10584180" y="6896405"/>
            <a:ext cx="114300" cy="114300"/>
          </a:xfrm>
          <a:prstGeom prst="rect">
            <a:avLst/>
          </a:prstGeom>
        </p:spPr>
      </p:pic>
      <p:sp>
        <p:nvSpPr>
          <p:cNvPr id="43" name="Text 24"/>
          <p:cNvSpPr txBox="1"/>
          <p:nvPr/>
        </p:nvSpPr>
        <p:spPr>
          <a:xfrm>
            <a:off x="10736885" y="6877202"/>
            <a:ext cx="886054" cy="152705"/>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ガバナンス体制</a:t>
            </a:r>
            <a:endParaRPr lang="en-US" sz="900" dirty="0"/>
          </a:p>
        </p:txBody>
      </p:sp>
      <p:sp>
        <p:nvSpPr>
          <p:cNvPr id="44" name="Text 25"/>
          <p:cNvSpPr txBox="1"/>
          <p:nvPr/>
        </p:nvSpPr>
        <p:spPr>
          <a:xfrm>
            <a:off x="1285646" y="1619402"/>
            <a:ext cx="1034186" cy="191110"/>
          </a:xfrm>
          <a:prstGeom prst="rect">
            <a:avLst/>
          </a:prstGeom>
          <a:noFill/>
          <a:ln/>
        </p:spPr>
        <p:txBody>
          <a:bodyPr wrap="square" lIns="0" tIns="0" rIns="0" bIns="0" rtlCol="0" anchor="ctr"/>
          <a:lstStyle/>
          <a:p>
            <a:pPr marL="0" indent="0" algn="ctr">
              <a:buNone/>
            </a:pPr>
            <a:r>
              <a:rPr lang="en-US" sz="1000" b="1" dirty="0">
                <a:solidFill>
                  <a:srgbClr val="374151"/>
                </a:solidFill>
                <a:latin typeface="Noto Sans JP" pitchFamily="34" charset="0"/>
                <a:ea typeface="Noto Sans JP" pitchFamily="34" charset="-122"/>
                <a:cs typeface="Noto Sans JP" pitchFamily="34" charset="-120"/>
              </a:rPr>
              <a:t>会議・意思決定</a:t>
            </a:r>
            <a:endParaRPr lang="en-US" sz="1000" dirty="0"/>
          </a:p>
        </p:txBody>
      </p:sp>
      <p:sp>
        <p:nvSpPr>
          <p:cNvPr id="45" name="Text 26"/>
          <p:cNvSpPr txBox="1"/>
          <p:nvPr/>
        </p:nvSpPr>
        <p:spPr>
          <a:xfrm>
            <a:off x="1271016" y="1837944"/>
            <a:ext cx="1057961"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議事録・ToDo管理</a:t>
            </a:r>
            <a:endParaRPr lang="en-US" sz="900" dirty="0"/>
          </a:p>
        </p:txBody>
      </p:sp>
      <p:sp>
        <p:nvSpPr>
          <p:cNvPr id="46" name="Text 27"/>
          <p:cNvSpPr txBox="1"/>
          <p:nvPr/>
        </p:nvSpPr>
        <p:spPr>
          <a:xfrm>
            <a:off x="4248302" y="1619402"/>
            <a:ext cx="900684" cy="191110"/>
          </a:xfrm>
          <a:prstGeom prst="rect">
            <a:avLst/>
          </a:prstGeom>
          <a:noFill/>
          <a:ln/>
        </p:spPr>
        <p:txBody>
          <a:bodyPr wrap="square" lIns="0" tIns="0" rIns="0" bIns="0" rtlCol="0" anchor="ctr"/>
          <a:lstStyle/>
          <a:p>
            <a:pPr marL="0" indent="0" algn="ctr">
              <a:buNone/>
            </a:pPr>
            <a:r>
              <a:rPr lang="en-US" sz="1000" b="1" dirty="0">
                <a:solidFill>
                  <a:srgbClr val="374151"/>
                </a:solidFill>
                <a:latin typeface="Noto Sans JP" pitchFamily="34" charset="0"/>
                <a:ea typeface="Noto Sans JP" pitchFamily="34" charset="-122"/>
                <a:cs typeface="Noto Sans JP" pitchFamily="34" charset="-120"/>
              </a:rPr>
              <a:t>メール・会話</a:t>
            </a:r>
            <a:endParaRPr lang="en-US" sz="1000" dirty="0"/>
          </a:p>
        </p:txBody>
      </p:sp>
      <p:sp>
        <p:nvSpPr>
          <p:cNvPr id="47" name="Text 28"/>
          <p:cNvSpPr txBox="1"/>
          <p:nvPr/>
        </p:nvSpPr>
        <p:spPr>
          <a:xfrm>
            <a:off x="4248302" y="1837944"/>
            <a:ext cx="8961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要約・返信作成</a:t>
            </a:r>
            <a:endParaRPr lang="en-US" sz="900" dirty="0"/>
          </a:p>
        </p:txBody>
      </p:sp>
      <p:sp>
        <p:nvSpPr>
          <p:cNvPr id="48" name="Text 29"/>
          <p:cNvSpPr txBox="1"/>
          <p:nvPr/>
        </p:nvSpPr>
        <p:spPr>
          <a:xfrm>
            <a:off x="7077456" y="1619402"/>
            <a:ext cx="1034186" cy="191110"/>
          </a:xfrm>
          <a:prstGeom prst="rect">
            <a:avLst/>
          </a:prstGeom>
          <a:noFill/>
          <a:ln/>
        </p:spPr>
        <p:txBody>
          <a:bodyPr wrap="square" lIns="0" tIns="0" rIns="0" bIns="0" rtlCol="0" anchor="ctr"/>
          <a:lstStyle/>
          <a:p>
            <a:pPr marL="0" indent="0" algn="ctr">
              <a:buNone/>
            </a:pPr>
            <a:r>
              <a:rPr lang="en-US" sz="1000" b="1" dirty="0">
                <a:solidFill>
                  <a:srgbClr val="374151"/>
                </a:solidFill>
                <a:latin typeface="Noto Sans JP" pitchFamily="34" charset="0"/>
                <a:ea typeface="Noto Sans JP" pitchFamily="34" charset="-122"/>
                <a:cs typeface="Noto Sans JP" pitchFamily="34" charset="-120"/>
              </a:rPr>
              <a:t>文書・資料作成</a:t>
            </a:r>
            <a:endParaRPr lang="en-US" sz="1000" dirty="0"/>
          </a:p>
        </p:txBody>
      </p:sp>
      <p:sp>
        <p:nvSpPr>
          <p:cNvPr id="49" name="Text 30"/>
          <p:cNvSpPr txBox="1"/>
          <p:nvPr/>
        </p:nvSpPr>
        <p:spPr>
          <a:xfrm>
            <a:off x="7028993" y="1837944"/>
            <a:ext cx="11247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ドラフト生成・校正</a:t>
            </a:r>
            <a:endParaRPr lang="en-US" sz="900" dirty="0"/>
          </a:p>
        </p:txBody>
      </p:sp>
      <p:sp>
        <p:nvSpPr>
          <p:cNvPr id="50" name="Text 31"/>
          <p:cNvSpPr txBox="1"/>
          <p:nvPr/>
        </p:nvSpPr>
        <p:spPr>
          <a:xfrm>
            <a:off x="10105949" y="1619402"/>
            <a:ext cx="767182" cy="191110"/>
          </a:xfrm>
          <a:prstGeom prst="rect">
            <a:avLst/>
          </a:prstGeom>
          <a:noFill/>
          <a:ln/>
        </p:spPr>
        <p:txBody>
          <a:bodyPr wrap="square" lIns="0" tIns="0" rIns="0" bIns="0" rtlCol="0" anchor="ctr"/>
          <a:lstStyle/>
          <a:p>
            <a:pPr marL="0" indent="0" algn="ctr">
              <a:buNone/>
            </a:pPr>
            <a:r>
              <a:rPr lang="en-US" sz="1000" b="1" dirty="0">
                <a:solidFill>
                  <a:srgbClr val="374151"/>
                </a:solidFill>
                <a:latin typeface="Noto Sans JP" pitchFamily="34" charset="0"/>
                <a:ea typeface="Noto Sans JP" pitchFamily="34" charset="-122"/>
                <a:cs typeface="Noto Sans JP" pitchFamily="34" charset="-120"/>
              </a:rPr>
              <a:t>データ分析</a:t>
            </a:r>
            <a:endParaRPr lang="en-US" sz="1000" dirty="0"/>
          </a:p>
        </p:txBody>
      </p:sp>
      <p:sp>
        <p:nvSpPr>
          <p:cNvPr id="51" name="Text 32"/>
          <p:cNvSpPr txBox="1"/>
          <p:nvPr/>
        </p:nvSpPr>
        <p:spPr>
          <a:xfrm>
            <a:off x="9868205" y="1837944"/>
            <a:ext cx="12390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レポート・インサイト</a:t>
            </a:r>
            <a:endParaRPr lang="en-US" sz="900" dirty="0"/>
          </a:p>
        </p:txBody>
      </p:sp>
      <p:sp>
        <p:nvSpPr>
          <p:cNvPr id="52" name="Text 33"/>
          <p:cNvSpPr txBox="1"/>
          <p:nvPr/>
        </p:nvSpPr>
        <p:spPr>
          <a:xfrm>
            <a:off x="1331366" y="6248095"/>
            <a:ext cx="933602" cy="162763"/>
          </a:xfrm>
          <a:prstGeom prst="rect">
            <a:avLst/>
          </a:prstGeom>
          <a:noFill/>
          <a:ln/>
        </p:spPr>
        <p:txBody>
          <a:bodyPr wrap="square" lIns="0" tIns="0" rIns="0" bIns="0" rtlCol="0" anchor="ctr"/>
          <a:lstStyle/>
          <a:p>
            <a:pPr marL="0" indent="0" algn="ctr">
              <a:buNone/>
            </a:pPr>
            <a:r>
              <a:rPr lang="en-US" sz="900" b="1" dirty="0">
                <a:solidFill>
                  <a:srgbClr val="374151"/>
                </a:solidFill>
                <a:latin typeface="Noto Sans JP" pitchFamily="34" charset="0"/>
                <a:ea typeface="Noto Sans JP" pitchFamily="34" charset="-122"/>
                <a:cs typeface="Noto Sans JP" pitchFamily="34" charset="-120"/>
              </a:rPr>
              <a:t>業務システムDB</a:t>
            </a:r>
            <a:endParaRPr lang="en-US" sz="900" dirty="0"/>
          </a:p>
        </p:txBody>
      </p:sp>
      <p:sp>
        <p:nvSpPr>
          <p:cNvPr id="53" name="Text 34"/>
          <p:cNvSpPr txBox="1"/>
          <p:nvPr/>
        </p:nvSpPr>
        <p:spPr>
          <a:xfrm>
            <a:off x="4122115" y="6248095"/>
            <a:ext cx="1143000" cy="162763"/>
          </a:xfrm>
          <a:prstGeom prst="rect">
            <a:avLst/>
          </a:prstGeom>
          <a:noFill/>
          <a:ln/>
        </p:spPr>
        <p:txBody>
          <a:bodyPr wrap="square" lIns="0" tIns="0" rIns="0" bIns="0" rtlCol="0" anchor="ctr"/>
          <a:lstStyle/>
          <a:p>
            <a:pPr marL="0" indent="0" algn="ctr">
              <a:buNone/>
            </a:pPr>
            <a:r>
              <a:rPr lang="en-US" sz="900" b="1" dirty="0">
                <a:solidFill>
                  <a:srgbClr val="374151"/>
                </a:solidFill>
                <a:latin typeface="Noto Sans JP" pitchFamily="34" charset="0"/>
                <a:ea typeface="Noto Sans JP" pitchFamily="34" charset="-122"/>
                <a:cs typeface="Noto Sans JP" pitchFamily="34" charset="-120"/>
              </a:rPr>
              <a:t>DWH / データレイク</a:t>
            </a:r>
            <a:endParaRPr lang="en-US" sz="900" dirty="0"/>
          </a:p>
        </p:txBody>
      </p:sp>
      <p:sp>
        <p:nvSpPr>
          <p:cNvPr id="54" name="Text 35"/>
          <p:cNvSpPr txBox="1"/>
          <p:nvPr/>
        </p:nvSpPr>
        <p:spPr>
          <a:xfrm>
            <a:off x="7144207" y="6248095"/>
            <a:ext cx="886054" cy="162763"/>
          </a:xfrm>
          <a:prstGeom prst="rect">
            <a:avLst/>
          </a:prstGeom>
          <a:noFill/>
          <a:ln/>
        </p:spPr>
        <p:txBody>
          <a:bodyPr wrap="square" lIns="0" tIns="0" rIns="0" bIns="0" rtlCol="0" anchor="ctr"/>
          <a:lstStyle/>
          <a:p>
            <a:pPr marL="0" indent="0" algn="ctr">
              <a:buNone/>
            </a:pPr>
            <a:r>
              <a:rPr lang="en-US" sz="900" b="1" dirty="0">
                <a:solidFill>
                  <a:srgbClr val="374151"/>
                </a:solidFill>
                <a:latin typeface="Noto Sans JP" pitchFamily="34" charset="0"/>
                <a:ea typeface="Noto Sans JP" pitchFamily="34" charset="-122"/>
                <a:cs typeface="Noto Sans JP" pitchFamily="34" charset="-120"/>
              </a:rPr>
              <a:t>ファイルサーバ</a:t>
            </a:r>
            <a:endParaRPr lang="en-US" sz="900" dirty="0"/>
          </a:p>
        </p:txBody>
      </p:sp>
      <p:sp>
        <p:nvSpPr>
          <p:cNvPr id="55" name="Text 36"/>
          <p:cNvSpPr txBox="1"/>
          <p:nvPr/>
        </p:nvSpPr>
        <p:spPr>
          <a:xfrm>
            <a:off x="10186416" y="6248095"/>
            <a:ext cx="600761" cy="162763"/>
          </a:xfrm>
          <a:prstGeom prst="rect">
            <a:avLst/>
          </a:prstGeom>
          <a:noFill/>
          <a:ln/>
        </p:spPr>
        <p:txBody>
          <a:bodyPr wrap="square" lIns="0" tIns="0" rIns="0" bIns="0" rtlCol="0" anchor="ctr"/>
          <a:lstStyle/>
          <a:p>
            <a:pPr marL="0" indent="0" algn="ctr">
              <a:buNone/>
            </a:pPr>
            <a:r>
              <a:rPr lang="en-US" sz="900" b="1" dirty="0">
                <a:solidFill>
                  <a:srgbClr val="374151"/>
                </a:solidFill>
                <a:latin typeface="Noto Sans JP" pitchFamily="34" charset="0"/>
                <a:ea typeface="Noto Sans JP" pitchFamily="34" charset="-122"/>
                <a:cs typeface="Noto Sans JP" pitchFamily="34" charset="-120"/>
              </a:rPr>
              <a:t>外部SaaS</a:t>
            </a:r>
            <a:endParaRPr lang="en-US" sz="900" dirty="0"/>
          </a:p>
        </p:txBody>
      </p:sp>
      <p:sp>
        <p:nvSpPr>
          <p:cNvPr id="56" name="Shape 37"/>
          <p:cNvSpPr/>
          <p:nvPr/>
        </p:nvSpPr>
        <p:spPr>
          <a:xfrm>
            <a:off x="381305" y="2352751"/>
            <a:ext cx="11430000" cy="3029407"/>
          </a:xfrm>
          <a:prstGeom prst="roundRect">
            <a:avLst>
              <a:gd name="adj" fmla="val 1139"/>
            </a:avLst>
          </a:prstGeom>
          <a:solidFill>
            <a:srgbClr val="FEF2F2"/>
          </a:solidFill>
          <a:ln w="25400">
            <a:solidFill>
              <a:srgbClr val="FECACA"/>
            </a:solidFill>
            <a:prstDash val="solid"/>
          </a:ln>
        </p:spPr>
      </p:sp>
      <p:sp>
        <p:nvSpPr>
          <p:cNvPr id="57" name="Shape 38"/>
          <p:cNvSpPr/>
          <p:nvPr/>
        </p:nvSpPr>
        <p:spPr>
          <a:xfrm>
            <a:off x="552298" y="2257654"/>
            <a:ext cx="2057400" cy="228600"/>
          </a:xfrm>
          <a:prstGeom prst="roundRect">
            <a:avLst>
              <a:gd name="adj" fmla="val 400000"/>
            </a:avLst>
          </a:prstGeom>
          <a:solidFill>
            <a:srgbClr val="DC2626"/>
          </a:solidFill>
          <a:ln/>
          <a:effectLst>
            <a:outerShdw blurRad="12700" dist="12700" dir="16200000" algn="bl" rotWithShape="0">
              <a:srgbClr val="000000">
                <a:alpha val="75000"/>
              </a:srgbClr>
            </a:outerShdw>
          </a:effectLst>
        </p:spPr>
      </p:sp>
      <p:sp>
        <p:nvSpPr>
          <p:cNvPr id="58" name="Text 39"/>
          <p:cNvSpPr txBox="1"/>
          <p:nvPr/>
        </p:nvSpPr>
        <p:spPr>
          <a:xfrm>
            <a:off x="666598" y="2286000"/>
            <a:ext cx="1914754" cy="162763"/>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AI活用基盤（機能コンポーネント）</a:t>
            </a:r>
            <a:endParaRPr lang="en-US" sz="900" dirty="0"/>
          </a:p>
        </p:txBody>
      </p:sp>
      <p:sp>
        <p:nvSpPr>
          <p:cNvPr id="59" name="Shape 40"/>
          <p:cNvSpPr/>
          <p:nvPr/>
        </p:nvSpPr>
        <p:spPr>
          <a:xfrm>
            <a:off x="552298" y="2523744"/>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60" name="Shape 41"/>
          <p:cNvSpPr/>
          <p:nvPr/>
        </p:nvSpPr>
        <p:spPr>
          <a:xfrm>
            <a:off x="552298" y="2523744"/>
            <a:ext cx="38405" cy="866851"/>
          </a:xfrm>
          <a:prstGeom prst="rect">
            <a:avLst/>
          </a:prstGeom>
          <a:solidFill>
            <a:srgbClr val="DC2626"/>
          </a:solidFill>
          <a:ln/>
        </p:spPr>
      </p:sp>
      <p:sp>
        <p:nvSpPr>
          <p:cNvPr id="61" name="Shape 42"/>
          <p:cNvSpPr/>
          <p:nvPr/>
        </p:nvSpPr>
        <p:spPr>
          <a:xfrm>
            <a:off x="2158898" y="2619756"/>
            <a:ext cx="228600" cy="228600"/>
          </a:xfrm>
          <a:prstGeom prst="roundRect">
            <a:avLst>
              <a:gd name="adj" fmla="val 400000"/>
            </a:avLst>
          </a:prstGeom>
          <a:solidFill>
            <a:srgbClr val="FEE2E2"/>
          </a:solidFill>
          <a:ln/>
        </p:spPr>
      </p:sp>
      <p:sp>
        <p:nvSpPr>
          <p:cNvPr id="62" name="Text 43"/>
          <p:cNvSpPr txBox="1"/>
          <p:nvPr/>
        </p:nvSpPr>
        <p:spPr>
          <a:xfrm>
            <a:off x="2236622" y="2657246"/>
            <a:ext cx="162763"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A</a:t>
            </a:r>
            <a:endParaRPr lang="en-US" sz="900" dirty="0"/>
          </a:p>
        </p:txBody>
      </p:sp>
      <p:pic>
        <p:nvPicPr>
          <p:cNvPr id="63" name="Image 17" descr="preencoded.png"/>
          <p:cNvPicPr>
            <a:picLocks noChangeAspect="1"/>
          </p:cNvPicPr>
          <p:nvPr/>
        </p:nvPicPr>
        <p:blipFill>
          <a:blip r:embed="rId16"/>
          <a:srcRect t="-100" b="-100"/>
          <a:stretch/>
        </p:blipFill>
        <p:spPr>
          <a:xfrm>
            <a:off x="2463394" y="2657246"/>
            <a:ext cx="114300" cy="152705"/>
          </a:xfrm>
          <a:prstGeom prst="rect">
            <a:avLst/>
          </a:prstGeom>
        </p:spPr>
      </p:pic>
      <p:sp>
        <p:nvSpPr>
          <p:cNvPr id="64" name="Text 44"/>
          <p:cNvSpPr txBox="1"/>
          <p:nvPr/>
        </p:nvSpPr>
        <p:spPr>
          <a:xfrm>
            <a:off x="1769364" y="2924251"/>
            <a:ext cx="1300277"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情報キャプチャ機能</a:t>
            </a:r>
            <a:endParaRPr lang="en-US" sz="1000" dirty="0"/>
          </a:p>
        </p:txBody>
      </p:sp>
      <p:sp>
        <p:nvSpPr>
          <p:cNvPr id="65" name="Text 45"/>
          <p:cNvSpPr txBox="1"/>
          <p:nvPr/>
        </p:nvSpPr>
        <p:spPr>
          <a:xfrm>
            <a:off x="1453896" y="3143707"/>
            <a:ext cx="19248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音声・ログ・非構造化データの取得</a:t>
            </a:r>
            <a:endParaRPr lang="en-US" sz="900" dirty="0"/>
          </a:p>
        </p:txBody>
      </p:sp>
      <p:sp>
        <p:nvSpPr>
          <p:cNvPr id="66" name="Shape 46"/>
          <p:cNvSpPr/>
          <p:nvPr/>
        </p:nvSpPr>
        <p:spPr>
          <a:xfrm>
            <a:off x="4298594" y="2523744"/>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67" name="Shape 47"/>
          <p:cNvSpPr/>
          <p:nvPr/>
        </p:nvSpPr>
        <p:spPr>
          <a:xfrm>
            <a:off x="4298594" y="2523744"/>
            <a:ext cx="38405" cy="866851"/>
          </a:xfrm>
          <a:prstGeom prst="rect">
            <a:avLst/>
          </a:prstGeom>
          <a:solidFill>
            <a:srgbClr val="DC2626"/>
          </a:solidFill>
          <a:ln/>
        </p:spPr>
      </p:sp>
      <p:sp>
        <p:nvSpPr>
          <p:cNvPr id="68" name="Shape 48"/>
          <p:cNvSpPr/>
          <p:nvPr/>
        </p:nvSpPr>
        <p:spPr>
          <a:xfrm>
            <a:off x="5896051" y="2619756"/>
            <a:ext cx="228600" cy="228600"/>
          </a:xfrm>
          <a:prstGeom prst="roundRect">
            <a:avLst>
              <a:gd name="adj" fmla="val 400000"/>
            </a:avLst>
          </a:prstGeom>
          <a:solidFill>
            <a:srgbClr val="FEE2E2"/>
          </a:solidFill>
          <a:ln/>
        </p:spPr>
      </p:sp>
      <p:sp>
        <p:nvSpPr>
          <p:cNvPr id="69" name="Text 49"/>
          <p:cNvSpPr txBox="1"/>
          <p:nvPr/>
        </p:nvSpPr>
        <p:spPr>
          <a:xfrm>
            <a:off x="5971032" y="2657246"/>
            <a:ext cx="171907"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B</a:t>
            </a:r>
            <a:endParaRPr lang="en-US" sz="900" dirty="0"/>
          </a:p>
        </p:txBody>
      </p:sp>
      <p:pic>
        <p:nvPicPr>
          <p:cNvPr id="70" name="Image 18" descr="preencoded.png"/>
          <p:cNvPicPr>
            <a:picLocks noChangeAspect="1"/>
          </p:cNvPicPr>
          <p:nvPr/>
        </p:nvPicPr>
        <p:blipFill>
          <a:blip r:embed="rId17"/>
          <a:srcRect t="-43" b="-43"/>
          <a:stretch/>
        </p:blipFill>
        <p:spPr>
          <a:xfrm>
            <a:off x="6200546" y="2657246"/>
            <a:ext cx="133502" cy="152705"/>
          </a:xfrm>
          <a:prstGeom prst="rect">
            <a:avLst/>
          </a:prstGeom>
        </p:spPr>
      </p:pic>
      <p:sp>
        <p:nvSpPr>
          <p:cNvPr id="71" name="Text 50"/>
          <p:cNvSpPr txBox="1"/>
          <p:nvPr/>
        </p:nvSpPr>
        <p:spPr>
          <a:xfrm>
            <a:off x="5447995" y="2924251"/>
            <a:ext cx="1433779"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知識・データ蓄積機能</a:t>
            </a:r>
            <a:endParaRPr lang="en-US" sz="1000" dirty="0"/>
          </a:p>
        </p:txBody>
      </p:sp>
      <p:sp>
        <p:nvSpPr>
          <p:cNvPr id="72" name="Text 51"/>
          <p:cNvSpPr txBox="1"/>
          <p:nvPr/>
        </p:nvSpPr>
        <p:spPr>
          <a:xfrm>
            <a:off x="5372100" y="3143707"/>
            <a:ext cx="15819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構造化保存・メタデータ管理</a:t>
            </a:r>
            <a:endParaRPr lang="en-US" sz="900" dirty="0"/>
          </a:p>
        </p:txBody>
      </p:sp>
      <p:sp>
        <p:nvSpPr>
          <p:cNvPr id="73" name="Shape 52"/>
          <p:cNvSpPr/>
          <p:nvPr/>
        </p:nvSpPr>
        <p:spPr>
          <a:xfrm>
            <a:off x="8045806" y="2523744"/>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74" name="Shape 53"/>
          <p:cNvSpPr/>
          <p:nvPr/>
        </p:nvSpPr>
        <p:spPr>
          <a:xfrm>
            <a:off x="8045806" y="2523744"/>
            <a:ext cx="38405" cy="866851"/>
          </a:xfrm>
          <a:prstGeom prst="rect">
            <a:avLst/>
          </a:prstGeom>
          <a:solidFill>
            <a:srgbClr val="DC2626"/>
          </a:solidFill>
          <a:ln/>
        </p:spPr>
      </p:sp>
      <p:sp>
        <p:nvSpPr>
          <p:cNvPr id="75" name="Shape 54"/>
          <p:cNvSpPr/>
          <p:nvPr/>
        </p:nvSpPr>
        <p:spPr>
          <a:xfrm>
            <a:off x="9633204" y="2619756"/>
            <a:ext cx="228600" cy="228600"/>
          </a:xfrm>
          <a:prstGeom prst="roundRect">
            <a:avLst>
              <a:gd name="adj" fmla="val 400000"/>
            </a:avLst>
          </a:prstGeom>
          <a:solidFill>
            <a:srgbClr val="FEE2E2"/>
          </a:solidFill>
          <a:ln/>
        </p:spPr>
      </p:sp>
      <p:sp>
        <p:nvSpPr>
          <p:cNvPr id="76" name="Text 55"/>
          <p:cNvSpPr txBox="1"/>
          <p:nvPr/>
        </p:nvSpPr>
        <p:spPr>
          <a:xfrm>
            <a:off x="9710014" y="2657246"/>
            <a:ext cx="162763"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C</a:t>
            </a:r>
            <a:endParaRPr lang="en-US" sz="900" dirty="0"/>
          </a:p>
        </p:txBody>
      </p:sp>
      <p:pic>
        <p:nvPicPr>
          <p:cNvPr id="77" name="Image 19" descr="preencoded.png"/>
          <p:cNvPicPr>
            <a:picLocks noChangeAspect="1"/>
          </p:cNvPicPr>
          <p:nvPr/>
        </p:nvPicPr>
        <p:blipFill>
          <a:blip r:embed="rId18"/>
          <a:srcRect/>
          <a:stretch/>
        </p:blipFill>
        <p:spPr>
          <a:xfrm>
            <a:off x="9937699" y="2657246"/>
            <a:ext cx="152705" cy="152705"/>
          </a:xfrm>
          <a:prstGeom prst="rect">
            <a:avLst/>
          </a:prstGeom>
        </p:spPr>
      </p:pic>
      <p:sp>
        <p:nvSpPr>
          <p:cNvPr id="78" name="Text 56"/>
          <p:cNvSpPr txBox="1"/>
          <p:nvPr/>
        </p:nvSpPr>
        <p:spPr>
          <a:xfrm>
            <a:off x="9394546" y="2924251"/>
            <a:ext cx="1043330"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検索・RAG機能</a:t>
            </a:r>
            <a:endParaRPr lang="en-US" sz="1000" dirty="0"/>
          </a:p>
        </p:txBody>
      </p:sp>
      <p:sp>
        <p:nvSpPr>
          <p:cNvPr id="79" name="Text 57"/>
          <p:cNvSpPr txBox="1"/>
          <p:nvPr/>
        </p:nvSpPr>
        <p:spPr>
          <a:xfrm>
            <a:off x="9232697" y="3143707"/>
            <a:ext cx="1353312"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横断検索・ベクトル検索</a:t>
            </a:r>
            <a:endParaRPr lang="en-US" sz="900" dirty="0"/>
          </a:p>
        </p:txBody>
      </p:sp>
      <p:sp>
        <p:nvSpPr>
          <p:cNvPr id="80" name="Shape 58"/>
          <p:cNvSpPr/>
          <p:nvPr/>
        </p:nvSpPr>
        <p:spPr>
          <a:xfrm>
            <a:off x="552298" y="3543300"/>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81" name="Shape 59"/>
          <p:cNvSpPr/>
          <p:nvPr/>
        </p:nvSpPr>
        <p:spPr>
          <a:xfrm>
            <a:off x="552298" y="3543300"/>
            <a:ext cx="38405" cy="866851"/>
          </a:xfrm>
          <a:prstGeom prst="rect">
            <a:avLst/>
          </a:prstGeom>
          <a:solidFill>
            <a:srgbClr val="DC2626"/>
          </a:solidFill>
          <a:ln/>
        </p:spPr>
      </p:sp>
      <p:sp>
        <p:nvSpPr>
          <p:cNvPr id="82" name="Shape 60"/>
          <p:cNvSpPr/>
          <p:nvPr/>
        </p:nvSpPr>
        <p:spPr>
          <a:xfrm>
            <a:off x="2130552" y="3638398"/>
            <a:ext cx="228600" cy="228600"/>
          </a:xfrm>
          <a:prstGeom prst="roundRect">
            <a:avLst>
              <a:gd name="adj" fmla="val 400000"/>
            </a:avLst>
          </a:prstGeom>
          <a:solidFill>
            <a:srgbClr val="FEE2E2"/>
          </a:solidFill>
          <a:ln/>
        </p:spPr>
      </p:sp>
      <p:sp>
        <p:nvSpPr>
          <p:cNvPr id="83" name="Text 61"/>
          <p:cNvSpPr txBox="1"/>
          <p:nvPr/>
        </p:nvSpPr>
        <p:spPr>
          <a:xfrm>
            <a:off x="2203704" y="3676802"/>
            <a:ext cx="171907"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D</a:t>
            </a:r>
            <a:endParaRPr lang="en-US" sz="900" dirty="0"/>
          </a:p>
        </p:txBody>
      </p:sp>
      <p:pic>
        <p:nvPicPr>
          <p:cNvPr id="84" name="Image 20" descr="preencoded.png"/>
          <p:cNvPicPr>
            <a:picLocks noChangeAspect="1"/>
          </p:cNvPicPr>
          <p:nvPr/>
        </p:nvPicPr>
        <p:blipFill>
          <a:blip r:embed="rId19"/>
          <a:srcRect l="-33" r="-33"/>
          <a:stretch/>
        </p:blipFill>
        <p:spPr>
          <a:xfrm>
            <a:off x="2435047" y="3676802"/>
            <a:ext cx="171907" cy="152705"/>
          </a:xfrm>
          <a:prstGeom prst="rect">
            <a:avLst/>
          </a:prstGeom>
        </p:spPr>
      </p:pic>
      <p:sp>
        <p:nvSpPr>
          <p:cNvPr id="85" name="Text 62"/>
          <p:cNvSpPr txBox="1"/>
          <p:nvPr/>
        </p:nvSpPr>
        <p:spPr>
          <a:xfrm>
            <a:off x="1701698" y="3943807"/>
            <a:ext cx="1433779"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生成・要約・変換機能</a:t>
            </a:r>
            <a:endParaRPr lang="en-US" sz="1000" dirty="0"/>
          </a:p>
        </p:txBody>
      </p:sp>
      <p:sp>
        <p:nvSpPr>
          <p:cNvPr id="86" name="Text 63"/>
          <p:cNvSpPr txBox="1"/>
          <p:nvPr/>
        </p:nvSpPr>
        <p:spPr>
          <a:xfrm>
            <a:off x="1575511" y="4162349"/>
            <a:ext cx="1677010"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LLMによる生成・ドラフト作成</a:t>
            </a:r>
            <a:endParaRPr lang="en-US" sz="900" dirty="0"/>
          </a:p>
        </p:txBody>
      </p:sp>
      <p:sp>
        <p:nvSpPr>
          <p:cNvPr id="87" name="Shape 64"/>
          <p:cNvSpPr/>
          <p:nvPr/>
        </p:nvSpPr>
        <p:spPr>
          <a:xfrm>
            <a:off x="4298594" y="3543300"/>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88" name="Shape 65"/>
          <p:cNvSpPr/>
          <p:nvPr/>
        </p:nvSpPr>
        <p:spPr>
          <a:xfrm>
            <a:off x="4298594" y="3543300"/>
            <a:ext cx="38405" cy="866851"/>
          </a:xfrm>
          <a:prstGeom prst="rect">
            <a:avLst/>
          </a:prstGeom>
          <a:solidFill>
            <a:srgbClr val="DC2626"/>
          </a:solidFill>
          <a:ln/>
        </p:spPr>
      </p:sp>
      <p:sp>
        <p:nvSpPr>
          <p:cNvPr id="89" name="Shape 66"/>
          <p:cNvSpPr/>
          <p:nvPr/>
        </p:nvSpPr>
        <p:spPr>
          <a:xfrm>
            <a:off x="5876849" y="3638398"/>
            <a:ext cx="228600" cy="228600"/>
          </a:xfrm>
          <a:prstGeom prst="roundRect">
            <a:avLst>
              <a:gd name="adj" fmla="val 400000"/>
            </a:avLst>
          </a:prstGeom>
          <a:solidFill>
            <a:srgbClr val="FEE2E2"/>
          </a:solidFill>
          <a:ln/>
        </p:spPr>
      </p:sp>
      <p:sp>
        <p:nvSpPr>
          <p:cNvPr id="90" name="Text 67"/>
          <p:cNvSpPr txBox="1"/>
          <p:nvPr/>
        </p:nvSpPr>
        <p:spPr>
          <a:xfrm>
            <a:off x="5955487" y="3676802"/>
            <a:ext cx="162763"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E</a:t>
            </a:r>
            <a:endParaRPr lang="en-US" sz="900" dirty="0"/>
          </a:p>
        </p:txBody>
      </p:sp>
      <p:pic>
        <p:nvPicPr>
          <p:cNvPr id="91" name="Image 21" descr="preencoded.png"/>
          <p:cNvPicPr>
            <a:picLocks noChangeAspect="1"/>
          </p:cNvPicPr>
          <p:nvPr/>
        </p:nvPicPr>
        <p:blipFill>
          <a:blip r:embed="rId20"/>
          <a:srcRect l="-33" r="-33"/>
          <a:stretch/>
        </p:blipFill>
        <p:spPr>
          <a:xfrm>
            <a:off x="6181344" y="3676802"/>
            <a:ext cx="171907" cy="152705"/>
          </a:xfrm>
          <a:prstGeom prst="rect">
            <a:avLst/>
          </a:prstGeom>
        </p:spPr>
      </p:pic>
      <p:sp>
        <p:nvSpPr>
          <p:cNvPr id="92" name="Text 68"/>
          <p:cNvSpPr txBox="1"/>
          <p:nvPr/>
        </p:nvSpPr>
        <p:spPr>
          <a:xfrm>
            <a:off x="5316322" y="3943807"/>
            <a:ext cx="1700784"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タスク・ワークフロー機能</a:t>
            </a:r>
            <a:endParaRPr lang="en-US" sz="1000" dirty="0"/>
          </a:p>
        </p:txBody>
      </p:sp>
      <p:sp>
        <p:nvSpPr>
          <p:cNvPr id="93" name="Text 69"/>
          <p:cNvSpPr txBox="1"/>
          <p:nvPr/>
        </p:nvSpPr>
        <p:spPr>
          <a:xfrm>
            <a:off x="5374843" y="4162349"/>
            <a:ext cx="1571854"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アクション自動化・進捗管理</a:t>
            </a:r>
            <a:endParaRPr lang="en-US" sz="900" dirty="0"/>
          </a:p>
        </p:txBody>
      </p:sp>
      <p:sp>
        <p:nvSpPr>
          <p:cNvPr id="94" name="Shape 70"/>
          <p:cNvSpPr/>
          <p:nvPr/>
        </p:nvSpPr>
        <p:spPr>
          <a:xfrm>
            <a:off x="8045806" y="3543300"/>
            <a:ext cx="3600907" cy="866851"/>
          </a:xfrm>
          <a:prstGeom prst="roundRect">
            <a:avLst>
              <a:gd name="adj" fmla="val 6955"/>
            </a:avLst>
          </a:prstGeom>
          <a:solidFill>
            <a:srgbClr val="FFFFFF"/>
          </a:solidFill>
          <a:ln/>
          <a:effectLst>
            <a:outerShdw blurRad="25400" dist="12700" dir="5400000" algn="bl" rotWithShape="0">
              <a:srgbClr val="000000">
                <a:alpha val="10000"/>
              </a:srgbClr>
            </a:outerShdw>
          </a:effectLst>
        </p:spPr>
      </p:sp>
      <p:sp>
        <p:nvSpPr>
          <p:cNvPr id="95" name="Shape 71"/>
          <p:cNvSpPr/>
          <p:nvPr/>
        </p:nvSpPr>
        <p:spPr>
          <a:xfrm>
            <a:off x="8045806" y="3543300"/>
            <a:ext cx="38405" cy="866851"/>
          </a:xfrm>
          <a:prstGeom prst="rect">
            <a:avLst/>
          </a:prstGeom>
          <a:solidFill>
            <a:srgbClr val="DC2626"/>
          </a:solidFill>
          <a:ln/>
        </p:spPr>
      </p:sp>
      <p:sp>
        <p:nvSpPr>
          <p:cNvPr id="96" name="Shape 72"/>
          <p:cNvSpPr/>
          <p:nvPr/>
        </p:nvSpPr>
        <p:spPr>
          <a:xfrm>
            <a:off x="9642348" y="3638398"/>
            <a:ext cx="228600" cy="228600"/>
          </a:xfrm>
          <a:prstGeom prst="roundRect">
            <a:avLst>
              <a:gd name="adj" fmla="val 400000"/>
            </a:avLst>
          </a:prstGeom>
          <a:solidFill>
            <a:srgbClr val="FEE2E2"/>
          </a:solidFill>
          <a:ln/>
        </p:spPr>
      </p:sp>
      <p:sp>
        <p:nvSpPr>
          <p:cNvPr id="97" name="Text 73"/>
          <p:cNvSpPr txBox="1"/>
          <p:nvPr/>
        </p:nvSpPr>
        <p:spPr>
          <a:xfrm>
            <a:off x="9722815" y="3676802"/>
            <a:ext cx="162763"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F</a:t>
            </a:r>
            <a:endParaRPr lang="en-US" sz="900" dirty="0"/>
          </a:p>
        </p:txBody>
      </p:sp>
      <p:pic>
        <p:nvPicPr>
          <p:cNvPr id="98" name="Image 22" descr="preencoded.png"/>
          <p:cNvPicPr>
            <a:picLocks noChangeAspect="1"/>
          </p:cNvPicPr>
          <p:nvPr/>
        </p:nvPicPr>
        <p:blipFill>
          <a:blip r:embed="rId21"/>
          <a:srcRect t="-43" b="-43"/>
          <a:stretch/>
        </p:blipFill>
        <p:spPr>
          <a:xfrm>
            <a:off x="9946843" y="3676802"/>
            <a:ext cx="133502" cy="152705"/>
          </a:xfrm>
          <a:prstGeom prst="rect">
            <a:avLst/>
          </a:prstGeom>
        </p:spPr>
      </p:pic>
      <p:sp>
        <p:nvSpPr>
          <p:cNvPr id="99" name="Text 74"/>
          <p:cNvSpPr txBox="1"/>
          <p:nvPr/>
        </p:nvSpPr>
        <p:spPr>
          <a:xfrm>
            <a:off x="9327794" y="3943807"/>
            <a:ext cx="1167689" cy="191110"/>
          </a:xfrm>
          <a:prstGeom prst="rect">
            <a:avLst/>
          </a:prstGeom>
          <a:noFill/>
          <a:ln/>
        </p:spPr>
        <p:txBody>
          <a:bodyPr wrap="square" lIns="0" tIns="0" rIns="0" bIns="0" rtlCol="0" anchor="ctr"/>
          <a:lstStyle/>
          <a:p>
            <a:pPr marL="0" indent="0" algn="ctr">
              <a:buNone/>
            </a:pPr>
            <a:r>
              <a:rPr lang="en-US" sz="1000" b="1" dirty="0">
                <a:solidFill>
                  <a:srgbClr val="1F2937"/>
                </a:solidFill>
                <a:latin typeface="Noto Sans JP" pitchFamily="34" charset="0"/>
                <a:ea typeface="Noto Sans JP" pitchFamily="34" charset="-122"/>
                <a:cs typeface="Noto Sans JP" pitchFamily="34" charset="-120"/>
              </a:rPr>
              <a:t>モニタリング機能</a:t>
            </a:r>
            <a:endParaRPr lang="en-US" sz="1000" dirty="0"/>
          </a:p>
        </p:txBody>
      </p:sp>
      <p:sp>
        <p:nvSpPr>
          <p:cNvPr id="100" name="Text 75"/>
          <p:cNvSpPr txBox="1"/>
          <p:nvPr/>
        </p:nvSpPr>
        <p:spPr>
          <a:xfrm>
            <a:off x="9314078" y="4162349"/>
            <a:ext cx="1181405" cy="162763"/>
          </a:xfrm>
          <a:prstGeom prst="rect">
            <a:avLst/>
          </a:prstGeom>
          <a:noFill/>
          <a:ln/>
        </p:spPr>
        <p:txBody>
          <a:bodyPr wrap="square" lIns="0" tIns="0" rIns="0" bIns="0" rtlCol="0" anchor="ctr"/>
          <a:lstStyle/>
          <a:p>
            <a:pPr marL="0" indent="0" algn="ctr">
              <a:buNone/>
            </a:pPr>
            <a:r>
              <a:rPr lang="en-US" sz="900" dirty="0">
                <a:solidFill>
                  <a:srgbClr val="6B7280"/>
                </a:solidFill>
                <a:latin typeface="Noto Sans JP" pitchFamily="34" charset="0"/>
                <a:ea typeface="Noto Sans JP" pitchFamily="34" charset="-122"/>
                <a:cs typeface="Noto Sans JP" pitchFamily="34" charset="-120"/>
              </a:rPr>
              <a:t>利用状況・KPI可視化</a:t>
            </a:r>
            <a:endParaRPr lang="en-US" sz="900" dirty="0"/>
          </a:p>
        </p:txBody>
      </p:sp>
      <p:sp>
        <p:nvSpPr>
          <p:cNvPr id="101" name="Shape 76"/>
          <p:cNvSpPr/>
          <p:nvPr/>
        </p:nvSpPr>
        <p:spPr>
          <a:xfrm>
            <a:off x="552298" y="4562856"/>
            <a:ext cx="11087100" cy="647395"/>
          </a:xfrm>
          <a:prstGeom prst="roundRect">
            <a:avLst>
              <a:gd name="adj" fmla="val 12463"/>
            </a:avLst>
          </a:prstGeom>
          <a:solidFill>
            <a:srgbClr val="FFFFFF"/>
          </a:solidFill>
          <a:ln/>
          <a:effectLst>
            <a:outerShdw blurRad="25400" dist="12700" dir="5400000" algn="bl" rotWithShape="0">
              <a:srgbClr val="000000">
                <a:alpha val="10000"/>
              </a:srgbClr>
            </a:outerShdw>
          </a:effectLst>
        </p:spPr>
      </p:sp>
      <p:sp>
        <p:nvSpPr>
          <p:cNvPr id="102" name="Shape 77"/>
          <p:cNvSpPr/>
          <p:nvPr/>
        </p:nvSpPr>
        <p:spPr>
          <a:xfrm>
            <a:off x="552298" y="4562856"/>
            <a:ext cx="38405" cy="647395"/>
          </a:xfrm>
          <a:prstGeom prst="rect">
            <a:avLst/>
          </a:prstGeom>
          <a:solidFill>
            <a:srgbClr val="DC2626"/>
          </a:solidFill>
          <a:ln/>
        </p:spPr>
      </p:sp>
      <p:sp>
        <p:nvSpPr>
          <p:cNvPr id="103" name="Shape 78"/>
          <p:cNvSpPr/>
          <p:nvPr/>
        </p:nvSpPr>
        <p:spPr>
          <a:xfrm>
            <a:off x="5772607" y="4657954"/>
            <a:ext cx="228600" cy="228600"/>
          </a:xfrm>
          <a:prstGeom prst="roundRect">
            <a:avLst>
              <a:gd name="adj" fmla="val 400000"/>
            </a:avLst>
          </a:prstGeom>
          <a:solidFill>
            <a:srgbClr val="FEE2E2"/>
          </a:solidFill>
          <a:ln/>
        </p:spPr>
      </p:sp>
      <p:sp>
        <p:nvSpPr>
          <p:cNvPr id="104" name="Text 79"/>
          <p:cNvSpPr txBox="1"/>
          <p:nvPr/>
        </p:nvSpPr>
        <p:spPr>
          <a:xfrm>
            <a:off x="5845759" y="4695444"/>
            <a:ext cx="171907" cy="152705"/>
          </a:xfrm>
          <a:prstGeom prst="rect">
            <a:avLst/>
          </a:prstGeom>
          <a:noFill/>
          <a:ln/>
        </p:spPr>
        <p:txBody>
          <a:bodyPr wrap="square" lIns="0" tIns="0" rIns="0" bIns="0" rtlCol="0" anchor="ctr"/>
          <a:lstStyle/>
          <a:p>
            <a:pPr marL="0" indent="0" algn="ctr">
              <a:buNone/>
            </a:pPr>
            <a:r>
              <a:rPr lang="en-US" sz="900" b="1" dirty="0">
                <a:solidFill>
                  <a:srgbClr val="B91C1C"/>
                </a:solidFill>
                <a:latin typeface="Noto Sans JP" pitchFamily="34" charset="0"/>
                <a:ea typeface="Noto Sans JP" pitchFamily="34" charset="-122"/>
                <a:cs typeface="Noto Sans JP" pitchFamily="34" charset="-120"/>
              </a:rPr>
              <a:t>G</a:t>
            </a:r>
            <a:endParaRPr lang="en-US" sz="900" dirty="0"/>
          </a:p>
        </p:txBody>
      </p:sp>
      <p:pic>
        <p:nvPicPr>
          <p:cNvPr id="105" name="Image 23" descr="preencoded.png"/>
          <p:cNvPicPr>
            <a:picLocks noChangeAspect="1"/>
          </p:cNvPicPr>
          <p:nvPr/>
        </p:nvPicPr>
        <p:blipFill>
          <a:blip r:embed="rId22"/>
          <a:srcRect/>
          <a:stretch/>
        </p:blipFill>
        <p:spPr>
          <a:xfrm>
            <a:off x="6077102" y="4695444"/>
            <a:ext cx="152705" cy="152705"/>
          </a:xfrm>
          <a:prstGeom prst="rect">
            <a:avLst/>
          </a:prstGeom>
        </p:spPr>
      </p:pic>
      <p:sp>
        <p:nvSpPr>
          <p:cNvPr id="106" name="Text 80"/>
          <p:cNvSpPr txBox="1"/>
          <p:nvPr/>
        </p:nvSpPr>
        <p:spPr>
          <a:xfrm>
            <a:off x="4122115" y="4914900"/>
            <a:ext cx="1433779" cy="191110"/>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ガバナンス・権限機能</a:t>
            </a:r>
            <a:endParaRPr lang="en-US" sz="1000" dirty="0"/>
          </a:p>
        </p:txBody>
      </p:sp>
      <p:sp>
        <p:nvSpPr>
          <p:cNvPr id="107" name="Text 81"/>
          <p:cNvSpPr txBox="1"/>
          <p:nvPr/>
        </p:nvSpPr>
        <p:spPr>
          <a:xfrm>
            <a:off x="5605272" y="4934102"/>
            <a:ext cx="2591410"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アクセス制御・監査ログ・セキュリティポリシー</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381305" y="876910"/>
            <a:ext cx="11430000" cy="9144"/>
          </a:xfrm>
          <a:prstGeom prst="rect">
            <a:avLst/>
          </a:prstGeom>
          <a:solidFill>
            <a:srgbClr val="E5E7EB"/>
          </a:solidFill>
          <a:ln/>
        </p:spPr>
      </p:sp>
      <p:sp>
        <p:nvSpPr>
          <p:cNvPr id="5" name="Shape 3"/>
          <p:cNvSpPr/>
          <p:nvPr/>
        </p:nvSpPr>
        <p:spPr>
          <a:xfrm>
            <a:off x="381305" y="1114654"/>
            <a:ext cx="3715207" cy="2542946"/>
          </a:xfrm>
          <a:prstGeom prst="roundRect">
            <a:avLst>
              <a:gd name="adj" fmla="val 1077"/>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6" name="Shape 4"/>
          <p:cNvSpPr/>
          <p:nvPr/>
        </p:nvSpPr>
        <p:spPr>
          <a:xfrm>
            <a:off x="504749" y="1524305"/>
            <a:ext cx="3467405" cy="9144"/>
          </a:xfrm>
          <a:prstGeom prst="rect">
            <a:avLst/>
          </a:prstGeom>
          <a:solidFill>
            <a:srgbClr val="D1D5DB"/>
          </a:solidFill>
          <a:ln/>
        </p:spPr>
      </p:sp>
      <p:sp>
        <p:nvSpPr>
          <p:cNvPr id="7" name="Shape 5"/>
          <p:cNvSpPr/>
          <p:nvPr/>
        </p:nvSpPr>
        <p:spPr>
          <a:xfrm>
            <a:off x="504749" y="1238098"/>
            <a:ext cx="228600" cy="228600"/>
          </a:xfrm>
          <a:prstGeom prst="ellipse">
            <a:avLst/>
          </a:prstGeom>
          <a:solidFill>
            <a:srgbClr val="DC2626"/>
          </a:solidFill>
          <a:ln/>
        </p:spPr>
      </p:sp>
      <p:sp>
        <p:nvSpPr>
          <p:cNvPr id="8" name="Text 6"/>
          <p:cNvSpPr txBox="1"/>
          <p:nvPr/>
        </p:nvSpPr>
        <p:spPr>
          <a:xfrm>
            <a:off x="582473" y="1266444"/>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A</a:t>
            </a:r>
            <a:endParaRPr lang="en-US" sz="900" dirty="0"/>
          </a:p>
        </p:txBody>
      </p:sp>
      <p:pic>
        <p:nvPicPr>
          <p:cNvPr id="9" name="Image 0" descr="preencoded.png"/>
          <p:cNvPicPr>
            <a:picLocks noChangeAspect="1"/>
          </p:cNvPicPr>
          <p:nvPr/>
        </p:nvPicPr>
        <p:blipFill>
          <a:blip r:embed="rId3"/>
          <a:srcRect l="-1773" r="-1773"/>
          <a:stretch/>
        </p:blipFill>
        <p:spPr>
          <a:xfrm>
            <a:off x="3832250" y="1266444"/>
            <a:ext cx="133502" cy="171907"/>
          </a:xfrm>
          <a:prstGeom prst="rect">
            <a:avLst/>
          </a:prstGeom>
        </p:spPr>
      </p:pic>
      <p:pic>
        <p:nvPicPr>
          <p:cNvPr id="10" name="Image 1" descr="preencoded.png"/>
          <p:cNvPicPr>
            <a:picLocks noChangeAspect="1"/>
          </p:cNvPicPr>
          <p:nvPr/>
        </p:nvPicPr>
        <p:blipFill>
          <a:blip r:embed="rId4"/>
          <a:srcRect l="-5288" r="-5288"/>
          <a:stretch/>
        </p:blipFill>
        <p:spPr>
          <a:xfrm>
            <a:off x="504749" y="1698955"/>
            <a:ext cx="105156" cy="95098"/>
          </a:xfrm>
          <a:prstGeom prst="rect">
            <a:avLst/>
          </a:prstGeom>
        </p:spPr>
      </p:pic>
      <p:sp>
        <p:nvSpPr>
          <p:cNvPr id="11" name="Text 7"/>
          <p:cNvSpPr txBox="1"/>
          <p:nvPr/>
        </p:nvSpPr>
        <p:spPr>
          <a:xfrm>
            <a:off x="609905" y="1666951"/>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12" name="Image 2" descr="preencoded.png"/>
          <p:cNvPicPr>
            <a:picLocks noChangeAspect="1"/>
          </p:cNvPicPr>
          <p:nvPr/>
        </p:nvPicPr>
        <p:blipFill>
          <a:blip r:embed="rId5"/>
          <a:srcRect l="-6154" r="-6154"/>
          <a:stretch/>
        </p:blipFill>
        <p:spPr>
          <a:xfrm>
            <a:off x="504749" y="2789834"/>
            <a:ext cx="133502" cy="95098"/>
          </a:xfrm>
          <a:prstGeom prst="rect">
            <a:avLst/>
          </a:prstGeom>
        </p:spPr>
      </p:pic>
      <p:sp>
        <p:nvSpPr>
          <p:cNvPr id="13" name="Text 8"/>
          <p:cNvSpPr txBox="1"/>
          <p:nvPr/>
        </p:nvSpPr>
        <p:spPr>
          <a:xfrm>
            <a:off x="638251" y="2756916"/>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14" name="Shape 9"/>
          <p:cNvSpPr/>
          <p:nvPr/>
        </p:nvSpPr>
        <p:spPr>
          <a:xfrm>
            <a:off x="4241902" y="1114654"/>
            <a:ext cx="3715207" cy="2542946"/>
          </a:xfrm>
          <a:prstGeom prst="roundRect">
            <a:avLst>
              <a:gd name="adj" fmla="val 1077"/>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15" name="Shape 10"/>
          <p:cNvSpPr/>
          <p:nvPr/>
        </p:nvSpPr>
        <p:spPr>
          <a:xfrm>
            <a:off x="4365346" y="1524305"/>
            <a:ext cx="3467405" cy="9144"/>
          </a:xfrm>
          <a:prstGeom prst="rect">
            <a:avLst/>
          </a:prstGeom>
          <a:solidFill>
            <a:srgbClr val="D1D5DB"/>
          </a:solidFill>
          <a:ln/>
        </p:spPr>
      </p:sp>
      <p:sp>
        <p:nvSpPr>
          <p:cNvPr id="16" name="Shape 11"/>
          <p:cNvSpPr/>
          <p:nvPr/>
        </p:nvSpPr>
        <p:spPr>
          <a:xfrm>
            <a:off x="4365346" y="1238098"/>
            <a:ext cx="228600" cy="228600"/>
          </a:xfrm>
          <a:prstGeom prst="ellipse">
            <a:avLst/>
          </a:prstGeom>
          <a:solidFill>
            <a:srgbClr val="DC2626"/>
          </a:solidFill>
          <a:ln/>
        </p:spPr>
      </p:sp>
      <p:sp>
        <p:nvSpPr>
          <p:cNvPr id="17" name="Text 12"/>
          <p:cNvSpPr txBox="1"/>
          <p:nvPr/>
        </p:nvSpPr>
        <p:spPr>
          <a:xfrm>
            <a:off x="4441241" y="1266444"/>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B</a:t>
            </a:r>
            <a:endParaRPr lang="en-US" sz="900" dirty="0"/>
          </a:p>
        </p:txBody>
      </p:sp>
      <p:pic>
        <p:nvPicPr>
          <p:cNvPr id="18" name="Image 3" descr="preencoded.png"/>
          <p:cNvPicPr>
            <a:picLocks noChangeAspect="1"/>
          </p:cNvPicPr>
          <p:nvPr/>
        </p:nvPicPr>
        <p:blipFill>
          <a:blip r:embed="rId6"/>
          <a:srcRect l="-760" r="-760"/>
          <a:stretch/>
        </p:blipFill>
        <p:spPr>
          <a:xfrm>
            <a:off x="7673645" y="1266444"/>
            <a:ext cx="152705" cy="171907"/>
          </a:xfrm>
          <a:prstGeom prst="rect">
            <a:avLst/>
          </a:prstGeom>
        </p:spPr>
      </p:pic>
      <p:pic>
        <p:nvPicPr>
          <p:cNvPr id="19" name="Image 4" descr="preencoded.png"/>
          <p:cNvPicPr>
            <a:picLocks noChangeAspect="1"/>
          </p:cNvPicPr>
          <p:nvPr/>
        </p:nvPicPr>
        <p:blipFill>
          <a:blip r:embed="rId4"/>
          <a:srcRect l="-5288" r="-5288"/>
          <a:stretch/>
        </p:blipFill>
        <p:spPr>
          <a:xfrm>
            <a:off x="4365346" y="1698955"/>
            <a:ext cx="105156" cy="95098"/>
          </a:xfrm>
          <a:prstGeom prst="rect">
            <a:avLst/>
          </a:prstGeom>
        </p:spPr>
      </p:pic>
      <p:sp>
        <p:nvSpPr>
          <p:cNvPr id="20" name="Text 13"/>
          <p:cNvSpPr txBox="1"/>
          <p:nvPr/>
        </p:nvSpPr>
        <p:spPr>
          <a:xfrm>
            <a:off x="4470502" y="1666951"/>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21" name="Image 5" descr="preencoded.png"/>
          <p:cNvPicPr>
            <a:picLocks noChangeAspect="1"/>
          </p:cNvPicPr>
          <p:nvPr/>
        </p:nvPicPr>
        <p:blipFill>
          <a:blip r:embed="rId5"/>
          <a:srcRect l="-6154" r="-6154"/>
          <a:stretch/>
        </p:blipFill>
        <p:spPr>
          <a:xfrm>
            <a:off x="4365346" y="2599639"/>
            <a:ext cx="133502" cy="95098"/>
          </a:xfrm>
          <a:prstGeom prst="rect">
            <a:avLst/>
          </a:prstGeom>
        </p:spPr>
      </p:pic>
      <p:sp>
        <p:nvSpPr>
          <p:cNvPr id="22" name="Text 14"/>
          <p:cNvSpPr txBox="1"/>
          <p:nvPr/>
        </p:nvSpPr>
        <p:spPr>
          <a:xfrm>
            <a:off x="4498848" y="2567635"/>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23" name="Shape 15"/>
          <p:cNvSpPr/>
          <p:nvPr/>
        </p:nvSpPr>
        <p:spPr>
          <a:xfrm>
            <a:off x="8102498" y="1114654"/>
            <a:ext cx="3715207" cy="2542946"/>
          </a:xfrm>
          <a:prstGeom prst="roundRect">
            <a:avLst>
              <a:gd name="adj" fmla="val 1077"/>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24" name="Shape 16"/>
          <p:cNvSpPr/>
          <p:nvPr/>
        </p:nvSpPr>
        <p:spPr>
          <a:xfrm>
            <a:off x="8225942" y="1524305"/>
            <a:ext cx="3467405" cy="9144"/>
          </a:xfrm>
          <a:prstGeom prst="rect">
            <a:avLst/>
          </a:prstGeom>
          <a:solidFill>
            <a:srgbClr val="D1D5DB"/>
          </a:solidFill>
          <a:ln/>
        </p:spPr>
      </p:sp>
      <p:sp>
        <p:nvSpPr>
          <p:cNvPr id="25" name="Shape 17"/>
          <p:cNvSpPr/>
          <p:nvPr/>
        </p:nvSpPr>
        <p:spPr>
          <a:xfrm>
            <a:off x="8225942" y="1238098"/>
            <a:ext cx="228600" cy="228600"/>
          </a:xfrm>
          <a:prstGeom prst="ellipse">
            <a:avLst/>
          </a:prstGeom>
          <a:solidFill>
            <a:srgbClr val="DC2626"/>
          </a:solidFill>
          <a:ln/>
        </p:spPr>
      </p:sp>
      <p:sp>
        <p:nvSpPr>
          <p:cNvPr id="26" name="Text 18"/>
          <p:cNvSpPr txBox="1"/>
          <p:nvPr/>
        </p:nvSpPr>
        <p:spPr>
          <a:xfrm>
            <a:off x="8302752" y="1266444"/>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C</a:t>
            </a:r>
            <a:endParaRPr lang="en-US" sz="900" dirty="0"/>
          </a:p>
        </p:txBody>
      </p:sp>
      <p:pic>
        <p:nvPicPr>
          <p:cNvPr id="27" name="Image 6" descr="preencoded.png"/>
          <p:cNvPicPr>
            <a:picLocks noChangeAspect="1"/>
          </p:cNvPicPr>
          <p:nvPr/>
        </p:nvPicPr>
        <p:blipFill>
          <a:blip r:embed="rId7"/>
          <a:srcRect/>
          <a:stretch/>
        </p:blipFill>
        <p:spPr>
          <a:xfrm>
            <a:off x="11515954" y="1266444"/>
            <a:ext cx="171907" cy="171907"/>
          </a:xfrm>
          <a:prstGeom prst="rect">
            <a:avLst/>
          </a:prstGeom>
        </p:spPr>
      </p:pic>
      <p:pic>
        <p:nvPicPr>
          <p:cNvPr id="28" name="Image 7" descr="preencoded.png"/>
          <p:cNvPicPr>
            <a:picLocks noChangeAspect="1"/>
          </p:cNvPicPr>
          <p:nvPr/>
        </p:nvPicPr>
        <p:blipFill>
          <a:blip r:embed="rId4"/>
          <a:srcRect l="-5288" r="-5288"/>
          <a:stretch/>
        </p:blipFill>
        <p:spPr>
          <a:xfrm>
            <a:off x="8225942" y="1698955"/>
            <a:ext cx="105156" cy="95098"/>
          </a:xfrm>
          <a:prstGeom prst="rect">
            <a:avLst/>
          </a:prstGeom>
        </p:spPr>
      </p:pic>
      <p:sp>
        <p:nvSpPr>
          <p:cNvPr id="29" name="Text 19"/>
          <p:cNvSpPr txBox="1"/>
          <p:nvPr/>
        </p:nvSpPr>
        <p:spPr>
          <a:xfrm>
            <a:off x="8331098" y="1666951"/>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30" name="Image 8" descr="preencoded.png"/>
          <p:cNvPicPr>
            <a:picLocks noChangeAspect="1"/>
          </p:cNvPicPr>
          <p:nvPr/>
        </p:nvPicPr>
        <p:blipFill>
          <a:blip r:embed="rId5"/>
          <a:srcRect l="-6154" r="-6154"/>
          <a:stretch/>
        </p:blipFill>
        <p:spPr>
          <a:xfrm>
            <a:off x="8225942" y="2599639"/>
            <a:ext cx="133502" cy="95098"/>
          </a:xfrm>
          <a:prstGeom prst="rect">
            <a:avLst/>
          </a:prstGeom>
        </p:spPr>
      </p:pic>
      <p:sp>
        <p:nvSpPr>
          <p:cNvPr id="31" name="Text 20"/>
          <p:cNvSpPr txBox="1"/>
          <p:nvPr/>
        </p:nvSpPr>
        <p:spPr>
          <a:xfrm>
            <a:off x="8359445" y="2567635"/>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32" name="Shape 21"/>
          <p:cNvSpPr/>
          <p:nvPr/>
        </p:nvSpPr>
        <p:spPr>
          <a:xfrm>
            <a:off x="381305" y="3801161"/>
            <a:ext cx="3715207" cy="2352751"/>
          </a:xfrm>
          <a:prstGeom prst="roundRect">
            <a:avLst>
              <a:gd name="adj" fmla="val 1259"/>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33" name="Shape 22"/>
          <p:cNvSpPr/>
          <p:nvPr/>
        </p:nvSpPr>
        <p:spPr>
          <a:xfrm>
            <a:off x="504749" y="4210812"/>
            <a:ext cx="3467405" cy="9144"/>
          </a:xfrm>
          <a:prstGeom prst="rect">
            <a:avLst/>
          </a:prstGeom>
          <a:solidFill>
            <a:srgbClr val="D1D5DB"/>
          </a:solidFill>
          <a:ln/>
        </p:spPr>
      </p:sp>
      <p:sp>
        <p:nvSpPr>
          <p:cNvPr id="34" name="Shape 23"/>
          <p:cNvSpPr/>
          <p:nvPr/>
        </p:nvSpPr>
        <p:spPr>
          <a:xfrm>
            <a:off x="504749" y="3924605"/>
            <a:ext cx="228600" cy="228600"/>
          </a:xfrm>
          <a:prstGeom prst="ellipse">
            <a:avLst/>
          </a:prstGeom>
          <a:solidFill>
            <a:srgbClr val="DC2626"/>
          </a:solidFill>
          <a:ln/>
        </p:spPr>
      </p:sp>
      <p:sp>
        <p:nvSpPr>
          <p:cNvPr id="35" name="Text 24"/>
          <p:cNvSpPr txBox="1"/>
          <p:nvPr/>
        </p:nvSpPr>
        <p:spPr>
          <a:xfrm>
            <a:off x="577901" y="3952951"/>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D</a:t>
            </a:r>
            <a:endParaRPr lang="en-US" sz="900" dirty="0"/>
          </a:p>
        </p:txBody>
      </p:sp>
      <p:pic>
        <p:nvPicPr>
          <p:cNvPr id="36" name="Image 9" descr="preencoded.png"/>
          <p:cNvPicPr>
            <a:picLocks noChangeAspect="1"/>
          </p:cNvPicPr>
          <p:nvPr/>
        </p:nvPicPr>
        <p:blipFill>
          <a:blip r:embed="rId8"/>
          <a:srcRect t="-842" b="-842"/>
          <a:stretch/>
        </p:blipFill>
        <p:spPr>
          <a:xfrm>
            <a:off x="3774643" y="3952951"/>
            <a:ext cx="190195" cy="171907"/>
          </a:xfrm>
          <a:prstGeom prst="rect">
            <a:avLst/>
          </a:prstGeom>
        </p:spPr>
      </p:pic>
      <p:pic>
        <p:nvPicPr>
          <p:cNvPr id="37" name="Image 10" descr="preencoded.png"/>
          <p:cNvPicPr>
            <a:picLocks noChangeAspect="1"/>
          </p:cNvPicPr>
          <p:nvPr/>
        </p:nvPicPr>
        <p:blipFill>
          <a:blip r:embed="rId4"/>
          <a:srcRect l="-5288" r="-5288"/>
          <a:stretch/>
        </p:blipFill>
        <p:spPr>
          <a:xfrm>
            <a:off x="504749" y="4385462"/>
            <a:ext cx="105156" cy="95098"/>
          </a:xfrm>
          <a:prstGeom prst="rect">
            <a:avLst/>
          </a:prstGeom>
        </p:spPr>
      </p:pic>
      <p:sp>
        <p:nvSpPr>
          <p:cNvPr id="38" name="Text 25"/>
          <p:cNvSpPr txBox="1"/>
          <p:nvPr/>
        </p:nvSpPr>
        <p:spPr>
          <a:xfrm>
            <a:off x="609905" y="4353458"/>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39" name="Image 11" descr="preencoded.png"/>
          <p:cNvPicPr>
            <a:picLocks noChangeAspect="1"/>
          </p:cNvPicPr>
          <p:nvPr/>
        </p:nvPicPr>
        <p:blipFill>
          <a:blip r:embed="rId5"/>
          <a:srcRect l="-6154" r="-6154"/>
          <a:stretch/>
        </p:blipFill>
        <p:spPr>
          <a:xfrm>
            <a:off x="504749" y="5286146"/>
            <a:ext cx="133502" cy="95098"/>
          </a:xfrm>
          <a:prstGeom prst="rect">
            <a:avLst/>
          </a:prstGeom>
        </p:spPr>
      </p:pic>
      <p:sp>
        <p:nvSpPr>
          <p:cNvPr id="40" name="Text 26"/>
          <p:cNvSpPr txBox="1"/>
          <p:nvPr/>
        </p:nvSpPr>
        <p:spPr>
          <a:xfrm>
            <a:off x="638251" y="5254142"/>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41" name="Shape 27"/>
          <p:cNvSpPr/>
          <p:nvPr/>
        </p:nvSpPr>
        <p:spPr>
          <a:xfrm>
            <a:off x="4241902" y="3801161"/>
            <a:ext cx="3715207" cy="2352751"/>
          </a:xfrm>
          <a:prstGeom prst="roundRect">
            <a:avLst>
              <a:gd name="adj" fmla="val 1259"/>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42" name="Shape 28"/>
          <p:cNvSpPr/>
          <p:nvPr/>
        </p:nvSpPr>
        <p:spPr>
          <a:xfrm>
            <a:off x="4365346" y="4210812"/>
            <a:ext cx="3467405" cy="9144"/>
          </a:xfrm>
          <a:prstGeom prst="rect">
            <a:avLst/>
          </a:prstGeom>
          <a:solidFill>
            <a:srgbClr val="D1D5DB"/>
          </a:solidFill>
          <a:ln/>
        </p:spPr>
      </p:sp>
      <p:sp>
        <p:nvSpPr>
          <p:cNvPr id="43" name="Shape 29"/>
          <p:cNvSpPr/>
          <p:nvPr/>
        </p:nvSpPr>
        <p:spPr>
          <a:xfrm>
            <a:off x="4365346" y="3924605"/>
            <a:ext cx="228600" cy="228600"/>
          </a:xfrm>
          <a:prstGeom prst="ellipse">
            <a:avLst/>
          </a:prstGeom>
          <a:solidFill>
            <a:srgbClr val="DC2626"/>
          </a:solidFill>
          <a:ln/>
        </p:spPr>
      </p:sp>
      <p:sp>
        <p:nvSpPr>
          <p:cNvPr id="44" name="Text 30"/>
          <p:cNvSpPr txBox="1"/>
          <p:nvPr/>
        </p:nvSpPr>
        <p:spPr>
          <a:xfrm>
            <a:off x="4444898" y="3952951"/>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E</a:t>
            </a:r>
            <a:endParaRPr lang="en-US" sz="900" dirty="0"/>
          </a:p>
        </p:txBody>
      </p:sp>
      <p:pic>
        <p:nvPicPr>
          <p:cNvPr id="45" name="Image 12" descr="preencoded.png"/>
          <p:cNvPicPr>
            <a:picLocks noChangeAspect="1"/>
          </p:cNvPicPr>
          <p:nvPr/>
        </p:nvPicPr>
        <p:blipFill>
          <a:blip r:embed="rId9"/>
          <a:srcRect t="-842" b="-842"/>
          <a:stretch/>
        </p:blipFill>
        <p:spPr>
          <a:xfrm>
            <a:off x="7636154" y="3952951"/>
            <a:ext cx="190195" cy="171907"/>
          </a:xfrm>
          <a:prstGeom prst="rect">
            <a:avLst/>
          </a:prstGeom>
        </p:spPr>
      </p:pic>
      <p:pic>
        <p:nvPicPr>
          <p:cNvPr id="46" name="Image 13" descr="preencoded.png"/>
          <p:cNvPicPr>
            <a:picLocks noChangeAspect="1"/>
          </p:cNvPicPr>
          <p:nvPr/>
        </p:nvPicPr>
        <p:blipFill>
          <a:blip r:embed="rId4"/>
          <a:srcRect l="-5288" r="-5288"/>
          <a:stretch/>
        </p:blipFill>
        <p:spPr>
          <a:xfrm>
            <a:off x="4365346" y="4385462"/>
            <a:ext cx="105156" cy="95098"/>
          </a:xfrm>
          <a:prstGeom prst="rect">
            <a:avLst/>
          </a:prstGeom>
        </p:spPr>
      </p:pic>
      <p:sp>
        <p:nvSpPr>
          <p:cNvPr id="47" name="Text 31"/>
          <p:cNvSpPr txBox="1"/>
          <p:nvPr/>
        </p:nvSpPr>
        <p:spPr>
          <a:xfrm>
            <a:off x="4470502" y="4353458"/>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48" name="Image 14" descr="preencoded.png"/>
          <p:cNvPicPr>
            <a:picLocks noChangeAspect="1"/>
          </p:cNvPicPr>
          <p:nvPr/>
        </p:nvPicPr>
        <p:blipFill>
          <a:blip r:embed="rId5"/>
          <a:srcRect l="-6154" r="-6154"/>
          <a:stretch/>
        </p:blipFill>
        <p:spPr>
          <a:xfrm>
            <a:off x="4365346" y="5286146"/>
            <a:ext cx="133502" cy="95098"/>
          </a:xfrm>
          <a:prstGeom prst="rect">
            <a:avLst/>
          </a:prstGeom>
        </p:spPr>
      </p:pic>
      <p:sp>
        <p:nvSpPr>
          <p:cNvPr id="49" name="Text 32"/>
          <p:cNvSpPr txBox="1"/>
          <p:nvPr/>
        </p:nvSpPr>
        <p:spPr>
          <a:xfrm>
            <a:off x="4498848" y="5254142"/>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50" name="Shape 33"/>
          <p:cNvSpPr/>
          <p:nvPr/>
        </p:nvSpPr>
        <p:spPr>
          <a:xfrm>
            <a:off x="8102498" y="3801161"/>
            <a:ext cx="3715207" cy="2352751"/>
          </a:xfrm>
          <a:prstGeom prst="roundRect">
            <a:avLst>
              <a:gd name="adj" fmla="val 1259"/>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51" name="Shape 34"/>
          <p:cNvSpPr/>
          <p:nvPr/>
        </p:nvSpPr>
        <p:spPr>
          <a:xfrm>
            <a:off x="8225942" y="4210812"/>
            <a:ext cx="3467405" cy="9144"/>
          </a:xfrm>
          <a:prstGeom prst="rect">
            <a:avLst/>
          </a:prstGeom>
          <a:solidFill>
            <a:srgbClr val="D1D5DB"/>
          </a:solidFill>
          <a:ln/>
        </p:spPr>
      </p:sp>
      <p:sp>
        <p:nvSpPr>
          <p:cNvPr id="52" name="Shape 35"/>
          <p:cNvSpPr/>
          <p:nvPr/>
        </p:nvSpPr>
        <p:spPr>
          <a:xfrm>
            <a:off x="8225942" y="3924605"/>
            <a:ext cx="228600" cy="228600"/>
          </a:xfrm>
          <a:prstGeom prst="ellipse">
            <a:avLst/>
          </a:prstGeom>
          <a:solidFill>
            <a:srgbClr val="DC2626"/>
          </a:solidFill>
          <a:ln/>
        </p:spPr>
      </p:sp>
      <p:sp>
        <p:nvSpPr>
          <p:cNvPr id="53" name="Text 36"/>
          <p:cNvSpPr txBox="1"/>
          <p:nvPr/>
        </p:nvSpPr>
        <p:spPr>
          <a:xfrm>
            <a:off x="8307324" y="3952951"/>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F</a:t>
            </a:r>
            <a:endParaRPr lang="en-US" sz="900" dirty="0"/>
          </a:p>
        </p:txBody>
      </p:sp>
      <p:pic>
        <p:nvPicPr>
          <p:cNvPr id="54" name="Image 15" descr="preencoded.png"/>
          <p:cNvPicPr>
            <a:picLocks noChangeAspect="1"/>
          </p:cNvPicPr>
          <p:nvPr/>
        </p:nvPicPr>
        <p:blipFill>
          <a:blip r:embed="rId10"/>
          <a:srcRect/>
          <a:stretch/>
        </p:blipFill>
        <p:spPr>
          <a:xfrm>
            <a:off x="11515954" y="3952951"/>
            <a:ext cx="171907" cy="171907"/>
          </a:xfrm>
          <a:prstGeom prst="rect">
            <a:avLst/>
          </a:prstGeom>
        </p:spPr>
      </p:pic>
      <p:pic>
        <p:nvPicPr>
          <p:cNvPr id="55" name="Image 16" descr="preencoded.png"/>
          <p:cNvPicPr>
            <a:picLocks noChangeAspect="1"/>
          </p:cNvPicPr>
          <p:nvPr/>
        </p:nvPicPr>
        <p:blipFill>
          <a:blip r:embed="rId4"/>
          <a:srcRect l="-5288" r="-5288"/>
          <a:stretch/>
        </p:blipFill>
        <p:spPr>
          <a:xfrm>
            <a:off x="8225942" y="4385462"/>
            <a:ext cx="105156" cy="95098"/>
          </a:xfrm>
          <a:prstGeom prst="rect">
            <a:avLst/>
          </a:prstGeom>
        </p:spPr>
      </p:pic>
      <p:sp>
        <p:nvSpPr>
          <p:cNvPr id="56" name="Text 37"/>
          <p:cNvSpPr txBox="1"/>
          <p:nvPr/>
        </p:nvSpPr>
        <p:spPr>
          <a:xfrm>
            <a:off x="8331098" y="4353458"/>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57" name="Image 17" descr="preencoded.png"/>
          <p:cNvPicPr>
            <a:picLocks noChangeAspect="1"/>
          </p:cNvPicPr>
          <p:nvPr/>
        </p:nvPicPr>
        <p:blipFill>
          <a:blip r:embed="rId5"/>
          <a:srcRect l="-6154" r="-6154"/>
          <a:stretch/>
        </p:blipFill>
        <p:spPr>
          <a:xfrm>
            <a:off x="8225942" y="5096866"/>
            <a:ext cx="133502" cy="95098"/>
          </a:xfrm>
          <a:prstGeom prst="rect">
            <a:avLst/>
          </a:prstGeom>
        </p:spPr>
      </p:pic>
      <p:sp>
        <p:nvSpPr>
          <p:cNvPr id="58" name="Text 38"/>
          <p:cNvSpPr txBox="1"/>
          <p:nvPr/>
        </p:nvSpPr>
        <p:spPr>
          <a:xfrm>
            <a:off x="8359445" y="5063947"/>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59" name="Shape 39"/>
          <p:cNvSpPr/>
          <p:nvPr/>
        </p:nvSpPr>
        <p:spPr>
          <a:xfrm>
            <a:off x="381305" y="6297473"/>
            <a:ext cx="11430000" cy="1772107"/>
          </a:xfrm>
          <a:prstGeom prst="roundRect">
            <a:avLst>
              <a:gd name="adj" fmla="val 2219"/>
            </a:avLst>
          </a:prstGeom>
          <a:solidFill>
            <a:srgbClr val="F9FAFB"/>
          </a:solidFill>
          <a:ln w="12700">
            <a:solidFill>
              <a:srgbClr val="E5E7EB"/>
            </a:solidFill>
            <a:prstDash val="solid"/>
          </a:ln>
          <a:effectLst>
            <a:outerShdw blurRad="25400" dist="12700" dir="5400000" algn="bl" rotWithShape="0">
              <a:srgbClr val="000000">
                <a:alpha val="5000"/>
              </a:srgbClr>
            </a:outerShdw>
          </a:effectLst>
        </p:spPr>
      </p:sp>
      <p:sp>
        <p:nvSpPr>
          <p:cNvPr id="60" name="Shape 40"/>
          <p:cNvSpPr/>
          <p:nvPr/>
        </p:nvSpPr>
        <p:spPr>
          <a:xfrm>
            <a:off x="7001561" y="6421831"/>
            <a:ext cx="9144" cy="657454"/>
          </a:xfrm>
          <a:prstGeom prst="rect">
            <a:avLst/>
          </a:prstGeom>
          <a:solidFill>
            <a:srgbClr val="E5E7EB"/>
          </a:solidFill>
          <a:ln/>
        </p:spPr>
      </p:sp>
      <p:sp>
        <p:nvSpPr>
          <p:cNvPr id="61" name="Shape 41"/>
          <p:cNvSpPr/>
          <p:nvPr/>
        </p:nvSpPr>
        <p:spPr>
          <a:xfrm>
            <a:off x="5710428" y="6421831"/>
            <a:ext cx="228600" cy="228600"/>
          </a:xfrm>
          <a:prstGeom prst="ellipse">
            <a:avLst/>
          </a:prstGeom>
          <a:solidFill>
            <a:srgbClr val="DC2626"/>
          </a:solidFill>
          <a:ln/>
        </p:spPr>
      </p:sp>
      <p:sp>
        <p:nvSpPr>
          <p:cNvPr id="62" name="Text 42"/>
          <p:cNvSpPr txBox="1"/>
          <p:nvPr/>
        </p:nvSpPr>
        <p:spPr>
          <a:xfrm>
            <a:off x="5783580" y="6402629"/>
            <a:ext cx="171907" cy="267005"/>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G</a:t>
            </a:r>
            <a:endParaRPr lang="en-US" sz="900" dirty="0"/>
          </a:p>
        </p:txBody>
      </p:sp>
      <p:pic>
        <p:nvPicPr>
          <p:cNvPr id="63" name="Image 18" descr="preencoded.png"/>
          <p:cNvPicPr>
            <a:picLocks noChangeAspect="1"/>
          </p:cNvPicPr>
          <p:nvPr/>
        </p:nvPicPr>
        <p:blipFill>
          <a:blip r:embed="rId11"/>
          <a:srcRect/>
          <a:stretch/>
        </p:blipFill>
        <p:spPr>
          <a:xfrm>
            <a:off x="6014923" y="6421831"/>
            <a:ext cx="228600" cy="228600"/>
          </a:xfrm>
          <a:prstGeom prst="rect">
            <a:avLst/>
          </a:prstGeom>
        </p:spPr>
      </p:pic>
      <p:pic>
        <p:nvPicPr>
          <p:cNvPr id="64" name="Image 19" descr="preencoded.png"/>
          <p:cNvPicPr>
            <a:picLocks noChangeAspect="1"/>
          </p:cNvPicPr>
          <p:nvPr/>
        </p:nvPicPr>
        <p:blipFill>
          <a:blip r:embed="rId4"/>
          <a:srcRect l="-5288" r="-5288"/>
          <a:stretch/>
        </p:blipFill>
        <p:spPr>
          <a:xfrm>
            <a:off x="3189427" y="7392010"/>
            <a:ext cx="105156" cy="95098"/>
          </a:xfrm>
          <a:prstGeom prst="rect">
            <a:avLst/>
          </a:prstGeom>
        </p:spPr>
      </p:pic>
      <p:sp>
        <p:nvSpPr>
          <p:cNvPr id="65" name="Text 43"/>
          <p:cNvSpPr txBox="1"/>
          <p:nvPr/>
        </p:nvSpPr>
        <p:spPr>
          <a:xfrm>
            <a:off x="3294583" y="7359091"/>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機能要件</a:t>
            </a:r>
            <a:endParaRPr lang="en-US" sz="800" dirty="0"/>
          </a:p>
        </p:txBody>
      </p:sp>
      <p:pic>
        <p:nvPicPr>
          <p:cNvPr id="66" name="Image 20" descr="preencoded.png"/>
          <p:cNvPicPr>
            <a:picLocks noChangeAspect="1"/>
          </p:cNvPicPr>
          <p:nvPr/>
        </p:nvPicPr>
        <p:blipFill>
          <a:blip r:embed="rId5"/>
          <a:srcRect l="-6154" r="-6154"/>
          <a:stretch/>
        </p:blipFill>
        <p:spPr>
          <a:xfrm>
            <a:off x="6248095" y="7392010"/>
            <a:ext cx="133502" cy="95098"/>
          </a:xfrm>
          <a:prstGeom prst="rect">
            <a:avLst/>
          </a:prstGeom>
        </p:spPr>
      </p:pic>
      <p:sp>
        <p:nvSpPr>
          <p:cNvPr id="67" name="Text 44"/>
          <p:cNvSpPr txBox="1"/>
          <p:nvPr/>
        </p:nvSpPr>
        <p:spPr>
          <a:xfrm>
            <a:off x="6381598" y="7359091"/>
            <a:ext cx="528523" cy="162763"/>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実装要件</a:t>
            </a:r>
            <a:endParaRPr lang="en-US" sz="800" dirty="0"/>
          </a:p>
        </p:txBody>
      </p:sp>
      <p:sp>
        <p:nvSpPr>
          <p:cNvPr id="68" name="Text 45"/>
          <p:cNvSpPr txBox="1"/>
          <p:nvPr/>
        </p:nvSpPr>
        <p:spPr>
          <a:xfrm>
            <a:off x="381305" y="190195"/>
            <a:ext cx="3357677" cy="419710"/>
          </a:xfrm>
          <a:prstGeom prst="rect">
            <a:avLst/>
          </a:prstGeom>
          <a:noFill/>
          <a:ln/>
        </p:spPr>
        <p:txBody>
          <a:bodyPr wrap="square" lIns="0" tIns="0" rIns="0" bIns="0" rtlCol="0" anchor="ctr"/>
          <a:lstStyle/>
          <a:p>
            <a:pPr marL="0" indent="0" algn="l">
              <a:buNone/>
            </a:pPr>
            <a:r>
              <a:rPr lang="en-US" sz="2200" b="1" dirty="0">
                <a:solidFill>
                  <a:srgbClr val="1F2937"/>
                </a:solidFill>
                <a:latin typeface="Noto Sans JP" pitchFamily="34" charset="0"/>
                <a:ea typeface="Noto Sans JP" pitchFamily="34" charset="-122"/>
                <a:cs typeface="Noto Sans JP" pitchFamily="34" charset="-120"/>
              </a:rPr>
              <a:t>機能コンポーネント詳細</a:t>
            </a:r>
            <a:endParaRPr lang="en-US" sz="2200" dirty="0"/>
          </a:p>
        </p:txBody>
      </p:sp>
      <p:sp>
        <p:nvSpPr>
          <p:cNvPr id="69" name="Text 46"/>
          <p:cNvSpPr txBox="1"/>
          <p:nvPr/>
        </p:nvSpPr>
        <p:spPr>
          <a:xfrm>
            <a:off x="381305" y="609905"/>
            <a:ext cx="4301338"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AI活用基盤を構成する7つの主要コンポーネントの機能要件と実装要件</a:t>
            </a:r>
            <a:endParaRPr lang="en-US" sz="1000" dirty="0"/>
          </a:p>
        </p:txBody>
      </p:sp>
      <p:sp>
        <p:nvSpPr>
          <p:cNvPr id="70" name="Text 47"/>
          <p:cNvSpPr txBox="1"/>
          <p:nvPr/>
        </p:nvSpPr>
        <p:spPr>
          <a:xfrm>
            <a:off x="809244" y="1246327"/>
            <a:ext cx="1413662"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情報キャプチャ機能</a:t>
            </a:r>
            <a:endParaRPr lang="en-US" sz="1100" dirty="0"/>
          </a:p>
        </p:txBody>
      </p:sp>
      <p:sp>
        <p:nvSpPr>
          <p:cNvPr id="71" name="Text 48"/>
          <p:cNvSpPr txBox="1"/>
          <p:nvPr/>
        </p:nvSpPr>
        <p:spPr>
          <a:xfrm>
            <a:off x="4670755" y="1246327"/>
            <a:ext cx="1557223"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知識・データ蓄積機能</a:t>
            </a:r>
            <a:endParaRPr lang="en-US" sz="1100" dirty="0"/>
          </a:p>
        </p:txBody>
      </p:sp>
      <p:sp>
        <p:nvSpPr>
          <p:cNvPr id="72" name="Text 49"/>
          <p:cNvSpPr txBox="1"/>
          <p:nvPr/>
        </p:nvSpPr>
        <p:spPr>
          <a:xfrm>
            <a:off x="8531352" y="1246327"/>
            <a:ext cx="1128370"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検索・RAG機能</a:t>
            </a:r>
            <a:endParaRPr lang="en-US" sz="1100" dirty="0"/>
          </a:p>
        </p:txBody>
      </p:sp>
      <p:sp>
        <p:nvSpPr>
          <p:cNvPr id="73" name="Text 50"/>
          <p:cNvSpPr txBox="1"/>
          <p:nvPr/>
        </p:nvSpPr>
        <p:spPr>
          <a:xfrm>
            <a:off x="809244" y="3932834"/>
            <a:ext cx="1557223"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生成・要約・変換機能</a:t>
            </a:r>
            <a:endParaRPr lang="en-US" sz="1100" dirty="0"/>
          </a:p>
        </p:txBody>
      </p:sp>
      <p:sp>
        <p:nvSpPr>
          <p:cNvPr id="74" name="Text 51"/>
          <p:cNvSpPr txBox="1"/>
          <p:nvPr/>
        </p:nvSpPr>
        <p:spPr>
          <a:xfrm>
            <a:off x="4670755" y="3932834"/>
            <a:ext cx="1842516"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タスク・ワークフロー機能</a:t>
            </a:r>
            <a:endParaRPr lang="en-US" sz="1100" dirty="0"/>
          </a:p>
        </p:txBody>
      </p:sp>
      <p:sp>
        <p:nvSpPr>
          <p:cNvPr id="75" name="Text 52"/>
          <p:cNvSpPr txBox="1"/>
          <p:nvPr/>
        </p:nvSpPr>
        <p:spPr>
          <a:xfrm>
            <a:off x="8531352" y="3932834"/>
            <a:ext cx="1271016" cy="210312"/>
          </a:xfrm>
          <a:prstGeom prst="rect">
            <a:avLst/>
          </a:prstGeom>
          <a:noFill/>
          <a:ln/>
        </p:spPr>
        <p:txBody>
          <a:bodyPr wrap="square" lIns="0" tIns="0" rIns="0" bIns="0" rtlCol="0" anchor="ctr"/>
          <a:lstStyle/>
          <a:p>
            <a:pPr marL="0" indent="0" algn="l">
              <a:buNone/>
            </a:pPr>
            <a:r>
              <a:rPr lang="en-US" sz="1100" b="1" dirty="0">
                <a:solidFill>
                  <a:srgbClr val="1F2937"/>
                </a:solidFill>
                <a:latin typeface="Noto Sans JP" pitchFamily="34" charset="0"/>
                <a:ea typeface="Noto Sans JP" pitchFamily="34" charset="-122"/>
                <a:cs typeface="Noto Sans JP" pitchFamily="34" charset="-120"/>
              </a:rPr>
              <a:t>モニタリング機能</a:t>
            </a:r>
            <a:endParaRPr lang="en-US" sz="1100" dirty="0"/>
          </a:p>
        </p:txBody>
      </p:sp>
      <p:sp>
        <p:nvSpPr>
          <p:cNvPr id="76" name="Text 53"/>
          <p:cNvSpPr txBox="1"/>
          <p:nvPr/>
        </p:nvSpPr>
        <p:spPr>
          <a:xfrm>
            <a:off x="5616245" y="6707124"/>
            <a:ext cx="833018" cy="210312"/>
          </a:xfrm>
          <a:prstGeom prst="rect">
            <a:avLst/>
          </a:prstGeom>
          <a:noFill/>
          <a:ln/>
        </p:spPr>
        <p:txBody>
          <a:bodyPr wrap="square" lIns="0" tIns="0" rIns="0" bIns="0" rtlCol="0" anchor="ctr"/>
          <a:lstStyle/>
          <a:p>
            <a:pPr marL="0" indent="0" algn="ctr">
              <a:buNone/>
            </a:pPr>
            <a:r>
              <a:rPr lang="en-US" sz="1100" b="1" dirty="0">
                <a:solidFill>
                  <a:srgbClr val="1F2937"/>
                </a:solidFill>
                <a:latin typeface="Noto Sans JP" pitchFamily="34" charset="0"/>
                <a:ea typeface="Noto Sans JP" pitchFamily="34" charset="-122"/>
                <a:cs typeface="Noto Sans JP" pitchFamily="34" charset="-120"/>
              </a:rPr>
              <a:t>ガバナンス</a:t>
            </a:r>
            <a:endParaRPr lang="en-US" sz="1100" dirty="0"/>
          </a:p>
        </p:txBody>
      </p:sp>
      <p:sp>
        <p:nvSpPr>
          <p:cNvPr id="77" name="Text 54"/>
          <p:cNvSpPr txBox="1"/>
          <p:nvPr/>
        </p:nvSpPr>
        <p:spPr>
          <a:xfrm>
            <a:off x="5470855" y="6880860"/>
            <a:ext cx="1128370" cy="210312"/>
          </a:xfrm>
          <a:prstGeom prst="rect">
            <a:avLst/>
          </a:prstGeom>
          <a:noFill/>
          <a:ln/>
        </p:spPr>
        <p:txBody>
          <a:bodyPr wrap="square" lIns="0" tIns="0" rIns="0" bIns="0" rtlCol="0" anchor="ctr"/>
          <a:lstStyle/>
          <a:p>
            <a:pPr marL="0" indent="0" algn="ctr">
              <a:buNone/>
            </a:pPr>
            <a:r>
              <a:rPr lang="en-US" sz="1100" b="1" dirty="0">
                <a:solidFill>
                  <a:srgbClr val="1F2937"/>
                </a:solidFill>
                <a:latin typeface="Noto Sans JP" pitchFamily="34" charset="0"/>
                <a:ea typeface="Noto Sans JP" pitchFamily="34" charset="-122"/>
                <a:cs typeface="Noto Sans JP" pitchFamily="34" charset="-120"/>
              </a:rPr>
              <a:t>権限・ログ機能</a:t>
            </a:r>
            <a:endParaRPr lang="en-US" sz="1100" dirty="0"/>
          </a:p>
        </p:txBody>
      </p:sp>
      <p:sp>
        <p:nvSpPr>
          <p:cNvPr id="78" name="Text 55"/>
          <p:cNvSpPr txBox="1"/>
          <p:nvPr/>
        </p:nvSpPr>
        <p:spPr>
          <a:xfrm>
            <a:off x="599846" y="1855318"/>
            <a:ext cx="1682496"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会議音声・文字起こしの取得</a:t>
            </a:r>
            <a:endParaRPr lang="en-US" sz="900" dirty="0"/>
          </a:p>
        </p:txBody>
      </p:sp>
      <p:sp>
        <p:nvSpPr>
          <p:cNvPr id="79" name="Text 56"/>
          <p:cNvSpPr txBox="1"/>
          <p:nvPr/>
        </p:nvSpPr>
        <p:spPr>
          <a:xfrm>
            <a:off x="599846" y="2045513"/>
            <a:ext cx="301569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チャット・メール・フォーム等の非構造化データ取得</a:t>
            </a:r>
            <a:endParaRPr lang="en-US" sz="900" dirty="0"/>
          </a:p>
        </p:txBody>
      </p:sp>
      <p:sp>
        <p:nvSpPr>
          <p:cNvPr id="80" name="Text 57"/>
          <p:cNvSpPr txBox="1"/>
          <p:nvPr/>
        </p:nvSpPr>
        <p:spPr>
          <a:xfrm>
            <a:off x="599846" y="2234794"/>
            <a:ext cx="1796796"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業務ログ・システムログの取得</a:t>
            </a:r>
            <a:endParaRPr lang="en-US" sz="900" dirty="0"/>
          </a:p>
        </p:txBody>
      </p:sp>
      <p:sp>
        <p:nvSpPr>
          <p:cNvPr id="81" name="Text 58"/>
          <p:cNvSpPr txBox="1"/>
          <p:nvPr/>
        </p:nvSpPr>
        <p:spPr>
          <a:xfrm>
            <a:off x="599846" y="2424989"/>
            <a:ext cx="167335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リアルタイム・バッチ両対応</a:t>
            </a:r>
            <a:endParaRPr lang="en-US" sz="900" dirty="0"/>
          </a:p>
        </p:txBody>
      </p:sp>
      <p:sp>
        <p:nvSpPr>
          <p:cNvPr id="82" name="Text 59"/>
          <p:cNvSpPr txBox="1"/>
          <p:nvPr/>
        </p:nvSpPr>
        <p:spPr>
          <a:xfrm>
            <a:off x="599846" y="2946197"/>
            <a:ext cx="1796796"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複数ソースからの情報取得統合</a:t>
            </a:r>
            <a:endParaRPr lang="en-US" sz="900" dirty="0"/>
          </a:p>
        </p:txBody>
      </p:sp>
      <p:sp>
        <p:nvSpPr>
          <p:cNvPr id="83" name="Text 60"/>
          <p:cNvSpPr txBox="1"/>
          <p:nvPr/>
        </p:nvSpPr>
        <p:spPr>
          <a:xfrm>
            <a:off x="599846" y="3135478"/>
            <a:ext cx="2044598"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構造化・非構造化データの統合処理</a:t>
            </a:r>
            <a:endParaRPr lang="en-US" sz="900" dirty="0"/>
          </a:p>
        </p:txBody>
      </p:sp>
      <p:sp>
        <p:nvSpPr>
          <p:cNvPr id="84" name="Text 61"/>
          <p:cNvSpPr txBox="1"/>
          <p:nvPr/>
        </p:nvSpPr>
        <p:spPr>
          <a:xfrm>
            <a:off x="599846" y="3325673"/>
            <a:ext cx="1682496"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検索用メタデータの自動付与</a:t>
            </a:r>
            <a:endParaRPr lang="en-US" sz="900" dirty="0"/>
          </a:p>
        </p:txBody>
      </p:sp>
      <p:sp>
        <p:nvSpPr>
          <p:cNvPr id="85" name="Text 62"/>
          <p:cNvSpPr txBox="1"/>
          <p:nvPr/>
        </p:nvSpPr>
        <p:spPr>
          <a:xfrm>
            <a:off x="4460443" y="1855318"/>
            <a:ext cx="22924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議事録・資料・業務データの構造化保存</a:t>
            </a:r>
            <a:endParaRPr lang="en-US" sz="900" dirty="0"/>
          </a:p>
        </p:txBody>
      </p:sp>
      <p:sp>
        <p:nvSpPr>
          <p:cNvPr id="86" name="Text 63"/>
          <p:cNvSpPr txBox="1"/>
          <p:nvPr/>
        </p:nvSpPr>
        <p:spPr>
          <a:xfrm>
            <a:off x="4460443" y="2045513"/>
            <a:ext cx="22924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メタデータ・タグ付け・バージョン管理</a:t>
            </a:r>
            <a:endParaRPr lang="en-US" sz="900" dirty="0"/>
          </a:p>
        </p:txBody>
      </p:sp>
      <p:sp>
        <p:nvSpPr>
          <p:cNvPr id="87" name="Text 64"/>
          <p:cNvSpPr txBox="1"/>
          <p:nvPr/>
        </p:nvSpPr>
        <p:spPr>
          <a:xfrm>
            <a:off x="4460443" y="2234794"/>
            <a:ext cx="25210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データライフサイクル管理（アーカイブ等）</a:t>
            </a:r>
            <a:endParaRPr lang="en-US" sz="900" dirty="0"/>
          </a:p>
        </p:txBody>
      </p:sp>
      <p:sp>
        <p:nvSpPr>
          <p:cNvPr id="88" name="Text 65"/>
          <p:cNvSpPr txBox="1"/>
          <p:nvPr/>
        </p:nvSpPr>
        <p:spPr>
          <a:xfrm>
            <a:off x="4460443" y="2756002"/>
            <a:ext cx="19202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スキーマ定義・データモデリング</a:t>
            </a:r>
            <a:endParaRPr lang="en-US" sz="900" dirty="0"/>
          </a:p>
        </p:txBody>
      </p:sp>
      <p:sp>
        <p:nvSpPr>
          <p:cNvPr id="89" name="Text 66"/>
          <p:cNvSpPr txBox="1"/>
          <p:nvPr/>
        </p:nvSpPr>
        <p:spPr>
          <a:xfrm>
            <a:off x="4460443" y="2946197"/>
            <a:ext cx="164409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ドキュメントDB / DWH 対応</a:t>
            </a:r>
            <a:endParaRPr lang="en-US" sz="900" dirty="0"/>
          </a:p>
        </p:txBody>
      </p:sp>
      <p:sp>
        <p:nvSpPr>
          <p:cNvPr id="90" name="Text 67"/>
          <p:cNvSpPr txBox="1"/>
          <p:nvPr/>
        </p:nvSpPr>
        <p:spPr>
          <a:xfrm>
            <a:off x="4460443" y="3135478"/>
            <a:ext cx="2044598"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データ品質管理と更新責任の明確化</a:t>
            </a:r>
            <a:endParaRPr lang="en-US" sz="900" dirty="0"/>
          </a:p>
        </p:txBody>
      </p:sp>
      <p:sp>
        <p:nvSpPr>
          <p:cNvPr id="91" name="Text 68"/>
          <p:cNvSpPr txBox="1"/>
          <p:nvPr/>
        </p:nvSpPr>
        <p:spPr>
          <a:xfrm>
            <a:off x="8321954" y="1855318"/>
            <a:ext cx="2158898"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複数ソースの横断検索・自然言語検索</a:t>
            </a:r>
            <a:endParaRPr lang="en-US" sz="900" dirty="0"/>
          </a:p>
        </p:txBody>
      </p:sp>
      <p:sp>
        <p:nvSpPr>
          <p:cNvPr id="92" name="Text 69"/>
          <p:cNvSpPr txBox="1"/>
          <p:nvPr/>
        </p:nvSpPr>
        <p:spPr>
          <a:xfrm>
            <a:off x="8321954" y="2045513"/>
            <a:ext cx="24067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ベクトル検索（意味検索）による関連提示</a:t>
            </a:r>
            <a:endParaRPr lang="en-US" sz="900" dirty="0"/>
          </a:p>
        </p:txBody>
      </p:sp>
      <p:sp>
        <p:nvSpPr>
          <p:cNvPr id="93" name="Text 70"/>
          <p:cNvSpPr txBox="1"/>
          <p:nvPr/>
        </p:nvSpPr>
        <p:spPr>
          <a:xfrm>
            <a:off x="8321954" y="2234794"/>
            <a:ext cx="228234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検索結果のランキング・フィルタリング</a:t>
            </a:r>
            <a:endParaRPr lang="en-US" sz="900" dirty="0"/>
          </a:p>
        </p:txBody>
      </p:sp>
      <p:sp>
        <p:nvSpPr>
          <p:cNvPr id="94" name="Text 71"/>
          <p:cNvSpPr txBox="1"/>
          <p:nvPr/>
        </p:nvSpPr>
        <p:spPr>
          <a:xfrm>
            <a:off x="8321954" y="2756002"/>
            <a:ext cx="2435047"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RAG（Retrieval-Augmented Generation）</a:t>
            </a:r>
            <a:endParaRPr lang="en-US" sz="900" dirty="0"/>
          </a:p>
        </p:txBody>
      </p:sp>
      <p:sp>
        <p:nvSpPr>
          <p:cNvPr id="95" name="Text 72"/>
          <p:cNvSpPr txBox="1"/>
          <p:nvPr/>
        </p:nvSpPr>
        <p:spPr>
          <a:xfrm>
            <a:off x="8321954" y="2946197"/>
            <a:ext cx="1958645"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エンベディング生成・ベクトルDB</a:t>
            </a:r>
            <a:endParaRPr lang="en-US" sz="900" dirty="0"/>
          </a:p>
        </p:txBody>
      </p:sp>
      <p:sp>
        <p:nvSpPr>
          <p:cNvPr id="96" name="Text 73"/>
          <p:cNvSpPr txBox="1"/>
          <p:nvPr/>
        </p:nvSpPr>
        <p:spPr>
          <a:xfrm>
            <a:off x="8321954" y="3135478"/>
            <a:ext cx="18059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最新情報と過去情報の統合検索</a:t>
            </a:r>
            <a:endParaRPr lang="en-US" sz="900" dirty="0"/>
          </a:p>
        </p:txBody>
      </p:sp>
      <p:sp>
        <p:nvSpPr>
          <p:cNvPr id="97" name="Text 74"/>
          <p:cNvSpPr txBox="1"/>
          <p:nvPr/>
        </p:nvSpPr>
        <p:spPr>
          <a:xfrm>
            <a:off x="599846" y="4541825"/>
            <a:ext cx="2044598"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文書ドラフト生成、要約・要点抽出</a:t>
            </a:r>
            <a:endParaRPr lang="en-US" sz="900" dirty="0"/>
          </a:p>
        </p:txBody>
      </p:sp>
      <p:sp>
        <p:nvSpPr>
          <p:cNvPr id="98" name="Text 75"/>
          <p:cNvSpPr txBox="1"/>
          <p:nvPr/>
        </p:nvSpPr>
        <p:spPr>
          <a:xfrm>
            <a:off x="599846" y="4732020"/>
            <a:ext cx="19202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読者層に応じた変換・多言語対応</a:t>
            </a:r>
            <a:endParaRPr lang="en-US" sz="900" dirty="0"/>
          </a:p>
        </p:txBody>
      </p:sp>
      <p:sp>
        <p:nvSpPr>
          <p:cNvPr id="99" name="Text 76"/>
          <p:cNvSpPr txBox="1"/>
          <p:nvPr/>
        </p:nvSpPr>
        <p:spPr>
          <a:xfrm>
            <a:off x="599846" y="4921301"/>
            <a:ext cx="154899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トーン＆マナーの自動調整</a:t>
            </a:r>
            <a:endParaRPr lang="en-US" sz="900" dirty="0"/>
          </a:p>
        </p:txBody>
      </p:sp>
      <p:sp>
        <p:nvSpPr>
          <p:cNvPr id="100" name="Text 77"/>
          <p:cNvSpPr txBox="1"/>
          <p:nvPr/>
        </p:nvSpPr>
        <p:spPr>
          <a:xfrm>
            <a:off x="599846" y="5442509"/>
            <a:ext cx="2234794"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LLM統合（GPT-4等）とプロンプト設計</a:t>
            </a:r>
            <a:endParaRPr lang="en-US" sz="900" dirty="0"/>
          </a:p>
        </p:txBody>
      </p:sp>
      <p:sp>
        <p:nvSpPr>
          <p:cNvPr id="101" name="Text 78"/>
          <p:cNvSpPr txBox="1"/>
          <p:nvPr/>
        </p:nvSpPr>
        <p:spPr>
          <a:xfrm>
            <a:off x="599846" y="5632704"/>
            <a:ext cx="24067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ハルシネーション対策・ファクトチェック</a:t>
            </a:r>
            <a:endParaRPr lang="en-US" sz="900" dirty="0"/>
          </a:p>
        </p:txBody>
      </p:sp>
      <p:sp>
        <p:nvSpPr>
          <p:cNvPr id="102" name="Text 79"/>
          <p:cNvSpPr txBox="1"/>
          <p:nvPr/>
        </p:nvSpPr>
        <p:spPr>
          <a:xfrm>
            <a:off x="599846" y="5821985"/>
            <a:ext cx="155905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生成物の品質管理プロセス</a:t>
            </a:r>
            <a:endParaRPr lang="en-US" sz="900" dirty="0"/>
          </a:p>
        </p:txBody>
      </p:sp>
      <p:sp>
        <p:nvSpPr>
          <p:cNvPr id="103" name="Text 80"/>
          <p:cNvSpPr txBox="1"/>
          <p:nvPr/>
        </p:nvSpPr>
        <p:spPr>
          <a:xfrm>
            <a:off x="4460443" y="4541825"/>
            <a:ext cx="244419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アクションアイテムの抽出とToDo自動生成</a:t>
            </a:r>
            <a:endParaRPr lang="en-US" sz="900" dirty="0"/>
          </a:p>
        </p:txBody>
      </p:sp>
      <p:sp>
        <p:nvSpPr>
          <p:cNvPr id="104" name="Text 81"/>
          <p:cNvSpPr txBox="1"/>
          <p:nvPr/>
        </p:nvSpPr>
        <p:spPr>
          <a:xfrm>
            <a:off x="4460443" y="4732020"/>
            <a:ext cx="2415845"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ワークフローの自動実行・担当者アサイン</a:t>
            </a:r>
            <a:endParaRPr lang="en-US" sz="900" dirty="0"/>
          </a:p>
        </p:txBody>
      </p:sp>
      <p:sp>
        <p:nvSpPr>
          <p:cNvPr id="105" name="Text 82"/>
          <p:cNvSpPr txBox="1"/>
          <p:nvPr/>
        </p:nvSpPr>
        <p:spPr>
          <a:xfrm>
            <a:off x="4460443" y="4921301"/>
            <a:ext cx="18059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進捗管理・リマインドの自動化</a:t>
            </a:r>
            <a:endParaRPr lang="en-US" sz="900" dirty="0"/>
          </a:p>
        </p:txBody>
      </p:sp>
      <p:sp>
        <p:nvSpPr>
          <p:cNvPr id="106" name="Text 83"/>
          <p:cNvSpPr txBox="1"/>
          <p:nvPr/>
        </p:nvSpPr>
        <p:spPr>
          <a:xfrm>
            <a:off x="4460443" y="5442509"/>
            <a:ext cx="216804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自然言語指示からのワークフロー構築</a:t>
            </a:r>
            <a:endParaRPr lang="en-US" sz="900" dirty="0"/>
          </a:p>
        </p:txBody>
      </p:sp>
      <p:sp>
        <p:nvSpPr>
          <p:cNvPr id="107" name="Text 84"/>
          <p:cNvSpPr txBox="1"/>
          <p:nvPr/>
        </p:nvSpPr>
        <p:spPr>
          <a:xfrm>
            <a:off x="4460443" y="5632704"/>
            <a:ext cx="25210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条件分岐・ループ処理・エラーハンドリング</a:t>
            </a:r>
            <a:endParaRPr lang="en-US" sz="900" dirty="0"/>
          </a:p>
        </p:txBody>
      </p:sp>
      <p:sp>
        <p:nvSpPr>
          <p:cNvPr id="108" name="Text 85"/>
          <p:cNvSpPr txBox="1"/>
          <p:nvPr/>
        </p:nvSpPr>
        <p:spPr>
          <a:xfrm>
            <a:off x="4460443" y="5821985"/>
            <a:ext cx="155905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実行ログ・監査証跡の保存</a:t>
            </a:r>
            <a:endParaRPr lang="en-US" sz="900" dirty="0"/>
          </a:p>
        </p:txBody>
      </p:sp>
      <p:sp>
        <p:nvSpPr>
          <p:cNvPr id="109" name="Text 86"/>
          <p:cNvSpPr txBox="1"/>
          <p:nvPr/>
        </p:nvSpPr>
        <p:spPr>
          <a:xfrm>
            <a:off x="8321954" y="4541825"/>
            <a:ext cx="1740103"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AI利用状況の可視化・KPI管理</a:t>
            </a:r>
            <a:endParaRPr lang="en-US" sz="900" dirty="0"/>
          </a:p>
        </p:txBody>
      </p:sp>
      <p:sp>
        <p:nvSpPr>
          <p:cNvPr id="110" name="Text 87"/>
          <p:cNvSpPr txBox="1"/>
          <p:nvPr/>
        </p:nvSpPr>
        <p:spPr>
          <a:xfrm>
            <a:off x="8321954" y="4732020"/>
            <a:ext cx="19202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パフォーマンス監視・エラー検知</a:t>
            </a:r>
            <a:endParaRPr lang="en-US" sz="900" dirty="0"/>
          </a:p>
        </p:txBody>
      </p:sp>
      <p:sp>
        <p:nvSpPr>
          <p:cNvPr id="111" name="Text 88"/>
          <p:cNvSpPr txBox="1"/>
          <p:nvPr/>
        </p:nvSpPr>
        <p:spPr>
          <a:xfrm>
            <a:off x="8321954" y="5253228"/>
            <a:ext cx="119695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ログ収集・分析基盤</a:t>
            </a:r>
            <a:endParaRPr lang="en-US" sz="900" dirty="0"/>
          </a:p>
        </p:txBody>
      </p:sp>
      <p:sp>
        <p:nvSpPr>
          <p:cNvPr id="112" name="Text 89"/>
          <p:cNvSpPr txBox="1"/>
          <p:nvPr/>
        </p:nvSpPr>
        <p:spPr>
          <a:xfrm>
            <a:off x="8321954" y="5442509"/>
            <a:ext cx="18059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ダッシュボード・アラート機能</a:t>
            </a:r>
            <a:endParaRPr lang="en-US" sz="900" dirty="0"/>
          </a:p>
        </p:txBody>
      </p:sp>
      <p:sp>
        <p:nvSpPr>
          <p:cNvPr id="113" name="Text 90"/>
          <p:cNvSpPr txBox="1"/>
          <p:nvPr/>
        </p:nvSpPr>
        <p:spPr>
          <a:xfrm>
            <a:off x="3284525" y="7548372"/>
            <a:ext cx="2758745"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アクセス制御・権限管理、DLP（情報漏洩対策）</a:t>
            </a:r>
            <a:endParaRPr lang="en-US" sz="900" dirty="0"/>
          </a:p>
        </p:txBody>
      </p:sp>
      <p:sp>
        <p:nvSpPr>
          <p:cNvPr id="114" name="Text 91"/>
          <p:cNvSpPr txBox="1"/>
          <p:nvPr/>
        </p:nvSpPr>
        <p:spPr>
          <a:xfrm>
            <a:off x="3284525" y="7737653"/>
            <a:ext cx="2749601"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監査ログ・アクセスログ、コンプライアンス対応</a:t>
            </a:r>
            <a:endParaRPr lang="en-US" sz="900" dirty="0"/>
          </a:p>
        </p:txBody>
      </p:sp>
      <p:sp>
        <p:nvSpPr>
          <p:cNvPr id="115" name="Text 92"/>
          <p:cNvSpPr txBox="1"/>
          <p:nvPr/>
        </p:nvSpPr>
        <p:spPr>
          <a:xfrm>
            <a:off x="6344107" y="7548372"/>
            <a:ext cx="26060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認証・認可基盤（Azure AD等）、データ暗号化</a:t>
            </a:r>
            <a:endParaRPr lang="en-US" sz="900" dirty="0"/>
          </a:p>
        </p:txBody>
      </p:sp>
      <p:sp>
        <p:nvSpPr>
          <p:cNvPr id="116" name="Text 93"/>
          <p:cNvSpPr txBox="1"/>
          <p:nvPr/>
        </p:nvSpPr>
        <p:spPr>
          <a:xfrm>
            <a:off x="6344107" y="7737653"/>
            <a:ext cx="2530145"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ログ保存期間管理、インシデント対応フロー</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457200" y="1067105"/>
            <a:ext cx="11277295" cy="9144"/>
          </a:xfrm>
          <a:prstGeom prst="rect">
            <a:avLst/>
          </a:prstGeom>
          <a:solidFill>
            <a:srgbClr val="E5E7EB"/>
          </a:solidFill>
          <a:ln/>
        </p:spPr>
      </p:sp>
      <p:sp>
        <p:nvSpPr>
          <p:cNvPr id="5" name="Text 3"/>
          <p:cNvSpPr txBox="1"/>
          <p:nvPr/>
        </p:nvSpPr>
        <p:spPr>
          <a:xfrm>
            <a:off x="457200" y="267005"/>
            <a:ext cx="5643677" cy="419710"/>
          </a:xfrm>
          <a:prstGeom prst="rect">
            <a:avLst/>
          </a:prstGeom>
          <a:noFill/>
          <a:ln/>
        </p:spPr>
        <p:txBody>
          <a:bodyPr wrap="square" lIns="0" tIns="0" rIns="0" bIns="0" rtlCol="0" anchor="ctr"/>
          <a:lstStyle/>
          <a:p>
            <a:pPr marL="0" indent="0" algn="l">
              <a:buNone/>
            </a:pPr>
            <a:r>
              <a:rPr lang="en-US" sz="2200" b="1" dirty="0">
                <a:solidFill>
                  <a:srgbClr val="111827"/>
                </a:solidFill>
                <a:latin typeface="Noto Sans JP" pitchFamily="34" charset="0"/>
                <a:ea typeface="Noto Sans JP" pitchFamily="34" charset="-122"/>
                <a:cs typeface="Noto Sans JP" pitchFamily="34" charset="-120"/>
              </a:rPr>
              <a:t>業務ドメイン別の機能要件とデータフロー</a:t>
            </a:r>
            <a:endParaRPr lang="en-US" sz="2200" dirty="0"/>
          </a:p>
        </p:txBody>
      </p:sp>
      <p:sp>
        <p:nvSpPr>
          <p:cNvPr id="6" name="Text 4"/>
          <p:cNvSpPr txBox="1"/>
          <p:nvPr/>
        </p:nvSpPr>
        <p:spPr>
          <a:xfrm>
            <a:off x="457200" y="724205"/>
            <a:ext cx="4034333"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4つの主要業務領域におけるAI機能の活用プロセスとデータの流れ</a:t>
            </a:r>
            <a:endParaRPr lang="en-US" sz="1000" dirty="0"/>
          </a:p>
        </p:txBody>
      </p:sp>
      <p:sp>
        <p:nvSpPr>
          <p:cNvPr id="7" name="Shape 5"/>
          <p:cNvSpPr/>
          <p:nvPr/>
        </p:nvSpPr>
        <p:spPr>
          <a:xfrm>
            <a:off x="457200" y="1304849"/>
            <a:ext cx="5524805" cy="2514600"/>
          </a:xfrm>
          <a:prstGeom prst="roundRect">
            <a:avLst>
              <a:gd name="adj" fmla="val 1102"/>
            </a:avLst>
          </a:prstGeom>
          <a:solidFill>
            <a:srgbClr val="F9FAFB"/>
          </a:solidFill>
          <a:ln w="12700">
            <a:solidFill>
              <a:srgbClr val="E5E7EB"/>
            </a:solidFill>
            <a:prstDash val="solid"/>
          </a:ln>
        </p:spPr>
      </p:sp>
      <p:sp>
        <p:nvSpPr>
          <p:cNvPr id="8" name="Shape 6"/>
          <p:cNvSpPr/>
          <p:nvPr/>
        </p:nvSpPr>
        <p:spPr>
          <a:xfrm>
            <a:off x="657454" y="2067458"/>
            <a:ext cx="5124298" cy="9144"/>
          </a:xfrm>
          <a:prstGeom prst="rect">
            <a:avLst/>
          </a:prstGeom>
          <a:solidFill>
            <a:srgbClr val="E5E7EB"/>
          </a:solidFill>
          <a:ln/>
        </p:spPr>
      </p:sp>
      <p:sp>
        <p:nvSpPr>
          <p:cNvPr id="9" name="Shape 7"/>
          <p:cNvSpPr/>
          <p:nvPr/>
        </p:nvSpPr>
        <p:spPr>
          <a:xfrm>
            <a:off x="657454" y="1518818"/>
            <a:ext cx="418795" cy="418795"/>
          </a:xfrm>
          <a:prstGeom prst="roundRect">
            <a:avLst>
              <a:gd name="adj" fmla="val 39698"/>
            </a:avLst>
          </a:prstGeom>
          <a:solidFill>
            <a:srgbClr val="E5E7EB"/>
          </a:solidFill>
          <a:ln/>
        </p:spPr>
      </p:sp>
      <p:pic>
        <p:nvPicPr>
          <p:cNvPr id="10" name="Image 0" descr="preencoded.png"/>
          <p:cNvPicPr>
            <a:picLocks noChangeAspect="1"/>
          </p:cNvPicPr>
          <p:nvPr/>
        </p:nvPicPr>
        <p:blipFill>
          <a:blip r:embed="rId3"/>
          <a:srcRect/>
          <a:stretch/>
        </p:blipFill>
        <p:spPr>
          <a:xfrm>
            <a:off x="747979" y="1633118"/>
            <a:ext cx="237744" cy="190195"/>
          </a:xfrm>
          <a:prstGeom prst="rect">
            <a:avLst/>
          </a:prstGeom>
        </p:spPr>
      </p:pic>
      <p:sp>
        <p:nvSpPr>
          <p:cNvPr id="11" name="Text 8"/>
          <p:cNvSpPr txBox="1"/>
          <p:nvPr/>
        </p:nvSpPr>
        <p:spPr>
          <a:xfrm>
            <a:off x="1209751" y="1505102"/>
            <a:ext cx="2015338" cy="247802"/>
          </a:xfrm>
          <a:prstGeom prst="rect">
            <a:avLst/>
          </a:prstGeom>
          <a:noFill/>
          <a:ln/>
        </p:spPr>
        <p:txBody>
          <a:bodyPr wrap="square" lIns="0" tIns="0" rIns="0" bIns="0" rtlCol="0" anchor="ctr"/>
          <a:lstStyle/>
          <a:p>
            <a:pPr marL="0" indent="0" algn="l">
              <a:buNone/>
            </a:pPr>
            <a:r>
              <a:rPr lang="en-US" sz="1300" b="1" dirty="0">
                <a:solidFill>
                  <a:srgbClr val="111827"/>
                </a:solidFill>
                <a:latin typeface="Noto Sans JP" pitchFamily="34" charset="0"/>
                <a:ea typeface="Noto Sans JP" pitchFamily="34" charset="-122"/>
                <a:cs typeface="Noto Sans JP" pitchFamily="34" charset="-120"/>
              </a:rPr>
              <a:t>会議・意思決定ドメイン</a:t>
            </a:r>
            <a:endParaRPr lang="en-US" sz="1300" dirty="0"/>
          </a:p>
        </p:txBody>
      </p:sp>
      <p:sp>
        <p:nvSpPr>
          <p:cNvPr id="12" name="Text 9"/>
          <p:cNvSpPr txBox="1"/>
          <p:nvPr/>
        </p:nvSpPr>
        <p:spPr>
          <a:xfrm>
            <a:off x="1209751" y="1781251"/>
            <a:ext cx="2029054"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議事録作成・アクション管理の自動化</a:t>
            </a:r>
            <a:endParaRPr lang="en-US" sz="900" dirty="0"/>
          </a:p>
        </p:txBody>
      </p:sp>
      <p:pic>
        <p:nvPicPr>
          <p:cNvPr id="13" name="Image 1" descr="preencoded.png"/>
          <p:cNvPicPr>
            <a:picLocks noChangeAspect="1"/>
          </p:cNvPicPr>
          <p:nvPr/>
        </p:nvPicPr>
        <p:blipFill>
          <a:blip r:embed="rId4"/>
          <a:srcRect l="-1911" r="-1911"/>
          <a:stretch/>
        </p:blipFill>
        <p:spPr>
          <a:xfrm>
            <a:off x="657454" y="2257654"/>
            <a:ext cx="133502" cy="114300"/>
          </a:xfrm>
          <a:prstGeom prst="rect">
            <a:avLst/>
          </a:prstGeom>
        </p:spPr>
      </p:pic>
      <p:sp>
        <p:nvSpPr>
          <p:cNvPr id="14" name="Text 10"/>
          <p:cNvSpPr txBox="1"/>
          <p:nvPr/>
        </p:nvSpPr>
        <p:spPr>
          <a:xfrm>
            <a:off x="790956" y="2229307"/>
            <a:ext cx="14676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必要な機能コンポーネント</a:t>
            </a:r>
            <a:endParaRPr lang="en-US" sz="900" dirty="0"/>
          </a:p>
        </p:txBody>
      </p:sp>
      <p:sp>
        <p:nvSpPr>
          <p:cNvPr id="15" name="Shape 11"/>
          <p:cNvSpPr/>
          <p:nvPr/>
        </p:nvSpPr>
        <p:spPr>
          <a:xfrm>
            <a:off x="657454" y="2476195"/>
            <a:ext cx="1009498"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16" name="Shape 12"/>
          <p:cNvSpPr/>
          <p:nvPr/>
        </p:nvSpPr>
        <p:spPr>
          <a:xfrm>
            <a:off x="761695" y="2523744"/>
            <a:ext cx="171907" cy="171907"/>
          </a:xfrm>
          <a:prstGeom prst="ellipse">
            <a:avLst/>
          </a:prstGeom>
          <a:solidFill>
            <a:srgbClr val="DC2626"/>
          </a:solidFill>
          <a:ln/>
        </p:spPr>
      </p:sp>
      <p:sp>
        <p:nvSpPr>
          <p:cNvPr id="17" name="Text 13"/>
          <p:cNvSpPr txBox="1"/>
          <p:nvPr/>
        </p:nvSpPr>
        <p:spPr>
          <a:xfrm>
            <a:off x="815645"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A</a:t>
            </a:r>
            <a:endParaRPr lang="en-US" sz="800" dirty="0"/>
          </a:p>
        </p:txBody>
      </p:sp>
      <p:sp>
        <p:nvSpPr>
          <p:cNvPr id="18" name="Text 14"/>
          <p:cNvSpPr txBox="1"/>
          <p:nvPr/>
        </p:nvSpPr>
        <p:spPr>
          <a:xfrm>
            <a:off x="990295" y="2523744"/>
            <a:ext cx="657454"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キャプチャ</a:t>
            </a:r>
            <a:endParaRPr lang="en-US" sz="900" dirty="0"/>
          </a:p>
        </p:txBody>
      </p:sp>
      <p:sp>
        <p:nvSpPr>
          <p:cNvPr id="19" name="Shape 15"/>
          <p:cNvSpPr/>
          <p:nvPr/>
        </p:nvSpPr>
        <p:spPr>
          <a:xfrm>
            <a:off x="1741932" y="2476195"/>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20" name="Shape 16"/>
          <p:cNvSpPr/>
          <p:nvPr/>
        </p:nvSpPr>
        <p:spPr>
          <a:xfrm>
            <a:off x="1847088" y="2523744"/>
            <a:ext cx="171907" cy="171907"/>
          </a:xfrm>
          <a:prstGeom prst="ellipse">
            <a:avLst/>
          </a:prstGeom>
          <a:solidFill>
            <a:srgbClr val="DC2626"/>
          </a:solidFill>
          <a:ln/>
        </p:spPr>
      </p:sp>
      <p:sp>
        <p:nvSpPr>
          <p:cNvPr id="21" name="Text 17"/>
          <p:cNvSpPr txBox="1"/>
          <p:nvPr/>
        </p:nvSpPr>
        <p:spPr>
          <a:xfrm>
            <a:off x="1898294" y="2535631"/>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B</a:t>
            </a:r>
            <a:endParaRPr lang="en-US" sz="800" dirty="0"/>
          </a:p>
        </p:txBody>
      </p:sp>
      <p:sp>
        <p:nvSpPr>
          <p:cNvPr id="22" name="Text 18"/>
          <p:cNvSpPr txBox="1"/>
          <p:nvPr/>
        </p:nvSpPr>
        <p:spPr>
          <a:xfrm>
            <a:off x="2075688" y="2523744"/>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蓄積</a:t>
            </a:r>
            <a:endParaRPr lang="en-US" sz="900" dirty="0"/>
          </a:p>
        </p:txBody>
      </p:sp>
      <p:sp>
        <p:nvSpPr>
          <p:cNvPr id="23" name="Shape 19"/>
          <p:cNvSpPr/>
          <p:nvPr/>
        </p:nvSpPr>
        <p:spPr>
          <a:xfrm>
            <a:off x="2485339" y="2476195"/>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24" name="Shape 20"/>
          <p:cNvSpPr/>
          <p:nvPr/>
        </p:nvSpPr>
        <p:spPr>
          <a:xfrm>
            <a:off x="2589581" y="2523744"/>
            <a:ext cx="171907" cy="171907"/>
          </a:xfrm>
          <a:prstGeom prst="ellipse">
            <a:avLst/>
          </a:prstGeom>
          <a:solidFill>
            <a:srgbClr val="DC2626"/>
          </a:solidFill>
          <a:ln/>
        </p:spPr>
      </p:sp>
      <p:sp>
        <p:nvSpPr>
          <p:cNvPr id="25" name="Text 21"/>
          <p:cNvSpPr txBox="1"/>
          <p:nvPr/>
        </p:nvSpPr>
        <p:spPr>
          <a:xfrm>
            <a:off x="2642616"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C</a:t>
            </a:r>
            <a:endParaRPr lang="en-US" sz="800" dirty="0"/>
          </a:p>
        </p:txBody>
      </p:sp>
      <p:sp>
        <p:nvSpPr>
          <p:cNvPr id="26" name="Text 22"/>
          <p:cNvSpPr txBox="1"/>
          <p:nvPr/>
        </p:nvSpPr>
        <p:spPr>
          <a:xfrm>
            <a:off x="2818181" y="2523744"/>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検索</a:t>
            </a:r>
            <a:endParaRPr lang="en-US" sz="900" dirty="0"/>
          </a:p>
        </p:txBody>
      </p:sp>
      <p:sp>
        <p:nvSpPr>
          <p:cNvPr id="27" name="Shape 23"/>
          <p:cNvSpPr/>
          <p:nvPr/>
        </p:nvSpPr>
        <p:spPr>
          <a:xfrm>
            <a:off x="3227832" y="2476195"/>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28" name="Shape 24"/>
          <p:cNvSpPr/>
          <p:nvPr/>
        </p:nvSpPr>
        <p:spPr>
          <a:xfrm>
            <a:off x="3332988" y="2523744"/>
            <a:ext cx="171907" cy="171907"/>
          </a:xfrm>
          <a:prstGeom prst="ellipse">
            <a:avLst/>
          </a:prstGeom>
          <a:solidFill>
            <a:srgbClr val="DC2626"/>
          </a:solidFill>
          <a:ln/>
        </p:spPr>
      </p:sp>
      <p:sp>
        <p:nvSpPr>
          <p:cNvPr id="29" name="Text 25"/>
          <p:cNvSpPr txBox="1"/>
          <p:nvPr/>
        </p:nvSpPr>
        <p:spPr>
          <a:xfrm>
            <a:off x="3383280" y="2535631"/>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D</a:t>
            </a:r>
            <a:endParaRPr lang="en-US" sz="800" dirty="0"/>
          </a:p>
        </p:txBody>
      </p:sp>
      <p:sp>
        <p:nvSpPr>
          <p:cNvPr id="30" name="Text 26"/>
          <p:cNvSpPr txBox="1"/>
          <p:nvPr/>
        </p:nvSpPr>
        <p:spPr>
          <a:xfrm>
            <a:off x="3561588" y="2523744"/>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要約</a:t>
            </a:r>
            <a:endParaRPr lang="en-US" sz="900" dirty="0"/>
          </a:p>
        </p:txBody>
      </p:sp>
      <p:sp>
        <p:nvSpPr>
          <p:cNvPr id="31" name="Shape 27"/>
          <p:cNvSpPr/>
          <p:nvPr/>
        </p:nvSpPr>
        <p:spPr>
          <a:xfrm>
            <a:off x="3971239" y="2476195"/>
            <a:ext cx="838505"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32" name="Shape 28"/>
          <p:cNvSpPr/>
          <p:nvPr/>
        </p:nvSpPr>
        <p:spPr>
          <a:xfrm>
            <a:off x="4076395" y="2523744"/>
            <a:ext cx="171907" cy="171907"/>
          </a:xfrm>
          <a:prstGeom prst="ellipse">
            <a:avLst/>
          </a:prstGeom>
          <a:solidFill>
            <a:srgbClr val="DC2626"/>
          </a:solidFill>
          <a:ln/>
        </p:spPr>
      </p:sp>
      <p:sp>
        <p:nvSpPr>
          <p:cNvPr id="33" name="Text 29"/>
          <p:cNvSpPr txBox="1"/>
          <p:nvPr/>
        </p:nvSpPr>
        <p:spPr>
          <a:xfrm>
            <a:off x="4131259"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E</a:t>
            </a:r>
            <a:endParaRPr lang="en-US" sz="800" dirty="0"/>
          </a:p>
        </p:txBody>
      </p:sp>
      <p:sp>
        <p:nvSpPr>
          <p:cNvPr id="34" name="Text 30"/>
          <p:cNvSpPr txBox="1"/>
          <p:nvPr/>
        </p:nvSpPr>
        <p:spPr>
          <a:xfrm>
            <a:off x="4304995" y="2523744"/>
            <a:ext cx="486461"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ToDo化</a:t>
            </a:r>
            <a:endParaRPr lang="en-US" sz="900" dirty="0"/>
          </a:p>
        </p:txBody>
      </p:sp>
      <p:pic>
        <p:nvPicPr>
          <p:cNvPr id="35" name="Image 2" descr="preencoded.png"/>
          <p:cNvPicPr>
            <a:picLocks noChangeAspect="1"/>
          </p:cNvPicPr>
          <p:nvPr/>
        </p:nvPicPr>
        <p:blipFill>
          <a:blip r:embed="rId5"/>
          <a:srcRect l="-1911" r="-1911"/>
          <a:stretch/>
        </p:blipFill>
        <p:spPr>
          <a:xfrm>
            <a:off x="657454" y="2962656"/>
            <a:ext cx="133502" cy="114300"/>
          </a:xfrm>
          <a:prstGeom prst="rect">
            <a:avLst/>
          </a:prstGeom>
        </p:spPr>
      </p:pic>
      <p:sp>
        <p:nvSpPr>
          <p:cNvPr id="36" name="Text 31"/>
          <p:cNvSpPr txBox="1"/>
          <p:nvPr/>
        </p:nvSpPr>
        <p:spPr>
          <a:xfrm>
            <a:off x="790956" y="2933395"/>
            <a:ext cx="7818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データフロー</a:t>
            </a:r>
            <a:endParaRPr lang="en-US" sz="900" dirty="0"/>
          </a:p>
        </p:txBody>
      </p:sp>
      <p:sp>
        <p:nvSpPr>
          <p:cNvPr id="37" name="Shape 32"/>
          <p:cNvSpPr/>
          <p:nvPr/>
        </p:nvSpPr>
        <p:spPr>
          <a:xfrm>
            <a:off x="657454" y="3181198"/>
            <a:ext cx="5124298" cy="543154"/>
          </a:xfrm>
          <a:prstGeom prst="roundRect">
            <a:avLst>
              <a:gd name="adj" fmla="val 23628"/>
            </a:avLst>
          </a:prstGeom>
          <a:solidFill>
            <a:srgbClr val="FFFFFF"/>
          </a:solidFill>
          <a:ln w="12700">
            <a:solidFill>
              <a:srgbClr val="E5E7EB"/>
            </a:solidFill>
            <a:prstDash val="solid"/>
          </a:ln>
        </p:spPr>
      </p:sp>
      <p:sp>
        <p:nvSpPr>
          <p:cNvPr id="38" name="Shape 33"/>
          <p:cNvSpPr/>
          <p:nvPr/>
        </p:nvSpPr>
        <p:spPr>
          <a:xfrm>
            <a:off x="1410005" y="3326587"/>
            <a:ext cx="428854" cy="19202"/>
          </a:xfrm>
          <a:prstGeom prst="rect">
            <a:avLst/>
          </a:prstGeom>
          <a:solidFill>
            <a:srgbClr val="DC2626">
              <a:alpha val="80000"/>
            </a:srgbClr>
          </a:solidFill>
          <a:ln/>
        </p:spPr>
      </p:sp>
      <p:sp>
        <p:nvSpPr>
          <p:cNvPr id="39" name="Shape 34"/>
          <p:cNvSpPr/>
          <p:nvPr/>
        </p:nvSpPr>
        <p:spPr>
          <a:xfrm>
            <a:off x="2480767" y="3326587"/>
            <a:ext cx="428854" cy="19202"/>
          </a:xfrm>
          <a:prstGeom prst="rect">
            <a:avLst/>
          </a:prstGeom>
          <a:solidFill>
            <a:srgbClr val="DC2626">
              <a:alpha val="80000"/>
            </a:srgbClr>
          </a:solidFill>
          <a:ln/>
        </p:spPr>
      </p:sp>
      <p:sp>
        <p:nvSpPr>
          <p:cNvPr id="40" name="Shape 35"/>
          <p:cNvSpPr/>
          <p:nvPr/>
        </p:nvSpPr>
        <p:spPr>
          <a:xfrm>
            <a:off x="3551530" y="3326587"/>
            <a:ext cx="428854" cy="19202"/>
          </a:xfrm>
          <a:prstGeom prst="rect">
            <a:avLst/>
          </a:prstGeom>
          <a:solidFill>
            <a:srgbClr val="DC2626">
              <a:alpha val="80000"/>
            </a:srgbClr>
          </a:solidFill>
          <a:ln/>
        </p:spPr>
      </p:sp>
      <p:sp>
        <p:nvSpPr>
          <p:cNvPr id="41" name="Shape 36"/>
          <p:cNvSpPr/>
          <p:nvPr/>
        </p:nvSpPr>
        <p:spPr>
          <a:xfrm>
            <a:off x="4604918" y="3326587"/>
            <a:ext cx="428854" cy="19202"/>
          </a:xfrm>
          <a:prstGeom prst="rect">
            <a:avLst/>
          </a:prstGeom>
          <a:solidFill>
            <a:srgbClr val="DC2626">
              <a:alpha val="80000"/>
            </a:srgbClr>
          </a:solidFill>
          <a:ln/>
        </p:spPr>
      </p:sp>
      <p:sp>
        <p:nvSpPr>
          <p:cNvPr id="42" name="Shape 37"/>
          <p:cNvSpPr/>
          <p:nvPr/>
        </p:nvSpPr>
        <p:spPr>
          <a:xfrm>
            <a:off x="6210605" y="1304849"/>
            <a:ext cx="5524805" cy="2514600"/>
          </a:xfrm>
          <a:prstGeom prst="roundRect">
            <a:avLst>
              <a:gd name="adj" fmla="val 1102"/>
            </a:avLst>
          </a:prstGeom>
          <a:solidFill>
            <a:srgbClr val="F9FAFB"/>
          </a:solidFill>
          <a:ln w="12700">
            <a:solidFill>
              <a:srgbClr val="E5E7EB"/>
            </a:solidFill>
            <a:prstDash val="solid"/>
          </a:ln>
        </p:spPr>
      </p:sp>
      <p:sp>
        <p:nvSpPr>
          <p:cNvPr id="43" name="Shape 38"/>
          <p:cNvSpPr/>
          <p:nvPr/>
        </p:nvSpPr>
        <p:spPr>
          <a:xfrm>
            <a:off x="6409944" y="2067458"/>
            <a:ext cx="5124298" cy="9144"/>
          </a:xfrm>
          <a:prstGeom prst="rect">
            <a:avLst/>
          </a:prstGeom>
          <a:solidFill>
            <a:srgbClr val="E5E7EB"/>
          </a:solidFill>
          <a:ln/>
        </p:spPr>
      </p:sp>
      <p:sp>
        <p:nvSpPr>
          <p:cNvPr id="44" name="Shape 39"/>
          <p:cNvSpPr/>
          <p:nvPr/>
        </p:nvSpPr>
        <p:spPr>
          <a:xfrm>
            <a:off x="6409944" y="1518818"/>
            <a:ext cx="418795" cy="418795"/>
          </a:xfrm>
          <a:prstGeom prst="roundRect">
            <a:avLst>
              <a:gd name="adj" fmla="val 39698"/>
            </a:avLst>
          </a:prstGeom>
          <a:solidFill>
            <a:srgbClr val="E5E7EB"/>
          </a:solidFill>
          <a:ln/>
        </p:spPr>
      </p:sp>
      <p:pic>
        <p:nvPicPr>
          <p:cNvPr id="45" name="Image 3" descr="preencoded.png"/>
          <p:cNvPicPr>
            <a:picLocks noChangeAspect="1"/>
          </p:cNvPicPr>
          <p:nvPr/>
        </p:nvPicPr>
        <p:blipFill>
          <a:blip r:embed="rId6"/>
          <a:srcRect/>
          <a:stretch/>
        </p:blipFill>
        <p:spPr>
          <a:xfrm>
            <a:off x="6500470" y="1633118"/>
            <a:ext cx="237744" cy="190195"/>
          </a:xfrm>
          <a:prstGeom prst="rect">
            <a:avLst/>
          </a:prstGeom>
        </p:spPr>
      </p:pic>
      <p:sp>
        <p:nvSpPr>
          <p:cNvPr id="46" name="Text 40"/>
          <p:cNvSpPr txBox="1"/>
          <p:nvPr/>
        </p:nvSpPr>
        <p:spPr>
          <a:xfrm>
            <a:off x="6963156" y="1505102"/>
            <a:ext cx="2358238" cy="247802"/>
          </a:xfrm>
          <a:prstGeom prst="rect">
            <a:avLst/>
          </a:prstGeom>
          <a:noFill/>
          <a:ln/>
        </p:spPr>
        <p:txBody>
          <a:bodyPr wrap="square" lIns="0" tIns="0" rIns="0" bIns="0" rtlCol="0" anchor="ctr"/>
          <a:lstStyle/>
          <a:p>
            <a:pPr marL="0" indent="0" algn="l">
              <a:buNone/>
            </a:pPr>
            <a:r>
              <a:rPr lang="en-US" sz="1300" b="1" dirty="0">
                <a:solidFill>
                  <a:srgbClr val="111827"/>
                </a:solidFill>
                <a:latin typeface="Noto Sans JP" pitchFamily="34" charset="0"/>
                <a:ea typeface="Noto Sans JP" pitchFamily="34" charset="-122"/>
                <a:cs typeface="Noto Sans JP" pitchFamily="34" charset="-120"/>
              </a:rPr>
              <a:t>メール・コミュニケーション</a:t>
            </a:r>
            <a:endParaRPr lang="en-US" sz="1300" dirty="0"/>
          </a:p>
        </p:txBody>
      </p:sp>
      <p:sp>
        <p:nvSpPr>
          <p:cNvPr id="47" name="Text 41"/>
          <p:cNvSpPr txBox="1"/>
          <p:nvPr/>
        </p:nvSpPr>
        <p:spPr>
          <a:xfrm>
            <a:off x="6963156" y="1781251"/>
            <a:ext cx="1571854"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大量メッセージの処理効率化</a:t>
            </a:r>
            <a:endParaRPr lang="en-US" sz="900" dirty="0"/>
          </a:p>
        </p:txBody>
      </p:sp>
      <p:pic>
        <p:nvPicPr>
          <p:cNvPr id="48" name="Image 4" descr="preencoded.png"/>
          <p:cNvPicPr>
            <a:picLocks noChangeAspect="1"/>
          </p:cNvPicPr>
          <p:nvPr/>
        </p:nvPicPr>
        <p:blipFill>
          <a:blip r:embed="rId4"/>
          <a:srcRect l="-1911" r="-1911"/>
          <a:stretch/>
        </p:blipFill>
        <p:spPr>
          <a:xfrm>
            <a:off x="6409944" y="2257654"/>
            <a:ext cx="133502" cy="114300"/>
          </a:xfrm>
          <a:prstGeom prst="rect">
            <a:avLst/>
          </a:prstGeom>
        </p:spPr>
      </p:pic>
      <p:sp>
        <p:nvSpPr>
          <p:cNvPr id="49" name="Text 42"/>
          <p:cNvSpPr txBox="1"/>
          <p:nvPr/>
        </p:nvSpPr>
        <p:spPr>
          <a:xfrm>
            <a:off x="6543446" y="2229307"/>
            <a:ext cx="14676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必要な機能コンポーネント</a:t>
            </a:r>
            <a:endParaRPr lang="en-US" sz="900" dirty="0"/>
          </a:p>
        </p:txBody>
      </p:sp>
      <p:sp>
        <p:nvSpPr>
          <p:cNvPr id="50" name="Shape 43"/>
          <p:cNvSpPr/>
          <p:nvPr/>
        </p:nvSpPr>
        <p:spPr>
          <a:xfrm>
            <a:off x="6409944" y="2476195"/>
            <a:ext cx="1009498"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51" name="Shape 44"/>
          <p:cNvSpPr/>
          <p:nvPr/>
        </p:nvSpPr>
        <p:spPr>
          <a:xfrm>
            <a:off x="6515100" y="2523744"/>
            <a:ext cx="171907" cy="171907"/>
          </a:xfrm>
          <a:prstGeom prst="ellipse">
            <a:avLst/>
          </a:prstGeom>
          <a:solidFill>
            <a:srgbClr val="DC2626"/>
          </a:solidFill>
          <a:ln/>
        </p:spPr>
      </p:sp>
      <p:sp>
        <p:nvSpPr>
          <p:cNvPr id="52" name="Text 45"/>
          <p:cNvSpPr txBox="1"/>
          <p:nvPr/>
        </p:nvSpPr>
        <p:spPr>
          <a:xfrm>
            <a:off x="6569050"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A</a:t>
            </a:r>
            <a:endParaRPr lang="en-US" sz="800" dirty="0"/>
          </a:p>
        </p:txBody>
      </p:sp>
      <p:sp>
        <p:nvSpPr>
          <p:cNvPr id="53" name="Text 46"/>
          <p:cNvSpPr txBox="1"/>
          <p:nvPr/>
        </p:nvSpPr>
        <p:spPr>
          <a:xfrm>
            <a:off x="6743700" y="2523744"/>
            <a:ext cx="657454"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キャプチャ</a:t>
            </a:r>
            <a:endParaRPr lang="en-US" sz="900" dirty="0"/>
          </a:p>
        </p:txBody>
      </p:sp>
      <p:sp>
        <p:nvSpPr>
          <p:cNvPr id="54" name="Shape 47"/>
          <p:cNvSpPr/>
          <p:nvPr/>
        </p:nvSpPr>
        <p:spPr>
          <a:xfrm>
            <a:off x="7495337" y="2476195"/>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55" name="Shape 48"/>
          <p:cNvSpPr/>
          <p:nvPr/>
        </p:nvSpPr>
        <p:spPr>
          <a:xfrm>
            <a:off x="7599578" y="2523744"/>
            <a:ext cx="171907" cy="171907"/>
          </a:xfrm>
          <a:prstGeom prst="ellipse">
            <a:avLst/>
          </a:prstGeom>
          <a:solidFill>
            <a:srgbClr val="DC2626"/>
          </a:solidFill>
          <a:ln/>
        </p:spPr>
      </p:sp>
      <p:sp>
        <p:nvSpPr>
          <p:cNvPr id="56" name="Text 49"/>
          <p:cNvSpPr txBox="1"/>
          <p:nvPr/>
        </p:nvSpPr>
        <p:spPr>
          <a:xfrm>
            <a:off x="7652614"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C</a:t>
            </a:r>
            <a:endParaRPr lang="en-US" sz="800" dirty="0"/>
          </a:p>
        </p:txBody>
      </p:sp>
      <p:sp>
        <p:nvSpPr>
          <p:cNvPr id="57" name="Text 50"/>
          <p:cNvSpPr txBox="1"/>
          <p:nvPr/>
        </p:nvSpPr>
        <p:spPr>
          <a:xfrm>
            <a:off x="7828178" y="2523744"/>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検索</a:t>
            </a:r>
            <a:endParaRPr lang="en-US" sz="900" dirty="0"/>
          </a:p>
        </p:txBody>
      </p:sp>
      <p:sp>
        <p:nvSpPr>
          <p:cNvPr id="58" name="Shape 51"/>
          <p:cNvSpPr/>
          <p:nvPr/>
        </p:nvSpPr>
        <p:spPr>
          <a:xfrm>
            <a:off x="8237830" y="2476195"/>
            <a:ext cx="11338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59" name="Shape 52"/>
          <p:cNvSpPr/>
          <p:nvPr/>
        </p:nvSpPr>
        <p:spPr>
          <a:xfrm>
            <a:off x="8342986" y="2523744"/>
            <a:ext cx="171907" cy="171907"/>
          </a:xfrm>
          <a:prstGeom prst="ellipse">
            <a:avLst/>
          </a:prstGeom>
          <a:solidFill>
            <a:srgbClr val="DC2626"/>
          </a:solidFill>
          <a:ln/>
        </p:spPr>
      </p:sp>
      <p:sp>
        <p:nvSpPr>
          <p:cNvPr id="60" name="Text 53"/>
          <p:cNvSpPr txBox="1"/>
          <p:nvPr/>
        </p:nvSpPr>
        <p:spPr>
          <a:xfrm>
            <a:off x="8393278" y="2535631"/>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D</a:t>
            </a:r>
            <a:endParaRPr lang="en-US" sz="800" dirty="0"/>
          </a:p>
        </p:txBody>
      </p:sp>
      <p:sp>
        <p:nvSpPr>
          <p:cNvPr id="61" name="Text 54"/>
          <p:cNvSpPr txBox="1"/>
          <p:nvPr/>
        </p:nvSpPr>
        <p:spPr>
          <a:xfrm>
            <a:off x="8571586" y="2523744"/>
            <a:ext cx="7818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要約・優先度</a:t>
            </a:r>
            <a:endParaRPr lang="en-US" sz="900" dirty="0"/>
          </a:p>
        </p:txBody>
      </p:sp>
      <p:sp>
        <p:nvSpPr>
          <p:cNvPr id="62" name="Shape 55"/>
          <p:cNvSpPr/>
          <p:nvPr/>
        </p:nvSpPr>
        <p:spPr>
          <a:xfrm>
            <a:off x="9438437" y="2476195"/>
            <a:ext cx="9052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63" name="Shape 56"/>
          <p:cNvSpPr/>
          <p:nvPr/>
        </p:nvSpPr>
        <p:spPr>
          <a:xfrm>
            <a:off x="9543593" y="2523744"/>
            <a:ext cx="171907" cy="171907"/>
          </a:xfrm>
          <a:prstGeom prst="ellipse">
            <a:avLst/>
          </a:prstGeom>
          <a:solidFill>
            <a:srgbClr val="DC2626"/>
          </a:solidFill>
          <a:ln/>
        </p:spPr>
      </p:sp>
      <p:sp>
        <p:nvSpPr>
          <p:cNvPr id="64" name="Text 57"/>
          <p:cNvSpPr txBox="1"/>
          <p:nvPr/>
        </p:nvSpPr>
        <p:spPr>
          <a:xfrm>
            <a:off x="9598457" y="2535631"/>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E</a:t>
            </a:r>
            <a:endParaRPr lang="en-US" sz="800" dirty="0"/>
          </a:p>
        </p:txBody>
      </p:sp>
      <p:sp>
        <p:nvSpPr>
          <p:cNvPr id="65" name="Text 58"/>
          <p:cNvSpPr txBox="1"/>
          <p:nvPr/>
        </p:nvSpPr>
        <p:spPr>
          <a:xfrm>
            <a:off x="9772193" y="2523744"/>
            <a:ext cx="5532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タスク化</a:t>
            </a:r>
            <a:endParaRPr lang="en-US" sz="900" dirty="0"/>
          </a:p>
        </p:txBody>
      </p:sp>
      <p:pic>
        <p:nvPicPr>
          <p:cNvPr id="66" name="Image 5" descr="preencoded.png"/>
          <p:cNvPicPr>
            <a:picLocks noChangeAspect="1"/>
          </p:cNvPicPr>
          <p:nvPr/>
        </p:nvPicPr>
        <p:blipFill>
          <a:blip r:embed="rId5"/>
          <a:srcRect l="-1911" r="-1911"/>
          <a:stretch/>
        </p:blipFill>
        <p:spPr>
          <a:xfrm>
            <a:off x="6409944" y="2962656"/>
            <a:ext cx="133502" cy="114300"/>
          </a:xfrm>
          <a:prstGeom prst="rect">
            <a:avLst/>
          </a:prstGeom>
        </p:spPr>
      </p:pic>
      <p:sp>
        <p:nvSpPr>
          <p:cNvPr id="67" name="Text 59"/>
          <p:cNvSpPr txBox="1"/>
          <p:nvPr/>
        </p:nvSpPr>
        <p:spPr>
          <a:xfrm>
            <a:off x="6543446" y="2933395"/>
            <a:ext cx="7818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データフロー</a:t>
            </a:r>
            <a:endParaRPr lang="en-US" sz="900" dirty="0"/>
          </a:p>
        </p:txBody>
      </p:sp>
      <p:sp>
        <p:nvSpPr>
          <p:cNvPr id="68" name="Shape 60"/>
          <p:cNvSpPr/>
          <p:nvPr/>
        </p:nvSpPr>
        <p:spPr>
          <a:xfrm>
            <a:off x="6409944" y="3181198"/>
            <a:ext cx="5124298" cy="543154"/>
          </a:xfrm>
          <a:prstGeom prst="roundRect">
            <a:avLst>
              <a:gd name="adj" fmla="val 23628"/>
            </a:avLst>
          </a:prstGeom>
          <a:solidFill>
            <a:srgbClr val="FFFFFF"/>
          </a:solidFill>
          <a:ln w="12700">
            <a:solidFill>
              <a:srgbClr val="E5E7EB"/>
            </a:solidFill>
            <a:prstDash val="solid"/>
          </a:ln>
        </p:spPr>
      </p:sp>
      <p:sp>
        <p:nvSpPr>
          <p:cNvPr id="69" name="Shape 61"/>
          <p:cNvSpPr/>
          <p:nvPr/>
        </p:nvSpPr>
        <p:spPr>
          <a:xfrm>
            <a:off x="7162495" y="3326587"/>
            <a:ext cx="409651" cy="19202"/>
          </a:xfrm>
          <a:prstGeom prst="rect">
            <a:avLst/>
          </a:prstGeom>
          <a:solidFill>
            <a:srgbClr val="DC2626">
              <a:alpha val="80000"/>
            </a:srgbClr>
          </a:solidFill>
          <a:ln/>
        </p:spPr>
      </p:sp>
      <p:sp>
        <p:nvSpPr>
          <p:cNvPr id="70" name="Shape 62"/>
          <p:cNvSpPr/>
          <p:nvPr/>
        </p:nvSpPr>
        <p:spPr>
          <a:xfrm>
            <a:off x="8209483" y="3326587"/>
            <a:ext cx="409651" cy="19202"/>
          </a:xfrm>
          <a:prstGeom prst="rect">
            <a:avLst/>
          </a:prstGeom>
          <a:solidFill>
            <a:srgbClr val="DC2626">
              <a:alpha val="80000"/>
            </a:srgbClr>
          </a:solidFill>
          <a:ln/>
        </p:spPr>
      </p:sp>
      <p:sp>
        <p:nvSpPr>
          <p:cNvPr id="71" name="Shape 63"/>
          <p:cNvSpPr/>
          <p:nvPr/>
        </p:nvSpPr>
        <p:spPr>
          <a:xfrm>
            <a:off x="9238183" y="3326587"/>
            <a:ext cx="409651" cy="19202"/>
          </a:xfrm>
          <a:prstGeom prst="rect">
            <a:avLst/>
          </a:prstGeom>
          <a:solidFill>
            <a:srgbClr val="DC2626">
              <a:alpha val="80000"/>
            </a:srgbClr>
          </a:solidFill>
          <a:ln/>
        </p:spPr>
      </p:sp>
      <p:sp>
        <p:nvSpPr>
          <p:cNvPr id="72" name="Shape 64"/>
          <p:cNvSpPr/>
          <p:nvPr/>
        </p:nvSpPr>
        <p:spPr>
          <a:xfrm>
            <a:off x="10324490" y="3326587"/>
            <a:ext cx="409651" cy="19202"/>
          </a:xfrm>
          <a:prstGeom prst="rect">
            <a:avLst/>
          </a:prstGeom>
          <a:solidFill>
            <a:srgbClr val="DC2626">
              <a:alpha val="80000"/>
            </a:srgbClr>
          </a:solidFill>
          <a:ln/>
        </p:spPr>
      </p:sp>
      <p:sp>
        <p:nvSpPr>
          <p:cNvPr id="73" name="Shape 65"/>
          <p:cNvSpPr/>
          <p:nvPr/>
        </p:nvSpPr>
        <p:spPr>
          <a:xfrm>
            <a:off x="457200" y="4043477"/>
            <a:ext cx="5524805" cy="2514600"/>
          </a:xfrm>
          <a:prstGeom prst="roundRect">
            <a:avLst>
              <a:gd name="adj" fmla="val 1102"/>
            </a:avLst>
          </a:prstGeom>
          <a:solidFill>
            <a:srgbClr val="F9FAFB"/>
          </a:solidFill>
          <a:ln w="12700">
            <a:solidFill>
              <a:srgbClr val="E5E7EB"/>
            </a:solidFill>
            <a:prstDash val="solid"/>
          </a:ln>
        </p:spPr>
      </p:sp>
      <p:sp>
        <p:nvSpPr>
          <p:cNvPr id="74" name="Shape 66"/>
          <p:cNvSpPr/>
          <p:nvPr/>
        </p:nvSpPr>
        <p:spPr>
          <a:xfrm>
            <a:off x="657454" y="4806086"/>
            <a:ext cx="5124298" cy="9144"/>
          </a:xfrm>
          <a:prstGeom prst="rect">
            <a:avLst/>
          </a:prstGeom>
          <a:solidFill>
            <a:srgbClr val="E5E7EB"/>
          </a:solidFill>
          <a:ln/>
        </p:spPr>
      </p:sp>
      <p:sp>
        <p:nvSpPr>
          <p:cNvPr id="75" name="Shape 67"/>
          <p:cNvSpPr/>
          <p:nvPr/>
        </p:nvSpPr>
        <p:spPr>
          <a:xfrm>
            <a:off x="657454" y="4257446"/>
            <a:ext cx="418795" cy="418795"/>
          </a:xfrm>
          <a:prstGeom prst="roundRect">
            <a:avLst>
              <a:gd name="adj" fmla="val 39698"/>
            </a:avLst>
          </a:prstGeom>
          <a:solidFill>
            <a:srgbClr val="E5E7EB"/>
          </a:solidFill>
          <a:ln/>
        </p:spPr>
      </p:sp>
      <p:pic>
        <p:nvPicPr>
          <p:cNvPr id="76" name="Image 6" descr="preencoded.png"/>
          <p:cNvPicPr>
            <a:picLocks noChangeAspect="1"/>
          </p:cNvPicPr>
          <p:nvPr/>
        </p:nvPicPr>
        <p:blipFill>
          <a:blip r:embed="rId7"/>
          <a:srcRect/>
          <a:stretch/>
        </p:blipFill>
        <p:spPr>
          <a:xfrm>
            <a:off x="795528" y="4371746"/>
            <a:ext cx="142646" cy="190195"/>
          </a:xfrm>
          <a:prstGeom prst="rect">
            <a:avLst/>
          </a:prstGeom>
        </p:spPr>
      </p:pic>
      <p:sp>
        <p:nvSpPr>
          <p:cNvPr id="77" name="Text 68"/>
          <p:cNvSpPr txBox="1"/>
          <p:nvPr/>
        </p:nvSpPr>
        <p:spPr>
          <a:xfrm>
            <a:off x="1209751" y="4243730"/>
            <a:ext cx="2015338" cy="247802"/>
          </a:xfrm>
          <a:prstGeom prst="rect">
            <a:avLst/>
          </a:prstGeom>
          <a:noFill/>
          <a:ln/>
        </p:spPr>
        <p:txBody>
          <a:bodyPr wrap="square" lIns="0" tIns="0" rIns="0" bIns="0" rtlCol="0" anchor="ctr"/>
          <a:lstStyle/>
          <a:p>
            <a:pPr marL="0" indent="0" algn="l">
              <a:buNone/>
            </a:pPr>
            <a:r>
              <a:rPr lang="en-US" sz="1300" b="1" dirty="0">
                <a:solidFill>
                  <a:srgbClr val="111827"/>
                </a:solidFill>
                <a:latin typeface="Noto Sans JP" pitchFamily="34" charset="0"/>
                <a:ea typeface="Noto Sans JP" pitchFamily="34" charset="-122"/>
                <a:cs typeface="Noto Sans JP" pitchFamily="34" charset="-120"/>
              </a:rPr>
              <a:t>文書・資料作成ドメイン</a:t>
            </a:r>
            <a:endParaRPr lang="en-US" sz="1300" dirty="0"/>
          </a:p>
        </p:txBody>
      </p:sp>
      <p:sp>
        <p:nvSpPr>
          <p:cNvPr id="78" name="Text 69"/>
          <p:cNvSpPr txBox="1"/>
          <p:nvPr/>
        </p:nvSpPr>
        <p:spPr>
          <a:xfrm>
            <a:off x="1209751" y="4519879"/>
            <a:ext cx="14676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資料作成プロセスの高速化</a:t>
            </a:r>
            <a:endParaRPr lang="en-US" sz="900" dirty="0"/>
          </a:p>
        </p:txBody>
      </p:sp>
      <p:pic>
        <p:nvPicPr>
          <p:cNvPr id="79" name="Image 7" descr="preencoded.png"/>
          <p:cNvPicPr>
            <a:picLocks noChangeAspect="1"/>
          </p:cNvPicPr>
          <p:nvPr/>
        </p:nvPicPr>
        <p:blipFill>
          <a:blip r:embed="rId4"/>
          <a:srcRect l="-1911" r="-1911"/>
          <a:stretch/>
        </p:blipFill>
        <p:spPr>
          <a:xfrm>
            <a:off x="657454" y="4996282"/>
            <a:ext cx="133502" cy="114300"/>
          </a:xfrm>
          <a:prstGeom prst="rect">
            <a:avLst/>
          </a:prstGeom>
        </p:spPr>
      </p:pic>
      <p:sp>
        <p:nvSpPr>
          <p:cNvPr id="80" name="Text 70"/>
          <p:cNvSpPr txBox="1"/>
          <p:nvPr/>
        </p:nvSpPr>
        <p:spPr>
          <a:xfrm>
            <a:off x="790956" y="4967021"/>
            <a:ext cx="14676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必要な機能コンポーネント</a:t>
            </a:r>
            <a:endParaRPr lang="en-US" sz="900" dirty="0"/>
          </a:p>
        </p:txBody>
      </p:sp>
      <p:sp>
        <p:nvSpPr>
          <p:cNvPr id="81" name="Shape 71"/>
          <p:cNvSpPr/>
          <p:nvPr/>
        </p:nvSpPr>
        <p:spPr>
          <a:xfrm>
            <a:off x="657454" y="5214823"/>
            <a:ext cx="1009498"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82" name="Shape 72"/>
          <p:cNvSpPr/>
          <p:nvPr/>
        </p:nvSpPr>
        <p:spPr>
          <a:xfrm>
            <a:off x="761695" y="5262372"/>
            <a:ext cx="171907" cy="171907"/>
          </a:xfrm>
          <a:prstGeom prst="ellipse">
            <a:avLst/>
          </a:prstGeom>
          <a:solidFill>
            <a:srgbClr val="DC2626"/>
          </a:solidFill>
          <a:ln/>
        </p:spPr>
      </p:sp>
      <p:sp>
        <p:nvSpPr>
          <p:cNvPr id="83" name="Text 73"/>
          <p:cNvSpPr txBox="1"/>
          <p:nvPr/>
        </p:nvSpPr>
        <p:spPr>
          <a:xfrm>
            <a:off x="815645" y="5274259"/>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A</a:t>
            </a:r>
            <a:endParaRPr lang="en-US" sz="800" dirty="0"/>
          </a:p>
        </p:txBody>
      </p:sp>
      <p:sp>
        <p:nvSpPr>
          <p:cNvPr id="84" name="Text 74"/>
          <p:cNvSpPr txBox="1"/>
          <p:nvPr/>
        </p:nvSpPr>
        <p:spPr>
          <a:xfrm>
            <a:off x="990295" y="5262372"/>
            <a:ext cx="657454"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キャプチャ</a:t>
            </a:r>
            <a:endParaRPr lang="en-US" sz="900" dirty="0"/>
          </a:p>
        </p:txBody>
      </p:sp>
      <p:sp>
        <p:nvSpPr>
          <p:cNvPr id="85" name="Shape 75"/>
          <p:cNvSpPr/>
          <p:nvPr/>
        </p:nvSpPr>
        <p:spPr>
          <a:xfrm>
            <a:off x="1741932" y="5214823"/>
            <a:ext cx="9052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86" name="Shape 76"/>
          <p:cNvSpPr/>
          <p:nvPr/>
        </p:nvSpPr>
        <p:spPr>
          <a:xfrm>
            <a:off x="1847088" y="5262372"/>
            <a:ext cx="171907" cy="171907"/>
          </a:xfrm>
          <a:prstGeom prst="ellipse">
            <a:avLst/>
          </a:prstGeom>
          <a:solidFill>
            <a:srgbClr val="DC2626"/>
          </a:solidFill>
          <a:ln/>
        </p:spPr>
      </p:sp>
      <p:sp>
        <p:nvSpPr>
          <p:cNvPr id="87" name="Text 77"/>
          <p:cNvSpPr txBox="1"/>
          <p:nvPr/>
        </p:nvSpPr>
        <p:spPr>
          <a:xfrm>
            <a:off x="1900123" y="5274259"/>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C</a:t>
            </a:r>
            <a:endParaRPr lang="en-US" sz="800" dirty="0"/>
          </a:p>
        </p:txBody>
      </p:sp>
      <p:sp>
        <p:nvSpPr>
          <p:cNvPr id="88" name="Text 78"/>
          <p:cNvSpPr txBox="1"/>
          <p:nvPr/>
        </p:nvSpPr>
        <p:spPr>
          <a:xfrm>
            <a:off x="2075688" y="5262372"/>
            <a:ext cx="5532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関連検索</a:t>
            </a:r>
            <a:endParaRPr lang="en-US" sz="900" dirty="0"/>
          </a:p>
        </p:txBody>
      </p:sp>
      <p:sp>
        <p:nvSpPr>
          <p:cNvPr id="89" name="Shape 79"/>
          <p:cNvSpPr/>
          <p:nvPr/>
        </p:nvSpPr>
        <p:spPr>
          <a:xfrm>
            <a:off x="2713939" y="5214823"/>
            <a:ext cx="10195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90" name="Shape 80"/>
          <p:cNvSpPr/>
          <p:nvPr/>
        </p:nvSpPr>
        <p:spPr>
          <a:xfrm>
            <a:off x="2818181" y="5262372"/>
            <a:ext cx="171907" cy="171907"/>
          </a:xfrm>
          <a:prstGeom prst="ellipse">
            <a:avLst/>
          </a:prstGeom>
          <a:solidFill>
            <a:srgbClr val="DC2626"/>
          </a:solidFill>
          <a:ln/>
        </p:spPr>
      </p:sp>
      <p:sp>
        <p:nvSpPr>
          <p:cNvPr id="91" name="Text 81"/>
          <p:cNvSpPr txBox="1"/>
          <p:nvPr/>
        </p:nvSpPr>
        <p:spPr>
          <a:xfrm>
            <a:off x="2868473" y="5274259"/>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D</a:t>
            </a:r>
            <a:endParaRPr lang="en-US" sz="800" dirty="0"/>
          </a:p>
        </p:txBody>
      </p:sp>
      <p:sp>
        <p:nvSpPr>
          <p:cNvPr id="92" name="Text 82"/>
          <p:cNvSpPr txBox="1"/>
          <p:nvPr/>
        </p:nvSpPr>
        <p:spPr>
          <a:xfrm>
            <a:off x="3046781" y="5262372"/>
            <a:ext cx="6675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生成・変換</a:t>
            </a:r>
            <a:endParaRPr lang="en-US" sz="900" dirty="0"/>
          </a:p>
        </p:txBody>
      </p:sp>
      <p:sp>
        <p:nvSpPr>
          <p:cNvPr id="93" name="Shape 83"/>
          <p:cNvSpPr/>
          <p:nvPr/>
        </p:nvSpPr>
        <p:spPr>
          <a:xfrm>
            <a:off x="3799332" y="5214823"/>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94" name="Shape 84"/>
          <p:cNvSpPr/>
          <p:nvPr/>
        </p:nvSpPr>
        <p:spPr>
          <a:xfrm>
            <a:off x="3904488" y="5262372"/>
            <a:ext cx="171907" cy="171907"/>
          </a:xfrm>
          <a:prstGeom prst="ellipse">
            <a:avLst/>
          </a:prstGeom>
          <a:solidFill>
            <a:srgbClr val="DC2626"/>
          </a:solidFill>
          <a:ln/>
        </p:spPr>
      </p:sp>
      <p:sp>
        <p:nvSpPr>
          <p:cNvPr id="95" name="Text 85"/>
          <p:cNvSpPr txBox="1"/>
          <p:nvPr/>
        </p:nvSpPr>
        <p:spPr>
          <a:xfrm>
            <a:off x="3956609" y="5274259"/>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B</a:t>
            </a:r>
            <a:endParaRPr lang="en-US" sz="800" dirty="0"/>
          </a:p>
        </p:txBody>
      </p:sp>
      <p:sp>
        <p:nvSpPr>
          <p:cNvPr id="96" name="Text 86"/>
          <p:cNvSpPr txBox="1"/>
          <p:nvPr/>
        </p:nvSpPr>
        <p:spPr>
          <a:xfrm>
            <a:off x="4133088" y="5262372"/>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保存</a:t>
            </a:r>
            <a:endParaRPr lang="en-US" sz="900" dirty="0"/>
          </a:p>
        </p:txBody>
      </p:sp>
      <p:pic>
        <p:nvPicPr>
          <p:cNvPr id="97" name="Image 8" descr="preencoded.png"/>
          <p:cNvPicPr>
            <a:picLocks noChangeAspect="1"/>
          </p:cNvPicPr>
          <p:nvPr/>
        </p:nvPicPr>
        <p:blipFill>
          <a:blip r:embed="rId5"/>
          <a:srcRect l="-1911" r="-1911"/>
          <a:stretch/>
        </p:blipFill>
        <p:spPr>
          <a:xfrm>
            <a:off x="657454" y="5700370"/>
            <a:ext cx="133502" cy="114300"/>
          </a:xfrm>
          <a:prstGeom prst="rect">
            <a:avLst/>
          </a:prstGeom>
        </p:spPr>
      </p:pic>
      <p:sp>
        <p:nvSpPr>
          <p:cNvPr id="98" name="Text 87"/>
          <p:cNvSpPr txBox="1"/>
          <p:nvPr/>
        </p:nvSpPr>
        <p:spPr>
          <a:xfrm>
            <a:off x="790956" y="5672023"/>
            <a:ext cx="7818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データフロー</a:t>
            </a:r>
            <a:endParaRPr lang="en-US" sz="900" dirty="0"/>
          </a:p>
        </p:txBody>
      </p:sp>
      <p:sp>
        <p:nvSpPr>
          <p:cNvPr id="99" name="Shape 88"/>
          <p:cNvSpPr/>
          <p:nvPr/>
        </p:nvSpPr>
        <p:spPr>
          <a:xfrm>
            <a:off x="657454" y="5919826"/>
            <a:ext cx="5124298" cy="657454"/>
          </a:xfrm>
          <a:prstGeom prst="roundRect">
            <a:avLst>
              <a:gd name="adj" fmla="val 16125"/>
            </a:avLst>
          </a:prstGeom>
          <a:solidFill>
            <a:srgbClr val="FFFFFF"/>
          </a:solidFill>
          <a:ln w="12700">
            <a:solidFill>
              <a:srgbClr val="E5E7EB"/>
            </a:solidFill>
            <a:prstDash val="solid"/>
          </a:ln>
        </p:spPr>
      </p:sp>
      <p:sp>
        <p:nvSpPr>
          <p:cNvPr id="100" name="Shape 89"/>
          <p:cNvSpPr/>
          <p:nvPr/>
        </p:nvSpPr>
        <p:spPr>
          <a:xfrm>
            <a:off x="1410005" y="6124651"/>
            <a:ext cx="428854" cy="19202"/>
          </a:xfrm>
          <a:prstGeom prst="rect">
            <a:avLst/>
          </a:prstGeom>
          <a:solidFill>
            <a:srgbClr val="DC2626">
              <a:alpha val="80000"/>
            </a:srgbClr>
          </a:solidFill>
          <a:ln/>
        </p:spPr>
      </p:sp>
      <p:sp>
        <p:nvSpPr>
          <p:cNvPr id="101" name="Shape 90"/>
          <p:cNvSpPr/>
          <p:nvPr/>
        </p:nvSpPr>
        <p:spPr>
          <a:xfrm>
            <a:off x="2462479" y="6124651"/>
            <a:ext cx="428854" cy="19202"/>
          </a:xfrm>
          <a:prstGeom prst="rect">
            <a:avLst/>
          </a:prstGeom>
          <a:solidFill>
            <a:srgbClr val="DC2626">
              <a:alpha val="80000"/>
            </a:srgbClr>
          </a:solidFill>
          <a:ln/>
        </p:spPr>
      </p:sp>
      <p:sp>
        <p:nvSpPr>
          <p:cNvPr id="102" name="Shape 91"/>
          <p:cNvSpPr/>
          <p:nvPr/>
        </p:nvSpPr>
        <p:spPr>
          <a:xfrm>
            <a:off x="3514954" y="6124651"/>
            <a:ext cx="428854" cy="19202"/>
          </a:xfrm>
          <a:prstGeom prst="rect">
            <a:avLst/>
          </a:prstGeom>
          <a:solidFill>
            <a:srgbClr val="DC2626">
              <a:alpha val="80000"/>
            </a:srgbClr>
          </a:solidFill>
          <a:ln/>
        </p:spPr>
      </p:sp>
      <p:sp>
        <p:nvSpPr>
          <p:cNvPr id="103" name="Shape 92"/>
          <p:cNvSpPr/>
          <p:nvPr/>
        </p:nvSpPr>
        <p:spPr>
          <a:xfrm>
            <a:off x="4586630" y="6124651"/>
            <a:ext cx="428854" cy="19202"/>
          </a:xfrm>
          <a:prstGeom prst="rect">
            <a:avLst/>
          </a:prstGeom>
          <a:solidFill>
            <a:srgbClr val="DC2626">
              <a:alpha val="80000"/>
            </a:srgbClr>
          </a:solidFill>
          <a:ln/>
        </p:spPr>
      </p:sp>
      <p:sp>
        <p:nvSpPr>
          <p:cNvPr id="104" name="Shape 93"/>
          <p:cNvSpPr/>
          <p:nvPr/>
        </p:nvSpPr>
        <p:spPr>
          <a:xfrm>
            <a:off x="6210605" y="4043477"/>
            <a:ext cx="5524805" cy="2514600"/>
          </a:xfrm>
          <a:prstGeom prst="roundRect">
            <a:avLst>
              <a:gd name="adj" fmla="val 1102"/>
            </a:avLst>
          </a:prstGeom>
          <a:solidFill>
            <a:srgbClr val="F9FAFB"/>
          </a:solidFill>
          <a:ln w="12700">
            <a:solidFill>
              <a:srgbClr val="E5E7EB"/>
            </a:solidFill>
            <a:prstDash val="solid"/>
          </a:ln>
        </p:spPr>
      </p:sp>
      <p:sp>
        <p:nvSpPr>
          <p:cNvPr id="105" name="Shape 94"/>
          <p:cNvSpPr/>
          <p:nvPr/>
        </p:nvSpPr>
        <p:spPr>
          <a:xfrm>
            <a:off x="6409944" y="4806086"/>
            <a:ext cx="5124298" cy="9144"/>
          </a:xfrm>
          <a:prstGeom prst="rect">
            <a:avLst/>
          </a:prstGeom>
          <a:solidFill>
            <a:srgbClr val="E5E7EB"/>
          </a:solidFill>
          <a:ln/>
        </p:spPr>
      </p:sp>
      <p:sp>
        <p:nvSpPr>
          <p:cNvPr id="106" name="Shape 95"/>
          <p:cNvSpPr/>
          <p:nvPr/>
        </p:nvSpPr>
        <p:spPr>
          <a:xfrm>
            <a:off x="6409944" y="4257446"/>
            <a:ext cx="418795" cy="418795"/>
          </a:xfrm>
          <a:prstGeom prst="roundRect">
            <a:avLst>
              <a:gd name="adj" fmla="val 39698"/>
            </a:avLst>
          </a:prstGeom>
          <a:solidFill>
            <a:srgbClr val="E5E7EB"/>
          </a:solidFill>
          <a:ln/>
        </p:spPr>
      </p:sp>
      <p:pic>
        <p:nvPicPr>
          <p:cNvPr id="107" name="Image 9" descr="preencoded.png"/>
          <p:cNvPicPr>
            <a:picLocks noChangeAspect="1"/>
          </p:cNvPicPr>
          <p:nvPr/>
        </p:nvPicPr>
        <p:blipFill>
          <a:blip r:embed="rId8"/>
          <a:srcRect l="-1282" r="-1282"/>
          <a:stretch/>
        </p:blipFill>
        <p:spPr>
          <a:xfrm>
            <a:off x="6510528" y="4371746"/>
            <a:ext cx="219456" cy="190195"/>
          </a:xfrm>
          <a:prstGeom prst="rect">
            <a:avLst/>
          </a:prstGeom>
        </p:spPr>
      </p:pic>
      <p:sp>
        <p:nvSpPr>
          <p:cNvPr id="108" name="Text 96"/>
          <p:cNvSpPr txBox="1"/>
          <p:nvPr/>
        </p:nvSpPr>
        <p:spPr>
          <a:xfrm>
            <a:off x="6963156" y="4243730"/>
            <a:ext cx="1843430" cy="247802"/>
          </a:xfrm>
          <a:prstGeom prst="rect">
            <a:avLst/>
          </a:prstGeom>
          <a:noFill/>
          <a:ln/>
        </p:spPr>
        <p:txBody>
          <a:bodyPr wrap="square" lIns="0" tIns="0" rIns="0" bIns="0" rtlCol="0" anchor="ctr"/>
          <a:lstStyle/>
          <a:p>
            <a:pPr marL="0" indent="0" algn="l">
              <a:buNone/>
            </a:pPr>
            <a:r>
              <a:rPr lang="en-US" sz="1300" b="1" dirty="0">
                <a:solidFill>
                  <a:srgbClr val="111827"/>
                </a:solidFill>
                <a:latin typeface="Noto Sans JP" pitchFamily="34" charset="0"/>
                <a:ea typeface="Noto Sans JP" pitchFamily="34" charset="-122"/>
                <a:cs typeface="Noto Sans JP" pitchFamily="34" charset="-120"/>
              </a:rPr>
              <a:t>データ分析・レポート</a:t>
            </a:r>
            <a:endParaRPr lang="en-US" sz="1300" dirty="0"/>
          </a:p>
        </p:txBody>
      </p:sp>
      <p:sp>
        <p:nvSpPr>
          <p:cNvPr id="109" name="Text 97"/>
          <p:cNvSpPr txBox="1"/>
          <p:nvPr/>
        </p:nvSpPr>
        <p:spPr>
          <a:xfrm>
            <a:off x="6963156" y="4519879"/>
            <a:ext cx="1581912" cy="162763"/>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データからのインサイト抽出</a:t>
            </a:r>
            <a:endParaRPr lang="en-US" sz="900" dirty="0"/>
          </a:p>
        </p:txBody>
      </p:sp>
      <p:pic>
        <p:nvPicPr>
          <p:cNvPr id="110" name="Image 10" descr="preencoded.png"/>
          <p:cNvPicPr>
            <a:picLocks noChangeAspect="1"/>
          </p:cNvPicPr>
          <p:nvPr/>
        </p:nvPicPr>
        <p:blipFill>
          <a:blip r:embed="rId4"/>
          <a:srcRect l="-1911" r="-1911"/>
          <a:stretch/>
        </p:blipFill>
        <p:spPr>
          <a:xfrm>
            <a:off x="6409944" y="4996282"/>
            <a:ext cx="133502" cy="114300"/>
          </a:xfrm>
          <a:prstGeom prst="rect">
            <a:avLst/>
          </a:prstGeom>
        </p:spPr>
      </p:pic>
      <p:sp>
        <p:nvSpPr>
          <p:cNvPr id="111" name="Text 98"/>
          <p:cNvSpPr txBox="1"/>
          <p:nvPr/>
        </p:nvSpPr>
        <p:spPr>
          <a:xfrm>
            <a:off x="6543446" y="4967021"/>
            <a:ext cx="14676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必要な機能コンポーネント</a:t>
            </a:r>
            <a:endParaRPr lang="en-US" sz="900" dirty="0"/>
          </a:p>
        </p:txBody>
      </p:sp>
      <p:sp>
        <p:nvSpPr>
          <p:cNvPr id="112" name="Shape 99"/>
          <p:cNvSpPr/>
          <p:nvPr/>
        </p:nvSpPr>
        <p:spPr>
          <a:xfrm>
            <a:off x="6409944" y="5214823"/>
            <a:ext cx="82844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113" name="Shape 100"/>
          <p:cNvSpPr/>
          <p:nvPr/>
        </p:nvSpPr>
        <p:spPr>
          <a:xfrm>
            <a:off x="6515100" y="5262372"/>
            <a:ext cx="171907" cy="171907"/>
          </a:xfrm>
          <a:prstGeom prst="ellipse">
            <a:avLst/>
          </a:prstGeom>
          <a:solidFill>
            <a:srgbClr val="DC2626"/>
          </a:solidFill>
          <a:ln/>
        </p:spPr>
      </p:sp>
      <p:sp>
        <p:nvSpPr>
          <p:cNvPr id="114" name="Text 101"/>
          <p:cNvSpPr txBox="1"/>
          <p:nvPr/>
        </p:nvSpPr>
        <p:spPr>
          <a:xfrm>
            <a:off x="6569050" y="5274259"/>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A</a:t>
            </a:r>
            <a:endParaRPr lang="en-US" sz="800" dirty="0"/>
          </a:p>
        </p:txBody>
      </p:sp>
      <p:sp>
        <p:nvSpPr>
          <p:cNvPr id="115" name="Text 102"/>
          <p:cNvSpPr txBox="1"/>
          <p:nvPr/>
        </p:nvSpPr>
        <p:spPr>
          <a:xfrm>
            <a:off x="6743700" y="5262372"/>
            <a:ext cx="47640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DB連携</a:t>
            </a:r>
            <a:endParaRPr lang="en-US" sz="900" dirty="0"/>
          </a:p>
        </p:txBody>
      </p:sp>
      <p:sp>
        <p:nvSpPr>
          <p:cNvPr id="116" name="Shape 103"/>
          <p:cNvSpPr/>
          <p:nvPr/>
        </p:nvSpPr>
        <p:spPr>
          <a:xfrm>
            <a:off x="7309714" y="5214823"/>
            <a:ext cx="705002"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117" name="Shape 104"/>
          <p:cNvSpPr/>
          <p:nvPr/>
        </p:nvSpPr>
        <p:spPr>
          <a:xfrm>
            <a:off x="7413955" y="5262372"/>
            <a:ext cx="171907" cy="171907"/>
          </a:xfrm>
          <a:prstGeom prst="ellipse">
            <a:avLst/>
          </a:prstGeom>
          <a:solidFill>
            <a:srgbClr val="DC2626"/>
          </a:solidFill>
          <a:ln/>
        </p:spPr>
      </p:sp>
      <p:sp>
        <p:nvSpPr>
          <p:cNvPr id="118" name="Text 105"/>
          <p:cNvSpPr txBox="1"/>
          <p:nvPr/>
        </p:nvSpPr>
        <p:spPr>
          <a:xfrm>
            <a:off x="7466076" y="5274259"/>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B</a:t>
            </a:r>
            <a:endParaRPr lang="en-US" sz="800" dirty="0"/>
          </a:p>
        </p:txBody>
      </p:sp>
      <p:sp>
        <p:nvSpPr>
          <p:cNvPr id="119" name="Text 106"/>
          <p:cNvSpPr txBox="1"/>
          <p:nvPr/>
        </p:nvSpPr>
        <p:spPr>
          <a:xfrm>
            <a:off x="7642555" y="5262372"/>
            <a:ext cx="352958"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DWH</a:t>
            </a:r>
            <a:endParaRPr lang="en-US" sz="900" dirty="0"/>
          </a:p>
        </p:txBody>
      </p:sp>
      <p:sp>
        <p:nvSpPr>
          <p:cNvPr id="120" name="Shape 107"/>
          <p:cNvSpPr/>
          <p:nvPr/>
        </p:nvSpPr>
        <p:spPr>
          <a:xfrm>
            <a:off x="8089697" y="5214823"/>
            <a:ext cx="6766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121" name="Shape 108"/>
          <p:cNvSpPr/>
          <p:nvPr/>
        </p:nvSpPr>
        <p:spPr>
          <a:xfrm>
            <a:off x="8194853" y="5262372"/>
            <a:ext cx="171907" cy="171907"/>
          </a:xfrm>
          <a:prstGeom prst="ellipse">
            <a:avLst/>
          </a:prstGeom>
          <a:solidFill>
            <a:srgbClr val="DC2626"/>
          </a:solidFill>
          <a:ln/>
        </p:spPr>
      </p:sp>
      <p:sp>
        <p:nvSpPr>
          <p:cNvPr id="122" name="Text 109"/>
          <p:cNvSpPr txBox="1"/>
          <p:nvPr/>
        </p:nvSpPr>
        <p:spPr>
          <a:xfrm>
            <a:off x="8247888" y="5274259"/>
            <a:ext cx="143561"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C</a:t>
            </a:r>
            <a:endParaRPr lang="en-US" sz="800" dirty="0"/>
          </a:p>
        </p:txBody>
      </p:sp>
      <p:sp>
        <p:nvSpPr>
          <p:cNvPr id="123" name="Text 110"/>
          <p:cNvSpPr txBox="1"/>
          <p:nvPr/>
        </p:nvSpPr>
        <p:spPr>
          <a:xfrm>
            <a:off x="8423453" y="5262372"/>
            <a:ext cx="3246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検索</a:t>
            </a:r>
            <a:endParaRPr lang="en-US" sz="900" dirty="0"/>
          </a:p>
        </p:txBody>
      </p:sp>
      <p:sp>
        <p:nvSpPr>
          <p:cNvPr id="124" name="Shape 111"/>
          <p:cNvSpPr/>
          <p:nvPr/>
        </p:nvSpPr>
        <p:spPr>
          <a:xfrm>
            <a:off x="8833104" y="5214823"/>
            <a:ext cx="790956" cy="267005"/>
          </a:xfrm>
          <a:prstGeom prst="roundRect">
            <a:avLst>
              <a:gd name="adj" fmla="val 342465"/>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sp>
        <p:nvSpPr>
          <p:cNvPr id="125" name="Shape 112"/>
          <p:cNvSpPr/>
          <p:nvPr/>
        </p:nvSpPr>
        <p:spPr>
          <a:xfrm>
            <a:off x="8937346" y="5262372"/>
            <a:ext cx="171907" cy="171907"/>
          </a:xfrm>
          <a:prstGeom prst="ellipse">
            <a:avLst/>
          </a:prstGeom>
          <a:solidFill>
            <a:srgbClr val="DC2626"/>
          </a:solidFill>
          <a:ln/>
        </p:spPr>
      </p:sp>
      <p:sp>
        <p:nvSpPr>
          <p:cNvPr id="126" name="Text 113"/>
          <p:cNvSpPr txBox="1"/>
          <p:nvPr/>
        </p:nvSpPr>
        <p:spPr>
          <a:xfrm>
            <a:off x="8987638" y="5274259"/>
            <a:ext cx="152705" cy="152705"/>
          </a:xfrm>
          <a:prstGeom prst="rect">
            <a:avLst/>
          </a:prstGeom>
          <a:noFill/>
          <a:ln/>
        </p:spPr>
        <p:txBody>
          <a:bodyPr wrap="square" lIns="0" tIns="0" rIns="0" bIns="0" rtlCol="0" anchor="ctr"/>
          <a:lstStyle/>
          <a:p>
            <a:pPr marL="0" indent="0" algn="l">
              <a:buNone/>
            </a:pPr>
            <a:r>
              <a:rPr lang="en-US" sz="800" b="1" dirty="0">
                <a:solidFill>
                  <a:srgbClr val="FFFFFF"/>
                </a:solidFill>
                <a:latin typeface="Noto Sans JP" pitchFamily="34" charset="0"/>
                <a:ea typeface="Noto Sans JP" pitchFamily="34" charset="-122"/>
                <a:cs typeface="Noto Sans JP" pitchFamily="34" charset="-120"/>
              </a:rPr>
              <a:t>D</a:t>
            </a:r>
            <a:endParaRPr lang="en-US" sz="800" dirty="0"/>
          </a:p>
        </p:txBody>
      </p:sp>
      <p:sp>
        <p:nvSpPr>
          <p:cNvPr id="127" name="Text 114"/>
          <p:cNvSpPr txBox="1"/>
          <p:nvPr/>
        </p:nvSpPr>
        <p:spPr>
          <a:xfrm>
            <a:off x="9165946" y="5262372"/>
            <a:ext cx="438912" cy="171907"/>
          </a:xfrm>
          <a:prstGeom prst="rect">
            <a:avLst/>
          </a:prstGeom>
          <a:noFill/>
          <a:ln/>
        </p:spPr>
        <p:txBody>
          <a:bodyPr wrap="square" lIns="0" tIns="0" rIns="0" bIns="0" rtlCol="0" anchor="ctr"/>
          <a:lstStyle/>
          <a:p>
            <a:pPr marL="0" indent="0" algn="l">
              <a:buNone/>
            </a:pPr>
            <a:r>
              <a:rPr lang="en-US" sz="900" dirty="0">
                <a:solidFill>
                  <a:srgbClr val="374151"/>
                </a:solidFill>
                <a:latin typeface="Noto Sans JP" pitchFamily="34" charset="0"/>
                <a:ea typeface="Noto Sans JP" pitchFamily="34" charset="-122"/>
                <a:cs typeface="Noto Sans JP" pitchFamily="34" charset="-120"/>
              </a:rPr>
              <a:t>可視化</a:t>
            </a:r>
            <a:endParaRPr lang="en-US" sz="900" dirty="0"/>
          </a:p>
        </p:txBody>
      </p:sp>
      <p:pic>
        <p:nvPicPr>
          <p:cNvPr id="128" name="Image 11" descr="preencoded.png"/>
          <p:cNvPicPr>
            <a:picLocks noChangeAspect="1"/>
          </p:cNvPicPr>
          <p:nvPr/>
        </p:nvPicPr>
        <p:blipFill>
          <a:blip r:embed="rId5"/>
          <a:srcRect l="-1911" r="-1911"/>
          <a:stretch/>
        </p:blipFill>
        <p:spPr>
          <a:xfrm>
            <a:off x="6409944" y="5700370"/>
            <a:ext cx="133502" cy="114300"/>
          </a:xfrm>
          <a:prstGeom prst="rect">
            <a:avLst/>
          </a:prstGeom>
        </p:spPr>
      </p:pic>
      <p:sp>
        <p:nvSpPr>
          <p:cNvPr id="129" name="Text 115"/>
          <p:cNvSpPr txBox="1"/>
          <p:nvPr/>
        </p:nvSpPr>
        <p:spPr>
          <a:xfrm>
            <a:off x="6543446" y="5672023"/>
            <a:ext cx="781812" cy="171907"/>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データフロー</a:t>
            </a:r>
            <a:endParaRPr lang="en-US" sz="900" dirty="0"/>
          </a:p>
        </p:txBody>
      </p:sp>
      <p:sp>
        <p:nvSpPr>
          <p:cNvPr id="130" name="Shape 116"/>
          <p:cNvSpPr/>
          <p:nvPr/>
        </p:nvSpPr>
        <p:spPr>
          <a:xfrm>
            <a:off x="6409944" y="5919826"/>
            <a:ext cx="5124298" cy="543154"/>
          </a:xfrm>
          <a:prstGeom prst="roundRect">
            <a:avLst>
              <a:gd name="adj" fmla="val 23628"/>
            </a:avLst>
          </a:prstGeom>
          <a:solidFill>
            <a:srgbClr val="FFFFFF"/>
          </a:solidFill>
          <a:ln w="12700">
            <a:solidFill>
              <a:srgbClr val="E5E7EB"/>
            </a:solidFill>
            <a:prstDash val="solid"/>
          </a:ln>
        </p:spPr>
      </p:sp>
      <p:sp>
        <p:nvSpPr>
          <p:cNvPr id="131" name="Shape 117"/>
          <p:cNvSpPr/>
          <p:nvPr/>
        </p:nvSpPr>
        <p:spPr>
          <a:xfrm>
            <a:off x="7162495" y="6065215"/>
            <a:ext cx="428854" cy="19202"/>
          </a:xfrm>
          <a:prstGeom prst="rect">
            <a:avLst/>
          </a:prstGeom>
          <a:solidFill>
            <a:srgbClr val="DC2626">
              <a:alpha val="80000"/>
            </a:srgbClr>
          </a:solidFill>
          <a:ln/>
        </p:spPr>
      </p:sp>
      <p:sp>
        <p:nvSpPr>
          <p:cNvPr id="132" name="Shape 118"/>
          <p:cNvSpPr/>
          <p:nvPr/>
        </p:nvSpPr>
        <p:spPr>
          <a:xfrm>
            <a:off x="8234172" y="6065215"/>
            <a:ext cx="428854" cy="19202"/>
          </a:xfrm>
          <a:prstGeom prst="rect">
            <a:avLst/>
          </a:prstGeom>
          <a:solidFill>
            <a:srgbClr val="DC2626">
              <a:alpha val="80000"/>
            </a:srgbClr>
          </a:solidFill>
          <a:ln/>
        </p:spPr>
      </p:sp>
      <p:sp>
        <p:nvSpPr>
          <p:cNvPr id="133" name="Shape 119"/>
          <p:cNvSpPr/>
          <p:nvPr/>
        </p:nvSpPr>
        <p:spPr>
          <a:xfrm>
            <a:off x="9286646" y="6065215"/>
            <a:ext cx="428854" cy="19202"/>
          </a:xfrm>
          <a:prstGeom prst="rect">
            <a:avLst/>
          </a:prstGeom>
          <a:solidFill>
            <a:srgbClr val="DC2626">
              <a:alpha val="80000"/>
            </a:srgbClr>
          </a:solidFill>
          <a:ln/>
        </p:spPr>
      </p:sp>
      <p:sp>
        <p:nvSpPr>
          <p:cNvPr id="134" name="Shape 120"/>
          <p:cNvSpPr/>
          <p:nvPr/>
        </p:nvSpPr>
        <p:spPr>
          <a:xfrm>
            <a:off x="10358323" y="6065215"/>
            <a:ext cx="428854" cy="19202"/>
          </a:xfrm>
          <a:prstGeom prst="rect">
            <a:avLst/>
          </a:prstGeom>
          <a:solidFill>
            <a:srgbClr val="DC2626">
              <a:alpha val="80000"/>
            </a:srgbClr>
          </a:solidFill>
          <a:ln/>
        </p:spPr>
      </p:sp>
      <p:sp>
        <p:nvSpPr>
          <p:cNvPr id="135" name="Text 121"/>
          <p:cNvSpPr txBox="1"/>
          <p:nvPr/>
        </p:nvSpPr>
        <p:spPr>
          <a:xfrm>
            <a:off x="897026" y="3571646"/>
            <a:ext cx="476402"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会議音声</a:t>
            </a:r>
            <a:endParaRPr lang="en-US" sz="800" dirty="0"/>
          </a:p>
        </p:txBody>
      </p:sp>
      <p:sp>
        <p:nvSpPr>
          <p:cNvPr id="136" name="Shape 122"/>
          <p:cNvSpPr/>
          <p:nvPr/>
        </p:nvSpPr>
        <p:spPr>
          <a:xfrm>
            <a:off x="923544" y="3191256"/>
            <a:ext cx="342900" cy="342900"/>
          </a:xfrm>
          <a:prstGeom prst="ellipse">
            <a:avLst/>
          </a:prstGeom>
          <a:solidFill>
            <a:srgbClr val="F3F4F6"/>
          </a:solidFill>
          <a:ln w="25400">
            <a:solidFill>
              <a:srgbClr val="9CA3AF"/>
            </a:solidFill>
            <a:prstDash val="solid"/>
          </a:ln>
        </p:spPr>
      </p:sp>
      <p:pic>
        <p:nvPicPr>
          <p:cNvPr id="137" name="Image 12" descr="preencoded.png"/>
          <p:cNvPicPr>
            <a:picLocks noChangeAspect="1"/>
          </p:cNvPicPr>
          <p:nvPr/>
        </p:nvPicPr>
        <p:blipFill>
          <a:blip r:embed="rId9"/>
          <a:srcRect l="-2512" r="-2512"/>
          <a:stretch/>
        </p:blipFill>
        <p:spPr>
          <a:xfrm>
            <a:off x="1043330" y="3295498"/>
            <a:ext cx="105156" cy="133502"/>
          </a:xfrm>
          <a:prstGeom prst="rect">
            <a:avLst/>
          </a:prstGeom>
        </p:spPr>
      </p:pic>
      <p:sp>
        <p:nvSpPr>
          <p:cNvPr id="138" name="Text 123"/>
          <p:cNvSpPr txBox="1"/>
          <p:nvPr/>
        </p:nvSpPr>
        <p:spPr>
          <a:xfrm>
            <a:off x="1910182" y="3571646"/>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キャプチャ</a:t>
            </a:r>
            <a:endParaRPr lang="en-US" sz="800" dirty="0"/>
          </a:p>
        </p:txBody>
      </p:sp>
      <p:sp>
        <p:nvSpPr>
          <p:cNvPr id="139" name="Shape 124"/>
          <p:cNvSpPr/>
          <p:nvPr/>
        </p:nvSpPr>
        <p:spPr>
          <a:xfrm>
            <a:off x="1986077" y="3191256"/>
            <a:ext cx="342900" cy="342900"/>
          </a:xfrm>
          <a:prstGeom prst="ellipse">
            <a:avLst/>
          </a:prstGeom>
          <a:solidFill>
            <a:srgbClr val="FFFFFF"/>
          </a:solidFill>
          <a:ln w="25400">
            <a:solidFill>
              <a:srgbClr val="D1D5DB"/>
            </a:solidFill>
            <a:prstDash val="solid"/>
          </a:ln>
        </p:spPr>
      </p:sp>
      <p:sp>
        <p:nvSpPr>
          <p:cNvPr id="140" name="Text 125"/>
          <p:cNvSpPr txBox="1"/>
          <p:nvPr/>
        </p:nvSpPr>
        <p:spPr>
          <a:xfrm>
            <a:off x="2113178" y="3258922"/>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A</a:t>
            </a:r>
            <a:endParaRPr lang="en-US" sz="1000" dirty="0"/>
          </a:p>
        </p:txBody>
      </p:sp>
      <p:sp>
        <p:nvSpPr>
          <p:cNvPr id="141" name="Text 126"/>
          <p:cNvSpPr txBox="1"/>
          <p:nvPr/>
        </p:nvSpPr>
        <p:spPr>
          <a:xfrm>
            <a:off x="2980944" y="3571646"/>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保存・蓄積</a:t>
            </a:r>
            <a:endParaRPr lang="en-US" sz="800" dirty="0"/>
          </a:p>
        </p:txBody>
      </p:sp>
      <p:sp>
        <p:nvSpPr>
          <p:cNvPr id="142" name="Shape 127"/>
          <p:cNvSpPr/>
          <p:nvPr/>
        </p:nvSpPr>
        <p:spPr>
          <a:xfrm>
            <a:off x="3056839" y="3191256"/>
            <a:ext cx="342900" cy="342900"/>
          </a:xfrm>
          <a:prstGeom prst="ellipse">
            <a:avLst/>
          </a:prstGeom>
          <a:solidFill>
            <a:srgbClr val="FFFFFF"/>
          </a:solidFill>
          <a:ln w="25400">
            <a:solidFill>
              <a:srgbClr val="D1D5DB"/>
            </a:solidFill>
            <a:prstDash val="solid"/>
          </a:ln>
        </p:spPr>
      </p:sp>
      <p:sp>
        <p:nvSpPr>
          <p:cNvPr id="143" name="Text 128"/>
          <p:cNvSpPr txBox="1"/>
          <p:nvPr/>
        </p:nvSpPr>
        <p:spPr>
          <a:xfrm>
            <a:off x="3181198" y="3258922"/>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B</a:t>
            </a:r>
            <a:endParaRPr lang="en-US" sz="1000" dirty="0"/>
          </a:p>
        </p:txBody>
      </p:sp>
      <p:sp>
        <p:nvSpPr>
          <p:cNvPr id="144" name="Text 129"/>
          <p:cNvSpPr txBox="1"/>
          <p:nvPr/>
        </p:nvSpPr>
        <p:spPr>
          <a:xfrm>
            <a:off x="4191610" y="3571646"/>
            <a:ext cx="277063"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要約</a:t>
            </a:r>
            <a:endParaRPr lang="en-US" sz="800" dirty="0"/>
          </a:p>
        </p:txBody>
      </p:sp>
      <p:sp>
        <p:nvSpPr>
          <p:cNvPr id="145" name="Shape 130"/>
          <p:cNvSpPr/>
          <p:nvPr/>
        </p:nvSpPr>
        <p:spPr>
          <a:xfrm>
            <a:off x="4119372" y="3191256"/>
            <a:ext cx="342900" cy="342900"/>
          </a:xfrm>
          <a:prstGeom prst="ellipse">
            <a:avLst/>
          </a:prstGeom>
          <a:solidFill>
            <a:srgbClr val="FFFFFF"/>
          </a:solidFill>
          <a:ln w="25400">
            <a:solidFill>
              <a:srgbClr val="D1D5DB"/>
            </a:solidFill>
            <a:prstDash val="solid"/>
          </a:ln>
        </p:spPr>
      </p:sp>
      <p:sp>
        <p:nvSpPr>
          <p:cNvPr id="146" name="Text 131"/>
          <p:cNvSpPr txBox="1"/>
          <p:nvPr/>
        </p:nvSpPr>
        <p:spPr>
          <a:xfrm>
            <a:off x="4241902" y="3258922"/>
            <a:ext cx="208483"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D</a:t>
            </a:r>
            <a:endParaRPr lang="en-US" sz="1000" dirty="0"/>
          </a:p>
        </p:txBody>
      </p:sp>
      <p:sp>
        <p:nvSpPr>
          <p:cNvPr id="147" name="Text 132"/>
          <p:cNvSpPr txBox="1"/>
          <p:nvPr/>
        </p:nvSpPr>
        <p:spPr>
          <a:xfrm>
            <a:off x="5170932" y="3571646"/>
            <a:ext cx="428854"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ToDo化</a:t>
            </a:r>
            <a:endParaRPr lang="en-US" sz="800" dirty="0"/>
          </a:p>
        </p:txBody>
      </p:sp>
      <p:sp>
        <p:nvSpPr>
          <p:cNvPr id="148" name="Shape 133"/>
          <p:cNvSpPr/>
          <p:nvPr/>
        </p:nvSpPr>
        <p:spPr>
          <a:xfrm>
            <a:off x="5171846" y="3191256"/>
            <a:ext cx="342900" cy="342900"/>
          </a:xfrm>
          <a:prstGeom prst="ellipse">
            <a:avLst/>
          </a:prstGeom>
          <a:solidFill>
            <a:srgbClr val="FFFFFF"/>
          </a:solidFill>
          <a:ln w="25400">
            <a:solidFill>
              <a:srgbClr val="D1D5DB"/>
            </a:solidFill>
            <a:prstDash val="solid"/>
          </a:ln>
        </p:spPr>
      </p:sp>
      <p:sp>
        <p:nvSpPr>
          <p:cNvPr id="149" name="Text 134"/>
          <p:cNvSpPr txBox="1"/>
          <p:nvPr/>
        </p:nvSpPr>
        <p:spPr>
          <a:xfrm>
            <a:off x="5301691" y="3258922"/>
            <a:ext cx="189281"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E</a:t>
            </a:r>
            <a:endParaRPr lang="en-US" sz="1000" dirty="0"/>
          </a:p>
        </p:txBody>
      </p:sp>
      <p:sp>
        <p:nvSpPr>
          <p:cNvPr id="150" name="Text 135"/>
          <p:cNvSpPr txBox="1"/>
          <p:nvPr/>
        </p:nvSpPr>
        <p:spPr>
          <a:xfrm>
            <a:off x="6699809" y="3571646"/>
            <a:ext cx="381305"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メール</a:t>
            </a:r>
            <a:endParaRPr lang="en-US" sz="800" dirty="0"/>
          </a:p>
        </p:txBody>
      </p:sp>
      <p:sp>
        <p:nvSpPr>
          <p:cNvPr id="151" name="Shape 136"/>
          <p:cNvSpPr/>
          <p:nvPr/>
        </p:nvSpPr>
        <p:spPr>
          <a:xfrm>
            <a:off x="6676949" y="3191256"/>
            <a:ext cx="342900" cy="342900"/>
          </a:xfrm>
          <a:prstGeom prst="ellipse">
            <a:avLst/>
          </a:prstGeom>
          <a:solidFill>
            <a:srgbClr val="F3F4F6"/>
          </a:solidFill>
          <a:ln w="25400">
            <a:solidFill>
              <a:srgbClr val="9CA3AF"/>
            </a:solidFill>
            <a:prstDash val="solid"/>
          </a:ln>
        </p:spPr>
      </p:sp>
      <p:pic>
        <p:nvPicPr>
          <p:cNvPr id="152" name="Image 13" descr="preencoded.png"/>
          <p:cNvPicPr>
            <a:picLocks noChangeAspect="1"/>
          </p:cNvPicPr>
          <p:nvPr/>
        </p:nvPicPr>
        <p:blipFill>
          <a:blip r:embed="rId10"/>
          <a:srcRect/>
          <a:stretch/>
        </p:blipFill>
        <p:spPr>
          <a:xfrm>
            <a:off x="6782105" y="3295498"/>
            <a:ext cx="133502" cy="133502"/>
          </a:xfrm>
          <a:prstGeom prst="rect">
            <a:avLst/>
          </a:prstGeom>
        </p:spPr>
      </p:pic>
      <p:sp>
        <p:nvSpPr>
          <p:cNvPr id="153" name="Text 137"/>
          <p:cNvSpPr txBox="1"/>
          <p:nvPr/>
        </p:nvSpPr>
        <p:spPr>
          <a:xfrm>
            <a:off x="7638898" y="3571646"/>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キャプチャ</a:t>
            </a:r>
            <a:endParaRPr lang="en-US" sz="800" dirty="0"/>
          </a:p>
        </p:txBody>
      </p:sp>
      <p:sp>
        <p:nvSpPr>
          <p:cNvPr id="154" name="Shape 138"/>
          <p:cNvSpPr/>
          <p:nvPr/>
        </p:nvSpPr>
        <p:spPr>
          <a:xfrm>
            <a:off x="7714793" y="3191256"/>
            <a:ext cx="342900" cy="342900"/>
          </a:xfrm>
          <a:prstGeom prst="ellipse">
            <a:avLst/>
          </a:prstGeom>
          <a:solidFill>
            <a:srgbClr val="FFFFFF"/>
          </a:solidFill>
          <a:ln w="25400">
            <a:solidFill>
              <a:srgbClr val="D1D5DB"/>
            </a:solidFill>
            <a:prstDash val="solid"/>
          </a:ln>
        </p:spPr>
      </p:sp>
      <p:sp>
        <p:nvSpPr>
          <p:cNvPr id="155" name="Text 139"/>
          <p:cNvSpPr txBox="1"/>
          <p:nvPr/>
        </p:nvSpPr>
        <p:spPr>
          <a:xfrm>
            <a:off x="7841894" y="3258922"/>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A</a:t>
            </a:r>
            <a:endParaRPr lang="en-US" sz="1000" dirty="0"/>
          </a:p>
        </p:txBody>
      </p:sp>
      <p:sp>
        <p:nvSpPr>
          <p:cNvPr id="156" name="Text 140"/>
          <p:cNvSpPr txBox="1"/>
          <p:nvPr/>
        </p:nvSpPr>
        <p:spPr>
          <a:xfrm>
            <a:off x="8726119" y="3571646"/>
            <a:ext cx="476402"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過去検索</a:t>
            </a:r>
            <a:endParaRPr lang="en-US" sz="800" dirty="0"/>
          </a:p>
        </p:txBody>
      </p:sp>
      <p:sp>
        <p:nvSpPr>
          <p:cNvPr id="157" name="Shape 141"/>
          <p:cNvSpPr/>
          <p:nvPr/>
        </p:nvSpPr>
        <p:spPr>
          <a:xfrm>
            <a:off x="8752637" y="3191256"/>
            <a:ext cx="342900" cy="342900"/>
          </a:xfrm>
          <a:prstGeom prst="ellipse">
            <a:avLst/>
          </a:prstGeom>
          <a:solidFill>
            <a:srgbClr val="FFFFFF"/>
          </a:solidFill>
          <a:ln w="25400">
            <a:solidFill>
              <a:srgbClr val="D1D5DB"/>
            </a:solidFill>
            <a:prstDash val="solid"/>
          </a:ln>
        </p:spPr>
      </p:sp>
      <p:sp>
        <p:nvSpPr>
          <p:cNvPr id="158" name="Text 142"/>
          <p:cNvSpPr txBox="1"/>
          <p:nvPr/>
        </p:nvSpPr>
        <p:spPr>
          <a:xfrm>
            <a:off x="8878824" y="3258922"/>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C</a:t>
            </a:r>
            <a:endParaRPr lang="en-US" sz="1000" dirty="0"/>
          </a:p>
        </p:txBody>
      </p:sp>
      <p:sp>
        <p:nvSpPr>
          <p:cNvPr id="159" name="Text 143"/>
          <p:cNvSpPr txBox="1"/>
          <p:nvPr/>
        </p:nvSpPr>
        <p:spPr>
          <a:xfrm>
            <a:off x="9715500" y="3571646"/>
            <a:ext cx="609905"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要約/優先度</a:t>
            </a:r>
            <a:endParaRPr lang="en-US" sz="800" dirty="0"/>
          </a:p>
        </p:txBody>
      </p:sp>
      <p:sp>
        <p:nvSpPr>
          <p:cNvPr id="160" name="Shape 144"/>
          <p:cNvSpPr/>
          <p:nvPr/>
        </p:nvSpPr>
        <p:spPr>
          <a:xfrm>
            <a:off x="9810598" y="3191256"/>
            <a:ext cx="342900" cy="342900"/>
          </a:xfrm>
          <a:prstGeom prst="ellipse">
            <a:avLst/>
          </a:prstGeom>
          <a:solidFill>
            <a:srgbClr val="FFFFFF"/>
          </a:solidFill>
          <a:ln w="25400">
            <a:solidFill>
              <a:srgbClr val="D1D5DB"/>
            </a:solidFill>
            <a:prstDash val="solid"/>
          </a:ln>
        </p:spPr>
      </p:sp>
      <p:sp>
        <p:nvSpPr>
          <p:cNvPr id="161" name="Text 145"/>
          <p:cNvSpPr txBox="1"/>
          <p:nvPr/>
        </p:nvSpPr>
        <p:spPr>
          <a:xfrm>
            <a:off x="9933127" y="3258922"/>
            <a:ext cx="208483"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D</a:t>
            </a:r>
            <a:endParaRPr lang="en-US" sz="1000" dirty="0"/>
          </a:p>
        </p:txBody>
      </p:sp>
      <p:sp>
        <p:nvSpPr>
          <p:cNvPr id="162" name="Text 146"/>
          <p:cNvSpPr txBox="1"/>
          <p:nvPr/>
        </p:nvSpPr>
        <p:spPr>
          <a:xfrm>
            <a:off x="10800893" y="3571646"/>
            <a:ext cx="609905"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返信/タスク</a:t>
            </a:r>
            <a:endParaRPr lang="en-US" sz="800" dirty="0"/>
          </a:p>
        </p:txBody>
      </p:sp>
      <p:sp>
        <p:nvSpPr>
          <p:cNvPr id="163" name="Shape 147"/>
          <p:cNvSpPr/>
          <p:nvPr/>
        </p:nvSpPr>
        <p:spPr>
          <a:xfrm>
            <a:off x="10896905" y="3191256"/>
            <a:ext cx="342900" cy="342900"/>
          </a:xfrm>
          <a:prstGeom prst="ellipse">
            <a:avLst/>
          </a:prstGeom>
          <a:solidFill>
            <a:srgbClr val="FFFFFF"/>
          </a:solidFill>
          <a:ln w="25400">
            <a:solidFill>
              <a:srgbClr val="D1D5DB"/>
            </a:solidFill>
            <a:prstDash val="solid"/>
          </a:ln>
        </p:spPr>
      </p:sp>
      <p:sp>
        <p:nvSpPr>
          <p:cNvPr id="164" name="Text 148"/>
          <p:cNvSpPr txBox="1"/>
          <p:nvPr/>
        </p:nvSpPr>
        <p:spPr>
          <a:xfrm>
            <a:off x="11025835" y="3258922"/>
            <a:ext cx="189281"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E</a:t>
            </a:r>
            <a:endParaRPr lang="en-US" sz="1000" dirty="0"/>
          </a:p>
        </p:txBody>
      </p:sp>
      <p:sp>
        <p:nvSpPr>
          <p:cNvPr id="165" name="Text 149"/>
          <p:cNvSpPr txBox="1"/>
          <p:nvPr/>
        </p:nvSpPr>
        <p:spPr>
          <a:xfrm>
            <a:off x="897026" y="6369710"/>
            <a:ext cx="476402"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背景情報</a:t>
            </a:r>
            <a:endParaRPr lang="en-US" sz="800" dirty="0"/>
          </a:p>
        </p:txBody>
      </p:sp>
      <p:sp>
        <p:nvSpPr>
          <p:cNvPr id="166" name="Shape 150"/>
          <p:cNvSpPr/>
          <p:nvPr/>
        </p:nvSpPr>
        <p:spPr>
          <a:xfrm>
            <a:off x="923544" y="5988406"/>
            <a:ext cx="342900" cy="342900"/>
          </a:xfrm>
          <a:prstGeom prst="ellipse">
            <a:avLst/>
          </a:prstGeom>
          <a:solidFill>
            <a:srgbClr val="F3F4F6"/>
          </a:solidFill>
          <a:ln w="25400">
            <a:solidFill>
              <a:srgbClr val="9CA3AF"/>
            </a:solidFill>
            <a:prstDash val="solid"/>
          </a:ln>
        </p:spPr>
      </p:sp>
      <p:pic>
        <p:nvPicPr>
          <p:cNvPr id="167" name="Image 14" descr="preencoded.png"/>
          <p:cNvPicPr>
            <a:picLocks noChangeAspect="1"/>
          </p:cNvPicPr>
          <p:nvPr/>
        </p:nvPicPr>
        <p:blipFill>
          <a:blip r:embed="rId11"/>
          <a:srcRect l="-2512" r="-2512"/>
          <a:stretch/>
        </p:blipFill>
        <p:spPr>
          <a:xfrm>
            <a:off x="1043330" y="6093562"/>
            <a:ext cx="105156" cy="133502"/>
          </a:xfrm>
          <a:prstGeom prst="rect">
            <a:avLst/>
          </a:prstGeom>
        </p:spPr>
      </p:pic>
      <p:sp>
        <p:nvSpPr>
          <p:cNvPr id="168" name="Text 151"/>
          <p:cNvSpPr txBox="1"/>
          <p:nvPr/>
        </p:nvSpPr>
        <p:spPr>
          <a:xfrm>
            <a:off x="1950415" y="6310274"/>
            <a:ext cx="476402"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関連資料</a:t>
            </a:r>
            <a:endParaRPr lang="en-US" sz="800" dirty="0"/>
          </a:p>
        </p:txBody>
      </p:sp>
      <p:sp>
        <p:nvSpPr>
          <p:cNvPr id="169" name="Text 152"/>
          <p:cNvSpPr txBox="1"/>
          <p:nvPr/>
        </p:nvSpPr>
        <p:spPr>
          <a:xfrm>
            <a:off x="2049170" y="6429146"/>
            <a:ext cx="277063"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検索</a:t>
            </a:r>
            <a:endParaRPr lang="en-US" sz="800" dirty="0"/>
          </a:p>
        </p:txBody>
      </p:sp>
      <p:sp>
        <p:nvSpPr>
          <p:cNvPr id="170" name="Shape 153"/>
          <p:cNvSpPr/>
          <p:nvPr/>
        </p:nvSpPr>
        <p:spPr>
          <a:xfrm>
            <a:off x="1976933" y="5928970"/>
            <a:ext cx="342900" cy="342900"/>
          </a:xfrm>
          <a:prstGeom prst="ellipse">
            <a:avLst/>
          </a:prstGeom>
          <a:solidFill>
            <a:srgbClr val="FFFFFF"/>
          </a:solidFill>
          <a:ln w="25400">
            <a:solidFill>
              <a:srgbClr val="D1D5DB"/>
            </a:solidFill>
            <a:prstDash val="solid"/>
          </a:ln>
        </p:spPr>
      </p:sp>
      <p:sp>
        <p:nvSpPr>
          <p:cNvPr id="171" name="Text 154"/>
          <p:cNvSpPr txBox="1"/>
          <p:nvPr/>
        </p:nvSpPr>
        <p:spPr>
          <a:xfrm>
            <a:off x="2103120" y="5997550"/>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C</a:t>
            </a:r>
            <a:endParaRPr lang="en-US" sz="1000" dirty="0"/>
          </a:p>
        </p:txBody>
      </p:sp>
      <p:sp>
        <p:nvSpPr>
          <p:cNvPr id="172" name="Text 155"/>
          <p:cNvSpPr txBox="1"/>
          <p:nvPr/>
        </p:nvSpPr>
        <p:spPr>
          <a:xfrm>
            <a:off x="3002890" y="6310274"/>
            <a:ext cx="476402"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ドラフト</a:t>
            </a:r>
            <a:endParaRPr lang="en-US" sz="800" dirty="0"/>
          </a:p>
        </p:txBody>
      </p:sp>
      <p:sp>
        <p:nvSpPr>
          <p:cNvPr id="173" name="Text 156"/>
          <p:cNvSpPr txBox="1"/>
          <p:nvPr/>
        </p:nvSpPr>
        <p:spPr>
          <a:xfrm>
            <a:off x="3101645" y="6429146"/>
            <a:ext cx="277063"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生成</a:t>
            </a:r>
            <a:endParaRPr lang="en-US" sz="800" dirty="0"/>
          </a:p>
        </p:txBody>
      </p:sp>
      <p:sp>
        <p:nvSpPr>
          <p:cNvPr id="174" name="Shape 157"/>
          <p:cNvSpPr/>
          <p:nvPr/>
        </p:nvSpPr>
        <p:spPr>
          <a:xfrm>
            <a:off x="3029407" y="5928970"/>
            <a:ext cx="342900" cy="342900"/>
          </a:xfrm>
          <a:prstGeom prst="ellipse">
            <a:avLst/>
          </a:prstGeom>
          <a:solidFill>
            <a:srgbClr val="FFFFFF"/>
          </a:solidFill>
          <a:ln w="25400">
            <a:solidFill>
              <a:srgbClr val="D1D5DB"/>
            </a:solidFill>
            <a:prstDash val="solid"/>
          </a:ln>
        </p:spPr>
      </p:sp>
      <p:sp>
        <p:nvSpPr>
          <p:cNvPr id="175" name="Text 158"/>
          <p:cNvSpPr txBox="1"/>
          <p:nvPr/>
        </p:nvSpPr>
        <p:spPr>
          <a:xfrm>
            <a:off x="3151937" y="5997550"/>
            <a:ext cx="208483"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D</a:t>
            </a:r>
            <a:endParaRPr lang="en-US" sz="1000" dirty="0"/>
          </a:p>
        </p:txBody>
      </p:sp>
      <p:sp>
        <p:nvSpPr>
          <p:cNvPr id="176" name="Text 159"/>
          <p:cNvSpPr txBox="1"/>
          <p:nvPr/>
        </p:nvSpPr>
        <p:spPr>
          <a:xfrm>
            <a:off x="4016045" y="6369710"/>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推敲・変換</a:t>
            </a:r>
            <a:endParaRPr lang="en-US" sz="800" dirty="0"/>
          </a:p>
        </p:txBody>
      </p:sp>
      <p:sp>
        <p:nvSpPr>
          <p:cNvPr id="177" name="Shape 160"/>
          <p:cNvSpPr/>
          <p:nvPr/>
        </p:nvSpPr>
        <p:spPr>
          <a:xfrm>
            <a:off x="4091940" y="5988406"/>
            <a:ext cx="342900" cy="342900"/>
          </a:xfrm>
          <a:prstGeom prst="ellipse">
            <a:avLst/>
          </a:prstGeom>
          <a:solidFill>
            <a:srgbClr val="FFFFFF"/>
          </a:solidFill>
          <a:ln w="25400">
            <a:solidFill>
              <a:srgbClr val="D1D5DB"/>
            </a:solidFill>
            <a:prstDash val="solid"/>
          </a:ln>
        </p:spPr>
      </p:sp>
      <p:pic>
        <p:nvPicPr>
          <p:cNvPr id="178" name="Image 15" descr="preencoded.png"/>
          <p:cNvPicPr>
            <a:picLocks noChangeAspect="1"/>
          </p:cNvPicPr>
          <p:nvPr/>
        </p:nvPicPr>
        <p:blipFill>
          <a:blip r:embed="rId12"/>
          <a:srcRect/>
          <a:stretch/>
        </p:blipFill>
        <p:spPr>
          <a:xfrm>
            <a:off x="4206240" y="6102706"/>
            <a:ext cx="114300" cy="114300"/>
          </a:xfrm>
          <a:prstGeom prst="rect">
            <a:avLst/>
          </a:prstGeom>
        </p:spPr>
      </p:pic>
      <p:sp>
        <p:nvSpPr>
          <p:cNvPr id="179" name="Text 161"/>
          <p:cNvSpPr txBox="1"/>
          <p:nvPr/>
        </p:nvSpPr>
        <p:spPr>
          <a:xfrm>
            <a:off x="5086807" y="6369710"/>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成果物保存</a:t>
            </a:r>
            <a:endParaRPr lang="en-US" sz="800" dirty="0"/>
          </a:p>
        </p:txBody>
      </p:sp>
      <p:sp>
        <p:nvSpPr>
          <p:cNvPr id="180" name="Shape 162"/>
          <p:cNvSpPr/>
          <p:nvPr/>
        </p:nvSpPr>
        <p:spPr>
          <a:xfrm>
            <a:off x="5162702" y="5988406"/>
            <a:ext cx="342900" cy="342900"/>
          </a:xfrm>
          <a:prstGeom prst="ellipse">
            <a:avLst/>
          </a:prstGeom>
          <a:solidFill>
            <a:srgbClr val="FFFFFF"/>
          </a:solidFill>
          <a:ln w="25400">
            <a:solidFill>
              <a:srgbClr val="D1D5DB"/>
            </a:solidFill>
            <a:prstDash val="solid"/>
          </a:ln>
        </p:spPr>
      </p:sp>
      <p:sp>
        <p:nvSpPr>
          <p:cNvPr id="181" name="Text 163"/>
          <p:cNvSpPr txBox="1"/>
          <p:nvPr/>
        </p:nvSpPr>
        <p:spPr>
          <a:xfrm>
            <a:off x="5287975" y="6056986"/>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B</a:t>
            </a:r>
            <a:endParaRPr lang="en-US" sz="1000" dirty="0"/>
          </a:p>
        </p:txBody>
      </p:sp>
      <p:sp>
        <p:nvSpPr>
          <p:cNvPr id="182" name="Text 164"/>
          <p:cNvSpPr txBox="1"/>
          <p:nvPr/>
        </p:nvSpPr>
        <p:spPr>
          <a:xfrm>
            <a:off x="6680606" y="6310274"/>
            <a:ext cx="41971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業務DB</a:t>
            </a:r>
            <a:endParaRPr lang="en-US" sz="800" dirty="0"/>
          </a:p>
        </p:txBody>
      </p:sp>
      <p:sp>
        <p:nvSpPr>
          <p:cNvPr id="183" name="Shape 165"/>
          <p:cNvSpPr/>
          <p:nvPr/>
        </p:nvSpPr>
        <p:spPr>
          <a:xfrm>
            <a:off x="6676949" y="5928970"/>
            <a:ext cx="342900" cy="342900"/>
          </a:xfrm>
          <a:prstGeom prst="ellipse">
            <a:avLst/>
          </a:prstGeom>
          <a:solidFill>
            <a:srgbClr val="F3F4F6"/>
          </a:solidFill>
          <a:ln w="25400">
            <a:solidFill>
              <a:srgbClr val="9CA3AF"/>
            </a:solidFill>
            <a:prstDash val="solid"/>
          </a:ln>
        </p:spPr>
      </p:sp>
      <p:pic>
        <p:nvPicPr>
          <p:cNvPr id="184" name="Image 16" descr="preencoded.png"/>
          <p:cNvPicPr>
            <a:picLocks noChangeAspect="1"/>
          </p:cNvPicPr>
          <p:nvPr/>
        </p:nvPicPr>
        <p:blipFill>
          <a:blip r:embed="rId13"/>
          <a:srcRect l="-2838" r="-2838"/>
          <a:stretch/>
        </p:blipFill>
        <p:spPr>
          <a:xfrm>
            <a:off x="6786677" y="6034126"/>
            <a:ext cx="123444" cy="133502"/>
          </a:xfrm>
          <a:prstGeom prst="rect">
            <a:avLst/>
          </a:prstGeom>
        </p:spPr>
      </p:pic>
      <p:sp>
        <p:nvSpPr>
          <p:cNvPr id="185" name="Text 166"/>
          <p:cNvSpPr txBox="1"/>
          <p:nvPr/>
        </p:nvSpPr>
        <p:spPr>
          <a:xfrm>
            <a:off x="7663586" y="6310274"/>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データ取得</a:t>
            </a:r>
            <a:endParaRPr lang="en-US" sz="800" dirty="0"/>
          </a:p>
        </p:txBody>
      </p:sp>
      <p:sp>
        <p:nvSpPr>
          <p:cNvPr id="186" name="Shape 167"/>
          <p:cNvSpPr/>
          <p:nvPr/>
        </p:nvSpPr>
        <p:spPr>
          <a:xfrm>
            <a:off x="7739482" y="5928970"/>
            <a:ext cx="342900" cy="342900"/>
          </a:xfrm>
          <a:prstGeom prst="ellipse">
            <a:avLst/>
          </a:prstGeom>
          <a:solidFill>
            <a:srgbClr val="FFFFFF"/>
          </a:solidFill>
          <a:ln w="25400">
            <a:solidFill>
              <a:srgbClr val="D1D5DB"/>
            </a:solidFill>
            <a:prstDash val="solid"/>
          </a:ln>
        </p:spPr>
      </p:sp>
      <p:sp>
        <p:nvSpPr>
          <p:cNvPr id="187" name="Text 168"/>
          <p:cNvSpPr txBox="1"/>
          <p:nvPr/>
        </p:nvSpPr>
        <p:spPr>
          <a:xfrm>
            <a:off x="7866583" y="5997550"/>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A</a:t>
            </a:r>
            <a:endParaRPr lang="en-US" sz="1000" dirty="0"/>
          </a:p>
        </p:txBody>
      </p:sp>
      <p:sp>
        <p:nvSpPr>
          <p:cNvPr id="188" name="Text 169"/>
          <p:cNvSpPr txBox="1"/>
          <p:nvPr/>
        </p:nvSpPr>
        <p:spPr>
          <a:xfrm>
            <a:off x="8757209" y="6310274"/>
            <a:ext cx="514807"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DWH蓄積</a:t>
            </a:r>
            <a:endParaRPr lang="en-US" sz="800" dirty="0"/>
          </a:p>
        </p:txBody>
      </p:sp>
      <p:sp>
        <p:nvSpPr>
          <p:cNvPr id="189" name="Shape 170"/>
          <p:cNvSpPr/>
          <p:nvPr/>
        </p:nvSpPr>
        <p:spPr>
          <a:xfrm>
            <a:off x="8801100" y="5928970"/>
            <a:ext cx="342900" cy="342900"/>
          </a:xfrm>
          <a:prstGeom prst="ellipse">
            <a:avLst/>
          </a:prstGeom>
          <a:solidFill>
            <a:srgbClr val="FFFFFF"/>
          </a:solidFill>
          <a:ln w="25400">
            <a:solidFill>
              <a:srgbClr val="D1D5DB"/>
            </a:solidFill>
            <a:prstDash val="solid"/>
          </a:ln>
        </p:spPr>
      </p:sp>
      <p:sp>
        <p:nvSpPr>
          <p:cNvPr id="190" name="Text 171"/>
          <p:cNvSpPr txBox="1"/>
          <p:nvPr/>
        </p:nvSpPr>
        <p:spPr>
          <a:xfrm>
            <a:off x="8926373" y="5997550"/>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B</a:t>
            </a:r>
            <a:endParaRPr lang="en-US" sz="1000" dirty="0"/>
          </a:p>
        </p:txBody>
      </p:sp>
      <p:sp>
        <p:nvSpPr>
          <p:cNvPr id="191" name="Text 172"/>
          <p:cNvSpPr txBox="1"/>
          <p:nvPr/>
        </p:nvSpPr>
        <p:spPr>
          <a:xfrm>
            <a:off x="9787738" y="6310274"/>
            <a:ext cx="571500"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分析クエリ</a:t>
            </a:r>
            <a:endParaRPr lang="en-US" sz="800" dirty="0"/>
          </a:p>
        </p:txBody>
      </p:sp>
      <p:sp>
        <p:nvSpPr>
          <p:cNvPr id="192" name="Shape 173"/>
          <p:cNvSpPr/>
          <p:nvPr/>
        </p:nvSpPr>
        <p:spPr>
          <a:xfrm>
            <a:off x="9863633" y="5928970"/>
            <a:ext cx="342900" cy="342900"/>
          </a:xfrm>
          <a:prstGeom prst="ellipse">
            <a:avLst/>
          </a:prstGeom>
          <a:solidFill>
            <a:srgbClr val="FFFFFF"/>
          </a:solidFill>
          <a:ln w="25400">
            <a:solidFill>
              <a:srgbClr val="D1D5DB"/>
            </a:solidFill>
            <a:prstDash val="solid"/>
          </a:ln>
        </p:spPr>
      </p:sp>
      <p:sp>
        <p:nvSpPr>
          <p:cNvPr id="193" name="Text 174"/>
          <p:cNvSpPr txBox="1"/>
          <p:nvPr/>
        </p:nvSpPr>
        <p:spPr>
          <a:xfrm>
            <a:off x="9989820" y="5997550"/>
            <a:ext cx="198425"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C</a:t>
            </a:r>
            <a:endParaRPr lang="en-US" sz="1000" dirty="0"/>
          </a:p>
        </p:txBody>
      </p:sp>
      <p:sp>
        <p:nvSpPr>
          <p:cNvPr id="194" name="Text 175"/>
          <p:cNvSpPr txBox="1"/>
          <p:nvPr/>
        </p:nvSpPr>
        <p:spPr>
          <a:xfrm>
            <a:off x="10948111" y="6310274"/>
            <a:ext cx="381305" cy="143561"/>
          </a:xfrm>
          <a:prstGeom prst="rect">
            <a:avLst/>
          </a:prstGeom>
          <a:noFill/>
          <a:ln/>
        </p:spPr>
        <p:txBody>
          <a:bodyPr wrap="square" lIns="0" tIns="0" rIns="0" bIns="0" rtlCol="0" anchor="ctr"/>
          <a:lstStyle/>
          <a:p>
            <a:pPr marL="0" indent="0" algn="ctr">
              <a:buNone/>
            </a:pPr>
            <a:r>
              <a:rPr lang="en-US" sz="800" b="1" dirty="0">
                <a:solidFill>
                  <a:srgbClr val="4B5563"/>
                </a:solidFill>
                <a:latin typeface="Noto Sans JP" pitchFamily="34" charset="0"/>
                <a:ea typeface="Noto Sans JP" pitchFamily="34" charset="-122"/>
                <a:cs typeface="Noto Sans JP" pitchFamily="34" charset="-120"/>
              </a:rPr>
              <a:t>可視化</a:t>
            </a:r>
            <a:endParaRPr lang="en-US" sz="800" dirty="0"/>
          </a:p>
        </p:txBody>
      </p:sp>
      <p:sp>
        <p:nvSpPr>
          <p:cNvPr id="195" name="Shape 176"/>
          <p:cNvSpPr/>
          <p:nvPr/>
        </p:nvSpPr>
        <p:spPr>
          <a:xfrm>
            <a:off x="10925251" y="5928970"/>
            <a:ext cx="342900" cy="342900"/>
          </a:xfrm>
          <a:prstGeom prst="ellipse">
            <a:avLst/>
          </a:prstGeom>
          <a:solidFill>
            <a:srgbClr val="FFFFFF"/>
          </a:solidFill>
          <a:ln w="25400">
            <a:solidFill>
              <a:srgbClr val="D1D5DB"/>
            </a:solidFill>
            <a:prstDash val="solid"/>
          </a:ln>
        </p:spPr>
      </p:sp>
      <p:sp>
        <p:nvSpPr>
          <p:cNvPr id="196" name="Text 177"/>
          <p:cNvSpPr txBox="1"/>
          <p:nvPr/>
        </p:nvSpPr>
        <p:spPr>
          <a:xfrm>
            <a:off x="11047781" y="5997550"/>
            <a:ext cx="208483"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381305" y="1067105"/>
            <a:ext cx="11430000" cy="9144"/>
          </a:xfrm>
          <a:prstGeom prst="rect">
            <a:avLst/>
          </a:prstGeom>
          <a:solidFill>
            <a:srgbClr val="E5E7EB"/>
          </a:solidFill>
          <a:ln/>
        </p:spPr>
      </p:sp>
      <p:sp>
        <p:nvSpPr>
          <p:cNvPr id="5" name="Shape 3"/>
          <p:cNvSpPr/>
          <p:nvPr/>
        </p:nvSpPr>
        <p:spPr>
          <a:xfrm>
            <a:off x="5825642" y="453542"/>
            <a:ext cx="5991149" cy="543154"/>
          </a:xfrm>
          <a:prstGeom prst="roundRect">
            <a:avLst>
              <a:gd name="adj" fmla="val 17721"/>
            </a:avLst>
          </a:prstGeom>
          <a:solidFill>
            <a:srgbClr val="F9FAFB"/>
          </a:solidFill>
          <a:ln w="12700">
            <a:solidFill>
              <a:srgbClr val="E5E7EB"/>
            </a:solidFill>
            <a:prstDash val="solid"/>
          </a:ln>
        </p:spPr>
      </p:sp>
      <p:pic>
        <p:nvPicPr>
          <p:cNvPr id="6" name="Image 0" descr="preencoded.png"/>
          <p:cNvPicPr>
            <a:picLocks noChangeAspect="1"/>
          </p:cNvPicPr>
          <p:nvPr/>
        </p:nvPicPr>
        <p:blipFill>
          <a:blip r:embed="rId3"/>
          <a:srcRect/>
          <a:stretch/>
        </p:blipFill>
        <p:spPr>
          <a:xfrm>
            <a:off x="5987491" y="660197"/>
            <a:ext cx="123444" cy="123444"/>
          </a:xfrm>
          <a:prstGeom prst="rect">
            <a:avLst/>
          </a:prstGeom>
        </p:spPr>
      </p:pic>
      <p:sp>
        <p:nvSpPr>
          <p:cNvPr id="7" name="Shape 4"/>
          <p:cNvSpPr/>
          <p:nvPr/>
        </p:nvSpPr>
        <p:spPr>
          <a:xfrm>
            <a:off x="381305" y="1228954"/>
            <a:ext cx="11430000" cy="5400446"/>
          </a:xfrm>
          <a:prstGeom prst="roundRect">
            <a:avLst>
              <a:gd name="adj" fmla="val 239"/>
            </a:avLst>
          </a:prstGeom>
          <a:noFill/>
          <a:ln w="12700">
            <a:solidFill>
              <a:srgbClr val="E5E7EB"/>
            </a:solidFill>
            <a:prstDash val="solid"/>
          </a:ln>
        </p:spPr>
      </p:sp>
      <p:sp>
        <p:nvSpPr>
          <p:cNvPr id="8" name="Shape 5"/>
          <p:cNvSpPr/>
          <p:nvPr/>
        </p:nvSpPr>
        <p:spPr>
          <a:xfrm>
            <a:off x="390449" y="1238098"/>
            <a:ext cx="11410798" cy="437998"/>
          </a:xfrm>
          <a:prstGeom prst="rect">
            <a:avLst/>
          </a:prstGeom>
          <a:solidFill>
            <a:srgbClr val="F3F4F6"/>
          </a:solidFill>
          <a:ln/>
        </p:spPr>
      </p:sp>
      <p:sp>
        <p:nvSpPr>
          <p:cNvPr id="9" name="Shape 6"/>
          <p:cNvSpPr/>
          <p:nvPr/>
        </p:nvSpPr>
        <p:spPr>
          <a:xfrm>
            <a:off x="390449" y="1666951"/>
            <a:ext cx="11410798" cy="9144"/>
          </a:xfrm>
          <a:prstGeom prst="rect">
            <a:avLst/>
          </a:prstGeom>
          <a:solidFill>
            <a:srgbClr val="E5E7EB"/>
          </a:solidFill>
          <a:ln/>
        </p:spPr>
      </p:sp>
      <p:sp>
        <p:nvSpPr>
          <p:cNvPr id="10" name="Text 7"/>
          <p:cNvSpPr txBox="1"/>
          <p:nvPr/>
        </p:nvSpPr>
        <p:spPr>
          <a:xfrm>
            <a:off x="608990" y="1352398"/>
            <a:ext cx="240487" cy="200254"/>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ID</a:t>
            </a:r>
            <a:endParaRPr lang="en-US" sz="1000" dirty="0"/>
          </a:p>
        </p:txBody>
      </p:sp>
      <p:sp>
        <p:nvSpPr>
          <p:cNvPr id="11" name="Text 8"/>
          <p:cNvSpPr txBox="1"/>
          <p:nvPr/>
        </p:nvSpPr>
        <p:spPr>
          <a:xfrm>
            <a:off x="1114654" y="1352398"/>
            <a:ext cx="1269187" cy="200254"/>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機能コンポーネント</a:t>
            </a:r>
            <a:endParaRPr lang="en-US" sz="1000" dirty="0"/>
          </a:p>
        </p:txBody>
      </p:sp>
      <p:pic>
        <p:nvPicPr>
          <p:cNvPr id="12" name="Image 1" descr="preencoded.png"/>
          <p:cNvPicPr>
            <a:picLocks noChangeAspect="1"/>
          </p:cNvPicPr>
          <p:nvPr/>
        </p:nvPicPr>
        <p:blipFill>
          <a:blip r:embed="rId4"/>
          <a:srcRect t="-1100" b="-1100"/>
          <a:stretch/>
        </p:blipFill>
        <p:spPr>
          <a:xfrm>
            <a:off x="3019349" y="1383487"/>
            <a:ext cx="114300" cy="133502"/>
          </a:xfrm>
          <a:prstGeom prst="rect">
            <a:avLst/>
          </a:prstGeom>
        </p:spPr>
      </p:pic>
      <p:sp>
        <p:nvSpPr>
          <p:cNvPr id="13" name="Text 9"/>
          <p:cNvSpPr txBox="1"/>
          <p:nvPr/>
        </p:nvSpPr>
        <p:spPr>
          <a:xfrm>
            <a:off x="3209544" y="1352398"/>
            <a:ext cx="993038" cy="200254"/>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Microsoft 候補</a:t>
            </a:r>
            <a:endParaRPr lang="en-US" sz="1000" dirty="0"/>
          </a:p>
        </p:txBody>
      </p:sp>
      <p:pic>
        <p:nvPicPr>
          <p:cNvPr id="14" name="Image 2" descr="preencoded.png"/>
          <p:cNvPicPr>
            <a:picLocks noChangeAspect="1"/>
          </p:cNvPicPr>
          <p:nvPr/>
        </p:nvPicPr>
        <p:blipFill>
          <a:blip r:embed="rId5"/>
          <a:srcRect t="-2644" b="-2644"/>
          <a:stretch/>
        </p:blipFill>
        <p:spPr>
          <a:xfrm>
            <a:off x="6629400" y="1383487"/>
            <a:ext cx="142646" cy="133502"/>
          </a:xfrm>
          <a:prstGeom prst="rect">
            <a:avLst/>
          </a:prstGeom>
        </p:spPr>
      </p:pic>
      <p:sp>
        <p:nvSpPr>
          <p:cNvPr id="15" name="Text 10"/>
          <p:cNvSpPr txBox="1"/>
          <p:nvPr/>
        </p:nvSpPr>
        <p:spPr>
          <a:xfrm>
            <a:off x="6848856" y="1352398"/>
            <a:ext cx="1573682" cy="200254"/>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その他 / OSS / SaaS 候補</a:t>
            </a:r>
            <a:endParaRPr lang="en-US" sz="1000" dirty="0"/>
          </a:p>
        </p:txBody>
      </p:sp>
      <p:sp>
        <p:nvSpPr>
          <p:cNvPr id="16" name="Text 11"/>
          <p:cNvSpPr txBox="1"/>
          <p:nvPr/>
        </p:nvSpPr>
        <p:spPr>
          <a:xfrm>
            <a:off x="10239451" y="1352398"/>
            <a:ext cx="878738" cy="200254"/>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実装ポイント</a:t>
            </a:r>
            <a:endParaRPr lang="en-US" sz="1000" dirty="0"/>
          </a:p>
        </p:txBody>
      </p:sp>
      <p:sp>
        <p:nvSpPr>
          <p:cNvPr id="17" name="Shape 12"/>
          <p:cNvSpPr/>
          <p:nvPr/>
        </p:nvSpPr>
        <p:spPr>
          <a:xfrm>
            <a:off x="390449" y="1670609"/>
            <a:ext cx="11410798" cy="761695"/>
          </a:xfrm>
          <a:prstGeom prst="rect">
            <a:avLst/>
          </a:prstGeom>
          <a:solidFill>
            <a:srgbClr val="F9FAFB"/>
          </a:solidFill>
          <a:ln/>
        </p:spPr>
      </p:sp>
      <p:sp>
        <p:nvSpPr>
          <p:cNvPr id="18" name="Shape 13"/>
          <p:cNvSpPr/>
          <p:nvPr/>
        </p:nvSpPr>
        <p:spPr>
          <a:xfrm>
            <a:off x="390449" y="2423160"/>
            <a:ext cx="11410798" cy="9144"/>
          </a:xfrm>
          <a:prstGeom prst="rect">
            <a:avLst/>
          </a:prstGeom>
          <a:solidFill>
            <a:srgbClr val="E5E7EB"/>
          </a:solidFill>
          <a:ln/>
        </p:spPr>
      </p:sp>
      <p:sp>
        <p:nvSpPr>
          <p:cNvPr id="19" name="Shape 14"/>
          <p:cNvSpPr/>
          <p:nvPr/>
        </p:nvSpPr>
        <p:spPr>
          <a:xfrm>
            <a:off x="543154" y="1910182"/>
            <a:ext cx="267005" cy="267005"/>
          </a:xfrm>
          <a:prstGeom prst="ellipse">
            <a:avLst/>
          </a:prstGeom>
          <a:solidFill>
            <a:srgbClr val="DC2626"/>
          </a:solidFill>
          <a:ln/>
        </p:spPr>
      </p:sp>
      <p:sp>
        <p:nvSpPr>
          <p:cNvPr id="20" name="Text 15"/>
          <p:cNvSpPr txBox="1"/>
          <p:nvPr/>
        </p:nvSpPr>
        <p:spPr>
          <a:xfrm>
            <a:off x="634594" y="1945843"/>
            <a:ext cx="182880"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A</a:t>
            </a:r>
            <a:endParaRPr lang="en-US" sz="1000" dirty="0"/>
          </a:p>
        </p:txBody>
      </p:sp>
      <p:sp>
        <p:nvSpPr>
          <p:cNvPr id="21" name="Shape 16"/>
          <p:cNvSpPr/>
          <p:nvPr/>
        </p:nvSpPr>
        <p:spPr>
          <a:xfrm>
            <a:off x="3019349" y="1785823"/>
            <a:ext cx="1095451" cy="228600"/>
          </a:xfrm>
          <a:prstGeom prst="roundRect">
            <a:avLst>
              <a:gd name="adj" fmla="val 66667"/>
            </a:avLst>
          </a:prstGeom>
          <a:solidFill>
            <a:srgbClr val="E5E7EB"/>
          </a:solidFill>
          <a:ln w="12700">
            <a:solidFill>
              <a:srgbClr val="D1D5DB"/>
            </a:solidFill>
            <a:prstDash val="solid"/>
          </a:ln>
        </p:spPr>
      </p:sp>
      <p:sp>
        <p:nvSpPr>
          <p:cNvPr id="22" name="Text 17"/>
          <p:cNvSpPr txBox="1"/>
          <p:nvPr/>
        </p:nvSpPr>
        <p:spPr>
          <a:xfrm>
            <a:off x="3105302" y="1815084"/>
            <a:ext cx="1010412"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Teams (会議録音)</a:t>
            </a:r>
            <a:endParaRPr lang="en-US" sz="900" dirty="0"/>
          </a:p>
        </p:txBody>
      </p:sp>
      <p:sp>
        <p:nvSpPr>
          <p:cNvPr id="23" name="Shape 18"/>
          <p:cNvSpPr/>
          <p:nvPr/>
        </p:nvSpPr>
        <p:spPr>
          <a:xfrm>
            <a:off x="4164178" y="1785823"/>
            <a:ext cx="619049" cy="228600"/>
          </a:xfrm>
          <a:prstGeom prst="roundRect">
            <a:avLst>
              <a:gd name="adj" fmla="val 66667"/>
            </a:avLst>
          </a:prstGeom>
          <a:solidFill>
            <a:srgbClr val="E5E7EB"/>
          </a:solidFill>
          <a:ln w="12700">
            <a:solidFill>
              <a:srgbClr val="D1D5DB"/>
            </a:solidFill>
            <a:prstDash val="solid"/>
          </a:ln>
        </p:spPr>
      </p:sp>
      <p:sp>
        <p:nvSpPr>
          <p:cNvPr id="24" name="Text 19"/>
          <p:cNvSpPr txBox="1"/>
          <p:nvPr/>
        </p:nvSpPr>
        <p:spPr>
          <a:xfrm>
            <a:off x="4249217" y="1815084"/>
            <a:ext cx="53401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Outlook</a:t>
            </a:r>
            <a:endParaRPr lang="en-US" sz="900" dirty="0"/>
          </a:p>
        </p:txBody>
      </p:sp>
      <p:sp>
        <p:nvSpPr>
          <p:cNvPr id="25" name="Shape 20"/>
          <p:cNvSpPr/>
          <p:nvPr/>
        </p:nvSpPr>
        <p:spPr>
          <a:xfrm>
            <a:off x="4835347" y="1785823"/>
            <a:ext cx="1076249" cy="228600"/>
          </a:xfrm>
          <a:prstGeom prst="roundRect">
            <a:avLst>
              <a:gd name="adj" fmla="val 66667"/>
            </a:avLst>
          </a:prstGeom>
          <a:solidFill>
            <a:srgbClr val="E5E7EB"/>
          </a:solidFill>
          <a:ln w="12700">
            <a:solidFill>
              <a:srgbClr val="D1D5DB"/>
            </a:solidFill>
            <a:prstDash val="solid"/>
          </a:ln>
        </p:spPr>
      </p:sp>
      <p:sp>
        <p:nvSpPr>
          <p:cNvPr id="26" name="Text 21"/>
          <p:cNvSpPr txBox="1"/>
          <p:nvPr/>
        </p:nvSpPr>
        <p:spPr>
          <a:xfrm>
            <a:off x="4921301" y="1815084"/>
            <a:ext cx="99121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Power Automate</a:t>
            </a:r>
            <a:endParaRPr lang="en-US" sz="900" dirty="0"/>
          </a:p>
        </p:txBody>
      </p:sp>
      <p:sp>
        <p:nvSpPr>
          <p:cNvPr id="27" name="Shape 22"/>
          <p:cNvSpPr/>
          <p:nvPr/>
        </p:nvSpPr>
        <p:spPr>
          <a:xfrm>
            <a:off x="3019349" y="2072030"/>
            <a:ext cx="780898" cy="228600"/>
          </a:xfrm>
          <a:prstGeom prst="roundRect">
            <a:avLst>
              <a:gd name="adj" fmla="val 66667"/>
            </a:avLst>
          </a:prstGeom>
          <a:solidFill>
            <a:srgbClr val="E5E7EB"/>
          </a:solidFill>
          <a:ln w="12700">
            <a:solidFill>
              <a:srgbClr val="D1D5DB"/>
            </a:solidFill>
            <a:prstDash val="solid"/>
          </a:ln>
        </p:spPr>
      </p:sp>
      <p:sp>
        <p:nvSpPr>
          <p:cNvPr id="28" name="Text 23"/>
          <p:cNvSpPr txBox="1"/>
          <p:nvPr/>
        </p:nvSpPr>
        <p:spPr>
          <a:xfrm>
            <a:off x="3105302" y="2100377"/>
            <a:ext cx="695858"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SharePoint</a:t>
            </a:r>
            <a:endParaRPr lang="en-US" sz="900" dirty="0"/>
          </a:p>
        </p:txBody>
      </p:sp>
      <p:sp>
        <p:nvSpPr>
          <p:cNvPr id="29" name="Shape 24"/>
          <p:cNvSpPr/>
          <p:nvPr/>
        </p:nvSpPr>
        <p:spPr>
          <a:xfrm>
            <a:off x="6629400" y="1785823"/>
            <a:ext cx="694944" cy="228600"/>
          </a:xfrm>
          <a:prstGeom prst="roundRect">
            <a:avLst>
              <a:gd name="adj" fmla="val 66667"/>
            </a:avLst>
          </a:prstGeom>
          <a:solidFill>
            <a:srgbClr val="FFFFFF"/>
          </a:solidFill>
          <a:ln w="12700">
            <a:solidFill>
              <a:srgbClr val="E5E7EB"/>
            </a:solidFill>
            <a:prstDash val="solid"/>
          </a:ln>
        </p:spPr>
      </p:sp>
      <p:sp>
        <p:nvSpPr>
          <p:cNvPr id="30" name="Text 25"/>
          <p:cNvSpPr txBox="1"/>
          <p:nvPr/>
        </p:nvSpPr>
        <p:spPr>
          <a:xfrm>
            <a:off x="6715354" y="1815084"/>
            <a:ext cx="609905"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Zoom API</a:t>
            </a:r>
            <a:endParaRPr lang="en-US" sz="900" dirty="0"/>
          </a:p>
        </p:txBody>
      </p:sp>
      <p:sp>
        <p:nvSpPr>
          <p:cNvPr id="31" name="Shape 26"/>
          <p:cNvSpPr/>
          <p:nvPr/>
        </p:nvSpPr>
        <p:spPr>
          <a:xfrm>
            <a:off x="7379208" y="1785823"/>
            <a:ext cx="676656" cy="228600"/>
          </a:xfrm>
          <a:prstGeom prst="roundRect">
            <a:avLst>
              <a:gd name="adj" fmla="val 66667"/>
            </a:avLst>
          </a:prstGeom>
          <a:solidFill>
            <a:srgbClr val="FFFFFF"/>
          </a:solidFill>
          <a:ln w="12700">
            <a:solidFill>
              <a:srgbClr val="E5E7EB"/>
            </a:solidFill>
            <a:prstDash val="solid"/>
          </a:ln>
        </p:spPr>
      </p:sp>
      <p:sp>
        <p:nvSpPr>
          <p:cNvPr id="32" name="Text 27"/>
          <p:cNvSpPr txBox="1"/>
          <p:nvPr/>
        </p:nvSpPr>
        <p:spPr>
          <a:xfrm>
            <a:off x="7465162" y="1815084"/>
            <a:ext cx="5907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Slack API</a:t>
            </a:r>
            <a:endParaRPr lang="en-US" sz="900" dirty="0"/>
          </a:p>
        </p:txBody>
      </p:sp>
      <p:sp>
        <p:nvSpPr>
          <p:cNvPr id="33" name="Shape 28"/>
          <p:cNvSpPr/>
          <p:nvPr/>
        </p:nvSpPr>
        <p:spPr>
          <a:xfrm>
            <a:off x="8107985" y="1785823"/>
            <a:ext cx="1295705" cy="228600"/>
          </a:xfrm>
          <a:prstGeom prst="roundRect">
            <a:avLst>
              <a:gd name="adj" fmla="val 66667"/>
            </a:avLst>
          </a:prstGeom>
          <a:solidFill>
            <a:srgbClr val="FFFFFF"/>
          </a:solidFill>
          <a:ln w="12700">
            <a:solidFill>
              <a:srgbClr val="E5E7EB"/>
            </a:solidFill>
            <a:prstDash val="solid"/>
          </a:ln>
        </p:spPr>
      </p:sp>
      <p:sp>
        <p:nvSpPr>
          <p:cNvPr id="34" name="Text 29"/>
          <p:cNvSpPr txBox="1"/>
          <p:nvPr/>
        </p:nvSpPr>
        <p:spPr>
          <a:xfrm>
            <a:off x="8193938" y="1815084"/>
            <a:ext cx="120975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Whisper (文字起こし)</a:t>
            </a:r>
            <a:endParaRPr lang="en-US" sz="900" dirty="0"/>
          </a:p>
        </p:txBody>
      </p:sp>
      <p:sp>
        <p:nvSpPr>
          <p:cNvPr id="35" name="Shape 30"/>
          <p:cNvSpPr/>
          <p:nvPr/>
        </p:nvSpPr>
        <p:spPr>
          <a:xfrm>
            <a:off x="6629400" y="2072030"/>
            <a:ext cx="1133856" cy="228600"/>
          </a:xfrm>
          <a:prstGeom prst="roundRect">
            <a:avLst>
              <a:gd name="adj" fmla="val 66667"/>
            </a:avLst>
          </a:prstGeom>
          <a:solidFill>
            <a:srgbClr val="FFFFFF"/>
          </a:solidFill>
          <a:ln w="12700">
            <a:solidFill>
              <a:srgbClr val="E5E7EB"/>
            </a:solidFill>
            <a:prstDash val="solid"/>
          </a:ln>
        </p:spPr>
      </p:sp>
      <p:sp>
        <p:nvSpPr>
          <p:cNvPr id="36" name="Text 31"/>
          <p:cNvSpPr txBox="1"/>
          <p:nvPr/>
        </p:nvSpPr>
        <p:spPr>
          <a:xfrm>
            <a:off x="6715354" y="2100377"/>
            <a:ext cx="10479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Custom Webhook</a:t>
            </a:r>
            <a:endParaRPr lang="en-US" sz="900" dirty="0"/>
          </a:p>
        </p:txBody>
      </p:sp>
      <p:sp>
        <p:nvSpPr>
          <p:cNvPr id="37" name="Shape 32"/>
          <p:cNvSpPr/>
          <p:nvPr/>
        </p:nvSpPr>
        <p:spPr>
          <a:xfrm>
            <a:off x="390449" y="2425903"/>
            <a:ext cx="11410798" cy="761695"/>
          </a:xfrm>
          <a:prstGeom prst="rect">
            <a:avLst/>
          </a:prstGeom>
          <a:solidFill>
            <a:srgbClr val="FFFFFF"/>
          </a:solidFill>
          <a:ln/>
        </p:spPr>
      </p:sp>
      <p:sp>
        <p:nvSpPr>
          <p:cNvPr id="38" name="Shape 33"/>
          <p:cNvSpPr/>
          <p:nvPr/>
        </p:nvSpPr>
        <p:spPr>
          <a:xfrm>
            <a:off x="390449" y="3178454"/>
            <a:ext cx="11410798" cy="9144"/>
          </a:xfrm>
          <a:prstGeom prst="rect">
            <a:avLst/>
          </a:prstGeom>
          <a:solidFill>
            <a:srgbClr val="E5E7EB"/>
          </a:solidFill>
          <a:ln/>
        </p:spPr>
      </p:sp>
      <p:sp>
        <p:nvSpPr>
          <p:cNvPr id="39" name="Shape 34"/>
          <p:cNvSpPr/>
          <p:nvPr/>
        </p:nvSpPr>
        <p:spPr>
          <a:xfrm>
            <a:off x="543154" y="2664562"/>
            <a:ext cx="267005" cy="267005"/>
          </a:xfrm>
          <a:prstGeom prst="ellipse">
            <a:avLst/>
          </a:prstGeom>
          <a:solidFill>
            <a:srgbClr val="DC2626"/>
          </a:solidFill>
          <a:ln/>
        </p:spPr>
      </p:sp>
      <p:sp>
        <p:nvSpPr>
          <p:cNvPr id="40" name="Text 35"/>
          <p:cNvSpPr txBox="1"/>
          <p:nvPr/>
        </p:nvSpPr>
        <p:spPr>
          <a:xfrm>
            <a:off x="631850" y="2701138"/>
            <a:ext cx="192938"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B</a:t>
            </a:r>
            <a:endParaRPr lang="en-US" sz="1000" dirty="0"/>
          </a:p>
        </p:txBody>
      </p:sp>
      <p:sp>
        <p:nvSpPr>
          <p:cNvPr id="41" name="Shape 36"/>
          <p:cNvSpPr/>
          <p:nvPr/>
        </p:nvSpPr>
        <p:spPr>
          <a:xfrm>
            <a:off x="3019349" y="2541118"/>
            <a:ext cx="1171346" cy="228600"/>
          </a:xfrm>
          <a:prstGeom prst="roundRect">
            <a:avLst>
              <a:gd name="adj" fmla="val 66667"/>
            </a:avLst>
          </a:prstGeom>
          <a:solidFill>
            <a:srgbClr val="E5E7EB"/>
          </a:solidFill>
          <a:ln w="12700">
            <a:solidFill>
              <a:srgbClr val="D1D5DB"/>
            </a:solidFill>
            <a:prstDash val="solid"/>
          </a:ln>
        </p:spPr>
      </p:sp>
      <p:sp>
        <p:nvSpPr>
          <p:cNvPr id="42" name="Text 37"/>
          <p:cNvSpPr txBox="1"/>
          <p:nvPr/>
        </p:nvSpPr>
        <p:spPr>
          <a:xfrm>
            <a:off x="3105302" y="2569464"/>
            <a:ext cx="1086307"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SharePoint Online</a:t>
            </a:r>
            <a:endParaRPr lang="en-US" sz="900" dirty="0"/>
          </a:p>
        </p:txBody>
      </p:sp>
      <p:sp>
        <p:nvSpPr>
          <p:cNvPr id="43" name="Shape 38"/>
          <p:cNvSpPr/>
          <p:nvPr/>
        </p:nvSpPr>
        <p:spPr>
          <a:xfrm>
            <a:off x="4240987" y="2541118"/>
            <a:ext cx="714146" cy="228600"/>
          </a:xfrm>
          <a:prstGeom prst="roundRect">
            <a:avLst>
              <a:gd name="adj" fmla="val 66667"/>
            </a:avLst>
          </a:prstGeom>
          <a:solidFill>
            <a:srgbClr val="E5E7EB"/>
          </a:solidFill>
          <a:ln w="12700">
            <a:solidFill>
              <a:srgbClr val="D1D5DB"/>
            </a:solidFill>
            <a:prstDash val="solid"/>
          </a:ln>
        </p:spPr>
      </p:sp>
      <p:sp>
        <p:nvSpPr>
          <p:cNvPr id="44" name="Text 39"/>
          <p:cNvSpPr txBox="1"/>
          <p:nvPr/>
        </p:nvSpPr>
        <p:spPr>
          <a:xfrm>
            <a:off x="4326026" y="2569464"/>
            <a:ext cx="629107"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Dataverse</a:t>
            </a:r>
            <a:endParaRPr lang="en-US" sz="900" dirty="0"/>
          </a:p>
        </p:txBody>
      </p:sp>
      <p:sp>
        <p:nvSpPr>
          <p:cNvPr id="45" name="Shape 40"/>
          <p:cNvSpPr/>
          <p:nvPr/>
        </p:nvSpPr>
        <p:spPr>
          <a:xfrm>
            <a:off x="3019349" y="2826410"/>
            <a:ext cx="1438351" cy="228600"/>
          </a:xfrm>
          <a:prstGeom prst="roundRect">
            <a:avLst>
              <a:gd name="adj" fmla="val 66667"/>
            </a:avLst>
          </a:prstGeom>
          <a:solidFill>
            <a:srgbClr val="E5E7EB"/>
          </a:solidFill>
          <a:ln w="12700">
            <a:solidFill>
              <a:srgbClr val="D1D5DB"/>
            </a:solidFill>
            <a:prstDash val="solid"/>
          </a:ln>
        </p:spPr>
      </p:sp>
      <p:sp>
        <p:nvSpPr>
          <p:cNvPr id="46" name="Text 41"/>
          <p:cNvSpPr txBox="1"/>
          <p:nvPr/>
        </p:nvSpPr>
        <p:spPr>
          <a:xfrm>
            <a:off x="3105302" y="2855671"/>
            <a:ext cx="1353312"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Azure SQL / Cosmos DB</a:t>
            </a:r>
            <a:endParaRPr lang="en-US" sz="900" dirty="0"/>
          </a:p>
        </p:txBody>
      </p:sp>
      <p:sp>
        <p:nvSpPr>
          <p:cNvPr id="47" name="Shape 42"/>
          <p:cNvSpPr/>
          <p:nvPr/>
        </p:nvSpPr>
        <p:spPr>
          <a:xfrm>
            <a:off x="4507078" y="2826410"/>
            <a:ext cx="990295" cy="228600"/>
          </a:xfrm>
          <a:prstGeom prst="roundRect">
            <a:avLst>
              <a:gd name="adj" fmla="val 66667"/>
            </a:avLst>
          </a:prstGeom>
          <a:solidFill>
            <a:srgbClr val="E5E7EB"/>
          </a:solidFill>
          <a:ln w="12700">
            <a:solidFill>
              <a:srgbClr val="D1D5DB"/>
            </a:solidFill>
            <a:prstDash val="solid"/>
          </a:ln>
        </p:spPr>
      </p:sp>
      <p:sp>
        <p:nvSpPr>
          <p:cNvPr id="48" name="Text 43"/>
          <p:cNvSpPr txBox="1"/>
          <p:nvPr/>
        </p:nvSpPr>
        <p:spPr>
          <a:xfrm>
            <a:off x="4593031" y="2855671"/>
            <a:ext cx="905256"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Microsoft Loop</a:t>
            </a:r>
            <a:endParaRPr lang="en-US" sz="900" dirty="0"/>
          </a:p>
        </p:txBody>
      </p:sp>
      <p:sp>
        <p:nvSpPr>
          <p:cNvPr id="49" name="Shape 44"/>
          <p:cNvSpPr/>
          <p:nvPr/>
        </p:nvSpPr>
        <p:spPr>
          <a:xfrm>
            <a:off x="6629400" y="2541118"/>
            <a:ext cx="543154" cy="228600"/>
          </a:xfrm>
          <a:prstGeom prst="roundRect">
            <a:avLst>
              <a:gd name="adj" fmla="val 66667"/>
            </a:avLst>
          </a:prstGeom>
          <a:solidFill>
            <a:srgbClr val="FFFFFF"/>
          </a:solidFill>
          <a:ln w="12700">
            <a:solidFill>
              <a:srgbClr val="E5E7EB"/>
            </a:solidFill>
            <a:prstDash val="solid"/>
          </a:ln>
        </p:spPr>
      </p:sp>
      <p:sp>
        <p:nvSpPr>
          <p:cNvPr id="50" name="Text 45"/>
          <p:cNvSpPr txBox="1"/>
          <p:nvPr/>
        </p:nvSpPr>
        <p:spPr>
          <a:xfrm>
            <a:off x="6715354" y="2569464"/>
            <a:ext cx="457200"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Notion</a:t>
            </a:r>
            <a:endParaRPr lang="en-US" sz="900" dirty="0"/>
          </a:p>
        </p:txBody>
      </p:sp>
      <p:sp>
        <p:nvSpPr>
          <p:cNvPr id="51" name="Shape 46"/>
          <p:cNvSpPr/>
          <p:nvPr/>
        </p:nvSpPr>
        <p:spPr>
          <a:xfrm>
            <a:off x="7229246" y="2541118"/>
            <a:ext cx="790956" cy="228600"/>
          </a:xfrm>
          <a:prstGeom prst="roundRect">
            <a:avLst>
              <a:gd name="adj" fmla="val 66667"/>
            </a:avLst>
          </a:prstGeom>
          <a:solidFill>
            <a:srgbClr val="FFFFFF"/>
          </a:solidFill>
          <a:ln w="12700">
            <a:solidFill>
              <a:srgbClr val="E5E7EB"/>
            </a:solidFill>
            <a:prstDash val="solid"/>
          </a:ln>
        </p:spPr>
      </p:sp>
      <p:sp>
        <p:nvSpPr>
          <p:cNvPr id="52" name="Text 47"/>
          <p:cNvSpPr txBox="1"/>
          <p:nvPr/>
        </p:nvSpPr>
        <p:spPr>
          <a:xfrm>
            <a:off x="7315200" y="2569464"/>
            <a:ext cx="7050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Confluence</a:t>
            </a:r>
            <a:endParaRPr lang="en-US" sz="900" dirty="0"/>
          </a:p>
        </p:txBody>
      </p:sp>
      <p:sp>
        <p:nvSpPr>
          <p:cNvPr id="53" name="Shape 48"/>
          <p:cNvSpPr/>
          <p:nvPr/>
        </p:nvSpPr>
        <p:spPr>
          <a:xfrm>
            <a:off x="8074152" y="2541118"/>
            <a:ext cx="381305" cy="228600"/>
          </a:xfrm>
          <a:prstGeom prst="roundRect">
            <a:avLst>
              <a:gd name="adj" fmla="val 66667"/>
            </a:avLst>
          </a:prstGeom>
          <a:solidFill>
            <a:srgbClr val="FFFFFF"/>
          </a:solidFill>
          <a:ln w="12700">
            <a:solidFill>
              <a:srgbClr val="E5E7EB"/>
            </a:solidFill>
            <a:prstDash val="solid"/>
          </a:ln>
        </p:spPr>
      </p:sp>
      <p:sp>
        <p:nvSpPr>
          <p:cNvPr id="54" name="Text 49"/>
          <p:cNvSpPr txBox="1"/>
          <p:nvPr/>
        </p:nvSpPr>
        <p:spPr>
          <a:xfrm>
            <a:off x="8160106" y="2569464"/>
            <a:ext cx="29535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Box</a:t>
            </a:r>
            <a:endParaRPr lang="en-US" sz="900" dirty="0"/>
          </a:p>
        </p:txBody>
      </p:sp>
      <p:sp>
        <p:nvSpPr>
          <p:cNvPr id="55" name="Shape 50"/>
          <p:cNvSpPr/>
          <p:nvPr/>
        </p:nvSpPr>
        <p:spPr>
          <a:xfrm>
            <a:off x="8506663" y="2541118"/>
            <a:ext cx="743407" cy="228600"/>
          </a:xfrm>
          <a:prstGeom prst="roundRect">
            <a:avLst>
              <a:gd name="adj" fmla="val 66667"/>
            </a:avLst>
          </a:prstGeom>
          <a:solidFill>
            <a:srgbClr val="FFFFFF"/>
          </a:solidFill>
          <a:ln w="12700">
            <a:solidFill>
              <a:srgbClr val="E5E7EB"/>
            </a:solidFill>
            <a:prstDash val="solid"/>
          </a:ln>
        </p:spPr>
      </p:sp>
      <p:sp>
        <p:nvSpPr>
          <p:cNvPr id="56" name="Text 51"/>
          <p:cNvSpPr txBox="1"/>
          <p:nvPr/>
        </p:nvSpPr>
        <p:spPr>
          <a:xfrm>
            <a:off x="8591702" y="2569464"/>
            <a:ext cx="657454"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Snowflake</a:t>
            </a:r>
            <a:endParaRPr lang="en-US" sz="900" dirty="0"/>
          </a:p>
        </p:txBody>
      </p:sp>
      <p:sp>
        <p:nvSpPr>
          <p:cNvPr id="57" name="Shape 52"/>
          <p:cNvSpPr/>
          <p:nvPr/>
        </p:nvSpPr>
        <p:spPr>
          <a:xfrm>
            <a:off x="6629400" y="2826410"/>
            <a:ext cx="800100" cy="228600"/>
          </a:xfrm>
          <a:prstGeom prst="roundRect">
            <a:avLst>
              <a:gd name="adj" fmla="val 66667"/>
            </a:avLst>
          </a:prstGeom>
          <a:solidFill>
            <a:srgbClr val="FFFFFF"/>
          </a:solidFill>
          <a:ln w="12700">
            <a:solidFill>
              <a:srgbClr val="E5E7EB"/>
            </a:solidFill>
            <a:prstDash val="solid"/>
          </a:ln>
        </p:spPr>
      </p:sp>
      <p:sp>
        <p:nvSpPr>
          <p:cNvPr id="58" name="Text 53"/>
          <p:cNvSpPr txBox="1"/>
          <p:nvPr/>
        </p:nvSpPr>
        <p:spPr>
          <a:xfrm>
            <a:off x="6715354" y="2855671"/>
            <a:ext cx="71506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PostgreSQL</a:t>
            </a:r>
            <a:endParaRPr lang="en-US" sz="900" dirty="0"/>
          </a:p>
        </p:txBody>
      </p:sp>
      <p:sp>
        <p:nvSpPr>
          <p:cNvPr id="59" name="Shape 54"/>
          <p:cNvSpPr/>
          <p:nvPr/>
        </p:nvSpPr>
        <p:spPr>
          <a:xfrm>
            <a:off x="390449" y="3180283"/>
            <a:ext cx="11410798" cy="714146"/>
          </a:xfrm>
          <a:prstGeom prst="rect">
            <a:avLst/>
          </a:prstGeom>
          <a:solidFill>
            <a:srgbClr val="F9FAFB"/>
          </a:solidFill>
          <a:ln/>
        </p:spPr>
      </p:sp>
      <p:sp>
        <p:nvSpPr>
          <p:cNvPr id="60" name="Shape 55"/>
          <p:cNvSpPr/>
          <p:nvPr/>
        </p:nvSpPr>
        <p:spPr>
          <a:xfrm>
            <a:off x="390449" y="3885286"/>
            <a:ext cx="11410798" cy="9144"/>
          </a:xfrm>
          <a:prstGeom prst="rect">
            <a:avLst/>
          </a:prstGeom>
          <a:solidFill>
            <a:srgbClr val="E5E7EB"/>
          </a:solidFill>
          <a:ln/>
        </p:spPr>
      </p:sp>
      <p:sp>
        <p:nvSpPr>
          <p:cNvPr id="61" name="Shape 56"/>
          <p:cNvSpPr/>
          <p:nvPr/>
        </p:nvSpPr>
        <p:spPr>
          <a:xfrm>
            <a:off x="543154" y="3399739"/>
            <a:ext cx="267005" cy="267005"/>
          </a:xfrm>
          <a:prstGeom prst="ellipse">
            <a:avLst/>
          </a:prstGeom>
          <a:solidFill>
            <a:srgbClr val="DC2626"/>
          </a:solidFill>
          <a:ln/>
        </p:spPr>
      </p:sp>
      <p:sp>
        <p:nvSpPr>
          <p:cNvPr id="62" name="Text 57"/>
          <p:cNvSpPr txBox="1"/>
          <p:nvPr/>
        </p:nvSpPr>
        <p:spPr>
          <a:xfrm>
            <a:off x="633679" y="3435401"/>
            <a:ext cx="182880"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C</a:t>
            </a:r>
            <a:endParaRPr lang="en-US" sz="1000" dirty="0"/>
          </a:p>
        </p:txBody>
      </p:sp>
      <p:sp>
        <p:nvSpPr>
          <p:cNvPr id="63" name="Shape 58"/>
          <p:cNvSpPr/>
          <p:nvPr/>
        </p:nvSpPr>
        <p:spPr>
          <a:xfrm>
            <a:off x="3019349" y="3275381"/>
            <a:ext cx="1837944" cy="228600"/>
          </a:xfrm>
          <a:prstGeom prst="roundRect">
            <a:avLst>
              <a:gd name="adj" fmla="val 66667"/>
            </a:avLst>
          </a:prstGeom>
          <a:solidFill>
            <a:srgbClr val="E5E7EB"/>
          </a:solidFill>
          <a:ln w="12700">
            <a:solidFill>
              <a:srgbClr val="D1D5DB"/>
            </a:solidFill>
            <a:prstDash val="solid"/>
          </a:ln>
        </p:spPr>
      </p:sp>
      <p:sp>
        <p:nvSpPr>
          <p:cNvPr id="64" name="Text 59"/>
          <p:cNvSpPr txBox="1"/>
          <p:nvPr/>
        </p:nvSpPr>
        <p:spPr>
          <a:xfrm>
            <a:off x="3105302" y="3304642"/>
            <a:ext cx="1752905"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M365 Copilot (Semantic Index)</a:t>
            </a:r>
            <a:endParaRPr lang="en-US" sz="900" dirty="0"/>
          </a:p>
        </p:txBody>
      </p:sp>
      <p:sp>
        <p:nvSpPr>
          <p:cNvPr id="65" name="Shape 60"/>
          <p:cNvSpPr/>
          <p:nvPr/>
        </p:nvSpPr>
        <p:spPr>
          <a:xfrm>
            <a:off x="4910328" y="3275381"/>
            <a:ext cx="1009498" cy="228600"/>
          </a:xfrm>
          <a:prstGeom prst="roundRect">
            <a:avLst>
              <a:gd name="adj" fmla="val 66667"/>
            </a:avLst>
          </a:prstGeom>
          <a:solidFill>
            <a:srgbClr val="E5E7EB"/>
          </a:solidFill>
          <a:ln w="12700">
            <a:solidFill>
              <a:srgbClr val="D1D5DB"/>
            </a:solidFill>
            <a:prstDash val="solid"/>
          </a:ln>
        </p:spPr>
      </p:sp>
      <p:sp>
        <p:nvSpPr>
          <p:cNvPr id="66" name="Text 61"/>
          <p:cNvSpPr txBox="1"/>
          <p:nvPr/>
        </p:nvSpPr>
        <p:spPr>
          <a:xfrm>
            <a:off x="4996282" y="3304642"/>
            <a:ext cx="924458"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Azure AI Search</a:t>
            </a:r>
            <a:endParaRPr lang="en-US" sz="900" dirty="0"/>
          </a:p>
        </p:txBody>
      </p:sp>
      <p:sp>
        <p:nvSpPr>
          <p:cNvPr id="67" name="Shape 62"/>
          <p:cNvSpPr/>
          <p:nvPr/>
        </p:nvSpPr>
        <p:spPr>
          <a:xfrm>
            <a:off x="3019349" y="3561588"/>
            <a:ext cx="905256" cy="228600"/>
          </a:xfrm>
          <a:prstGeom prst="roundRect">
            <a:avLst>
              <a:gd name="adj" fmla="val 66667"/>
            </a:avLst>
          </a:prstGeom>
          <a:solidFill>
            <a:srgbClr val="E5E7EB"/>
          </a:solidFill>
          <a:ln w="12700">
            <a:solidFill>
              <a:srgbClr val="D1D5DB"/>
            </a:solidFill>
            <a:prstDash val="solid"/>
          </a:ln>
        </p:spPr>
      </p:sp>
      <p:sp>
        <p:nvSpPr>
          <p:cNvPr id="68" name="Text 63"/>
          <p:cNvSpPr txBox="1"/>
          <p:nvPr/>
        </p:nvSpPr>
        <p:spPr>
          <a:xfrm>
            <a:off x="3105302" y="3589934"/>
            <a:ext cx="819302"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Azure OpenAI</a:t>
            </a:r>
            <a:endParaRPr lang="en-US" sz="900" dirty="0"/>
          </a:p>
        </p:txBody>
      </p:sp>
      <p:sp>
        <p:nvSpPr>
          <p:cNvPr id="69" name="Shape 64"/>
          <p:cNvSpPr/>
          <p:nvPr/>
        </p:nvSpPr>
        <p:spPr>
          <a:xfrm>
            <a:off x="6629400" y="3275381"/>
            <a:ext cx="685800" cy="228600"/>
          </a:xfrm>
          <a:prstGeom prst="roundRect">
            <a:avLst>
              <a:gd name="adj" fmla="val 66667"/>
            </a:avLst>
          </a:prstGeom>
          <a:solidFill>
            <a:srgbClr val="FFFFFF"/>
          </a:solidFill>
          <a:ln w="12700">
            <a:solidFill>
              <a:srgbClr val="E5E7EB"/>
            </a:solidFill>
            <a:prstDash val="solid"/>
          </a:ln>
        </p:spPr>
      </p:sp>
      <p:sp>
        <p:nvSpPr>
          <p:cNvPr id="70" name="Text 65"/>
          <p:cNvSpPr txBox="1"/>
          <p:nvPr/>
        </p:nvSpPr>
        <p:spPr>
          <a:xfrm>
            <a:off x="6715354" y="3304642"/>
            <a:ext cx="60076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Pinecone</a:t>
            </a:r>
            <a:endParaRPr lang="en-US" sz="900" dirty="0"/>
          </a:p>
        </p:txBody>
      </p:sp>
      <p:sp>
        <p:nvSpPr>
          <p:cNvPr id="71" name="Shape 66"/>
          <p:cNvSpPr/>
          <p:nvPr/>
        </p:nvSpPr>
        <p:spPr>
          <a:xfrm>
            <a:off x="7362749" y="3275381"/>
            <a:ext cx="676656" cy="228600"/>
          </a:xfrm>
          <a:prstGeom prst="roundRect">
            <a:avLst>
              <a:gd name="adj" fmla="val 66667"/>
            </a:avLst>
          </a:prstGeom>
          <a:solidFill>
            <a:srgbClr val="FFFFFF"/>
          </a:solidFill>
          <a:ln w="12700">
            <a:solidFill>
              <a:srgbClr val="E5E7EB"/>
            </a:solidFill>
            <a:prstDash val="solid"/>
          </a:ln>
        </p:spPr>
      </p:sp>
      <p:sp>
        <p:nvSpPr>
          <p:cNvPr id="72" name="Text 67"/>
          <p:cNvSpPr txBox="1"/>
          <p:nvPr/>
        </p:nvSpPr>
        <p:spPr>
          <a:xfrm>
            <a:off x="7448702" y="3304642"/>
            <a:ext cx="5907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Weaviate</a:t>
            </a:r>
            <a:endParaRPr lang="en-US" sz="900" dirty="0"/>
          </a:p>
        </p:txBody>
      </p:sp>
      <p:sp>
        <p:nvSpPr>
          <p:cNvPr id="73" name="Shape 68"/>
          <p:cNvSpPr/>
          <p:nvPr/>
        </p:nvSpPr>
        <p:spPr>
          <a:xfrm>
            <a:off x="8087868" y="3275381"/>
            <a:ext cx="895198" cy="228600"/>
          </a:xfrm>
          <a:prstGeom prst="roundRect">
            <a:avLst>
              <a:gd name="adj" fmla="val 66667"/>
            </a:avLst>
          </a:prstGeom>
          <a:solidFill>
            <a:srgbClr val="FFFFFF"/>
          </a:solidFill>
          <a:ln w="12700">
            <a:solidFill>
              <a:srgbClr val="E5E7EB"/>
            </a:solidFill>
            <a:prstDash val="solid"/>
          </a:ln>
        </p:spPr>
      </p:sp>
      <p:sp>
        <p:nvSpPr>
          <p:cNvPr id="74" name="Text 69"/>
          <p:cNvSpPr txBox="1"/>
          <p:nvPr/>
        </p:nvSpPr>
        <p:spPr>
          <a:xfrm>
            <a:off x="8173822" y="3304642"/>
            <a:ext cx="810158"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Elasticsearch</a:t>
            </a:r>
            <a:endParaRPr lang="en-US" sz="900" dirty="0"/>
          </a:p>
        </p:txBody>
      </p:sp>
      <p:sp>
        <p:nvSpPr>
          <p:cNvPr id="75" name="Shape 70"/>
          <p:cNvSpPr/>
          <p:nvPr/>
        </p:nvSpPr>
        <p:spPr>
          <a:xfrm>
            <a:off x="6629400" y="3561588"/>
            <a:ext cx="1086307" cy="228600"/>
          </a:xfrm>
          <a:prstGeom prst="roundRect">
            <a:avLst>
              <a:gd name="adj" fmla="val 66667"/>
            </a:avLst>
          </a:prstGeom>
          <a:solidFill>
            <a:srgbClr val="FFFFFF"/>
          </a:solidFill>
          <a:ln w="12700">
            <a:solidFill>
              <a:srgbClr val="E5E7EB"/>
            </a:solidFill>
            <a:prstDash val="solid"/>
          </a:ln>
        </p:spPr>
      </p:sp>
      <p:sp>
        <p:nvSpPr>
          <p:cNvPr id="76" name="Text 71"/>
          <p:cNvSpPr txBox="1"/>
          <p:nvPr/>
        </p:nvSpPr>
        <p:spPr>
          <a:xfrm>
            <a:off x="6715354" y="3589934"/>
            <a:ext cx="1000354"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LangChain (RAG)</a:t>
            </a:r>
            <a:endParaRPr lang="en-US" sz="900" dirty="0"/>
          </a:p>
        </p:txBody>
      </p:sp>
      <p:sp>
        <p:nvSpPr>
          <p:cNvPr id="77" name="Shape 72"/>
          <p:cNvSpPr/>
          <p:nvPr/>
        </p:nvSpPr>
        <p:spPr>
          <a:xfrm>
            <a:off x="390449" y="3894430"/>
            <a:ext cx="11410798" cy="714146"/>
          </a:xfrm>
          <a:prstGeom prst="rect">
            <a:avLst/>
          </a:prstGeom>
          <a:solidFill>
            <a:srgbClr val="FFFFFF"/>
          </a:solidFill>
          <a:ln/>
        </p:spPr>
      </p:sp>
      <p:sp>
        <p:nvSpPr>
          <p:cNvPr id="78" name="Shape 73"/>
          <p:cNvSpPr/>
          <p:nvPr/>
        </p:nvSpPr>
        <p:spPr>
          <a:xfrm>
            <a:off x="390449" y="4599432"/>
            <a:ext cx="11410798" cy="9144"/>
          </a:xfrm>
          <a:prstGeom prst="rect">
            <a:avLst/>
          </a:prstGeom>
          <a:solidFill>
            <a:srgbClr val="E5E7EB"/>
          </a:solidFill>
          <a:ln/>
        </p:spPr>
      </p:sp>
      <p:sp>
        <p:nvSpPr>
          <p:cNvPr id="79" name="Shape 74"/>
          <p:cNvSpPr/>
          <p:nvPr/>
        </p:nvSpPr>
        <p:spPr>
          <a:xfrm>
            <a:off x="543154" y="4113886"/>
            <a:ext cx="267005" cy="267005"/>
          </a:xfrm>
          <a:prstGeom prst="ellipse">
            <a:avLst/>
          </a:prstGeom>
          <a:solidFill>
            <a:srgbClr val="DC2626"/>
          </a:solidFill>
          <a:ln/>
        </p:spPr>
      </p:sp>
      <p:sp>
        <p:nvSpPr>
          <p:cNvPr id="80" name="Text 75"/>
          <p:cNvSpPr txBox="1"/>
          <p:nvPr/>
        </p:nvSpPr>
        <p:spPr>
          <a:xfrm>
            <a:off x="630022" y="4150462"/>
            <a:ext cx="192938"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D</a:t>
            </a:r>
            <a:endParaRPr lang="en-US" sz="1000" dirty="0"/>
          </a:p>
        </p:txBody>
      </p:sp>
      <p:sp>
        <p:nvSpPr>
          <p:cNvPr id="81" name="Shape 76"/>
          <p:cNvSpPr/>
          <p:nvPr/>
        </p:nvSpPr>
        <p:spPr>
          <a:xfrm>
            <a:off x="3019349" y="3990442"/>
            <a:ext cx="1333195" cy="228600"/>
          </a:xfrm>
          <a:prstGeom prst="roundRect">
            <a:avLst>
              <a:gd name="adj" fmla="val 66667"/>
            </a:avLst>
          </a:prstGeom>
          <a:solidFill>
            <a:srgbClr val="E5E7EB"/>
          </a:solidFill>
          <a:ln w="12700">
            <a:solidFill>
              <a:srgbClr val="D1D5DB"/>
            </a:solidFill>
            <a:prstDash val="solid"/>
          </a:ln>
        </p:spPr>
      </p:sp>
      <p:sp>
        <p:nvSpPr>
          <p:cNvPr id="82" name="Text 77"/>
          <p:cNvSpPr txBox="1"/>
          <p:nvPr/>
        </p:nvSpPr>
        <p:spPr>
          <a:xfrm>
            <a:off x="3105302" y="4018788"/>
            <a:ext cx="1248156"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Microsoft 365 Copilot</a:t>
            </a:r>
            <a:endParaRPr lang="en-US" sz="900" dirty="0"/>
          </a:p>
        </p:txBody>
      </p:sp>
      <p:sp>
        <p:nvSpPr>
          <p:cNvPr id="83" name="Shape 78"/>
          <p:cNvSpPr/>
          <p:nvPr/>
        </p:nvSpPr>
        <p:spPr>
          <a:xfrm>
            <a:off x="4401007" y="3990442"/>
            <a:ext cx="1752905" cy="228600"/>
          </a:xfrm>
          <a:prstGeom prst="roundRect">
            <a:avLst>
              <a:gd name="adj" fmla="val 66667"/>
            </a:avLst>
          </a:prstGeom>
          <a:solidFill>
            <a:srgbClr val="E5E7EB"/>
          </a:solidFill>
          <a:ln w="12700">
            <a:solidFill>
              <a:srgbClr val="D1D5DB"/>
            </a:solidFill>
            <a:prstDash val="solid"/>
          </a:ln>
        </p:spPr>
      </p:sp>
      <p:sp>
        <p:nvSpPr>
          <p:cNvPr id="84" name="Text 79"/>
          <p:cNvSpPr txBox="1"/>
          <p:nvPr/>
        </p:nvSpPr>
        <p:spPr>
          <a:xfrm>
            <a:off x="4486961" y="4018788"/>
            <a:ext cx="1666951"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Azure OpenAI Service (GPT-4)</a:t>
            </a:r>
            <a:endParaRPr lang="en-US" sz="900" dirty="0"/>
          </a:p>
        </p:txBody>
      </p:sp>
      <p:sp>
        <p:nvSpPr>
          <p:cNvPr id="85" name="Shape 80"/>
          <p:cNvSpPr/>
          <p:nvPr/>
        </p:nvSpPr>
        <p:spPr>
          <a:xfrm>
            <a:off x="3019349" y="4275734"/>
            <a:ext cx="952805" cy="228600"/>
          </a:xfrm>
          <a:prstGeom prst="roundRect">
            <a:avLst>
              <a:gd name="adj" fmla="val 66667"/>
            </a:avLst>
          </a:prstGeom>
          <a:solidFill>
            <a:srgbClr val="E5E7EB"/>
          </a:solidFill>
          <a:ln w="12700">
            <a:solidFill>
              <a:srgbClr val="D1D5DB"/>
            </a:solidFill>
            <a:prstDash val="solid"/>
          </a:ln>
        </p:spPr>
      </p:sp>
      <p:sp>
        <p:nvSpPr>
          <p:cNvPr id="86" name="Text 81"/>
          <p:cNvSpPr txBox="1"/>
          <p:nvPr/>
        </p:nvSpPr>
        <p:spPr>
          <a:xfrm>
            <a:off x="3105302" y="4304081"/>
            <a:ext cx="866851"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Copilot Studio</a:t>
            </a:r>
            <a:endParaRPr lang="en-US" sz="900" dirty="0"/>
          </a:p>
        </p:txBody>
      </p:sp>
      <p:sp>
        <p:nvSpPr>
          <p:cNvPr id="87" name="Shape 82"/>
          <p:cNvSpPr/>
          <p:nvPr/>
        </p:nvSpPr>
        <p:spPr>
          <a:xfrm>
            <a:off x="6629400" y="3990442"/>
            <a:ext cx="780898" cy="228600"/>
          </a:xfrm>
          <a:prstGeom prst="roundRect">
            <a:avLst>
              <a:gd name="adj" fmla="val 66667"/>
            </a:avLst>
          </a:prstGeom>
          <a:solidFill>
            <a:srgbClr val="FFFFFF"/>
          </a:solidFill>
          <a:ln w="12700">
            <a:solidFill>
              <a:srgbClr val="E5E7EB"/>
            </a:solidFill>
            <a:prstDash val="solid"/>
          </a:ln>
        </p:spPr>
      </p:sp>
      <p:sp>
        <p:nvSpPr>
          <p:cNvPr id="88" name="Text 83"/>
          <p:cNvSpPr txBox="1"/>
          <p:nvPr/>
        </p:nvSpPr>
        <p:spPr>
          <a:xfrm>
            <a:off x="6715354" y="4018788"/>
            <a:ext cx="695858"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OpenAI API</a:t>
            </a:r>
            <a:endParaRPr lang="en-US" sz="900" dirty="0"/>
          </a:p>
        </p:txBody>
      </p:sp>
      <p:sp>
        <p:nvSpPr>
          <p:cNvPr id="89" name="Shape 84"/>
          <p:cNvSpPr/>
          <p:nvPr/>
        </p:nvSpPr>
        <p:spPr>
          <a:xfrm>
            <a:off x="7465162" y="3990442"/>
            <a:ext cx="1123798" cy="228600"/>
          </a:xfrm>
          <a:prstGeom prst="roundRect">
            <a:avLst>
              <a:gd name="adj" fmla="val 66667"/>
            </a:avLst>
          </a:prstGeom>
          <a:solidFill>
            <a:srgbClr val="FFFFFF"/>
          </a:solidFill>
          <a:ln w="12700">
            <a:solidFill>
              <a:srgbClr val="E5E7EB"/>
            </a:solidFill>
            <a:prstDash val="solid"/>
          </a:ln>
        </p:spPr>
      </p:sp>
      <p:sp>
        <p:nvSpPr>
          <p:cNvPr id="90" name="Text 85"/>
          <p:cNvSpPr txBox="1"/>
          <p:nvPr/>
        </p:nvSpPr>
        <p:spPr>
          <a:xfrm>
            <a:off x="7550201" y="4018788"/>
            <a:ext cx="1038758"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Anthropic Claude</a:t>
            </a:r>
            <a:endParaRPr lang="en-US" sz="900" dirty="0"/>
          </a:p>
        </p:txBody>
      </p:sp>
      <p:sp>
        <p:nvSpPr>
          <p:cNvPr id="91" name="Shape 86"/>
          <p:cNvSpPr/>
          <p:nvPr/>
        </p:nvSpPr>
        <p:spPr>
          <a:xfrm>
            <a:off x="6629400" y="4275734"/>
            <a:ext cx="1333195" cy="228600"/>
          </a:xfrm>
          <a:prstGeom prst="roundRect">
            <a:avLst>
              <a:gd name="adj" fmla="val 66667"/>
            </a:avLst>
          </a:prstGeom>
          <a:solidFill>
            <a:srgbClr val="FFFFFF"/>
          </a:solidFill>
          <a:ln w="12700">
            <a:solidFill>
              <a:srgbClr val="E5E7EB"/>
            </a:solidFill>
            <a:prstDash val="solid"/>
          </a:ln>
        </p:spPr>
      </p:sp>
      <p:sp>
        <p:nvSpPr>
          <p:cNvPr id="92" name="Text 87"/>
          <p:cNvSpPr txBox="1"/>
          <p:nvPr/>
        </p:nvSpPr>
        <p:spPr>
          <a:xfrm>
            <a:off x="6715354" y="4304081"/>
            <a:ext cx="1248156"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Llama 3 (Self-hosted)</a:t>
            </a:r>
            <a:endParaRPr lang="en-US" sz="900" dirty="0"/>
          </a:p>
        </p:txBody>
      </p:sp>
      <p:sp>
        <p:nvSpPr>
          <p:cNvPr id="93" name="Shape 88"/>
          <p:cNvSpPr/>
          <p:nvPr/>
        </p:nvSpPr>
        <p:spPr>
          <a:xfrm>
            <a:off x="390449" y="4609490"/>
            <a:ext cx="11410798" cy="761695"/>
          </a:xfrm>
          <a:prstGeom prst="rect">
            <a:avLst/>
          </a:prstGeom>
          <a:solidFill>
            <a:srgbClr val="F9FAFB"/>
          </a:solidFill>
          <a:ln/>
        </p:spPr>
      </p:sp>
      <p:sp>
        <p:nvSpPr>
          <p:cNvPr id="94" name="Shape 89"/>
          <p:cNvSpPr/>
          <p:nvPr/>
        </p:nvSpPr>
        <p:spPr>
          <a:xfrm>
            <a:off x="390449" y="5362042"/>
            <a:ext cx="11410798" cy="9144"/>
          </a:xfrm>
          <a:prstGeom prst="rect">
            <a:avLst/>
          </a:prstGeom>
          <a:solidFill>
            <a:srgbClr val="E5E7EB"/>
          </a:solidFill>
          <a:ln/>
        </p:spPr>
      </p:sp>
      <p:sp>
        <p:nvSpPr>
          <p:cNvPr id="95" name="Shape 90"/>
          <p:cNvSpPr/>
          <p:nvPr/>
        </p:nvSpPr>
        <p:spPr>
          <a:xfrm>
            <a:off x="543154" y="4848149"/>
            <a:ext cx="267005" cy="267005"/>
          </a:xfrm>
          <a:prstGeom prst="ellipse">
            <a:avLst/>
          </a:prstGeom>
          <a:solidFill>
            <a:srgbClr val="DC2626"/>
          </a:solidFill>
          <a:ln/>
        </p:spPr>
      </p:sp>
      <p:sp>
        <p:nvSpPr>
          <p:cNvPr id="96" name="Text 91"/>
          <p:cNvSpPr txBox="1"/>
          <p:nvPr/>
        </p:nvSpPr>
        <p:spPr>
          <a:xfrm>
            <a:off x="636422" y="4884725"/>
            <a:ext cx="182880"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E</a:t>
            </a:r>
            <a:endParaRPr lang="en-US" sz="1000" dirty="0"/>
          </a:p>
        </p:txBody>
      </p:sp>
      <p:sp>
        <p:nvSpPr>
          <p:cNvPr id="97" name="Shape 92"/>
          <p:cNvSpPr/>
          <p:nvPr/>
        </p:nvSpPr>
        <p:spPr>
          <a:xfrm>
            <a:off x="3019349" y="4724705"/>
            <a:ext cx="1076249" cy="228600"/>
          </a:xfrm>
          <a:prstGeom prst="roundRect">
            <a:avLst>
              <a:gd name="adj" fmla="val 66667"/>
            </a:avLst>
          </a:prstGeom>
          <a:solidFill>
            <a:srgbClr val="E5E7EB"/>
          </a:solidFill>
          <a:ln w="12700">
            <a:solidFill>
              <a:srgbClr val="D1D5DB"/>
            </a:solidFill>
            <a:prstDash val="solid"/>
          </a:ln>
        </p:spPr>
      </p:sp>
      <p:sp>
        <p:nvSpPr>
          <p:cNvPr id="98" name="Text 93"/>
          <p:cNvSpPr txBox="1"/>
          <p:nvPr/>
        </p:nvSpPr>
        <p:spPr>
          <a:xfrm>
            <a:off x="3105302" y="4753051"/>
            <a:ext cx="99121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Power Automate</a:t>
            </a:r>
            <a:endParaRPr lang="en-US" sz="900" dirty="0"/>
          </a:p>
        </p:txBody>
      </p:sp>
      <p:sp>
        <p:nvSpPr>
          <p:cNvPr id="99" name="Shape 94"/>
          <p:cNvSpPr/>
          <p:nvPr/>
        </p:nvSpPr>
        <p:spPr>
          <a:xfrm>
            <a:off x="4151376" y="4724705"/>
            <a:ext cx="599846" cy="228600"/>
          </a:xfrm>
          <a:prstGeom prst="roundRect">
            <a:avLst>
              <a:gd name="adj" fmla="val 66667"/>
            </a:avLst>
          </a:prstGeom>
          <a:solidFill>
            <a:srgbClr val="E5E7EB"/>
          </a:solidFill>
          <a:ln w="12700">
            <a:solidFill>
              <a:srgbClr val="D1D5DB"/>
            </a:solidFill>
            <a:prstDash val="solid"/>
          </a:ln>
        </p:spPr>
      </p:sp>
      <p:sp>
        <p:nvSpPr>
          <p:cNvPr id="100" name="Text 95"/>
          <p:cNvSpPr txBox="1"/>
          <p:nvPr/>
        </p:nvSpPr>
        <p:spPr>
          <a:xfrm>
            <a:off x="4237330" y="4753051"/>
            <a:ext cx="514807"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Planner</a:t>
            </a:r>
            <a:endParaRPr lang="en-US" sz="900" dirty="0"/>
          </a:p>
        </p:txBody>
      </p:sp>
      <p:sp>
        <p:nvSpPr>
          <p:cNvPr id="101" name="Shape 96"/>
          <p:cNvSpPr/>
          <p:nvPr/>
        </p:nvSpPr>
        <p:spPr>
          <a:xfrm>
            <a:off x="4807915" y="4724705"/>
            <a:ext cx="761695" cy="228600"/>
          </a:xfrm>
          <a:prstGeom prst="roundRect">
            <a:avLst>
              <a:gd name="adj" fmla="val 66667"/>
            </a:avLst>
          </a:prstGeom>
          <a:solidFill>
            <a:srgbClr val="E5E7EB"/>
          </a:solidFill>
          <a:ln w="12700">
            <a:solidFill>
              <a:srgbClr val="D1D5DB"/>
            </a:solidFill>
            <a:prstDash val="solid"/>
          </a:ln>
        </p:spPr>
      </p:sp>
      <p:sp>
        <p:nvSpPr>
          <p:cNvPr id="102" name="Text 97"/>
          <p:cNvSpPr txBox="1"/>
          <p:nvPr/>
        </p:nvSpPr>
        <p:spPr>
          <a:xfrm>
            <a:off x="4893869" y="4753051"/>
            <a:ext cx="676656"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Logic Apps</a:t>
            </a:r>
            <a:endParaRPr lang="en-US" sz="900" dirty="0"/>
          </a:p>
        </p:txBody>
      </p:sp>
      <p:sp>
        <p:nvSpPr>
          <p:cNvPr id="103" name="Shape 98"/>
          <p:cNvSpPr/>
          <p:nvPr/>
        </p:nvSpPr>
        <p:spPr>
          <a:xfrm>
            <a:off x="3019349" y="5009998"/>
            <a:ext cx="961949" cy="228600"/>
          </a:xfrm>
          <a:prstGeom prst="roundRect">
            <a:avLst>
              <a:gd name="adj" fmla="val 66667"/>
            </a:avLst>
          </a:prstGeom>
          <a:solidFill>
            <a:srgbClr val="E5E7EB"/>
          </a:solidFill>
          <a:ln w="12700">
            <a:solidFill>
              <a:srgbClr val="D1D5DB"/>
            </a:solidFill>
            <a:prstDash val="solid"/>
          </a:ln>
        </p:spPr>
      </p:sp>
      <p:sp>
        <p:nvSpPr>
          <p:cNvPr id="104" name="Text 99"/>
          <p:cNvSpPr txBox="1"/>
          <p:nvPr/>
        </p:nvSpPr>
        <p:spPr>
          <a:xfrm>
            <a:off x="3105302" y="5039258"/>
            <a:ext cx="87691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Copilot Agents</a:t>
            </a:r>
            <a:endParaRPr lang="en-US" sz="900" dirty="0"/>
          </a:p>
        </p:txBody>
      </p:sp>
      <p:sp>
        <p:nvSpPr>
          <p:cNvPr id="105" name="Shape 100"/>
          <p:cNvSpPr/>
          <p:nvPr/>
        </p:nvSpPr>
        <p:spPr>
          <a:xfrm>
            <a:off x="6629400" y="4867351"/>
            <a:ext cx="523951" cy="228600"/>
          </a:xfrm>
          <a:prstGeom prst="roundRect">
            <a:avLst>
              <a:gd name="adj" fmla="val 66667"/>
            </a:avLst>
          </a:prstGeom>
          <a:solidFill>
            <a:srgbClr val="FFFFFF"/>
          </a:solidFill>
          <a:ln w="12700">
            <a:solidFill>
              <a:srgbClr val="E5E7EB"/>
            </a:solidFill>
            <a:prstDash val="solid"/>
          </a:ln>
        </p:spPr>
      </p:sp>
      <p:sp>
        <p:nvSpPr>
          <p:cNvPr id="106" name="Text 101"/>
          <p:cNvSpPr txBox="1"/>
          <p:nvPr/>
        </p:nvSpPr>
        <p:spPr>
          <a:xfrm>
            <a:off x="6715354" y="4895698"/>
            <a:ext cx="43891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Zapier</a:t>
            </a:r>
            <a:endParaRPr lang="en-US" sz="900" dirty="0"/>
          </a:p>
        </p:txBody>
      </p:sp>
      <p:sp>
        <p:nvSpPr>
          <p:cNvPr id="107" name="Shape 102"/>
          <p:cNvSpPr/>
          <p:nvPr/>
        </p:nvSpPr>
        <p:spPr>
          <a:xfrm>
            <a:off x="7207301" y="4867351"/>
            <a:ext cx="381305" cy="228600"/>
          </a:xfrm>
          <a:prstGeom prst="roundRect">
            <a:avLst>
              <a:gd name="adj" fmla="val 66667"/>
            </a:avLst>
          </a:prstGeom>
          <a:solidFill>
            <a:srgbClr val="FFFFFF"/>
          </a:solidFill>
          <a:ln w="12700">
            <a:solidFill>
              <a:srgbClr val="E5E7EB"/>
            </a:solidFill>
            <a:prstDash val="solid"/>
          </a:ln>
        </p:spPr>
      </p:sp>
      <p:sp>
        <p:nvSpPr>
          <p:cNvPr id="108" name="Text 103"/>
          <p:cNvSpPr txBox="1"/>
          <p:nvPr/>
        </p:nvSpPr>
        <p:spPr>
          <a:xfrm>
            <a:off x="7293254" y="4895698"/>
            <a:ext cx="29535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n8n</a:t>
            </a:r>
            <a:endParaRPr lang="en-US" sz="900" dirty="0"/>
          </a:p>
        </p:txBody>
      </p:sp>
      <p:sp>
        <p:nvSpPr>
          <p:cNvPr id="109" name="Shape 104"/>
          <p:cNvSpPr/>
          <p:nvPr/>
        </p:nvSpPr>
        <p:spPr>
          <a:xfrm>
            <a:off x="7643470" y="4867351"/>
            <a:ext cx="381305" cy="228600"/>
          </a:xfrm>
          <a:prstGeom prst="roundRect">
            <a:avLst>
              <a:gd name="adj" fmla="val 66667"/>
            </a:avLst>
          </a:prstGeom>
          <a:solidFill>
            <a:srgbClr val="FFFFFF"/>
          </a:solidFill>
          <a:ln w="12700">
            <a:solidFill>
              <a:srgbClr val="E5E7EB"/>
            </a:solidFill>
            <a:prstDash val="solid"/>
          </a:ln>
        </p:spPr>
      </p:sp>
      <p:sp>
        <p:nvSpPr>
          <p:cNvPr id="110" name="Text 105"/>
          <p:cNvSpPr txBox="1"/>
          <p:nvPr/>
        </p:nvSpPr>
        <p:spPr>
          <a:xfrm>
            <a:off x="7729423" y="4895698"/>
            <a:ext cx="29535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Jira</a:t>
            </a:r>
            <a:endParaRPr lang="en-US" sz="900" dirty="0"/>
          </a:p>
        </p:txBody>
      </p:sp>
      <p:sp>
        <p:nvSpPr>
          <p:cNvPr id="111" name="Shape 106"/>
          <p:cNvSpPr/>
          <p:nvPr/>
        </p:nvSpPr>
        <p:spPr>
          <a:xfrm>
            <a:off x="8076895" y="4867351"/>
            <a:ext cx="504749" cy="228600"/>
          </a:xfrm>
          <a:prstGeom prst="roundRect">
            <a:avLst>
              <a:gd name="adj" fmla="val 66667"/>
            </a:avLst>
          </a:prstGeom>
          <a:solidFill>
            <a:srgbClr val="FFFFFF"/>
          </a:solidFill>
          <a:ln w="12700">
            <a:solidFill>
              <a:srgbClr val="E5E7EB"/>
            </a:solidFill>
            <a:prstDash val="solid"/>
          </a:ln>
        </p:spPr>
      </p:sp>
      <p:sp>
        <p:nvSpPr>
          <p:cNvPr id="112" name="Text 107"/>
          <p:cNvSpPr txBox="1"/>
          <p:nvPr/>
        </p:nvSpPr>
        <p:spPr>
          <a:xfrm>
            <a:off x="8162849" y="4895698"/>
            <a:ext cx="419710"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Asana</a:t>
            </a:r>
            <a:endParaRPr lang="en-US" sz="900" dirty="0"/>
          </a:p>
        </p:txBody>
      </p:sp>
      <p:sp>
        <p:nvSpPr>
          <p:cNvPr id="113" name="Shape 108"/>
          <p:cNvSpPr/>
          <p:nvPr/>
        </p:nvSpPr>
        <p:spPr>
          <a:xfrm>
            <a:off x="390449" y="5363870"/>
            <a:ext cx="11410798" cy="714146"/>
          </a:xfrm>
          <a:prstGeom prst="rect">
            <a:avLst/>
          </a:prstGeom>
          <a:solidFill>
            <a:srgbClr val="FFFFFF"/>
          </a:solidFill>
          <a:ln/>
        </p:spPr>
      </p:sp>
      <p:sp>
        <p:nvSpPr>
          <p:cNvPr id="114" name="Shape 109"/>
          <p:cNvSpPr/>
          <p:nvPr/>
        </p:nvSpPr>
        <p:spPr>
          <a:xfrm>
            <a:off x="390449" y="6068873"/>
            <a:ext cx="11410798" cy="9144"/>
          </a:xfrm>
          <a:prstGeom prst="rect">
            <a:avLst/>
          </a:prstGeom>
          <a:solidFill>
            <a:srgbClr val="E5E7EB"/>
          </a:solidFill>
          <a:ln/>
        </p:spPr>
      </p:sp>
      <p:sp>
        <p:nvSpPr>
          <p:cNvPr id="115" name="Shape 110"/>
          <p:cNvSpPr/>
          <p:nvPr/>
        </p:nvSpPr>
        <p:spPr>
          <a:xfrm>
            <a:off x="543154" y="5583326"/>
            <a:ext cx="267005" cy="267005"/>
          </a:xfrm>
          <a:prstGeom prst="ellipse">
            <a:avLst/>
          </a:prstGeom>
          <a:solidFill>
            <a:srgbClr val="DC2626"/>
          </a:solidFill>
          <a:ln/>
        </p:spPr>
      </p:sp>
      <p:sp>
        <p:nvSpPr>
          <p:cNvPr id="116" name="Text 111"/>
          <p:cNvSpPr txBox="1"/>
          <p:nvPr/>
        </p:nvSpPr>
        <p:spPr>
          <a:xfrm>
            <a:off x="638251" y="5618988"/>
            <a:ext cx="173736"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F</a:t>
            </a:r>
            <a:endParaRPr lang="en-US" sz="1000" dirty="0"/>
          </a:p>
        </p:txBody>
      </p:sp>
      <p:sp>
        <p:nvSpPr>
          <p:cNvPr id="117" name="Shape 112"/>
          <p:cNvSpPr/>
          <p:nvPr/>
        </p:nvSpPr>
        <p:spPr>
          <a:xfrm>
            <a:off x="3019349" y="5458968"/>
            <a:ext cx="1190549" cy="228600"/>
          </a:xfrm>
          <a:prstGeom prst="roundRect">
            <a:avLst>
              <a:gd name="adj" fmla="val 66667"/>
            </a:avLst>
          </a:prstGeom>
          <a:solidFill>
            <a:srgbClr val="E5E7EB"/>
          </a:solidFill>
          <a:ln w="12700">
            <a:solidFill>
              <a:srgbClr val="D1D5DB"/>
            </a:solidFill>
            <a:prstDash val="solid"/>
          </a:ln>
        </p:spPr>
      </p:sp>
      <p:sp>
        <p:nvSpPr>
          <p:cNvPr id="118" name="Text 113"/>
          <p:cNvSpPr txBox="1"/>
          <p:nvPr/>
        </p:nvSpPr>
        <p:spPr>
          <a:xfrm>
            <a:off x="3105302" y="5488229"/>
            <a:ext cx="110551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Copilot Dashboard</a:t>
            </a:r>
            <a:endParaRPr lang="en-US" sz="900" dirty="0"/>
          </a:p>
        </p:txBody>
      </p:sp>
      <p:sp>
        <p:nvSpPr>
          <p:cNvPr id="119" name="Shape 114"/>
          <p:cNvSpPr/>
          <p:nvPr/>
        </p:nvSpPr>
        <p:spPr>
          <a:xfrm>
            <a:off x="4263847" y="5458968"/>
            <a:ext cx="857707" cy="228600"/>
          </a:xfrm>
          <a:prstGeom prst="roundRect">
            <a:avLst>
              <a:gd name="adj" fmla="val 66667"/>
            </a:avLst>
          </a:prstGeom>
          <a:solidFill>
            <a:srgbClr val="E5E7EB"/>
          </a:solidFill>
          <a:ln w="12700">
            <a:solidFill>
              <a:srgbClr val="D1D5DB"/>
            </a:solidFill>
            <a:prstDash val="solid"/>
          </a:ln>
        </p:spPr>
      </p:sp>
      <p:sp>
        <p:nvSpPr>
          <p:cNvPr id="120" name="Text 115"/>
          <p:cNvSpPr txBox="1"/>
          <p:nvPr/>
        </p:nvSpPr>
        <p:spPr>
          <a:xfrm>
            <a:off x="4349801" y="5488229"/>
            <a:ext cx="771754"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Viva Insights</a:t>
            </a:r>
            <a:endParaRPr lang="en-US" sz="900" dirty="0"/>
          </a:p>
        </p:txBody>
      </p:sp>
      <p:sp>
        <p:nvSpPr>
          <p:cNvPr id="121" name="Shape 116"/>
          <p:cNvSpPr/>
          <p:nvPr/>
        </p:nvSpPr>
        <p:spPr>
          <a:xfrm>
            <a:off x="5173675" y="5458968"/>
            <a:ext cx="657454" cy="228600"/>
          </a:xfrm>
          <a:prstGeom prst="roundRect">
            <a:avLst>
              <a:gd name="adj" fmla="val 66667"/>
            </a:avLst>
          </a:prstGeom>
          <a:solidFill>
            <a:srgbClr val="E5E7EB"/>
          </a:solidFill>
          <a:ln w="12700">
            <a:solidFill>
              <a:srgbClr val="D1D5DB"/>
            </a:solidFill>
            <a:prstDash val="solid"/>
          </a:ln>
        </p:spPr>
      </p:sp>
      <p:sp>
        <p:nvSpPr>
          <p:cNvPr id="122" name="Text 117"/>
          <p:cNvSpPr txBox="1"/>
          <p:nvPr/>
        </p:nvSpPr>
        <p:spPr>
          <a:xfrm>
            <a:off x="5259629" y="5488229"/>
            <a:ext cx="571500"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Power BI</a:t>
            </a:r>
            <a:endParaRPr lang="en-US" sz="900" dirty="0"/>
          </a:p>
        </p:txBody>
      </p:sp>
      <p:sp>
        <p:nvSpPr>
          <p:cNvPr id="123" name="Shape 118"/>
          <p:cNvSpPr/>
          <p:nvPr/>
        </p:nvSpPr>
        <p:spPr>
          <a:xfrm>
            <a:off x="3019349" y="5745175"/>
            <a:ext cx="933602" cy="228600"/>
          </a:xfrm>
          <a:prstGeom prst="roundRect">
            <a:avLst>
              <a:gd name="adj" fmla="val 66667"/>
            </a:avLst>
          </a:prstGeom>
          <a:solidFill>
            <a:srgbClr val="E5E7EB"/>
          </a:solidFill>
          <a:ln w="12700">
            <a:solidFill>
              <a:srgbClr val="D1D5DB"/>
            </a:solidFill>
            <a:prstDash val="solid"/>
          </a:ln>
        </p:spPr>
      </p:sp>
      <p:sp>
        <p:nvSpPr>
          <p:cNvPr id="124" name="Text 119"/>
          <p:cNvSpPr txBox="1"/>
          <p:nvPr/>
        </p:nvSpPr>
        <p:spPr>
          <a:xfrm>
            <a:off x="3105302" y="5773522"/>
            <a:ext cx="848563"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Azure Monitor</a:t>
            </a:r>
            <a:endParaRPr lang="en-US" sz="900" dirty="0"/>
          </a:p>
        </p:txBody>
      </p:sp>
      <p:sp>
        <p:nvSpPr>
          <p:cNvPr id="125" name="Shape 120"/>
          <p:cNvSpPr/>
          <p:nvPr/>
        </p:nvSpPr>
        <p:spPr>
          <a:xfrm>
            <a:off x="6629400" y="5602529"/>
            <a:ext cx="609905" cy="228600"/>
          </a:xfrm>
          <a:prstGeom prst="roundRect">
            <a:avLst>
              <a:gd name="adj" fmla="val 66667"/>
            </a:avLst>
          </a:prstGeom>
          <a:solidFill>
            <a:srgbClr val="FFFFFF"/>
          </a:solidFill>
          <a:ln w="12700">
            <a:solidFill>
              <a:srgbClr val="E5E7EB"/>
            </a:solidFill>
            <a:prstDash val="solid"/>
          </a:ln>
        </p:spPr>
      </p:sp>
      <p:sp>
        <p:nvSpPr>
          <p:cNvPr id="126" name="Text 121"/>
          <p:cNvSpPr txBox="1"/>
          <p:nvPr/>
        </p:nvSpPr>
        <p:spPr>
          <a:xfrm>
            <a:off x="6715354" y="5630875"/>
            <a:ext cx="523951"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Tableau</a:t>
            </a:r>
            <a:endParaRPr lang="en-US" sz="900" dirty="0"/>
          </a:p>
        </p:txBody>
      </p:sp>
      <p:sp>
        <p:nvSpPr>
          <p:cNvPr id="127" name="Shape 122"/>
          <p:cNvSpPr/>
          <p:nvPr/>
        </p:nvSpPr>
        <p:spPr>
          <a:xfrm>
            <a:off x="7289597" y="5602529"/>
            <a:ext cx="638251" cy="228600"/>
          </a:xfrm>
          <a:prstGeom prst="roundRect">
            <a:avLst>
              <a:gd name="adj" fmla="val 66667"/>
            </a:avLst>
          </a:prstGeom>
          <a:solidFill>
            <a:srgbClr val="FFFFFF"/>
          </a:solidFill>
          <a:ln w="12700">
            <a:solidFill>
              <a:srgbClr val="E5E7EB"/>
            </a:solidFill>
            <a:prstDash val="solid"/>
          </a:ln>
        </p:spPr>
      </p:sp>
      <p:sp>
        <p:nvSpPr>
          <p:cNvPr id="128" name="Text 123"/>
          <p:cNvSpPr txBox="1"/>
          <p:nvPr/>
        </p:nvSpPr>
        <p:spPr>
          <a:xfrm>
            <a:off x="7374636" y="5630875"/>
            <a:ext cx="55321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Datadog</a:t>
            </a:r>
            <a:endParaRPr lang="en-US" sz="900" dirty="0"/>
          </a:p>
        </p:txBody>
      </p:sp>
      <p:sp>
        <p:nvSpPr>
          <p:cNvPr id="129" name="Shape 124"/>
          <p:cNvSpPr/>
          <p:nvPr/>
        </p:nvSpPr>
        <p:spPr>
          <a:xfrm>
            <a:off x="7977226" y="5602529"/>
            <a:ext cx="562356" cy="228600"/>
          </a:xfrm>
          <a:prstGeom prst="roundRect">
            <a:avLst>
              <a:gd name="adj" fmla="val 66667"/>
            </a:avLst>
          </a:prstGeom>
          <a:solidFill>
            <a:srgbClr val="FFFFFF"/>
          </a:solidFill>
          <a:ln w="12700">
            <a:solidFill>
              <a:srgbClr val="E5E7EB"/>
            </a:solidFill>
            <a:prstDash val="solid"/>
          </a:ln>
        </p:spPr>
      </p:sp>
      <p:sp>
        <p:nvSpPr>
          <p:cNvPr id="130" name="Text 125"/>
          <p:cNvSpPr txBox="1"/>
          <p:nvPr/>
        </p:nvSpPr>
        <p:spPr>
          <a:xfrm>
            <a:off x="8063179" y="5630875"/>
            <a:ext cx="4764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Splunk</a:t>
            </a:r>
            <a:endParaRPr lang="en-US" sz="900" dirty="0"/>
          </a:p>
        </p:txBody>
      </p:sp>
      <p:sp>
        <p:nvSpPr>
          <p:cNvPr id="131" name="Shape 126"/>
          <p:cNvSpPr/>
          <p:nvPr/>
        </p:nvSpPr>
        <p:spPr>
          <a:xfrm>
            <a:off x="8588959" y="5602529"/>
            <a:ext cx="1047902" cy="228600"/>
          </a:xfrm>
          <a:prstGeom prst="roundRect">
            <a:avLst>
              <a:gd name="adj" fmla="val 66667"/>
            </a:avLst>
          </a:prstGeom>
          <a:solidFill>
            <a:srgbClr val="FFFFFF"/>
          </a:solidFill>
          <a:ln w="12700">
            <a:solidFill>
              <a:srgbClr val="E5E7EB"/>
            </a:solidFill>
            <a:prstDash val="solid"/>
          </a:ln>
        </p:spPr>
      </p:sp>
      <p:sp>
        <p:nvSpPr>
          <p:cNvPr id="132" name="Text 127"/>
          <p:cNvSpPr txBox="1"/>
          <p:nvPr/>
        </p:nvSpPr>
        <p:spPr>
          <a:xfrm>
            <a:off x="8674913" y="5630875"/>
            <a:ext cx="962863"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Custom Grafana</a:t>
            </a:r>
            <a:endParaRPr lang="en-US" sz="900" dirty="0"/>
          </a:p>
        </p:txBody>
      </p:sp>
      <p:sp>
        <p:nvSpPr>
          <p:cNvPr id="133" name="Shape 128"/>
          <p:cNvSpPr/>
          <p:nvPr/>
        </p:nvSpPr>
        <p:spPr>
          <a:xfrm>
            <a:off x="390449" y="6078017"/>
            <a:ext cx="11410798" cy="752551"/>
          </a:xfrm>
          <a:prstGeom prst="rect">
            <a:avLst/>
          </a:prstGeom>
          <a:solidFill>
            <a:srgbClr val="F9FAFB"/>
          </a:solidFill>
          <a:ln/>
        </p:spPr>
      </p:sp>
      <p:sp>
        <p:nvSpPr>
          <p:cNvPr id="134" name="Shape 129"/>
          <p:cNvSpPr/>
          <p:nvPr/>
        </p:nvSpPr>
        <p:spPr>
          <a:xfrm>
            <a:off x="543154" y="6317590"/>
            <a:ext cx="267005" cy="267005"/>
          </a:xfrm>
          <a:prstGeom prst="ellipse">
            <a:avLst/>
          </a:prstGeom>
          <a:solidFill>
            <a:srgbClr val="DC2626"/>
          </a:solidFill>
          <a:ln/>
        </p:spPr>
      </p:sp>
      <p:sp>
        <p:nvSpPr>
          <p:cNvPr id="135" name="Text 130"/>
          <p:cNvSpPr txBox="1"/>
          <p:nvPr/>
        </p:nvSpPr>
        <p:spPr>
          <a:xfrm>
            <a:off x="630022" y="6354166"/>
            <a:ext cx="192938" cy="200254"/>
          </a:xfrm>
          <a:prstGeom prst="rect">
            <a:avLst/>
          </a:prstGeom>
          <a:noFill/>
          <a:ln/>
        </p:spPr>
        <p:txBody>
          <a:bodyPr wrap="square" lIns="0" tIns="0" rIns="0" bIns="0" rtlCol="0" anchor="ctr"/>
          <a:lstStyle/>
          <a:p>
            <a:pPr marL="0" indent="0" algn="l">
              <a:buNone/>
            </a:pPr>
            <a:r>
              <a:rPr lang="en-US" sz="1000" b="1" dirty="0">
                <a:solidFill>
                  <a:srgbClr val="FFFFFF"/>
                </a:solidFill>
                <a:latin typeface="Noto Sans JP" pitchFamily="34" charset="0"/>
                <a:ea typeface="Noto Sans JP" pitchFamily="34" charset="-122"/>
                <a:cs typeface="Noto Sans JP" pitchFamily="34" charset="-120"/>
              </a:rPr>
              <a:t>G</a:t>
            </a:r>
            <a:endParaRPr lang="en-US" sz="1000" dirty="0"/>
          </a:p>
        </p:txBody>
      </p:sp>
      <p:sp>
        <p:nvSpPr>
          <p:cNvPr id="136" name="Shape 131"/>
          <p:cNvSpPr/>
          <p:nvPr/>
        </p:nvSpPr>
        <p:spPr>
          <a:xfrm>
            <a:off x="3019349" y="6194146"/>
            <a:ext cx="1200607" cy="228600"/>
          </a:xfrm>
          <a:prstGeom prst="roundRect">
            <a:avLst>
              <a:gd name="adj" fmla="val 66667"/>
            </a:avLst>
          </a:prstGeom>
          <a:solidFill>
            <a:srgbClr val="E5E7EB"/>
          </a:solidFill>
          <a:ln w="12700">
            <a:solidFill>
              <a:srgbClr val="D1D5DB"/>
            </a:solidFill>
            <a:prstDash val="solid"/>
          </a:ln>
        </p:spPr>
      </p:sp>
      <p:sp>
        <p:nvSpPr>
          <p:cNvPr id="137" name="Text 132"/>
          <p:cNvSpPr txBox="1"/>
          <p:nvPr/>
        </p:nvSpPr>
        <p:spPr>
          <a:xfrm>
            <a:off x="3105302" y="6222492"/>
            <a:ext cx="1114654"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Entra ID (Azure AD)</a:t>
            </a:r>
            <a:endParaRPr lang="en-US" sz="900" dirty="0"/>
          </a:p>
        </p:txBody>
      </p:sp>
      <p:sp>
        <p:nvSpPr>
          <p:cNvPr id="138" name="Shape 133"/>
          <p:cNvSpPr/>
          <p:nvPr/>
        </p:nvSpPr>
        <p:spPr>
          <a:xfrm>
            <a:off x="4272991" y="6194146"/>
            <a:ext cx="1162202" cy="228600"/>
          </a:xfrm>
          <a:prstGeom prst="roundRect">
            <a:avLst>
              <a:gd name="adj" fmla="val 66667"/>
            </a:avLst>
          </a:prstGeom>
          <a:solidFill>
            <a:srgbClr val="E5E7EB"/>
          </a:solidFill>
          <a:ln w="12700">
            <a:solidFill>
              <a:srgbClr val="D1D5DB"/>
            </a:solidFill>
            <a:prstDash val="solid"/>
          </a:ln>
        </p:spPr>
      </p:sp>
      <p:sp>
        <p:nvSpPr>
          <p:cNvPr id="139" name="Text 134"/>
          <p:cNvSpPr txBox="1"/>
          <p:nvPr/>
        </p:nvSpPr>
        <p:spPr>
          <a:xfrm>
            <a:off x="4358945" y="6222492"/>
            <a:ext cx="1077163"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Microsoft Purview</a:t>
            </a:r>
            <a:endParaRPr lang="en-US" sz="900" dirty="0"/>
          </a:p>
        </p:txBody>
      </p:sp>
      <p:sp>
        <p:nvSpPr>
          <p:cNvPr id="140" name="Shape 135"/>
          <p:cNvSpPr/>
          <p:nvPr/>
        </p:nvSpPr>
        <p:spPr>
          <a:xfrm>
            <a:off x="3019349" y="6479438"/>
            <a:ext cx="1200607" cy="228600"/>
          </a:xfrm>
          <a:prstGeom prst="roundRect">
            <a:avLst>
              <a:gd name="adj" fmla="val 66667"/>
            </a:avLst>
          </a:prstGeom>
          <a:solidFill>
            <a:srgbClr val="E5E7EB"/>
          </a:solidFill>
          <a:ln w="12700">
            <a:solidFill>
              <a:srgbClr val="D1D5DB"/>
            </a:solidFill>
            <a:prstDash val="solid"/>
          </a:ln>
        </p:spPr>
      </p:sp>
      <p:sp>
        <p:nvSpPr>
          <p:cNvPr id="141" name="Text 136"/>
          <p:cNvSpPr txBox="1"/>
          <p:nvPr/>
        </p:nvSpPr>
        <p:spPr>
          <a:xfrm>
            <a:off x="3105302" y="6508699"/>
            <a:ext cx="1114654" cy="171907"/>
          </a:xfrm>
          <a:prstGeom prst="rect">
            <a:avLst/>
          </a:prstGeom>
          <a:noFill/>
          <a:ln/>
        </p:spPr>
        <p:txBody>
          <a:bodyPr wrap="square" lIns="0" tIns="0" rIns="0" bIns="0" rtlCol="0" anchor="ctr"/>
          <a:lstStyle/>
          <a:p>
            <a:pPr marL="0" indent="0" algn="l">
              <a:buNone/>
            </a:pPr>
            <a:r>
              <a:rPr lang="en-US" sz="900" dirty="0">
                <a:solidFill>
                  <a:srgbClr val="1F2937"/>
                </a:solidFill>
                <a:latin typeface="Noto Sans JP" pitchFamily="34" charset="0"/>
                <a:ea typeface="Noto Sans JP" pitchFamily="34" charset="-122"/>
                <a:cs typeface="Noto Sans JP" pitchFamily="34" charset="-120"/>
              </a:rPr>
              <a:t>Defender for Cloud</a:t>
            </a:r>
            <a:endParaRPr lang="en-US" sz="900" dirty="0"/>
          </a:p>
        </p:txBody>
      </p:sp>
      <p:sp>
        <p:nvSpPr>
          <p:cNvPr id="142" name="Shape 137"/>
          <p:cNvSpPr/>
          <p:nvPr/>
        </p:nvSpPr>
        <p:spPr>
          <a:xfrm>
            <a:off x="6629400" y="6336792"/>
            <a:ext cx="428854" cy="228600"/>
          </a:xfrm>
          <a:prstGeom prst="roundRect">
            <a:avLst>
              <a:gd name="adj" fmla="val 66667"/>
            </a:avLst>
          </a:prstGeom>
          <a:solidFill>
            <a:srgbClr val="FFFFFF"/>
          </a:solidFill>
          <a:ln w="12700">
            <a:solidFill>
              <a:srgbClr val="E5E7EB"/>
            </a:solidFill>
            <a:prstDash val="solid"/>
          </a:ln>
        </p:spPr>
      </p:sp>
      <p:sp>
        <p:nvSpPr>
          <p:cNvPr id="143" name="Text 138"/>
          <p:cNvSpPr txBox="1"/>
          <p:nvPr/>
        </p:nvSpPr>
        <p:spPr>
          <a:xfrm>
            <a:off x="6715354" y="6365138"/>
            <a:ext cx="342900"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Okta</a:t>
            </a:r>
            <a:endParaRPr lang="en-US" sz="900" dirty="0"/>
          </a:p>
        </p:txBody>
      </p:sp>
      <p:sp>
        <p:nvSpPr>
          <p:cNvPr id="144" name="Shape 139"/>
          <p:cNvSpPr/>
          <p:nvPr/>
        </p:nvSpPr>
        <p:spPr>
          <a:xfrm>
            <a:off x="7114032" y="6336792"/>
            <a:ext cx="676656" cy="228600"/>
          </a:xfrm>
          <a:prstGeom prst="roundRect">
            <a:avLst>
              <a:gd name="adj" fmla="val 66667"/>
            </a:avLst>
          </a:prstGeom>
          <a:solidFill>
            <a:srgbClr val="FFFFFF"/>
          </a:solidFill>
          <a:ln w="12700">
            <a:solidFill>
              <a:srgbClr val="E5E7EB"/>
            </a:solidFill>
            <a:prstDash val="solid"/>
          </a:ln>
        </p:spPr>
      </p:sp>
      <p:sp>
        <p:nvSpPr>
          <p:cNvPr id="145" name="Text 140"/>
          <p:cNvSpPr txBox="1"/>
          <p:nvPr/>
        </p:nvSpPr>
        <p:spPr>
          <a:xfrm>
            <a:off x="7199986" y="6365138"/>
            <a:ext cx="590702"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CyberArk</a:t>
            </a:r>
            <a:endParaRPr lang="en-US" sz="900" dirty="0"/>
          </a:p>
        </p:txBody>
      </p:sp>
      <p:sp>
        <p:nvSpPr>
          <p:cNvPr id="146" name="Shape 141"/>
          <p:cNvSpPr/>
          <p:nvPr/>
        </p:nvSpPr>
        <p:spPr>
          <a:xfrm>
            <a:off x="7840980" y="6336792"/>
            <a:ext cx="485546" cy="228600"/>
          </a:xfrm>
          <a:prstGeom prst="roundRect">
            <a:avLst>
              <a:gd name="adj" fmla="val 66667"/>
            </a:avLst>
          </a:prstGeom>
          <a:solidFill>
            <a:srgbClr val="FFFFFF"/>
          </a:solidFill>
          <a:ln w="12700">
            <a:solidFill>
              <a:srgbClr val="E5E7EB"/>
            </a:solidFill>
            <a:prstDash val="solid"/>
          </a:ln>
        </p:spPr>
      </p:sp>
      <p:sp>
        <p:nvSpPr>
          <p:cNvPr id="147" name="Text 142"/>
          <p:cNvSpPr txBox="1"/>
          <p:nvPr/>
        </p:nvSpPr>
        <p:spPr>
          <a:xfrm>
            <a:off x="7926019" y="6365138"/>
            <a:ext cx="400507"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Vanta</a:t>
            </a:r>
            <a:endParaRPr lang="en-US" sz="900" dirty="0"/>
          </a:p>
        </p:txBody>
      </p:sp>
      <p:sp>
        <p:nvSpPr>
          <p:cNvPr id="148" name="Shape 143"/>
          <p:cNvSpPr/>
          <p:nvPr/>
        </p:nvSpPr>
        <p:spPr>
          <a:xfrm>
            <a:off x="8378647" y="6336792"/>
            <a:ext cx="819302" cy="228600"/>
          </a:xfrm>
          <a:prstGeom prst="roundRect">
            <a:avLst>
              <a:gd name="adj" fmla="val 66667"/>
            </a:avLst>
          </a:prstGeom>
          <a:solidFill>
            <a:srgbClr val="FFFFFF"/>
          </a:solidFill>
          <a:ln w="12700">
            <a:solidFill>
              <a:srgbClr val="E5E7EB"/>
            </a:solidFill>
            <a:prstDash val="solid"/>
          </a:ln>
        </p:spPr>
      </p:sp>
      <p:sp>
        <p:nvSpPr>
          <p:cNvPr id="149" name="Text 144"/>
          <p:cNvSpPr txBox="1"/>
          <p:nvPr/>
        </p:nvSpPr>
        <p:spPr>
          <a:xfrm>
            <a:off x="8463686" y="6365138"/>
            <a:ext cx="734263" cy="171907"/>
          </a:xfrm>
          <a:prstGeom prst="rect">
            <a:avLst/>
          </a:prstGeom>
          <a:noFill/>
          <a:ln/>
        </p:spPr>
        <p:txBody>
          <a:bodyPr wrap="square" lIns="0" tIns="0" rIns="0" bIns="0" rtlCol="0" anchor="ctr"/>
          <a:lstStyle/>
          <a:p>
            <a:pPr marL="0" indent="0" algn="l">
              <a:buNone/>
            </a:pPr>
            <a:r>
              <a:rPr lang="en-US" sz="900" dirty="0">
                <a:solidFill>
                  <a:srgbClr val="6B7280"/>
                </a:solidFill>
                <a:latin typeface="Noto Sans JP" pitchFamily="34" charset="0"/>
                <a:ea typeface="Noto Sans JP" pitchFamily="34" charset="-122"/>
                <a:cs typeface="Noto Sans JP" pitchFamily="34" charset="-120"/>
              </a:rPr>
              <a:t>Custom IAM</a:t>
            </a:r>
            <a:endParaRPr lang="en-US" sz="900" dirty="0"/>
          </a:p>
        </p:txBody>
      </p:sp>
      <p:sp>
        <p:nvSpPr>
          <p:cNvPr id="150" name="Text 145"/>
          <p:cNvSpPr txBox="1"/>
          <p:nvPr/>
        </p:nvSpPr>
        <p:spPr>
          <a:xfrm>
            <a:off x="381305" y="190195"/>
            <a:ext cx="5072177" cy="419710"/>
          </a:xfrm>
          <a:prstGeom prst="rect">
            <a:avLst/>
          </a:prstGeom>
          <a:noFill/>
          <a:ln/>
        </p:spPr>
        <p:txBody>
          <a:bodyPr wrap="square" lIns="0" tIns="0" rIns="0" bIns="0" rtlCol="0" anchor="ctr"/>
          <a:lstStyle/>
          <a:p>
            <a:pPr marL="0" indent="0" algn="l">
              <a:buNone/>
            </a:pPr>
            <a:r>
              <a:rPr lang="en-US" sz="2200" b="1" dirty="0">
                <a:solidFill>
                  <a:srgbClr val="1F2937"/>
                </a:solidFill>
                <a:latin typeface="Noto Sans JP" pitchFamily="34" charset="0"/>
                <a:ea typeface="Noto Sans JP" pitchFamily="34" charset="-122"/>
                <a:cs typeface="Noto Sans JP" pitchFamily="34" charset="-120"/>
              </a:rPr>
              <a:t>ツール候補一覧（機能別マッピング）</a:t>
            </a:r>
            <a:endParaRPr lang="en-US" sz="2200" dirty="0"/>
          </a:p>
        </p:txBody>
      </p:sp>
      <p:sp>
        <p:nvSpPr>
          <p:cNvPr id="151" name="Text 146"/>
          <p:cNvSpPr txBox="1"/>
          <p:nvPr/>
        </p:nvSpPr>
        <p:spPr>
          <a:xfrm>
            <a:off x="381305" y="609905"/>
            <a:ext cx="5481828" cy="381305"/>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機能コンポーネントに対応する実装ツールの候補（Microsoftエコシステム中心 + 拡張オプション）</a:t>
            </a:r>
            <a:endParaRPr lang="en-US" sz="1000" dirty="0"/>
          </a:p>
        </p:txBody>
      </p:sp>
      <p:sp>
        <p:nvSpPr>
          <p:cNvPr id="152" name="Text 147"/>
          <p:cNvSpPr txBox="1"/>
          <p:nvPr/>
        </p:nvSpPr>
        <p:spPr>
          <a:xfrm>
            <a:off x="6187745" y="539496"/>
            <a:ext cx="5445252" cy="37216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各ツールは実装の「候補」であり、実際の採用は業務要件・コスト・セキュリティ適合性により決定します。</a:t>
            </a:r>
            <a:endParaRPr lang="en-US" sz="900" dirty="0"/>
          </a:p>
        </p:txBody>
      </p:sp>
      <p:sp>
        <p:nvSpPr>
          <p:cNvPr id="153" name="Text 148"/>
          <p:cNvSpPr txBox="1"/>
          <p:nvPr/>
        </p:nvSpPr>
        <p:spPr>
          <a:xfrm>
            <a:off x="1114654" y="1860804"/>
            <a:ext cx="1012241"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情報キャプチャ</a:t>
            </a:r>
            <a:endParaRPr lang="en-US" sz="1000" dirty="0"/>
          </a:p>
        </p:txBody>
      </p:sp>
      <p:sp>
        <p:nvSpPr>
          <p:cNvPr id="154" name="Text 149"/>
          <p:cNvSpPr txBox="1"/>
          <p:nvPr/>
        </p:nvSpPr>
        <p:spPr>
          <a:xfrm>
            <a:off x="1114654" y="2058314"/>
            <a:ext cx="1471270"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音声・ログ・非構造化データ</a:t>
            </a:r>
            <a:endParaRPr lang="en-US" sz="800" dirty="0"/>
          </a:p>
        </p:txBody>
      </p:sp>
      <p:sp>
        <p:nvSpPr>
          <p:cNvPr id="155" name="Text 150"/>
          <p:cNvSpPr txBox="1"/>
          <p:nvPr/>
        </p:nvSpPr>
        <p:spPr>
          <a:xfrm>
            <a:off x="10239451" y="1756562"/>
            <a:ext cx="1471270" cy="571500"/>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複数ソースのデータを正規化し、検索可能なメタデータを付与して取り込む設計が重要。</a:t>
            </a:r>
            <a:endParaRPr lang="en-US" sz="800" dirty="0"/>
          </a:p>
        </p:txBody>
      </p:sp>
      <p:sp>
        <p:nvSpPr>
          <p:cNvPr id="156" name="Text 151"/>
          <p:cNvSpPr txBox="1"/>
          <p:nvPr/>
        </p:nvSpPr>
        <p:spPr>
          <a:xfrm>
            <a:off x="1114654" y="2616098"/>
            <a:ext cx="1135685"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知識・データ蓄積</a:t>
            </a:r>
            <a:endParaRPr lang="en-US" sz="1000" dirty="0"/>
          </a:p>
        </p:txBody>
      </p:sp>
      <p:sp>
        <p:nvSpPr>
          <p:cNvPr id="157" name="Text 152"/>
          <p:cNvSpPr txBox="1"/>
          <p:nvPr/>
        </p:nvSpPr>
        <p:spPr>
          <a:xfrm>
            <a:off x="1114654" y="2812694"/>
            <a:ext cx="938174"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構造化保存・管理</a:t>
            </a:r>
            <a:endParaRPr lang="en-US" sz="800" dirty="0"/>
          </a:p>
        </p:txBody>
      </p:sp>
      <p:sp>
        <p:nvSpPr>
          <p:cNvPr id="158" name="Text 153"/>
          <p:cNvSpPr txBox="1"/>
          <p:nvPr/>
        </p:nvSpPr>
        <p:spPr>
          <a:xfrm>
            <a:off x="10239451" y="2510942"/>
            <a:ext cx="1471270" cy="571500"/>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非構造化データ（文書）と構造化データ（DB）の適切な使い分けとリンク付けが必要。</a:t>
            </a:r>
            <a:endParaRPr lang="en-US" sz="800" dirty="0"/>
          </a:p>
        </p:txBody>
      </p:sp>
      <p:sp>
        <p:nvSpPr>
          <p:cNvPr id="159" name="Text 154"/>
          <p:cNvSpPr txBox="1"/>
          <p:nvPr/>
        </p:nvSpPr>
        <p:spPr>
          <a:xfrm>
            <a:off x="1114654" y="3350362"/>
            <a:ext cx="755294"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検索・RAG</a:t>
            </a:r>
            <a:endParaRPr lang="en-US" sz="1000" dirty="0"/>
          </a:p>
        </p:txBody>
      </p:sp>
      <p:sp>
        <p:nvSpPr>
          <p:cNvPr id="160" name="Text 155"/>
          <p:cNvSpPr txBox="1"/>
          <p:nvPr/>
        </p:nvSpPr>
        <p:spPr>
          <a:xfrm>
            <a:off x="1114654" y="3547872"/>
            <a:ext cx="1147572"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横断検索・ベクトル化</a:t>
            </a:r>
            <a:endParaRPr lang="en-US" sz="800" dirty="0"/>
          </a:p>
        </p:txBody>
      </p:sp>
      <p:sp>
        <p:nvSpPr>
          <p:cNvPr id="161" name="Text 156"/>
          <p:cNvSpPr txBox="1"/>
          <p:nvPr/>
        </p:nvSpPr>
        <p:spPr>
          <a:xfrm>
            <a:off x="10239451" y="3315614"/>
            <a:ext cx="1461211" cy="438912"/>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RAG精度向上のためのエンベディング戦略とチャンク分割の最適化が鍵。</a:t>
            </a:r>
            <a:endParaRPr lang="en-US" sz="800" dirty="0"/>
          </a:p>
        </p:txBody>
      </p:sp>
      <p:sp>
        <p:nvSpPr>
          <p:cNvPr id="162" name="Text 157"/>
          <p:cNvSpPr txBox="1"/>
          <p:nvPr/>
        </p:nvSpPr>
        <p:spPr>
          <a:xfrm>
            <a:off x="1114654" y="4065422"/>
            <a:ext cx="1135685"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生成・要約・変換</a:t>
            </a:r>
            <a:endParaRPr lang="en-US" sz="1000" dirty="0"/>
          </a:p>
        </p:txBody>
      </p:sp>
      <p:sp>
        <p:nvSpPr>
          <p:cNvPr id="163" name="Text 158"/>
          <p:cNvSpPr txBox="1"/>
          <p:nvPr/>
        </p:nvSpPr>
        <p:spPr>
          <a:xfrm>
            <a:off x="1114654" y="4262018"/>
            <a:ext cx="1356970"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LLM処理・コンテンツ生成</a:t>
            </a:r>
            <a:endParaRPr lang="en-US" sz="800" dirty="0"/>
          </a:p>
        </p:txBody>
      </p:sp>
      <p:sp>
        <p:nvSpPr>
          <p:cNvPr id="164" name="Text 159"/>
          <p:cNvSpPr txBox="1"/>
          <p:nvPr/>
        </p:nvSpPr>
        <p:spPr>
          <a:xfrm>
            <a:off x="10239451" y="4029761"/>
            <a:ext cx="1471270" cy="438912"/>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プロンプトエンジニアリングの標準化と、ハルシネーション対策の実装が必要。</a:t>
            </a:r>
            <a:endParaRPr lang="en-US" sz="800" dirty="0"/>
          </a:p>
        </p:txBody>
      </p:sp>
      <p:sp>
        <p:nvSpPr>
          <p:cNvPr id="165" name="Text 160"/>
          <p:cNvSpPr txBox="1"/>
          <p:nvPr/>
        </p:nvSpPr>
        <p:spPr>
          <a:xfrm>
            <a:off x="1114654" y="4799686"/>
            <a:ext cx="1392631"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タスク・ワークフロー</a:t>
            </a:r>
            <a:endParaRPr lang="en-US" sz="1000" dirty="0"/>
          </a:p>
        </p:txBody>
      </p:sp>
      <p:sp>
        <p:nvSpPr>
          <p:cNvPr id="166" name="Text 161"/>
          <p:cNvSpPr txBox="1"/>
          <p:nvPr/>
        </p:nvSpPr>
        <p:spPr>
          <a:xfrm>
            <a:off x="1114654" y="4997196"/>
            <a:ext cx="833018"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自動実行・連携</a:t>
            </a:r>
            <a:endParaRPr lang="en-US" sz="800" dirty="0"/>
          </a:p>
        </p:txBody>
      </p:sp>
      <p:sp>
        <p:nvSpPr>
          <p:cNvPr id="167" name="Text 162"/>
          <p:cNvSpPr txBox="1"/>
          <p:nvPr/>
        </p:nvSpPr>
        <p:spPr>
          <a:xfrm>
            <a:off x="10239451" y="4694530"/>
            <a:ext cx="1471270" cy="571500"/>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自然言語指示からワークフローへの変換精度と、エラー時の人間へのエスカレーション。</a:t>
            </a:r>
            <a:endParaRPr lang="en-US" sz="800" dirty="0"/>
          </a:p>
        </p:txBody>
      </p:sp>
      <p:sp>
        <p:nvSpPr>
          <p:cNvPr id="168" name="Text 163"/>
          <p:cNvSpPr txBox="1"/>
          <p:nvPr/>
        </p:nvSpPr>
        <p:spPr>
          <a:xfrm>
            <a:off x="1114654" y="5533949"/>
            <a:ext cx="878738"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モニタリング</a:t>
            </a:r>
            <a:endParaRPr lang="en-US" sz="1000" dirty="0"/>
          </a:p>
        </p:txBody>
      </p:sp>
      <p:sp>
        <p:nvSpPr>
          <p:cNvPr id="169" name="Text 164"/>
          <p:cNvSpPr txBox="1"/>
          <p:nvPr/>
        </p:nvSpPr>
        <p:spPr>
          <a:xfrm>
            <a:off x="1114654" y="5731459"/>
            <a:ext cx="785470"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KPI管理・分析</a:t>
            </a:r>
            <a:endParaRPr lang="en-US" sz="800" dirty="0"/>
          </a:p>
        </p:txBody>
      </p:sp>
      <p:sp>
        <p:nvSpPr>
          <p:cNvPr id="170" name="Text 165"/>
          <p:cNvSpPr txBox="1"/>
          <p:nvPr/>
        </p:nvSpPr>
        <p:spPr>
          <a:xfrm>
            <a:off x="10239451" y="5499202"/>
            <a:ext cx="1471270" cy="438912"/>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利用率だけでなく、業務削減時間や品質向上などのROI指標を可視化する。</a:t>
            </a:r>
            <a:endParaRPr lang="en-US" sz="800" dirty="0"/>
          </a:p>
        </p:txBody>
      </p:sp>
      <p:sp>
        <p:nvSpPr>
          <p:cNvPr id="171" name="Text 166"/>
          <p:cNvSpPr txBox="1"/>
          <p:nvPr/>
        </p:nvSpPr>
        <p:spPr>
          <a:xfrm>
            <a:off x="1114654" y="6269126"/>
            <a:ext cx="1135685" cy="191110"/>
          </a:xfrm>
          <a:prstGeom prst="rect">
            <a:avLst/>
          </a:prstGeom>
          <a:noFill/>
          <a:ln/>
        </p:spPr>
        <p:txBody>
          <a:bodyPr wrap="square" lIns="0" tIns="0" rIns="0" bIns="0" rtlCol="0" anchor="ctr"/>
          <a:lstStyle/>
          <a:p>
            <a:pPr marL="0" indent="0" algn="l">
              <a:buNone/>
            </a:pPr>
            <a:r>
              <a:rPr lang="en-US" sz="1000" b="1" dirty="0">
                <a:solidFill>
                  <a:srgbClr val="374151"/>
                </a:solidFill>
                <a:latin typeface="Noto Sans JP" pitchFamily="34" charset="0"/>
                <a:ea typeface="Noto Sans JP" pitchFamily="34" charset="-122"/>
                <a:cs typeface="Noto Sans JP" pitchFamily="34" charset="-120"/>
              </a:rPr>
              <a:t>ガバナンス・権限</a:t>
            </a:r>
            <a:endParaRPr lang="en-US" sz="1000" dirty="0"/>
          </a:p>
        </p:txBody>
      </p:sp>
      <p:sp>
        <p:nvSpPr>
          <p:cNvPr id="172" name="Text 167"/>
          <p:cNvSpPr txBox="1"/>
          <p:nvPr/>
        </p:nvSpPr>
        <p:spPr>
          <a:xfrm>
            <a:off x="1114654" y="6465722"/>
            <a:ext cx="1042416" cy="152705"/>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セキュリティ・監査</a:t>
            </a:r>
            <a:endParaRPr lang="en-US" sz="800" dirty="0"/>
          </a:p>
        </p:txBody>
      </p:sp>
      <p:sp>
        <p:nvSpPr>
          <p:cNvPr id="173" name="Text 168"/>
          <p:cNvSpPr txBox="1"/>
          <p:nvPr/>
        </p:nvSpPr>
        <p:spPr>
          <a:xfrm>
            <a:off x="10239451" y="6163970"/>
            <a:ext cx="1452067" cy="571500"/>
          </a:xfrm>
          <a:prstGeom prst="rect">
            <a:avLst/>
          </a:prstGeom>
          <a:noFill/>
          <a:ln/>
        </p:spPr>
        <p:txBody>
          <a:bodyPr wrap="square" lIns="0" tIns="0" rIns="0" bIns="0" rtlCol="0" anchor="ctr"/>
          <a:lstStyle/>
          <a:p>
            <a:pPr marL="0" indent="0" algn="l">
              <a:buNone/>
            </a:pPr>
            <a:r>
              <a:rPr lang="en-US" sz="800" dirty="0">
                <a:solidFill>
                  <a:srgbClr val="6B7280"/>
                </a:solidFill>
                <a:latin typeface="Noto Sans JP" pitchFamily="34" charset="0"/>
                <a:ea typeface="Noto Sans JP" pitchFamily="34" charset="-122"/>
                <a:cs typeface="Noto Sans JP" pitchFamily="34" charset="-120"/>
              </a:rPr>
              <a:t>AIがアクセスして良いデータの範囲制御（ACL）と、データ持ち出し防止（DLP）の徹底。</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381305" y="876910"/>
            <a:ext cx="11430000" cy="9144"/>
          </a:xfrm>
          <a:prstGeom prst="rect">
            <a:avLst/>
          </a:prstGeom>
          <a:solidFill>
            <a:srgbClr val="E5E7EB"/>
          </a:solidFill>
          <a:ln/>
        </p:spPr>
      </p:sp>
      <p:pic>
        <p:nvPicPr>
          <p:cNvPr id="5" name="Image 0" descr="preencoded.png"/>
          <p:cNvPicPr>
            <a:picLocks noChangeAspect="1"/>
          </p:cNvPicPr>
          <p:nvPr/>
        </p:nvPicPr>
        <p:blipFill>
          <a:blip r:embed="rId3"/>
          <a:srcRect l="-1507" r="-1507"/>
          <a:stretch/>
        </p:blipFill>
        <p:spPr>
          <a:xfrm>
            <a:off x="10088575" y="638251"/>
            <a:ext cx="171907" cy="133502"/>
          </a:xfrm>
          <a:prstGeom prst="rect">
            <a:avLst/>
          </a:prstGeom>
        </p:spPr>
      </p:pic>
      <p:sp>
        <p:nvSpPr>
          <p:cNvPr id="6" name="Text 3"/>
          <p:cNvSpPr txBox="1"/>
          <p:nvPr/>
        </p:nvSpPr>
        <p:spPr>
          <a:xfrm>
            <a:off x="381305" y="190195"/>
            <a:ext cx="3348533" cy="419710"/>
          </a:xfrm>
          <a:prstGeom prst="rect">
            <a:avLst/>
          </a:prstGeom>
          <a:noFill/>
          <a:ln/>
        </p:spPr>
        <p:txBody>
          <a:bodyPr wrap="square" lIns="0" tIns="0" rIns="0" bIns="0" rtlCol="0" anchor="ctr"/>
          <a:lstStyle/>
          <a:p>
            <a:pPr marL="0" indent="0" algn="l">
              <a:buNone/>
            </a:pPr>
            <a:r>
              <a:rPr lang="en-US" sz="2200" b="1" dirty="0">
                <a:solidFill>
                  <a:srgbClr val="1F2937"/>
                </a:solidFill>
                <a:latin typeface="Noto Sans JP" pitchFamily="34" charset="0"/>
                <a:ea typeface="Noto Sans JP" pitchFamily="34" charset="-122"/>
                <a:cs typeface="Noto Sans JP" pitchFamily="34" charset="-120"/>
              </a:rPr>
              <a:t>データソース連携の詳細</a:t>
            </a:r>
            <a:endParaRPr lang="en-US" sz="2200" dirty="0"/>
          </a:p>
        </p:txBody>
      </p:sp>
      <p:sp>
        <p:nvSpPr>
          <p:cNvPr id="7" name="Text 4"/>
          <p:cNvSpPr txBox="1"/>
          <p:nvPr/>
        </p:nvSpPr>
        <p:spPr>
          <a:xfrm>
            <a:off x="381305" y="609905"/>
            <a:ext cx="4614977"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AI活用基盤と既存データソースを接続するための連携方式と実装アプローチ</a:t>
            </a:r>
            <a:endParaRPr lang="en-US" sz="1000" dirty="0"/>
          </a:p>
        </p:txBody>
      </p:sp>
      <p:sp>
        <p:nvSpPr>
          <p:cNvPr id="8" name="Text 5"/>
          <p:cNvSpPr txBox="1"/>
          <p:nvPr/>
        </p:nvSpPr>
        <p:spPr>
          <a:xfrm>
            <a:off x="10336378" y="609905"/>
            <a:ext cx="1576426"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Integration Architecture</a:t>
            </a:r>
            <a:endParaRPr lang="en-US" sz="1000" dirty="0"/>
          </a:p>
        </p:txBody>
      </p:sp>
      <p:sp>
        <p:nvSpPr>
          <p:cNvPr id="9" name="Shape 6"/>
          <p:cNvSpPr/>
          <p:nvPr/>
        </p:nvSpPr>
        <p:spPr>
          <a:xfrm>
            <a:off x="381305" y="1114654"/>
            <a:ext cx="3657600" cy="5514746"/>
          </a:xfrm>
          <a:prstGeom prst="roundRect">
            <a:avLst>
              <a:gd name="adj" fmla="val 781"/>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10" name="Shape 7"/>
          <p:cNvSpPr/>
          <p:nvPr/>
        </p:nvSpPr>
        <p:spPr>
          <a:xfrm>
            <a:off x="390449" y="1123798"/>
            <a:ext cx="3638398" cy="1333195"/>
          </a:xfrm>
          <a:prstGeom prst="rect">
            <a:avLst/>
          </a:prstGeom>
          <a:solidFill>
            <a:srgbClr val="F9FAFB"/>
          </a:solidFill>
          <a:ln/>
        </p:spPr>
      </p:sp>
      <p:sp>
        <p:nvSpPr>
          <p:cNvPr id="11" name="Shape 8"/>
          <p:cNvSpPr/>
          <p:nvPr/>
        </p:nvSpPr>
        <p:spPr>
          <a:xfrm>
            <a:off x="390449" y="2447849"/>
            <a:ext cx="3638398" cy="9144"/>
          </a:xfrm>
          <a:prstGeom prst="rect">
            <a:avLst/>
          </a:prstGeom>
          <a:solidFill>
            <a:srgbClr val="F3F4F6"/>
          </a:solidFill>
          <a:ln/>
        </p:spPr>
      </p:sp>
      <p:pic>
        <p:nvPicPr>
          <p:cNvPr id="12" name="Image 1" descr="preencoded.png"/>
          <p:cNvPicPr>
            <a:picLocks noChangeAspect="1"/>
          </p:cNvPicPr>
          <p:nvPr/>
        </p:nvPicPr>
        <p:blipFill>
          <a:blip r:embed="rId4">
            <a:alphaModFix amt="3000"/>
          </a:blip>
          <a:srcRect/>
          <a:stretch/>
        </p:blipFill>
        <p:spPr>
          <a:xfrm>
            <a:off x="2723998" y="5315407"/>
            <a:ext cx="1495044" cy="1495044"/>
          </a:xfrm>
          <a:prstGeom prst="rect">
            <a:avLst/>
          </a:prstGeom>
        </p:spPr>
      </p:pic>
      <p:pic>
        <p:nvPicPr>
          <p:cNvPr id="13" name="Image 2" descr="preencoded.png"/>
          <p:cNvPicPr>
            <a:picLocks noChangeAspect="1"/>
          </p:cNvPicPr>
          <p:nvPr/>
        </p:nvPicPr>
        <p:blipFill>
          <a:blip r:embed="rId5"/>
          <a:srcRect l="-1648" r="-1648"/>
          <a:stretch/>
        </p:blipFill>
        <p:spPr>
          <a:xfrm>
            <a:off x="580644" y="2678278"/>
            <a:ext cx="171907" cy="190195"/>
          </a:xfrm>
          <a:prstGeom prst="rect">
            <a:avLst/>
          </a:prstGeom>
        </p:spPr>
      </p:pic>
      <p:sp>
        <p:nvSpPr>
          <p:cNvPr id="14" name="Text 9"/>
          <p:cNvSpPr txBox="1"/>
          <p:nvPr/>
        </p:nvSpPr>
        <p:spPr>
          <a:xfrm>
            <a:off x="828446" y="2648102"/>
            <a:ext cx="1698041" cy="238658"/>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業務システムDB連携</a:t>
            </a:r>
            <a:endParaRPr lang="en-US" sz="1300" dirty="0"/>
          </a:p>
        </p:txBody>
      </p:sp>
      <p:pic>
        <p:nvPicPr>
          <p:cNvPr id="15" name="Image 3" descr="preencoded.png"/>
          <p:cNvPicPr>
            <a:picLocks noChangeAspect="1"/>
          </p:cNvPicPr>
          <p:nvPr/>
        </p:nvPicPr>
        <p:blipFill>
          <a:blip r:embed="rId6"/>
          <a:srcRect l="-4000" r="-4000"/>
          <a:stretch/>
        </p:blipFill>
        <p:spPr>
          <a:xfrm>
            <a:off x="580644" y="3118104"/>
            <a:ext cx="123444" cy="114300"/>
          </a:xfrm>
          <a:prstGeom prst="rect">
            <a:avLst/>
          </a:prstGeom>
        </p:spPr>
      </p:pic>
      <p:sp>
        <p:nvSpPr>
          <p:cNvPr id="16" name="Text 10"/>
          <p:cNvSpPr txBox="1"/>
          <p:nvPr/>
        </p:nvSpPr>
        <p:spPr>
          <a:xfrm>
            <a:off x="705002" y="3089758"/>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機能要件・特徴</a:t>
            </a:r>
            <a:endParaRPr lang="en-US" sz="900" dirty="0"/>
          </a:p>
        </p:txBody>
      </p:sp>
      <p:sp>
        <p:nvSpPr>
          <p:cNvPr id="17" name="Text 11"/>
          <p:cNvSpPr txBox="1"/>
          <p:nvPr/>
        </p:nvSpPr>
        <p:spPr>
          <a:xfrm>
            <a:off x="694944" y="3328416"/>
            <a:ext cx="271668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基幹システム（ERP/CRM）からのデータ取得</a:t>
            </a:r>
            <a:endParaRPr lang="en-US" sz="1000" dirty="0"/>
          </a:p>
        </p:txBody>
      </p:sp>
      <p:sp>
        <p:nvSpPr>
          <p:cNvPr id="18" name="Text 12"/>
          <p:cNvSpPr txBox="1"/>
          <p:nvPr/>
        </p:nvSpPr>
        <p:spPr>
          <a:xfrm>
            <a:off x="694944" y="3567074"/>
            <a:ext cx="268833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リアルタイムAPI連携 または 定期バッチ連携</a:t>
            </a:r>
            <a:endParaRPr lang="en-US" sz="1000" dirty="0"/>
          </a:p>
        </p:txBody>
      </p:sp>
      <p:sp>
        <p:nvSpPr>
          <p:cNvPr id="19" name="Text 13"/>
          <p:cNvSpPr txBox="1"/>
          <p:nvPr/>
        </p:nvSpPr>
        <p:spPr>
          <a:xfrm>
            <a:off x="694944" y="3804818"/>
            <a:ext cx="2307031"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データ変換・クレンジング（正規化）</a:t>
            </a:r>
            <a:endParaRPr lang="en-US" sz="1000" dirty="0"/>
          </a:p>
        </p:txBody>
      </p:sp>
      <p:sp>
        <p:nvSpPr>
          <p:cNvPr id="20" name="Text 14"/>
          <p:cNvSpPr txBox="1"/>
          <p:nvPr/>
        </p:nvSpPr>
        <p:spPr>
          <a:xfrm>
            <a:off x="694944" y="4043477"/>
            <a:ext cx="1783080"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機密データのマスキング処理</a:t>
            </a:r>
            <a:endParaRPr lang="en-US" sz="1000" dirty="0"/>
          </a:p>
        </p:txBody>
      </p:sp>
      <p:pic>
        <p:nvPicPr>
          <p:cNvPr id="21" name="Image 4" descr="preencoded.png"/>
          <p:cNvPicPr>
            <a:picLocks noChangeAspect="1"/>
          </p:cNvPicPr>
          <p:nvPr/>
        </p:nvPicPr>
        <p:blipFill>
          <a:blip r:embed="rId7"/>
          <a:srcRect l="-3440" r="-3440"/>
          <a:stretch/>
        </p:blipFill>
        <p:spPr>
          <a:xfrm>
            <a:off x="580644" y="4473245"/>
            <a:ext cx="152705" cy="114300"/>
          </a:xfrm>
          <a:prstGeom prst="rect">
            <a:avLst/>
          </a:prstGeom>
        </p:spPr>
      </p:pic>
      <p:sp>
        <p:nvSpPr>
          <p:cNvPr id="22" name="Text 15"/>
          <p:cNvSpPr txBox="1"/>
          <p:nvPr/>
        </p:nvSpPr>
        <p:spPr>
          <a:xfrm>
            <a:off x="733349" y="4443984"/>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実装アプローチ</a:t>
            </a:r>
            <a:endParaRPr lang="en-US" sz="900" dirty="0"/>
          </a:p>
        </p:txBody>
      </p:sp>
      <p:sp>
        <p:nvSpPr>
          <p:cNvPr id="23" name="Text 16"/>
          <p:cNvSpPr txBox="1"/>
          <p:nvPr/>
        </p:nvSpPr>
        <p:spPr>
          <a:xfrm>
            <a:off x="694944" y="4682642"/>
            <a:ext cx="2507285"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REST API / Webhook によるトリガー連携</a:t>
            </a:r>
            <a:endParaRPr lang="en-US" sz="1000" dirty="0"/>
          </a:p>
        </p:txBody>
      </p:sp>
      <p:sp>
        <p:nvSpPr>
          <p:cNvPr id="24" name="Text 17"/>
          <p:cNvSpPr txBox="1"/>
          <p:nvPr/>
        </p:nvSpPr>
        <p:spPr>
          <a:xfrm>
            <a:off x="694944" y="4921301"/>
            <a:ext cx="2440534"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ETLツールによる中間DBへのデータ同期</a:t>
            </a:r>
            <a:endParaRPr lang="en-US" sz="1000" dirty="0"/>
          </a:p>
        </p:txBody>
      </p:sp>
      <p:sp>
        <p:nvSpPr>
          <p:cNvPr id="25" name="Text 18"/>
          <p:cNvSpPr txBox="1"/>
          <p:nvPr/>
        </p:nvSpPr>
        <p:spPr>
          <a:xfrm>
            <a:off x="694944" y="5159959"/>
            <a:ext cx="2354580"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接続認証情報（Secrets）の安全な管理</a:t>
            </a:r>
            <a:endParaRPr lang="en-US" sz="1000" dirty="0"/>
          </a:p>
        </p:txBody>
      </p:sp>
      <p:pic>
        <p:nvPicPr>
          <p:cNvPr id="26" name="Image 5" descr="preencoded.png"/>
          <p:cNvPicPr>
            <a:picLocks noChangeAspect="1"/>
          </p:cNvPicPr>
          <p:nvPr/>
        </p:nvPicPr>
        <p:blipFill>
          <a:blip r:embed="rId8"/>
          <a:srcRect l="-4000" r="-4000"/>
          <a:stretch/>
        </p:blipFill>
        <p:spPr>
          <a:xfrm>
            <a:off x="580644" y="5600700"/>
            <a:ext cx="123444" cy="114300"/>
          </a:xfrm>
          <a:prstGeom prst="rect">
            <a:avLst/>
          </a:prstGeom>
        </p:spPr>
      </p:pic>
      <p:sp>
        <p:nvSpPr>
          <p:cNvPr id="27" name="Text 19"/>
          <p:cNvSpPr txBox="1"/>
          <p:nvPr/>
        </p:nvSpPr>
        <p:spPr>
          <a:xfrm>
            <a:off x="705002" y="5572354"/>
            <a:ext cx="695858"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ツール候補</a:t>
            </a:r>
            <a:endParaRPr lang="en-US" sz="900" dirty="0"/>
          </a:p>
        </p:txBody>
      </p:sp>
      <p:sp>
        <p:nvSpPr>
          <p:cNvPr id="28" name="Shape 20"/>
          <p:cNvSpPr/>
          <p:nvPr/>
        </p:nvSpPr>
        <p:spPr>
          <a:xfrm>
            <a:off x="580644" y="5820156"/>
            <a:ext cx="1209751" cy="267005"/>
          </a:xfrm>
          <a:prstGeom prst="roundRect">
            <a:avLst>
              <a:gd name="adj" fmla="val 244618"/>
            </a:avLst>
          </a:prstGeom>
          <a:solidFill>
            <a:srgbClr val="F3F4F6"/>
          </a:solidFill>
          <a:ln w="12700">
            <a:solidFill>
              <a:srgbClr val="E5E7EB"/>
            </a:solidFill>
            <a:prstDash val="solid"/>
          </a:ln>
        </p:spPr>
      </p:sp>
      <p:pic>
        <p:nvPicPr>
          <p:cNvPr id="29" name="Image 6" descr="preencoded.png"/>
          <p:cNvPicPr>
            <a:picLocks noChangeAspect="1"/>
          </p:cNvPicPr>
          <p:nvPr/>
        </p:nvPicPr>
        <p:blipFill>
          <a:blip r:embed="rId9"/>
          <a:srcRect l="-1677" r="-1677"/>
          <a:stretch/>
        </p:blipFill>
        <p:spPr>
          <a:xfrm>
            <a:off x="685800" y="5900623"/>
            <a:ext cx="95098" cy="105156"/>
          </a:xfrm>
          <a:prstGeom prst="rect">
            <a:avLst/>
          </a:prstGeom>
        </p:spPr>
      </p:pic>
      <p:sp>
        <p:nvSpPr>
          <p:cNvPr id="30" name="Text 21"/>
          <p:cNvSpPr txBox="1"/>
          <p:nvPr/>
        </p:nvSpPr>
        <p:spPr>
          <a:xfrm>
            <a:off x="780898" y="5867705"/>
            <a:ext cx="991210"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Power Automate</a:t>
            </a:r>
            <a:endParaRPr lang="en-US" sz="900" dirty="0"/>
          </a:p>
        </p:txBody>
      </p:sp>
      <p:sp>
        <p:nvSpPr>
          <p:cNvPr id="31" name="Shape 22"/>
          <p:cNvSpPr/>
          <p:nvPr/>
        </p:nvSpPr>
        <p:spPr>
          <a:xfrm>
            <a:off x="1865376" y="5820156"/>
            <a:ext cx="1324051" cy="267005"/>
          </a:xfrm>
          <a:prstGeom prst="roundRect">
            <a:avLst>
              <a:gd name="adj" fmla="val 244618"/>
            </a:avLst>
          </a:prstGeom>
          <a:solidFill>
            <a:srgbClr val="F3F4F6"/>
          </a:solidFill>
          <a:ln w="12700">
            <a:solidFill>
              <a:srgbClr val="E5E7EB"/>
            </a:solidFill>
            <a:prstDash val="solid"/>
          </a:ln>
        </p:spPr>
      </p:sp>
      <p:pic>
        <p:nvPicPr>
          <p:cNvPr id="32" name="Image 7" descr="preencoded.png"/>
          <p:cNvPicPr>
            <a:picLocks noChangeAspect="1"/>
          </p:cNvPicPr>
          <p:nvPr/>
        </p:nvPicPr>
        <p:blipFill>
          <a:blip r:embed="rId9"/>
          <a:srcRect l="-1677" r="-1677"/>
          <a:stretch/>
        </p:blipFill>
        <p:spPr>
          <a:xfrm>
            <a:off x="1969618" y="5900623"/>
            <a:ext cx="95098" cy="105156"/>
          </a:xfrm>
          <a:prstGeom prst="rect">
            <a:avLst/>
          </a:prstGeom>
        </p:spPr>
      </p:pic>
      <p:sp>
        <p:nvSpPr>
          <p:cNvPr id="33" name="Text 23"/>
          <p:cNvSpPr txBox="1"/>
          <p:nvPr/>
        </p:nvSpPr>
        <p:spPr>
          <a:xfrm>
            <a:off x="2065630" y="5867705"/>
            <a:ext cx="1105510"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Azure Data Factory</a:t>
            </a:r>
            <a:endParaRPr lang="en-US" sz="900" dirty="0"/>
          </a:p>
        </p:txBody>
      </p:sp>
      <p:sp>
        <p:nvSpPr>
          <p:cNvPr id="34" name="Shape 24"/>
          <p:cNvSpPr/>
          <p:nvPr/>
        </p:nvSpPr>
        <p:spPr>
          <a:xfrm>
            <a:off x="580644" y="6163056"/>
            <a:ext cx="914400" cy="267005"/>
          </a:xfrm>
          <a:prstGeom prst="roundRect">
            <a:avLst>
              <a:gd name="adj" fmla="val 244618"/>
            </a:avLst>
          </a:prstGeom>
          <a:solidFill>
            <a:srgbClr val="F3F4F6"/>
          </a:solidFill>
          <a:ln w="12700">
            <a:solidFill>
              <a:srgbClr val="E5E7EB"/>
            </a:solidFill>
            <a:prstDash val="solid"/>
          </a:ln>
        </p:spPr>
      </p:sp>
      <p:pic>
        <p:nvPicPr>
          <p:cNvPr id="35" name="Image 8" descr="preencoded.png"/>
          <p:cNvPicPr>
            <a:picLocks noChangeAspect="1"/>
          </p:cNvPicPr>
          <p:nvPr/>
        </p:nvPicPr>
        <p:blipFill>
          <a:blip r:embed="rId10"/>
          <a:srcRect t="-1958" b="-1958"/>
          <a:stretch/>
        </p:blipFill>
        <p:spPr>
          <a:xfrm>
            <a:off x="685800" y="6243523"/>
            <a:ext cx="75895" cy="105156"/>
          </a:xfrm>
          <a:prstGeom prst="rect">
            <a:avLst/>
          </a:prstGeom>
        </p:spPr>
      </p:pic>
      <p:sp>
        <p:nvSpPr>
          <p:cNvPr id="36" name="Text 25"/>
          <p:cNvSpPr txBox="1"/>
          <p:nvPr/>
        </p:nvSpPr>
        <p:spPr>
          <a:xfrm>
            <a:off x="761695" y="6210605"/>
            <a:ext cx="715061"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Custom API</a:t>
            </a:r>
            <a:endParaRPr lang="en-US" sz="900" dirty="0"/>
          </a:p>
        </p:txBody>
      </p:sp>
      <p:sp>
        <p:nvSpPr>
          <p:cNvPr id="37" name="Shape 26"/>
          <p:cNvSpPr/>
          <p:nvPr/>
        </p:nvSpPr>
        <p:spPr>
          <a:xfrm>
            <a:off x="1564538" y="6163056"/>
            <a:ext cx="562356" cy="267005"/>
          </a:xfrm>
          <a:prstGeom prst="roundRect">
            <a:avLst>
              <a:gd name="adj" fmla="val 244618"/>
            </a:avLst>
          </a:prstGeom>
          <a:solidFill>
            <a:srgbClr val="F3F4F6"/>
          </a:solidFill>
          <a:ln w="12700">
            <a:solidFill>
              <a:srgbClr val="E5E7EB"/>
            </a:solidFill>
            <a:prstDash val="solid"/>
          </a:ln>
        </p:spPr>
      </p:sp>
      <p:pic>
        <p:nvPicPr>
          <p:cNvPr id="38" name="Image 9" descr="preencoded.png"/>
          <p:cNvPicPr>
            <a:picLocks noChangeAspect="1"/>
          </p:cNvPicPr>
          <p:nvPr/>
        </p:nvPicPr>
        <p:blipFill>
          <a:blip r:embed="rId11"/>
          <a:srcRect/>
          <a:stretch/>
        </p:blipFill>
        <p:spPr>
          <a:xfrm>
            <a:off x="1669694" y="6243523"/>
            <a:ext cx="105156" cy="105156"/>
          </a:xfrm>
          <a:prstGeom prst="rect">
            <a:avLst/>
          </a:prstGeom>
        </p:spPr>
      </p:pic>
      <p:sp>
        <p:nvSpPr>
          <p:cNvPr id="39" name="Text 27"/>
          <p:cNvSpPr txBox="1"/>
          <p:nvPr/>
        </p:nvSpPr>
        <p:spPr>
          <a:xfrm>
            <a:off x="1774850" y="6210605"/>
            <a:ext cx="333756"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SSIS</a:t>
            </a:r>
            <a:endParaRPr lang="en-US" sz="900" dirty="0"/>
          </a:p>
        </p:txBody>
      </p:sp>
      <p:sp>
        <p:nvSpPr>
          <p:cNvPr id="40" name="Shape 28"/>
          <p:cNvSpPr/>
          <p:nvPr/>
        </p:nvSpPr>
        <p:spPr>
          <a:xfrm>
            <a:off x="4267505" y="1114654"/>
            <a:ext cx="3657600" cy="5514746"/>
          </a:xfrm>
          <a:prstGeom prst="roundRect">
            <a:avLst>
              <a:gd name="adj" fmla="val 781"/>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41" name="Shape 29"/>
          <p:cNvSpPr/>
          <p:nvPr/>
        </p:nvSpPr>
        <p:spPr>
          <a:xfrm>
            <a:off x="4276649" y="1123798"/>
            <a:ext cx="3638398" cy="1333195"/>
          </a:xfrm>
          <a:prstGeom prst="rect">
            <a:avLst/>
          </a:prstGeom>
          <a:solidFill>
            <a:srgbClr val="F9FAFB"/>
          </a:solidFill>
          <a:ln/>
        </p:spPr>
      </p:sp>
      <p:sp>
        <p:nvSpPr>
          <p:cNvPr id="42" name="Shape 30"/>
          <p:cNvSpPr/>
          <p:nvPr/>
        </p:nvSpPr>
        <p:spPr>
          <a:xfrm>
            <a:off x="4276649" y="2447849"/>
            <a:ext cx="3638398" cy="9144"/>
          </a:xfrm>
          <a:prstGeom prst="rect">
            <a:avLst/>
          </a:prstGeom>
          <a:solidFill>
            <a:srgbClr val="F3F4F6"/>
          </a:solidFill>
          <a:ln/>
        </p:spPr>
      </p:sp>
      <p:pic>
        <p:nvPicPr>
          <p:cNvPr id="43" name="Image 10" descr="preencoded.png"/>
          <p:cNvPicPr>
            <a:picLocks noChangeAspect="1"/>
          </p:cNvPicPr>
          <p:nvPr/>
        </p:nvPicPr>
        <p:blipFill>
          <a:blip r:embed="rId12">
            <a:alphaModFix amt="3000"/>
          </a:blip>
          <a:srcRect t="-4871" b="-4871"/>
          <a:stretch/>
        </p:blipFill>
        <p:spPr>
          <a:xfrm>
            <a:off x="6314846" y="5238598"/>
            <a:ext cx="1790395" cy="1571854"/>
          </a:xfrm>
          <a:prstGeom prst="rect">
            <a:avLst/>
          </a:prstGeom>
        </p:spPr>
      </p:pic>
      <p:pic>
        <p:nvPicPr>
          <p:cNvPr id="44" name="Image 11" descr="preencoded.png"/>
          <p:cNvPicPr>
            <a:picLocks noChangeAspect="1"/>
          </p:cNvPicPr>
          <p:nvPr/>
        </p:nvPicPr>
        <p:blipFill>
          <a:blip r:embed="rId13"/>
          <a:srcRect l="-1282" r="-1282"/>
          <a:stretch/>
        </p:blipFill>
        <p:spPr>
          <a:xfrm>
            <a:off x="4466844" y="2678278"/>
            <a:ext cx="219456" cy="190195"/>
          </a:xfrm>
          <a:prstGeom prst="rect">
            <a:avLst/>
          </a:prstGeom>
        </p:spPr>
      </p:pic>
      <p:sp>
        <p:nvSpPr>
          <p:cNvPr id="45" name="Text 31"/>
          <p:cNvSpPr txBox="1"/>
          <p:nvPr/>
        </p:nvSpPr>
        <p:spPr>
          <a:xfrm>
            <a:off x="4762195" y="2648102"/>
            <a:ext cx="2030882" cy="238658"/>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DWH・データレイク連携</a:t>
            </a:r>
            <a:endParaRPr lang="en-US" sz="1300" dirty="0"/>
          </a:p>
        </p:txBody>
      </p:sp>
      <p:pic>
        <p:nvPicPr>
          <p:cNvPr id="46" name="Image 12" descr="preencoded.png"/>
          <p:cNvPicPr>
            <a:picLocks noChangeAspect="1"/>
          </p:cNvPicPr>
          <p:nvPr/>
        </p:nvPicPr>
        <p:blipFill>
          <a:blip r:embed="rId6"/>
          <a:srcRect l="-4000" r="-4000"/>
          <a:stretch/>
        </p:blipFill>
        <p:spPr>
          <a:xfrm>
            <a:off x="4466844" y="3118104"/>
            <a:ext cx="123444" cy="114300"/>
          </a:xfrm>
          <a:prstGeom prst="rect">
            <a:avLst/>
          </a:prstGeom>
        </p:spPr>
      </p:pic>
      <p:sp>
        <p:nvSpPr>
          <p:cNvPr id="47" name="Text 32"/>
          <p:cNvSpPr txBox="1"/>
          <p:nvPr/>
        </p:nvSpPr>
        <p:spPr>
          <a:xfrm>
            <a:off x="4591202" y="3089758"/>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機能要件・特徴</a:t>
            </a:r>
            <a:endParaRPr lang="en-US" sz="900" dirty="0"/>
          </a:p>
        </p:txBody>
      </p:sp>
      <p:sp>
        <p:nvSpPr>
          <p:cNvPr id="48" name="Text 33"/>
          <p:cNvSpPr txBox="1"/>
          <p:nvPr/>
        </p:nvSpPr>
        <p:spPr>
          <a:xfrm>
            <a:off x="4581144" y="3328416"/>
            <a:ext cx="2307031"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大量の履歴データ・ログデータの蓄積</a:t>
            </a:r>
            <a:endParaRPr lang="en-US" sz="1000" dirty="0"/>
          </a:p>
        </p:txBody>
      </p:sp>
      <p:sp>
        <p:nvSpPr>
          <p:cNvPr id="49" name="Text 34"/>
          <p:cNvSpPr txBox="1"/>
          <p:nvPr/>
        </p:nvSpPr>
        <p:spPr>
          <a:xfrm>
            <a:off x="4581144" y="3567074"/>
            <a:ext cx="2174443"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構造化・非構造化データの混合管理</a:t>
            </a:r>
            <a:endParaRPr lang="en-US" sz="1000" dirty="0"/>
          </a:p>
        </p:txBody>
      </p:sp>
      <p:sp>
        <p:nvSpPr>
          <p:cNvPr id="50" name="Text 35"/>
          <p:cNvSpPr txBox="1"/>
          <p:nvPr/>
        </p:nvSpPr>
        <p:spPr>
          <a:xfrm>
            <a:off x="4581144" y="3804818"/>
            <a:ext cx="165963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分析用データマートの提供</a:t>
            </a:r>
            <a:endParaRPr lang="en-US" sz="1000" dirty="0"/>
          </a:p>
        </p:txBody>
      </p:sp>
      <p:sp>
        <p:nvSpPr>
          <p:cNvPr id="51" name="Text 36"/>
          <p:cNvSpPr txBox="1"/>
          <p:nvPr/>
        </p:nvSpPr>
        <p:spPr>
          <a:xfrm>
            <a:off x="4581144" y="4043477"/>
            <a:ext cx="177393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AIモデル学習用データの保持</a:t>
            </a:r>
            <a:endParaRPr lang="en-US" sz="1000" dirty="0"/>
          </a:p>
        </p:txBody>
      </p:sp>
      <p:pic>
        <p:nvPicPr>
          <p:cNvPr id="52" name="Image 13" descr="preencoded.png"/>
          <p:cNvPicPr>
            <a:picLocks noChangeAspect="1"/>
          </p:cNvPicPr>
          <p:nvPr/>
        </p:nvPicPr>
        <p:blipFill>
          <a:blip r:embed="rId7"/>
          <a:srcRect l="-3440" r="-3440"/>
          <a:stretch/>
        </p:blipFill>
        <p:spPr>
          <a:xfrm>
            <a:off x="4466844" y="4473245"/>
            <a:ext cx="152705" cy="114300"/>
          </a:xfrm>
          <a:prstGeom prst="rect">
            <a:avLst/>
          </a:prstGeom>
        </p:spPr>
      </p:pic>
      <p:sp>
        <p:nvSpPr>
          <p:cNvPr id="53" name="Text 37"/>
          <p:cNvSpPr txBox="1"/>
          <p:nvPr/>
        </p:nvSpPr>
        <p:spPr>
          <a:xfrm>
            <a:off x="4619549" y="4443984"/>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実装アプローチ</a:t>
            </a:r>
            <a:endParaRPr lang="en-US" sz="900" dirty="0"/>
          </a:p>
        </p:txBody>
      </p:sp>
      <p:sp>
        <p:nvSpPr>
          <p:cNvPr id="54" name="Text 38"/>
          <p:cNvSpPr txBox="1"/>
          <p:nvPr/>
        </p:nvSpPr>
        <p:spPr>
          <a:xfrm>
            <a:off x="4581144" y="4682642"/>
            <a:ext cx="2383841"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データパイプライン（ELT処理）の構築</a:t>
            </a:r>
            <a:endParaRPr lang="en-US" sz="1000" dirty="0"/>
          </a:p>
        </p:txBody>
      </p:sp>
      <p:sp>
        <p:nvSpPr>
          <p:cNvPr id="55" name="Text 39"/>
          <p:cNvSpPr txBox="1"/>
          <p:nvPr/>
        </p:nvSpPr>
        <p:spPr>
          <a:xfrm>
            <a:off x="4581144" y="4921301"/>
            <a:ext cx="2297887"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分析クエリ最適化とインデックス設計</a:t>
            </a:r>
            <a:endParaRPr lang="en-US" sz="1000" dirty="0"/>
          </a:p>
        </p:txBody>
      </p:sp>
      <p:sp>
        <p:nvSpPr>
          <p:cNvPr id="56" name="Text 40"/>
          <p:cNvSpPr txBox="1"/>
          <p:nvPr/>
        </p:nvSpPr>
        <p:spPr>
          <a:xfrm>
            <a:off x="4581144" y="5159959"/>
            <a:ext cx="2421331"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アクセス頻度に応じたストレージ階層化</a:t>
            </a:r>
            <a:endParaRPr lang="en-US" sz="1000" dirty="0"/>
          </a:p>
        </p:txBody>
      </p:sp>
      <p:pic>
        <p:nvPicPr>
          <p:cNvPr id="57" name="Image 14" descr="preencoded.png"/>
          <p:cNvPicPr>
            <a:picLocks noChangeAspect="1"/>
          </p:cNvPicPr>
          <p:nvPr/>
        </p:nvPicPr>
        <p:blipFill>
          <a:blip r:embed="rId8"/>
          <a:srcRect l="-4000" r="-4000"/>
          <a:stretch/>
        </p:blipFill>
        <p:spPr>
          <a:xfrm>
            <a:off x="4466844" y="5600700"/>
            <a:ext cx="123444" cy="114300"/>
          </a:xfrm>
          <a:prstGeom prst="rect">
            <a:avLst/>
          </a:prstGeom>
        </p:spPr>
      </p:pic>
      <p:sp>
        <p:nvSpPr>
          <p:cNvPr id="58" name="Text 41"/>
          <p:cNvSpPr txBox="1"/>
          <p:nvPr/>
        </p:nvSpPr>
        <p:spPr>
          <a:xfrm>
            <a:off x="4591202" y="5572354"/>
            <a:ext cx="695858"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ツール候補</a:t>
            </a:r>
            <a:endParaRPr lang="en-US" sz="900" dirty="0"/>
          </a:p>
        </p:txBody>
      </p:sp>
      <p:sp>
        <p:nvSpPr>
          <p:cNvPr id="59" name="Shape 42"/>
          <p:cNvSpPr/>
          <p:nvPr/>
        </p:nvSpPr>
        <p:spPr>
          <a:xfrm>
            <a:off x="4466844" y="5820156"/>
            <a:ext cx="1104595" cy="267005"/>
          </a:xfrm>
          <a:prstGeom prst="roundRect">
            <a:avLst>
              <a:gd name="adj" fmla="val 244618"/>
            </a:avLst>
          </a:prstGeom>
          <a:solidFill>
            <a:srgbClr val="F3F4F6"/>
          </a:solidFill>
          <a:ln w="12700">
            <a:solidFill>
              <a:srgbClr val="E5E7EB"/>
            </a:solidFill>
            <a:prstDash val="solid"/>
          </a:ln>
        </p:spPr>
      </p:sp>
      <p:pic>
        <p:nvPicPr>
          <p:cNvPr id="60" name="Image 15" descr="preencoded.png"/>
          <p:cNvPicPr>
            <a:picLocks noChangeAspect="1"/>
          </p:cNvPicPr>
          <p:nvPr/>
        </p:nvPicPr>
        <p:blipFill>
          <a:blip r:embed="rId9"/>
          <a:srcRect l="-1677" r="-1677"/>
          <a:stretch/>
        </p:blipFill>
        <p:spPr>
          <a:xfrm>
            <a:off x="4572000" y="5900623"/>
            <a:ext cx="95098" cy="105156"/>
          </a:xfrm>
          <a:prstGeom prst="rect">
            <a:avLst/>
          </a:prstGeom>
        </p:spPr>
      </p:pic>
      <p:sp>
        <p:nvSpPr>
          <p:cNvPr id="61" name="Text 43"/>
          <p:cNvSpPr txBox="1"/>
          <p:nvPr/>
        </p:nvSpPr>
        <p:spPr>
          <a:xfrm>
            <a:off x="4667098" y="5867705"/>
            <a:ext cx="886054"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Azure Synapse</a:t>
            </a:r>
            <a:endParaRPr lang="en-US" sz="900" dirty="0"/>
          </a:p>
        </p:txBody>
      </p:sp>
      <p:sp>
        <p:nvSpPr>
          <p:cNvPr id="62" name="Shape 44"/>
          <p:cNvSpPr/>
          <p:nvPr/>
        </p:nvSpPr>
        <p:spPr>
          <a:xfrm>
            <a:off x="5639105" y="5820156"/>
            <a:ext cx="875995" cy="267005"/>
          </a:xfrm>
          <a:prstGeom prst="roundRect">
            <a:avLst>
              <a:gd name="adj" fmla="val 244618"/>
            </a:avLst>
          </a:prstGeom>
          <a:solidFill>
            <a:srgbClr val="F3F4F6"/>
          </a:solidFill>
          <a:ln w="12700">
            <a:solidFill>
              <a:srgbClr val="E5E7EB"/>
            </a:solidFill>
            <a:prstDash val="solid"/>
          </a:ln>
        </p:spPr>
      </p:sp>
      <p:pic>
        <p:nvPicPr>
          <p:cNvPr id="63" name="Image 16" descr="preencoded.png"/>
          <p:cNvPicPr>
            <a:picLocks noChangeAspect="1"/>
          </p:cNvPicPr>
          <p:nvPr/>
        </p:nvPicPr>
        <p:blipFill>
          <a:blip r:embed="rId14"/>
          <a:srcRect l="-1677" r="-1677"/>
          <a:stretch/>
        </p:blipFill>
        <p:spPr>
          <a:xfrm>
            <a:off x="5744261" y="5900623"/>
            <a:ext cx="95098" cy="105156"/>
          </a:xfrm>
          <a:prstGeom prst="rect">
            <a:avLst/>
          </a:prstGeom>
        </p:spPr>
      </p:pic>
      <p:sp>
        <p:nvSpPr>
          <p:cNvPr id="64" name="Text 45"/>
          <p:cNvSpPr txBox="1"/>
          <p:nvPr/>
        </p:nvSpPr>
        <p:spPr>
          <a:xfrm>
            <a:off x="5839358" y="5867705"/>
            <a:ext cx="657454"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Snowflake</a:t>
            </a:r>
            <a:endParaRPr lang="en-US" sz="900" dirty="0"/>
          </a:p>
        </p:txBody>
      </p:sp>
      <p:sp>
        <p:nvSpPr>
          <p:cNvPr id="65" name="Shape 46"/>
          <p:cNvSpPr/>
          <p:nvPr/>
        </p:nvSpPr>
        <p:spPr>
          <a:xfrm>
            <a:off x="6591910" y="5820156"/>
            <a:ext cx="828446" cy="267005"/>
          </a:xfrm>
          <a:prstGeom prst="roundRect">
            <a:avLst>
              <a:gd name="adj" fmla="val 244618"/>
            </a:avLst>
          </a:prstGeom>
          <a:solidFill>
            <a:srgbClr val="F3F4F6"/>
          </a:solidFill>
          <a:ln w="12700">
            <a:solidFill>
              <a:srgbClr val="E5E7EB"/>
            </a:solidFill>
            <a:prstDash val="solid"/>
          </a:ln>
        </p:spPr>
      </p:sp>
      <p:pic>
        <p:nvPicPr>
          <p:cNvPr id="66" name="Image 17" descr="preencoded.png"/>
          <p:cNvPicPr>
            <a:picLocks noChangeAspect="1"/>
          </p:cNvPicPr>
          <p:nvPr/>
        </p:nvPicPr>
        <p:blipFill>
          <a:blip r:embed="rId15"/>
          <a:srcRect l="-2459" r="-2459"/>
          <a:stretch/>
        </p:blipFill>
        <p:spPr>
          <a:xfrm>
            <a:off x="6696151" y="5900623"/>
            <a:ext cx="105156" cy="105156"/>
          </a:xfrm>
          <a:prstGeom prst="rect">
            <a:avLst/>
          </a:prstGeom>
        </p:spPr>
      </p:pic>
      <p:sp>
        <p:nvSpPr>
          <p:cNvPr id="67" name="Text 47"/>
          <p:cNvSpPr txBox="1"/>
          <p:nvPr/>
        </p:nvSpPr>
        <p:spPr>
          <a:xfrm>
            <a:off x="6801307" y="5867705"/>
            <a:ext cx="600761"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BigQuery</a:t>
            </a:r>
            <a:endParaRPr lang="en-US" sz="900" dirty="0"/>
          </a:p>
        </p:txBody>
      </p:sp>
      <p:sp>
        <p:nvSpPr>
          <p:cNvPr id="68" name="Shape 48"/>
          <p:cNvSpPr/>
          <p:nvPr/>
        </p:nvSpPr>
        <p:spPr>
          <a:xfrm>
            <a:off x="4466844" y="6163056"/>
            <a:ext cx="1181405" cy="267005"/>
          </a:xfrm>
          <a:prstGeom prst="roundRect">
            <a:avLst>
              <a:gd name="adj" fmla="val 244618"/>
            </a:avLst>
          </a:prstGeom>
          <a:solidFill>
            <a:srgbClr val="F3F4F6"/>
          </a:solidFill>
          <a:ln w="12700">
            <a:solidFill>
              <a:srgbClr val="E5E7EB"/>
            </a:solidFill>
            <a:prstDash val="solid"/>
          </a:ln>
        </p:spPr>
      </p:sp>
      <p:pic>
        <p:nvPicPr>
          <p:cNvPr id="69" name="Image 18" descr="preencoded.png"/>
          <p:cNvPicPr>
            <a:picLocks noChangeAspect="1"/>
          </p:cNvPicPr>
          <p:nvPr/>
        </p:nvPicPr>
        <p:blipFill>
          <a:blip r:embed="rId16"/>
          <a:srcRect l="-2174" r="-2174"/>
          <a:stretch/>
        </p:blipFill>
        <p:spPr>
          <a:xfrm>
            <a:off x="4572000" y="6243523"/>
            <a:ext cx="123444" cy="105156"/>
          </a:xfrm>
          <a:prstGeom prst="rect">
            <a:avLst/>
          </a:prstGeom>
        </p:spPr>
      </p:pic>
      <p:sp>
        <p:nvSpPr>
          <p:cNvPr id="70" name="Text 49"/>
          <p:cNvSpPr txBox="1"/>
          <p:nvPr/>
        </p:nvSpPr>
        <p:spPr>
          <a:xfrm>
            <a:off x="4695444" y="6210605"/>
            <a:ext cx="933602"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Data Lake Gen2</a:t>
            </a:r>
            <a:endParaRPr lang="en-US" sz="900" dirty="0"/>
          </a:p>
        </p:txBody>
      </p:sp>
      <p:sp>
        <p:nvSpPr>
          <p:cNvPr id="71" name="Shape 50"/>
          <p:cNvSpPr/>
          <p:nvPr/>
        </p:nvSpPr>
        <p:spPr>
          <a:xfrm>
            <a:off x="8153705" y="1114654"/>
            <a:ext cx="3657600" cy="5514746"/>
          </a:xfrm>
          <a:prstGeom prst="roundRect">
            <a:avLst>
              <a:gd name="adj" fmla="val 781"/>
            </a:avLst>
          </a:prstGeom>
          <a:solidFill>
            <a:srgbClr val="FFFFFF"/>
          </a:solidFill>
          <a:ln w="12700">
            <a:solidFill>
              <a:srgbClr val="E5E7EB"/>
            </a:solidFill>
            <a:prstDash val="solid"/>
          </a:ln>
          <a:effectLst>
            <a:outerShdw blurRad="63500" dist="38100" dir="5400000" algn="bl" rotWithShape="0">
              <a:srgbClr val="000000">
                <a:alpha val="5000"/>
              </a:srgbClr>
            </a:outerShdw>
          </a:effectLst>
        </p:spPr>
      </p:sp>
      <p:sp>
        <p:nvSpPr>
          <p:cNvPr id="72" name="Shape 51"/>
          <p:cNvSpPr/>
          <p:nvPr/>
        </p:nvSpPr>
        <p:spPr>
          <a:xfrm>
            <a:off x="8162849" y="1123798"/>
            <a:ext cx="3638398" cy="1333195"/>
          </a:xfrm>
          <a:prstGeom prst="rect">
            <a:avLst/>
          </a:prstGeom>
          <a:solidFill>
            <a:srgbClr val="F9FAFB"/>
          </a:solidFill>
          <a:ln/>
        </p:spPr>
      </p:sp>
      <p:sp>
        <p:nvSpPr>
          <p:cNvPr id="73" name="Shape 52"/>
          <p:cNvSpPr/>
          <p:nvPr/>
        </p:nvSpPr>
        <p:spPr>
          <a:xfrm>
            <a:off x="8162849" y="2447849"/>
            <a:ext cx="3638398" cy="9144"/>
          </a:xfrm>
          <a:prstGeom prst="rect">
            <a:avLst/>
          </a:prstGeom>
          <a:solidFill>
            <a:srgbClr val="F3F4F6"/>
          </a:solidFill>
          <a:ln/>
        </p:spPr>
      </p:sp>
      <p:pic>
        <p:nvPicPr>
          <p:cNvPr id="74" name="Image 19" descr="preencoded.png"/>
          <p:cNvPicPr>
            <a:picLocks noChangeAspect="1"/>
          </p:cNvPicPr>
          <p:nvPr/>
        </p:nvPicPr>
        <p:blipFill>
          <a:blip r:embed="rId17">
            <a:alphaModFix amt="3000"/>
          </a:blip>
          <a:srcRect t="-4871" b="-4871"/>
          <a:stretch/>
        </p:blipFill>
        <p:spPr>
          <a:xfrm>
            <a:off x="10201046" y="5238598"/>
            <a:ext cx="1790395" cy="1571854"/>
          </a:xfrm>
          <a:prstGeom prst="rect">
            <a:avLst/>
          </a:prstGeom>
        </p:spPr>
      </p:pic>
      <p:pic>
        <p:nvPicPr>
          <p:cNvPr id="75" name="Image 20" descr="preencoded.png"/>
          <p:cNvPicPr>
            <a:picLocks noChangeAspect="1"/>
          </p:cNvPicPr>
          <p:nvPr/>
        </p:nvPicPr>
        <p:blipFill>
          <a:blip r:embed="rId18"/>
          <a:srcRect l="-1648" r="-1648"/>
          <a:stretch/>
        </p:blipFill>
        <p:spPr>
          <a:xfrm>
            <a:off x="8353044" y="2678278"/>
            <a:ext cx="171907" cy="190195"/>
          </a:xfrm>
          <a:prstGeom prst="rect">
            <a:avLst/>
          </a:prstGeom>
        </p:spPr>
      </p:pic>
      <p:sp>
        <p:nvSpPr>
          <p:cNvPr id="76" name="Text 53"/>
          <p:cNvSpPr txBox="1"/>
          <p:nvPr/>
        </p:nvSpPr>
        <p:spPr>
          <a:xfrm>
            <a:off x="8600846" y="2648102"/>
            <a:ext cx="2050085" cy="238658"/>
          </a:xfrm>
          <a:prstGeom prst="rect">
            <a:avLst/>
          </a:prstGeom>
          <a:noFill/>
          <a:ln/>
        </p:spPr>
        <p:txBody>
          <a:bodyPr wrap="square" lIns="0" tIns="0" rIns="0" bIns="0" rtlCol="0" anchor="ctr"/>
          <a:lstStyle/>
          <a:p>
            <a:pPr marL="0" indent="0" algn="l">
              <a:buNone/>
            </a:pPr>
            <a:r>
              <a:rPr lang="en-US" sz="1300" b="1" dirty="0">
                <a:solidFill>
                  <a:srgbClr val="1F2937"/>
                </a:solidFill>
                <a:latin typeface="Noto Sans JP" pitchFamily="34" charset="0"/>
                <a:ea typeface="Noto Sans JP" pitchFamily="34" charset="-122"/>
                <a:cs typeface="Noto Sans JP" pitchFamily="34" charset="-120"/>
              </a:rPr>
              <a:t>ファイル・外部SaaS連携</a:t>
            </a:r>
            <a:endParaRPr lang="en-US" sz="1300" dirty="0"/>
          </a:p>
        </p:txBody>
      </p:sp>
      <p:pic>
        <p:nvPicPr>
          <p:cNvPr id="77" name="Image 21" descr="preencoded.png"/>
          <p:cNvPicPr>
            <a:picLocks noChangeAspect="1"/>
          </p:cNvPicPr>
          <p:nvPr/>
        </p:nvPicPr>
        <p:blipFill>
          <a:blip r:embed="rId6"/>
          <a:srcRect l="-4000" r="-4000"/>
          <a:stretch/>
        </p:blipFill>
        <p:spPr>
          <a:xfrm>
            <a:off x="8353044" y="3118104"/>
            <a:ext cx="123444" cy="114300"/>
          </a:xfrm>
          <a:prstGeom prst="rect">
            <a:avLst/>
          </a:prstGeom>
        </p:spPr>
      </p:pic>
      <p:sp>
        <p:nvSpPr>
          <p:cNvPr id="78" name="Text 54"/>
          <p:cNvSpPr txBox="1"/>
          <p:nvPr/>
        </p:nvSpPr>
        <p:spPr>
          <a:xfrm>
            <a:off x="8477402" y="3089758"/>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機能要件・特徴</a:t>
            </a:r>
            <a:endParaRPr lang="en-US" sz="900" dirty="0"/>
          </a:p>
        </p:txBody>
      </p:sp>
      <p:sp>
        <p:nvSpPr>
          <p:cNvPr id="79" name="Text 55"/>
          <p:cNvSpPr txBox="1"/>
          <p:nvPr/>
        </p:nvSpPr>
        <p:spPr>
          <a:xfrm>
            <a:off x="8467344" y="3328416"/>
            <a:ext cx="2631643"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ファイルサーバ/SharePointからの資料取得</a:t>
            </a:r>
            <a:endParaRPr lang="en-US" sz="1000" dirty="0"/>
          </a:p>
        </p:txBody>
      </p:sp>
      <p:sp>
        <p:nvSpPr>
          <p:cNvPr id="80" name="Text 56"/>
          <p:cNvSpPr txBox="1"/>
          <p:nvPr/>
        </p:nvSpPr>
        <p:spPr>
          <a:xfrm>
            <a:off x="8467344" y="3567074"/>
            <a:ext cx="256489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Slack/Salesforce等の外部SaaSデータ統合</a:t>
            </a:r>
            <a:endParaRPr lang="en-US" sz="1000" dirty="0"/>
          </a:p>
        </p:txBody>
      </p:sp>
      <p:sp>
        <p:nvSpPr>
          <p:cNvPr id="81" name="Text 57"/>
          <p:cNvSpPr txBox="1"/>
          <p:nvPr/>
        </p:nvSpPr>
        <p:spPr>
          <a:xfrm>
            <a:off x="8467344" y="3804818"/>
            <a:ext cx="188823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権限情報（ACL）の継承と同期</a:t>
            </a:r>
            <a:endParaRPr lang="en-US" sz="1000" dirty="0"/>
          </a:p>
        </p:txBody>
      </p:sp>
      <p:sp>
        <p:nvSpPr>
          <p:cNvPr id="82" name="Text 58"/>
          <p:cNvSpPr txBox="1"/>
          <p:nvPr/>
        </p:nvSpPr>
        <p:spPr>
          <a:xfrm>
            <a:off x="8467344" y="4043477"/>
            <a:ext cx="191658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メタデータ自動抽出・タグ付け</a:t>
            </a:r>
            <a:endParaRPr lang="en-US" sz="1000" dirty="0"/>
          </a:p>
        </p:txBody>
      </p:sp>
      <p:pic>
        <p:nvPicPr>
          <p:cNvPr id="83" name="Image 22" descr="preencoded.png"/>
          <p:cNvPicPr>
            <a:picLocks noChangeAspect="1"/>
          </p:cNvPicPr>
          <p:nvPr/>
        </p:nvPicPr>
        <p:blipFill>
          <a:blip r:embed="rId7"/>
          <a:srcRect l="-3440" r="-3440"/>
          <a:stretch/>
        </p:blipFill>
        <p:spPr>
          <a:xfrm>
            <a:off x="8353044" y="4473245"/>
            <a:ext cx="152705" cy="114300"/>
          </a:xfrm>
          <a:prstGeom prst="rect">
            <a:avLst/>
          </a:prstGeom>
        </p:spPr>
      </p:pic>
      <p:sp>
        <p:nvSpPr>
          <p:cNvPr id="84" name="Text 59"/>
          <p:cNvSpPr txBox="1"/>
          <p:nvPr/>
        </p:nvSpPr>
        <p:spPr>
          <a:xfrm>
            <a:off x="8505749" y="4443984"/>
            <a:ext cx="933602"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実装アプローチ</a:t>
            </a:r>
            <a:endParaRPr lang="en-US" sz="900" dirty="0"/>
          </a:p>
        </p:txBody>
      </p:sp>
      <p:sp>
        <p:nvSpPr>
          <p:cNvPr id="85" name="Text 60"/>
          <p:cNvSpPr txBox="1"/>
          <p:nvPr/>
        </p:nvSpPr>
        <p:spPr>
          <a:xfrm>
            <a:off x="8467344" y="4682642"/>
            <a:ext cx="222199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Graph API / カスタムコネクタの開発</a:t>
            </a:r>
            <a:endParaRPr lang="en-US" sz="1000" dirty="0"/>
          </a:p>
        </p:txBody>
      </p:sp>
      <p:sp>
        <p:nvSpPr>
          <p:cNvPr id="86" name="Text 61"/>
          <p:cNvSpPr txBox="1"/>
          <p:nvPr/>
        </p:nvSpPr>
        <p:spPr>
          <a:xfrm>
            <a:off x="8467344" y="4921301"/>
            <a:ext cx="1659636"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ファイル同期ツールの導入</a:t>
            </a:r>
            <a:endParaRPr lang="en-US" sz="1000" dirty="0"/>
          </a:p>
        </p:txBody>
      </p:sp>
      <p:sp>
        <p:nvSpPr>
          <p:cNvPr id="87" name="Text 62"/>
          <p:cNvSpPr txBox="1"/>
          <p:nvPr/>
        </p:nvSpPr>
        <p:spPr>
          <a:xfrm>
            <a:off x="8467344" y="5159959"/>
            <a:ext cx="1993392" cy="191110"/>
          </a:xfrm>
          <a:prstGeom prst="rect">
            <a:avLst/>
          </a:prstGeom>
          <a:noFill/>
          <a:ln/>
        </p:spPr>
        <p:txBody>
          <a:bodyPr wrap="square" lIns="0" tIns="0" rIns="0" bIns="0" rtlCol="0" anchor="ctr"/>
          <a:lstStyle/>
          <a:p>
            <a:pPr marL="0" indent="0" algn="l">
              <a:buNone/>
            </a:pPr>
            <a:r>
              <a:rPr lang="en-US" sz="1000" dirty="0">
                <a:solidFill>
                  <a:srgbClr val="4B5563"/>
                </a:solidFill>
                <a:latin typeface="Noto Sans JP" pitchFamily="34" charset="0"/>
                <a:ea typeface="Noto Sans JP" pitchFamily="34" charset="-122"/>
                <a:cs typeface="Noto Sans JP" pitchFamily="34" charset="-120"/>
              </a:rPr>
              <a:t>iPaaSを利用した統合フロー構築</a:t>
            </a:r>
            <a:endParaRPr lang="en-US" sz="1000" dirty="0"/>
          </a:p>
        </p:txBody>
      </p:sp>
      <p:pic>
        <p:nvPicPr>
          <p:cNvPr id="88" name="Image 23" descr="preencoded.png"/>
          <p:cNvPicPr>
            <a:picLocks noChangeAspect="1"/>
          </p:cNvPicPr>
          <p:nvPr/>
        </p:nvPicPr>
        <p:blipFill>
          <a:blip r:embed="rId8"/>
          <a:srcRect l="-4000" r="-4000"/>
          <a:stretch/>
        </p:blipFill>
        <p:spPr>
          <a:xfrm>
            <a:off x="8353044" y="5600700"/>
            <a:ext cx="123444" cy="114300"/>
          </a:xfrm>
          <a:prstGeom prst="rect">
            <a:avLst/>
          </a:prstGeom>
        </p:spPr>
      </p:pic>
      <p:sp>
        <p:nvSpPr>
          <p:cNvPr id="89" name="Text 63"/>
          <p:cNvSpPr txBox="1"/>
          <p:nvPr/>
        </p:nvSpPr>
        <p:spPr>
          <a:xfrm>
            <a:off x="8477402" y="5572354"/>
            <a:ext cx="695858" cy="171907"/>
          </a:xfrm>
          <a:prstGeom prst="rect">
            <a:avLst/>
          </a:prstGeom>
          <a:noFill/>
          <a:ln/>
        </p:spPr>
        <p:txBody>
          <a:bodyPr wrap="square" lIns="0" tIns="0" rIns="0" bIns="0" rtlCol="0" anchor="ctr"/>
          <a:lstStyle/>
          <a:p>
            <a:pPr marL="0" indent="0" algn="l">
              <a:buNone/>
            </a:pPr>
            <a:r>
              <a:rPr lang="en-US" sz="900" b="1" dirty="0">
                <a:solidFill>
                  <a:srgbClr val="9CA3AF"/>
                </a:solidFill>
                <a:latin typeface="Noto Sans JP" pitchFamily="34" charset="0"/>
                <a:ea typeface="Noto Sans JP" pitchFamily="34" charset="-122"/>
                <a:cs typeface="Noto Sans JP" pitchFamily="34" charset="-120"/>
              </a:rPr>
              <a:t>ツール候補</a:t>
            </a:r>
            <a:endParaRPr lang="en-US" sz="900" dirty="0"/>
          </a:p>
        </p:txBody>
      </p:sp>
      <p:sp>
        <p:nvSpPr>
          <p:cNvPr id="90" name="Shape 64"/>
          <p:cNvSpPr/>
          <p:nvPr/>
        </p:nvSpPr>
        <p:spPr>
          <a:xfrm>
            <a:off x="8353044" y="5820156"/>
            <a:ext cx="914400" cy="267005"/>
          </a:xfrm>
          <a:prstGeom prst="roundRect">
            <a:avLst>
              <a:gd name="adj" fmla="val 244618"/>
            </a:avLst>
          </a:prstGeom>
          <a:solidFill>
            <a:srgbClr val="F3F4F6"/>
          </a:solidFill>
          <a:ln w="12700">
            <a:solidFill>
              <a:srgbClr val="E5E7EB"/>
            </a:solidFill>
            <a:prstDash val="solid"/>
          </a:ln>
        </p:spPr>
      </p:sp>
      <p:pic>
        <p:nvPicPr>
          <p:cNvPr id="91" name="Image 24" descr="preencoded.png"/>
          <p:cNvPicPr>
            <a:picLocks noChangeAspect="1"/>
          </p:cNvPicPr>
          <p:nvPr/>
        </p:nvPicPr>
        <p:blipFill>
          <a:blip r:embed="rId9"/>
          <a:srcRect l="-1677" r="-1677"/>
          <a:stretch/>
        </p:blipFill>
        <p:spPr>
          <a:xfrm>
            <a:off x="8458200" y="5900623"/>
            <a:ext cx="95098" cy="105156"/>
          </a:xfrm>
          <a:prstGeom prst="rect">
            <a:avLst/>
          </a:prstGeom>
        </p:spPr>
      </p:pic>
      <p:sp>
        <p:nvSpPr>
          <p:cNvPr id="92" name="Text 65"/>
          <p:cNvSpPr txBox="1"/>
          <p:nvPr/>
        </p:nvSpPr>
        <p:spPr>
          <a:xfrm>
            <a:off x="8553298" y="5867705"/>
            <a:ext cx="695858"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SharePoint</a:t>
            </a:r>
            <a:endParaRPr lang="en-US" sz="900" dirty="0"/>
          </a:p>
        </p:txBody>
      </p:sp>
      <p:sp>
        <p:nvSpPr>
          <p:cNvPr id="93" name="Shape 66"/>
          <p:cNvSpPr/>
          <p:nvPr/>
        </p:nvSpPr>
        <p:spPr>
          <a:xfrm>
            <a:off x="9340596" y="5820156"/>
            <a:ext cx="895198" cy="267005"/>
          </a:xfrm>
          <a:prstGeom prst="roundRect">
            <a:avLst>
              <a:gd name="adj" fmla="val 244618"/>
            </a:avLst>
          </a:prstGeom>
          <a:solidFill>
            <a:srgbClr val="F3F4F6"/>
          </a:solidFill>
          <a:ln w="12700">
            <a:solidFill>
              <a:srgbClr val="E5E7EB"/>
            </a:solidFill>
            <a:prstDash val="solid"/>
          </a:ln>
        </p:spPr>
      </p:sp>
      <p:pic>
        <p:nvPicPr>
          <p:cNvPr id="94" name="Image 25" descr="preencoded.png"/>
          <p:cNvPicPr>
            <a:picLocks noChangeAspect="1"/>
          </p:cNvPicPr>
          <p:nvPr/>
        </p:nvPicPr>
        <p:blipFill>
          <a:blip r:embed="rId9"/>
          <a:srcRect l="-1677" r="-1677"/>
          <a:stretch/>
        </p:blipFill>
        <p:spPr>
          <a:xfrm>
            <a:off x="9445752" y="5900623"/>
            <a:ext cx="95098" cy="105156"/>
          </a:xfrm>
          <a:prstGeom prst="rect">
            <a:avLst/>
          </a:prstGeom>
        </p:spPr>
      </p:pic>
      <p:sp>
        <p:nvSpPr>
          <p:cNvPr id="95" name="Text 67"/>
          <p:cNvSpPr txBox="1"/>
          <p:nvPr/>
        </p:nvSpPr>
        <p:spPr>
          <a:xfrm>
            <a:off x="9540850" y="5867705"/>
            <a:ext cx="676656"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Logic Apps</a:t>
            </a:r>
            <a:endParaRPr lang="en-US" sz="900" dirty="0"/>
          </a:p>
        </p:txBody>
      </p:sp>
      <p:sp>
        <p:nvSpPr>
          <p:cNvPr id="96" name="Shape 68"/>
          <p:cNvSpPr/>
          <p:nvPr/>
        </p:nvSpPr>
        <p:spPr>
          <a:xfrm>
            <a:off x="10307117" y="5820156"/>
            <a:ext cx="657454" cy="267005"/>
          </a:xfrm>
          <a:prstGeom prst="roundRect">
            <a:avLst>
              <a:gd name="adj" fmla="val 244618"/>
            </a:avLst>
          </a:prstGeom>
          <a:solidFill>
            <a:srgbClr val="F3F4F6"/>
          </a:solidFill>
          <a:ln w="12700">
            <a:solidFill>
              <a:srgbClr val="E5E7EB"/>
            </a:solidFill>
            <a:prstDash val="solid"/>
          </a:ln>
        </p:spPr>
      </p:sp>
      <p:pic>
        <p:nvPicPr>
          <p:cNvPr id="97" name="Image 26" descr="preencoded.png"/>
          <p:cNvPicPr>
            <a:picLocks noChangeAspect="1"/>
          </p:cNvPicPr>
          <p:nvPr/>
        </p:nvPicPr>
        <p:blipFill>
          <a:blip r:embed="rId19"/>
          <a:srcRect l="-1677" r="-1677"/>
          <a:stretch/>
        </p:blipFill>
        <p:spPr>
          <a:xfrm>
            <a:off x="10411358" y="5900623"/>
            <a:ext cx="95098" cy="105156"/>
          </a:xfrm>
          <a:prstGeom prst="rect">
            <a:avLst/>
          </a:prstGeom>
        </p:spPr>
      </p:pic>
      <p:sp>
        <p:nvSpPr>
          <p:cNvPr id="98" name="Text 69"/>
          <p:cNvSpPr txBox="1"/>
          <p:nvPr/>
        </p:nvSpPr>
        <p:spPr>
          <a:xfrm>
            <a:off x="10506456" y="5867705"/>
            <a:ext cx="438912"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Zapier</a:t>
            </a:r>
            <a:endParaRPr lang="en-US" sz="900" dirty="0"/>
          </a:p>
        </p:txBody>
      </p:sp>
      <p:sp>
        <p:nvSpPr>
          <p:cNvPr id="99" name="Shape 70"/>
          <p:cNvSpPr/>
          <p:nvPr/>
        </p:nvSpPr>
        <p:spPr>
          <a:xfrm>
            <a:off x="8353044" y="6163056"/>
            <a:ext cx="1324051" cy="267005"/>
          </a:xfrm>
          <a:prstGeom prst="roundRect">
            <a:avLst>
              <a:gd name="adj" fmla="val 244618"/>
            </a:avLst>
          </a:prstGeom>
          <a:solidFill>
            <a:srgbClr val="F3F4F6"/>
          </a:solidFill>
          <a:ln w="12700">
            <a:solidFill>
              <a:srgbClr val="E5E7EB"/>
            </a:solidFill>
            <a:prstDash val="solid"/>
          </a:ln>
        </p:spPr>
      </p:sp>
      <p:pic>
        <p:nvPicPr>
          <p:cNvPr id="100" name="Image 27" descr="preencoded.png"/>
          <p:cNvPicPr>
            <a:picLocks noChangeAspect="1"/>
          </p:cNvPicPr>
          <p:nvPr/>
        </p:nvPicPr>
        <p:blipFill>
          <a:blip r:embed="rId20"/>
          <a:srcRect l="-1677" r="-1677"/>
          <a:stretch/>
        </p:blipFill>
        <p:spPr>
          <a:xfrm>
            <a:off x="8458200" y="6243523"/>
            <a:ext cx="95098" cy="105156"/>
          </a:xfrm>
          <a:prstGeom prst="rect">
            <a:avLst/>
          </a:prstGeom>
        </p:spPr>
      </p:pic>
      <p:sp>
        <p:nvSpPr>
          <p:cNvPr id="101" name="Text 71"/>
          <p:cNvSpPr txBox="1"/>
          <p:nvPr/>
        </p:nvSpPr>
        <p:spPr>
          <a:xfrm>
            <a:off x="8553298" y="6210605"/>
            <a:ext cx="1105510" cy="171907"/>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Custom Connector</a:t>
            </a:r>
            <a:endParaRPr lang="en-US" sz="900" dirty="0"/>
          </a:p>
        </p:txBody>
      </p:sp>
      <p:sp>
        <p:nvSpPr>
          <p:cNvPr id="102" name="Shape 72"/>
          <p:cNvSpPr/>
          <p:nvPr/>
        </p:nvSpPr>
        <p:spPr>
          <a:xfrm>
            <a:off x="1287475" y="1776679"/>
            <a:ext cx="1848002" cy="19202"/>
          </a:xfrm>
          <a:prstGeom prst="rect">
            <a:avLst/>
          </a:prstGeom>
          <a:solidFill>
            <a:srgbClr val="DC2626"/>
          </a:solidFill>
          <a:ln/>
        </p:spPr>
      </p:sp>
      <p:sp>
        <p:nvSpPr>
          <p:cNvPr id="103" name="Shape 73"/>
          <p:cNvSpPr/>
          <p:nvPr/>
        </p:nvSpPr>
        <p:spPr>
          <a:xfrm>
            <a:off x="1927555" y="1662379"/>
            <a:ext cx="571500" cy="200254"/>
          </a:xfrm>
          <a:prstGeom prst="roundRect">
            <a:avLst>
              <a:gd name="adj" fmla="val 217438"/>
            </a:avLst>
          </a:prstGeom>
          <a:solidFill>
            <a:srgbClr val="FFFFFF"/>
          </a:solidFill>
          <a:ln w="12700">
            <a:solidFill>
              <a:srgbClr val="DC2626"/>
            </a:solidFill>
            <a:prstDash val="solid"/>
          </a:ln>
          <a:effectLst>
            <a:outerShdw blurRad="25400" dist="12700" dir="5400000" algn="bl" rotWithShape="0">
              <a:srgbClr val="000000">
                <a:alpha val="5000"/>
              </a:srgbClr>
            </a:outerShdw>
          </a:effectLst>
        </p:spPr>
      </p:sp>
      <p:sp>
        <p:nvSpPr>
          <p:cNvPr id="104" name="Text 74"/>
          <p:cNvSpPr txBox="1"/>
          <p:nvPr/>
        </p:nvSpPr>
        <p:spPr>
          <a:xfrm>
            <a:off x="2013509" y="1690726"/>
            <a:ext cx="476402" cy="133502"/>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API / ETL</a:t>
            </a:r>
            <a:endParaRPr lang="en-US" sz="800" dirty="0"/>
          </a:p>
        </p:txBody>
      </p:sp>
      <p:sp>
        <p:nvSpPr>
          <p:cNvPr id="105" name="Shape 75"/>
          <p:cNvSpPr/>
          <p:nvPr/>
        </p:nvSpPr>
        <p:spPr>
          <a:xfrm>
            <a:off x="754380" y="1557223"/>
            <a:ext cx="457200" cy="457200"/>
          </a:xfrm>
          <a:prstGeom prst="roundRect">
            <a:avLst>
              <a:gd name="adj" fmla="val 33333"/>
            </a:avLst>
          </a:prstGeom>
          <a:solidFill>
            <a:srgbClr val="FFFFFF"/>
          </a:solidFill>
          <a:ln w="25400">
            <a:solidFill>
              <a:srgbClr val="E5E7EB"/>
            </a:solidFill>
            <a:prstDash val="solid"/>
          </a:ln>
          <a:effectLst>
            <a:outerShdw blurRad="38100" dist="25400" dir="5400000" algn="bl" rotWithShape="0">
              <a:srgbClr val="000000">
                <a:alpha val="5000"/>
              </a:srgbClr>
            </a:outerShdw>
          </a:effectLst>
        </p:spPr>
      </p:sp>
      <p:pic>
        <p:nvPicPr>
          <p:cNvPr id="106" name="Image 28" descr="preencoded.png"/>
          <p:cNvPicPr>
            <a:picLocks noChangeAspect="1"/>
          </p:cNvPicPr>
          <p:nvPr/>
        </p:nvPicPr>
        <p:blipFill>
          <a:blip r:embed="rId21"/>
          <a:srcRect l="-1082" r="-1082"/>
          <a:stretch/>
        </p:blipFill>
        <p:spPr>
          <a:xfrm>
            <a:off x="901598" y="1695298"/>
            <a:ext cx="161849" cy="181051"/>
          </a:xfrm>
          <a:prstGeom prst="rect">
            <a:avLst/>
          </a:prstGeom>
        </p:spPr>
      </p:pic>
      <p:sp>
        <p:nvSpPr>
          <p:cNvPr id="107" name="Text 76"/>
          <p:cNvSpPr txBox="1"/>
          <p:nvPr/>
        </p:nvSpPr>
        <p:spPr>
          <a:xfrm>
            <a:off x="814730" y="2075688"/>
            <a:ext cx="419710" cy="143561"/>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業務DB</a:t>
            </a:r>
            <a:endParaRPr lang="en-US" sz="800" dirty="0"/>
          </a:p>
        </p:txBody>
      </p:sp>
      <p:sp>
        <p:nvSpPr>
          <p:cNvPr id="108" name="Shape 77"/>
          <p:cNvSpPr/>
          <p:nvPr/>
        </p:nvSpPr>
        <p:spPr>
          <a:xfrm>
            <a:off x="3207715" y="1557223"/>
            <a:ext cx="457200" cy="457200"/>
          </a:xfrm>
          <a:prstGeom prst="roundRect">
            <a:avLst>
              <a:gd name="adj" fmla="val 33333"/>
            </a:avLst>
          </a:prstGeom>
          <a:solidFill>
            <a:srgbClr val="FEF2F2"/>
          </a:solidFill>
          <a:ln w="25400">
            <a:solidFill>
              <a:srgbClr val="DC2626"/>
            </a:solidFill>
            <a:prstDash val="solid"/>
          </a:ln>
          <a:effectLst>
            <a:outerShdw blurRad="38100" dist="25400" dir="5400000" algn="bl" rotWithShape="0">
              <a:srgbClr val="000000">
                <a:alpha val="5000"/>
              </a:srgbClr>
            </a:outerShdw>
          </a:effectLst>
        </p:spPr>
      </p:sp>
      <p:pic>
        <p:nvPicPr>
          <p:cNvPr id="109" name="Image 29" descr="preencoded.png"/>
          <p:cNvPicPr>
            <a:picLocks noChangeAspect="1"/>
          </p:cNvPicPr>
          <p:nvPr/>
        </p:nvPicPr>
        <p:blipFill>
          <a:blip r:embed="rId22"/>
          <a:srcRect/>
          <a:stretch/>
        </p:blipFill>
        <p:spPr>
          <a:xfrm>
            <a:off x="3345790" y="1695298"/>
            <a:ext cx="181051" cy="181051"/>
          </a:xfrm>
          <a:prstGeom prst="rect">
            <a:avLst/>
          </a:prstGeom>
        </p:spPr>
      </p:pic>
      <p:sp>
        <p:nvSpPr>
          <p:cNvPr id="110" name="Text 78"/>
          <p:cNvSpPr txBox="1"/>
          <p:nvPr/>
        </p:nvSpPr>
        <p:spPr>
          <a:xfrm>
            <a:off x="3289097" y="2075688"/>
            <a:ext cx="372161" cy="143561"/>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AI基盤</a:t>
            </a:r>
            <a:endParaRPr lang="en-US" sz="800" dirty="0"/>
          </a:p>
        </p:txBody>
      </p:sp>
      <p:sp>
        <p:nvSpPr>
          <p:cNvPr id="111" name="Shape 79"/>
          <p:cNvSpPr/>
          <p:nvPr/>
        </p:nvSpPr>
        <p:spPr>
          <a:xfrm>
            <a:off x="5173675" y="1776679"/>
            <a:ext cx="1848002" cy="19202"/>
          </a:xfrm>
          <a:prstGeom prst="rect">
            <a:avLst/>
          </a:prstGeom>
          <a:solidFill>
            <a:srgbClr val="DC2626"/>
          </a:solidFill>
          <a:ln/>
        </p:spPr>
      </p:sp>
      <p:sp>
        <p:nvSpPr>
          <p:cNvPr id="112" name="Shape 80"/>
          <p:cNvSpPr/>
          <p:nvPr/>
        </p:nvSpPr>
        <p:spPr>
          <a:xfrm>
            <a:off x="5825642" y="1662379"/>
            <a:ext cx="543154" cy="200254"/>
          </a:xfrm>
          <a:prstGeom prst="roundRect">
            <a:avLst>
              <a:gd name="adj" fmla="val 217438"/>
            </a:avLst>
          </a:prstGeom>
          <a:solidFill>
            <a:srgbClr val="FFFFFF"/>
          </a:solidFill>
          <a:ln w="12700">
            <a:solidFill>
              <a:srgbClr val="DC2626"/>
            </a:solidFill>
            <a:prstDash val="solid"/>
          </a:ln>
          <a:effectLst>
            <a:outerShdw blurRad="25400" dist="12700" dir="5400000" algn="bl" rotWithShape="0">
              <a:srgbClr val="000000">
                <a:alpha val="5000"/>
              </a:srgbClr>
            </a:outerShdw>
          </a:effectLst>
        </p:spPr>
      </p:sp>
      <p:sp>
        <p:nvSpPr>
          <p:cNvPr id="113" name="Text 81"/>
          <p:cNvSpPr txBox="1"/>
          <p:nvPr/>
        </p:nvSpPr>
        <p:spPr>
          <a:xfrm>
            <a:off x="5911596" y="1690726"/>
            <a:ext cx="448056" cy="133502"/>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Pipeline</a:t>
            </a:r>
            <a:endParaRPr lang="en-US" sz="800" dirty="0"/>
          </a:p>
        </p:txBody>
      </p:sp>
      <p:sp>
        <p:nvSpPr>
          <p:cNvPr id="114" name="Shape 82"/>
          <p:cNvSpPr/>
          <p:nvPr/>
        </p:nvSpPr>
        <p:spPr>
          <a:xfrm>
            <a:off x="4640580" y="1557223"/>
            <a:ext cx="457200" cy="457200"/>
          </a:xfrm>
          <a:prstGeom prst="roundRect">
            <a:avLst>
              <a:gd name="adj" fmla="val 33333"/>
            </a:avLst>
          </a:prstGeom>
          <a:solidFill>
            <a:srgbClr val="FFFFFF"/>
          </a:solidFill>
          <a:ln w="25400">
            <a:solidFill>
              <a:srgbClr val="E5E7EB"/>
            </a:solidFill>
            <a:prstDash val="solid"/>
          </a:ln>
          <a:effectLst>
            <a:outerShdw blurRad="38100" dist="25400" dir="5400000" algn="bl" rotWithShape="0">
              <a:srgbClr val="000000">
                <a:alpha val="5000"/>
              </a:srgbClr>
            </a:outerShdw>
          </a:effectLst>
        </p:spPr>
      </p:sp>
      <p:pic>
        <p:nvPicPr>
          <p:cNvPr id="115" name="Image 30" descr="preencoded.png"/>
          <p:cNvPicPr>
            <a:picLocks noChangeAspect="1"/>
          </p:cNvPicPr>
          <p:nvPr/>
        </p:nvPicPr>
        <p:blipFill>
          <a:blip r:embed="rId23"/>
          <a:srcRect l="-1403" r="-1403"/>
          <a:stretch/>
        </p:blipFill>
        <p:spPr>
          <a:xfrm>
            <a:off x="4764024" y="1695298"/>
            <a:ext cx="209398" cy="181051"/>
          </a:xfrm>
          <a:prstGeom prst="rect">
            <a:avLst/>
          </a:prstGeom>
        </p:spPr>
      </p:pic>
      <p:sp>
        <p:nvSpPr>
          <p:cNvPr id="116" name="Text 83"/>
          <p:cNvSpPr txBox="1"/>
          <p:nvPr/>
        </p:nvSpPr>
        <p:spPr>
          <a:xfrm>
            <a:off x="4677156" y="2075688"/>
            <a:ext cx="467258" cy="143561"/>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Sources</a:t>
            </a:r>
            <a:endParaRPr lang="en-US" sz="800" dirty="0"/>
          </a:p>
        </p:txBody>
      </p:sp>
      <p:sp>
        <p:nvSpPr>
          <p:cNvPr id="117" name="Shape 84"/>
          <p:cNvSpPr/>
          <p:nvPr/>
        </p:nvSpPr>
        <p:spPr>
          <a:xfrm>
            <a:off x="7093915" y="1557223"/>
            <a:ext cx="457200" cy="457200"/>
          </a:xfrm>
          <a:prstGeom prst="roundRect">
            <a:avLst>
              <a:gd name="adj" fmla="val 33333"/>
            </a:avLst>
          </a:prstGeom>
          <a:solidFill>
            <a:srgbClr val="FEF2F2"/>
          </a:solidFill>
          <a:ln w="25400">
            <a:solidFill>
              <a:srgbClr val="DC2626"/>
            </a:solidFill>
            <a:prstDash val="solid"/>
          </a:ln>
          <a:effectLst>
            <a:outerShdw blurRad="38100" dist="25400" dir="5400000" algn="bl" rotWithShape="0">
              <a:srgbClr val="000000">
                <a:alpha val="5000"/>
              </a:srgbClr>
            </a:outerShdw>
          </a:effectLst>
        </p:spPr>
      </p:sp>
      <p:pic>
        <p:nvPicPr>
          <p:cNvPr id="118" name="Image 31" descr="preencoded.png"/>
          <p:cNvPicPr>
            <a:picLocks noChangeAspect="1"/>
          </p:cNvPicPr>
          <p:nvPr/>
        </p:nvPicPr>
        <p:blipFill>
          <a:blip r:embed="rId24"/>
          <a:srcRect l="-505" r="-505"/>
          <a:stretch/>
        </p:blipFill>
        <p:spPr>
          <a:xfrm>
            <a:off x="7208215" y="1695298"/>
            <a:ext cx="228600" cy="181051"/>
          </a:xfrm>
          <a:prstGeom prst="rect">
            <a:avLst/>
          </a:prstGeom>
        </p:spPr>
      </p:pic>
      <p:sp>
        <p:nvSpPr>
          <p:cNvPr id="119" name="Text 85"/>
          <p:cNvSpPr txBox="1"/>
          <p:nvPr/>
        </p:nvSpPr>
        <p:spPr>
          <a:xfrm>
            <a:off x="7205472" y="2075688"/>
            <a:ext cx="314554" cy="143561"/>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DWH</a:t>
            </a:r>
            <a:endParaRPr lang="en-US" sz="800" dirty="0"/>
          </a:p>
        </p:txBody>
      </p:sp>
      <p:sp>
        <p:nvSpPr>
          <p:cNvPr id="120" name="Shape 86"/>
          <p:cNvSpPr/>
          <p:nvPr/>
        </p:nvSpPr>
        <p:spPr>
          <a:xfrm>
            <a:off x="9059875" y="1776679"/>
            <a:ext cx="1848002" cy="19202"/>
          </a:xfrm>
          <a:prstGeom prst="rect">
            <a:avLst/>
          </a:prstGeom>
          <a:solidFill>
            <a:srgbClr val="DC2626"/>
          </a:solidFill>
          <a:ln/>
        </p:spPr>
      </p:sp>
      <p:sp>
        <p:nvSpPr>
          <p:cNvPr id="121" name="Shape 87"/>
          <p:cNvSpPr/>
          <p:nvPr/>
        </p:nvSpPr>
        <p:spPr>
          <a:xfrm>
            <a:off x="9662465" y="1662379"/>
            <a:ext cx="647395" cy="200254"/>
          </a:xfrm>
          <a:prstGeom prst="roundRect">
            <a:avLst>
              <a:gd name="adj" fmla="val 217438"/>
            </a:avLst>
          </a:prstGeom>
          <a:solidFill>
            <a:srgbClr val="FFFFFF"/>
          </a:solidFill>
          <a:ln w="12700">
            <a:solidFill>
              <a:srgbClr val="DC2626"/>
            </a:solidFill>
            <a:prstDash val="solid"/>
          </a:ln>
          <a:effectLst>
            <a:outerShdw blurRad="25400" dist="12700" dir="5400000" algn="bl" rotWithShape="0">
              <a:srgbClr val="000000">
                <a:alpha val="5000"/>
              </a:srgbClr>
            </a:outerShdw>
          </a:effectLst>
        </p:spPr>
      </p:sp>
      <p:sp>
        <p:nvSpPr>
          <p:cNvPr id="122" name="Text 88"/>
          <p:cNvSpPr txBox="1"/>
          <p:nvPr/>
        </p:nvSpPr>
        <p:spPr>
          <a:xfrm>
            <a:off x="9748418" y="1690726"/>
            <a:ext cx="553212" cy="133502"/>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Connector</a:t>
            </a:r>
            <a:endParaRPr lang="en-US" sz="800" dirty="0"/>
          </a:p>
        </p:txBody>
      </p:sp>
      <p:sp>
        <p:nvSpPr>
          <p:cNvPr id="123" name="Shape 89"/>
          <p:cNvSpPr/>
          <p:nvPr/>
        </p:nvSpPr>
        <p:spPr>
          <a:xfrm>
            <a:off x="8526780" y="1557223"/>
            <a:ext cx="457200" cy="457200"/>
          </a:xfrm>
          <a:prstGeom prst="roundRect">
            <a:avLst>
              <a:gd name="adj" fmla="val 33333"/>
            </a:avLst>
          </a:prstGeom>
          <a:solidFill>
            <a:srgbClr val="FFFFFF"/>
          </a:solidFill>
          <a:ln w="25400">
            <a:solidFill>
              <a:srgbClr val="E5E7EB"/>
            </a:solidFill>
            <a:prstDash val="solid"/>
          </a:ln>
          <a:effectLst>
            <a:outerShdw blurRad="38100" dist="25400" dir="5400000" algn="bl" rotWithShape="0">
              <a:srgbClr val="000000">
                <a:alpha val="5000"/>
              </a:srgbClr>
            </a:outerShdw>
          </a:effectLst>
        </p:spPr>
      </p:sp>
      <p:pic>
        <p:nvPicPr>
          <p:cNvPr id="124" name="Image 32" descr="preencoded.png"/>
          <p:cNvPicPr>
            <a:picLocks noChangeAspect="1"/>
          </p:cNvPicPr>
          <p:nvPr/>
        </p:nvPicPr>
        <p:blipFill>
          <a:blip r:embed="rId25"/>
          <a:srcRect l="-505" r="-505"/>
          <a:stretch/>
        </p:blipFill>
        <p:spPr>
          <a:xfrm>
            <a:off x="8641080" y="1695298"/>
            <a:ext cx="228600" cy="181051"/>
          </a:xfrm>
          <a:prstGeom prst="rect">
            <a:avLst/>
          </a:prstGeom>
        </p:spPr>
      </p:pic>
      <p:sp>
        <p:nvSpPr>
          <p:cNvPr id="125" name="Text 90"/>
          <p:cNvSpPr txBox="1"/>
          <p:nvPr/>
        </p:nvSpPr>
        <p:spPr>
          <a:xfrm>
            <a:off x="8527694" y="2075688"/>
            <a:ext cx="534010" cy="143561"/>
          </a:xfrm>
          <a:prstGeom prst="rect">
            <a:avLst/>
          </a:prstGeom>
          <a:noFill/>
          <a:ln/>
        </p:spPr>
        <p:txBody>
          <a:bodyPr wrap="square" lIns="0" tIns="0" rIns="0" bIns="0" rtlCol="0" anchor="ctr"/>
          <a:lstStyle/>
          <a:p>
            <a:pPr marL="0" indent="0" algn="l">
              <a:buNone/>
            </a:pPr>
            <a:r>
              <a:rPr lang="en-US" sz="800" b="1" dirty="0">
                <a:solidFill>
                  <a:srgbClr val="6B7280"/>
                </a:solidFill>
                <a:latin typeface="Noto Sans JP" pitchFamily="34" charset="0"/>
                <a:ea typeface="Noto Sans JP" pitchFamily="34" charset="-122"/>
                <a:cs typeface="Noto Sans JP" pitchFamily="34" charset="-120"/>
              </a:rPr>
              <a:t>SaaS/File</a:t>
            </a:r>
            <a:endParaRPr lang="en-US" sz="800" dirty="0"/>
          </a:p>
        </p:txBody>
      </p:sp>
      <p:sp>
        <p:nvSpPr>
          <p:cNvPr id="126" name="Shape 91"/>
          <p:cNvSpPr/>
          <p:nvPr/>
        </p:nvSpPr>
        <p:spPr>
          <a:xfrm>
            <a:off x="10980115" y="1557223"/>
            <a:ext cx="457200" cy="457200"/>
          </a:xfrm>
          <a:prstGeom prst="roundRect">
            <a:avLst>
              <a:gd name="adj" fmla="val 33333"/>
            </a:avLst>
          </a:prstGeom>
          <a:solidFill>
            <a:srgbClr val="FEF2F2"/>
          </a:solidFill>
          <a:ln w="25400">
            <a:solidFill>
              <a:srgbClr val="DC2626"/>
            </a:solidFill>
            <a:prstDash val="solid"/>
          </a:ln>
          <a:effectLst>
            <a:outerShdw blurRad="38100" dist="25400" dir="5400000" algn="bl" rotWithShape="0">
              <a:srgbClr val="000000">
                <a:alpha val="5000"/>
              </a:srgbClr>
            </a:outerShdw>
          </a:effectLst>
        </p:spPr>
      </p:sp>
      <p:pic>
        <p:nvPicPr>
          <p:cNvPr id="127" name="Image 33" descr="preencoded.png"/>
          <p:cNvPicPr>
            <a:picLocks noChangeAspect="1"/>
          </p:cNvPicPr>
          <p:nvPr/>
        </p:nvPicPr>
        <p:blipFill>
          <a:blip r:embed="rId26"/>
          <a:srcRect/>
          <a:stretch/>
        </p:blipFill>
        <p:spPr>
          <a:xfrm>
            <a:off x="11118190" y="1695298"/>
            <a:ext cx="181051" cy="181051"/>
          </a:xfrm>
          <a:prstGeom prst="rect">
            <a:avLst/>
          </a:prstGeom>
        </p:spPr>
      </p:pic>
      <p:sp>
        <p:nvSpPr>
          <p:cNvPr id="128" name="Text 92"/>
          <p:cNvSpPr txBox="1"/>
          <p:nvPr/>
        </p:nvSpPr>
        <p:spPr>
          <a:xfrm>
            <a:off x="11073384" y="2075688"/>
            <a:ext cx="352958" cy="143561"/>
          </a:xfrm>
          <a:prstGeom prst="rect">
            <a:avLst/>
          </a:prstGeom>
          <a:noFill/>
          <a:ln/>
        </p:spPr>
        <p:txBody>
          <a:bodyPr wrap="square" lIns="0" tIns="0" rIns="0" bIns="0" rtlCol="0" anchor="ctr"/>
          <a:lstStyle/>
          <a:p>
            <a:pPr marL="0" indent="0" algn="l">
              <a:buNone/>
            </a:pPr>
            <a:r>
              <a:rPr lang="en-US" sz="800" b="1" dirty="0">
                <a:solidFill>
                  <a:srgbClr val="DC2626"/>
                </a:solidFill>
                <a:latin typeface="Noto Sans JP" pitchFamily="34" charset="0"/>
                <a:ea typeface="Noto Sans JP" pitchFamily="34" charset="-122"/>
                <a:cs typeface="Noto Sans JP" pitchFamily="34" charset="-120"/>
              </a:rPr>
              <a:t>Index</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p:spPr>
      </p:sp>
      <p:sp>
        <p:nvSpPr>
          <p:cNvPr id="3" name="Shape 1"/>
          <p:cNvSpPr/>
          <p:nvPr/>
        </p:nvSpPr>
        <p:spPr>
          <a:xfrm>
            <a:off x="0" y="0"/>
            <a:ext cx="12191695" cy="6858000"/>
          </a:xfrm>
          <a:prstGeom prst="rect">
            <a:avLst/>
          </a:prstGeom>
          <a:solidFill>
            <a:srgbClr val="FFFFFF"/>
          </a:solidFill>
          <a:ln/>
        </p:spPr>
      </p:sp>
      <p:sp>
        <p:nvSpPr>
          <p:cNvPr id="4" name="Shape 2"/>
          <p:cNvSpPr/>
          <p:nvPr/>
        </p:nvSpPr>
        <p:spPr>
          <a:xfrm>
            <a:off x="381305" y="876910"/>
            <a:ext cx="11430000" cy="9144"/>
          </a:xfrm>
          <a:prstGeom prst="rect">
            <a:avLst/>
          </a:prstGeom>
          <a:solidFill>
            <a:srgbClr val="E5E7EB"/>
          </a:solidFill>
          <a:ln/>
        </p:spPr>
      </p:sp>
      <p:sp>
        <p:nvSpPr>
          <p:cNvPr id="5" name="Shape 3"/>
          <p:cNvSpPr/>
          <p:nvPr/>
        </p:nvSpPr>
        <p:spPr>
          <a:xfrm>
            <a:off x="10388498" y="552298"/>
            <a:ext cx="1429207" cy="247802"/>
          </a:xfrm>
          <a:prstGeom prst="roundRect">
            <a:avLst>
              <a:gd name="adj" fmla="val 369004"/>
            </a:avLst>
          </a:prstGeom>
          <a:solidFill>
            <a:srgbClr val="F3F4F6"/>
          </a:solidFill>
          <a:ln w="12700">
            <a:solidFill>
              <a:srgbClr val="E5E7EB"/>
            </a:solidFill>
            <a:prstDash val="solid"/>
          </a:ln>
        </p:spPr>
      </p:sp>
      <p:pic>
        <p:nvPicPr>
          <p:cNvPr id="6" name="Image 0" descr="preencoded.png"/>
          <p:cNvPicPr>
            <a:picLocks noChangeAspect="1"/>
          </p:cNvPicPr>
          <p:nvPr/>
        </p:nvPicPr>
        <p:blipFill>
          <a:blip r:embed="rId3"/>
          <a:srcRect l="-1911" r="-1911"/>
          <a:stretch/>
        </p:blipFill>
        <p:spPr>
          <a:xfrm>
            <a:off x="10512857" y="619049"/>
            <a:ext cx="133502" cy="114300"/>
          </a:xfrm>
          <a:prstGeom prst="rect">
            <a:avLst/>
          </a:prstGeom>
        </p:spPr>
      </p:pic>
      <p:sp>
        <p:nvSpPr>
          <p:cNvPr id="7" name="Shape 4"/>
          <p:cNvSpPr/>
          <p:nvPr/>
        </p:nvSpPr>
        <p:spPr>
          <a:xfrm>
            <a:off x="381305" y="6729070"/>
            <a:ext cx="11430000" cy="437998"/>
          </a:xfrm>
          <a:prstGeom prst="roundRect">
            <a:avLst>
              <a:gd name="adj" fmla="val 36307"/>
            </a:avLst>
          </a:prstGeom>
          <a:solidFill>
            <a:srgbClr val="F9FAFB"/>
          </a:solidFill>
          <a:ln w="12700">
            <a:solidFill>
              <a:srgbClr val="E5E7EB"/>
            </a:solidFill>
            <a:prstDash val="solid"/>
          </a:ln>
        </p:spPr>
      </p:sp>
      <p:pic>
        <p:nvPicPr>
          <p:cNvPr id="8" name="Image 1" descr="preencoded.png"/>
          <p:cNvPicPr>
            <a:picLocks noChangeAspect="1"/>
          </p:cNvPicPr>
          <p:nvPr/>
        </p:nvPicPr>
        <p:blipFill>
          <a:blip r:embed="rId4"/>
          <a:srcRect/>
          <a:stretch/>
        </p:blipFill>
        <p:spPr>
          <a:xfrm>
            <a:off x="5428793" y="6882689"/>
            <a:ext cx="123444" cy="123444"/>
          </a:xfrm>
          <a:prstGeom prst="rect">
            <a:avLst/>
          </a:prstGeom>
        </p:spPr>
      </p:pic>
      <p:pic>
        <p:nvPicPr>
          <p:cNvPr id="9" name="Image 2" descr="preencoded.png"/>
          <p:cNvPicPr>
            <a:picLocks noChangeAspect="1"/>
          </p:cNvPicPr>
          <p:nvPr/>
        </p:nvPicPr>
        <p:blipFill>
          <a:blip r:embed="rId5"/>
          <a:srcRect/>
          <a:stretch/>
        </p:blipFill>
        <p:spPr>
          <a:xfrm>
            <a:off x="7528255" y="6882689"/>
            <a:ext cx="123444" cy="123444"/>
          </a:xfrm>
          <a:prstGeom prst="rect">
            <a:avLst/>
          </a:prstGeom>
        </p:spPr>
      </p:pic>
      <p:pic>
        <p:nvPicPr>
          <p:cNvPr id="10" name="Image 3" descr="preencoded.png"/>
          <p:cNvPicPr>
            <a:picLocks noChangeAspect="1"/>
          </p:cNvPicPr>
          <p:nvPr/>
        </p:nvPicPr>
        <p:blipFill>
          <a:blip r:embed="rId6"/>
          <a:srcRect l="-1358" r="-1358"/>
          <a:stretch/>
        </p:blipFill>
        <p:spPr>
          <a:xfrm>
            <a:off x="9763963" y="6882689"/>
            <a:ext cx="95098" cy="123444"/>
          </a:xfrm>
          <a:prstGeom prst="rect">
            <a:avLst/>
          </a:prstGeom>
        </p:spPr>
      </p:pic>
      <p:sp>
        <p:nvSpPr>
          <p:cNvPr id="11" name="Text 5"/>
          <p:cNvSpPr txBox="1"/>
          <p:nvPr/>
        </p:nvSpPr>
        <p:spPr>
          <a:xfrm>
            <a:off x="381305" y="190195"/>
            <a:ext cx="5063033" cy="419710"/>
          </a:xfrm>
          <a:prstGeom prst="rect">
            <a:avLst/>
          </a:prstGeom>
          <a:noFill/>
          <a:ln/>
        </p:spPr>
        <p:txBody>
          <a:bodyPr wrap="square" lIns="0" tIns="0" rIns="0" bIns="0" rtlCol="0" anchor="ctr"/>
          <a:lstStyle/>
          <a:p>
            <a:pPr marL="0" indent="0" algn="l">
              <a:buNone/>
            </a:pPr>
            <a:r>
              <a:rPr lang="en-US" sz="2200" b="1" dirty="0">
                <a:solidFill>
                  <a:srgbClr val="1F2937"/>
                </a:solidFill>
                <a:latin typeface="Noto Sans JP" pitchFamily="34" charset="0"/>
                <a:ea typeface="Noto Sans JP" pitchFamily="34" charset="-122"/>
                <a:cs typeface="Noto Sans JP" pitchFamily="34" charset="-120"/>
              </a:rPr>
              <a:t>実装フェーズ別機能（ロードマップ）</a:t>
            </a:r>
            <a:endParaRPr lang="en-US" sz="2200" dirty="0"/>
          </a:p>
        </p:txBody>
      </p:sp>
      <p:sp>
        <p:nvSpPr>
          <p:cNvPr id="12" name="Text 6"/>
          <p:cNvSpPr txBox="1"/>
          <p:nvPr/>
        </p:nvSpPr>
        <p:spPr>
          <a:xfrm>
            <a:off x="381305" y="609905"/>
            <a:ext cx="4872838" cy="191110"/>
          </a:xfrm>
          <a:prstGeom prst="rect">
            <a:avLst/>
          </a:prstGeom>
          <a:noFill/>
          <a:ln/>
        </p:spPr>
        <p:txBody>
          <a:bodyPr wrap="square" lIns="0" tIns="0" rIns="0" bIns="0" rtlCol="0" anchor="ctr"/>
          <a:lstStyle/>
          <a:p>
            <a:pPr marL="0" indent="0" algn="l">
              <a:buNone/>
            </a:pPr>
            <a:r>
              <a:rPr lang="en-US" sz="1000" dirty="0">
                <a:solidFill>
                  <a:srgbClr val="6B7280"/>
                </a:solidFill>
                <a:latin typeface="Noto Sans JP" pitchFamily="34" charset="0"/>
                <a:ea typeface="Noto Sans JP" pitchFamily="34" charset="-122"/>
                <a:cs typeface="Noto Sans JP" pitchFamily="34" charset="-120"/>
              </a:rPr>
              <a:t>「現在技術でのクイックWin」から「体制整備後の高度な活用」への段階的拡張</a:t>
            </a:r>
            <a:endParaRPr lang="en-US" sz="1000" dirty="0"/>
          </a:p>
        </p:txBody>
      </p:sp>
      <p:sp>
        <p:nvSpPr>
          <p:cNvPr id="13" name="Text 7"/>
          <p:cNvSpPr txBox="1"/>
          <p:nvPr/>
        </p:nvSpPr>
        <p:spPr>
          <a:xfrm>
            <a:off x="10722254" y="590702"/>
            <a:ext cx="1057961" cy="162763"/>
          </a:xfrm>
          <a:prstGeom prst="rect">
            <a:avLst/>
          </a:prstGeom>
          <a:noFill/>
          <a:ln/>
        </p:spPr>
        <p:txBody>
          <a:bodyPr wrap="square" lIns="0" tIns="0" rIns="0" bIns="0" rtlCol="0" anchor="ctr"/>
          <a:lstStyle/>
          <a:p>
            <a:pPr marL="0" indent="0" algn="l">
              <a:buNone/>
            </a:pPr>
            <a:r>
              <a:rPr lang="en-US" sz="900" b="1" dirty="0">
                <a:solidFill>
                  <a:srgbClr val="4B5563"/>
                </a:solidFill>
                <a:latin typeface="Noto Sans JP" pitchFamily="34" charset="0"/>
                <a:ea typeface="Noto Sans JP" pitchFamily="34" charset="-122"/>
                <a:cs typeface="Noto Sans JP" pitchFamily="34" charset="-120"/>
              </a:rPr>
              <a:t>Phased Approach</a:t>
            </a:r>
            <a:endParaRPr lang="en-US" sz="900" dirty="0"/>
          </a:p>
        </p:txBody>
      </p:sp>
      <p:sp>
        <p:nvSpPr>
          <p:cNvPr id="14" name="Text 8"/>
          <p:cNvSpPr txBox="1"/>
          <p:nvPr/>
        </p:nvSpPr>
        <p:spPr>
          <a:xfrm>
            <a:off x="580644" y="6858914"/>
            <a:ext cx="819302"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FOCUS KPIS</a:t>
            </a:r>
            <a:endParaRPr lang="en-US" sz="900" dirty="0"/>
          </a:p>
        </p:txBody>
      </p:sp>
      <p:sp>
        <p:nvSpPr>
          <p:cNvPr id="15" name="Text 9"/>
          <p:cNvSpPr txBox="1"/>
          <p:nvPr/>
        </p:nvSpPr>
        <p:spPr>
          <a:xfrm>
            <a:off x="5608930" y="6853428"/>
            <a:ext cx="178765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利用率・アクティブユーザー数</a:t>
            </a:r>
            <a:endParaRPr lang="en-US" sz="900" dirty="0"/>
          </a:p>
        </p:txBody>
      </p:sp>
      <p:sp>
        <p:nvSpPr>
          <p:cNvPr id="16" name="Text 10"/>
          <p:cNvSpPr txBox="1"/>
          <p:nvPr/>
        </p:nvSpPr>
        <p:spPr>
          <a:xfrm>
            <a:off x="7709306" y="6853428"/>
            <a:ext cx="1920240"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業務削減時間・リードタイム短縮</a:t>
            </a:r>
            <a:endParaRPr lang="en-US" sz="900" dirty="0"/>
          </a:p>
        </p:txBody>
      </p:sp>
      <p:sp>
        <p:nvSpPr>
          <p:cNvPr id="17" name="Text 11"/>
          <p:cNvSpPr txBox="1"/>
          <p:nvPr/>
        </p:nvSpPr>
        <p:spPr>
          <a:xfrm>
            <a:off x="9916668" y="6853428"/>
            <a:ext cx="1787652" cy="181051"/>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創出ユースケース数・品質向上</a:t>
            </a:r>
            <a:endParaRPr lang="en-US" sz="900" dirty="0"/>
          </a:p>
        </p:txBody>
      </p:sp>
      <p:sp>
        <p:nvSpPr>
          <p:cNvPr id="18" name="Shape 12"/>
          <p:cNvSpPr/>
          <p:nvPr/>
        </p:nvSpPr>
        <p:spPr>
          <a:xfrm>
            <a:off x="381305" y="1133856"/>
            <a:ext cx="5238598" cy="5447995"/>
          </a:xfrm>
          <a:prstGeom prst="roundRect">
            <a:avLst>
              <a:gd name="adj" fmla="val 381"/>
            </a:avLst>
          </a:prstGeom>
          <a:solidFill>
            <a:srgbClr val="F9FAFB"/>
          </a:solidFill>
          <a:ln w="12700">
            <a:solidFill>
              <a:srgbClr val="E5E7EB"/>
            </a:solidFill>
            <a:prstDash val="solid"/>
          </a:ln>
          <a:effectLst>
            <a:outerShdw blurRad="63500" dist="38100" dir="5400000" algn="bl" rotWithShape="0">
              <a:srgbClr val="000000">
                <a:alpha val="5000"/>
              </a:srgbClr>
            </a:outerShdw>
          </a:effectLst>
        </p:spPr>
      </p:sp>
      <p:sp>
        <p:nvSpPr>
          <p:cNvPr id="19" name="Shape 13"/>
          <p:cNvSpPr/>
          <p:nvPr/>
        </p:nvSpPr>
        <p:spPr>
          <a:xfrm>
            <a:off x="390449" y="1143000"/>
            <a:ext cx="5219395" cy="990295"/>
          </a:xfrm>
          <a:prstGeom prst="rect">
            <a:avLst/>
          </a:prstGeom>
          <a:solidFill>
            <a:srgbClr val="F3F4F6"/>
          </a:solidFill>
          <a:ln/>
        </p:spPr>
      </p:sp>
      <p:sp>
        <p:nvSpPr>
          <p:cNvPr id="20" name="Shape 14"/>
          <p:cNvSpPr/>
          <p:nvPr/>
        </p:nvSpPr>
        <p:spPr>
          <a:xfrm>
            <a:off x="390449" y="2124151"/>
            <a:ext cx="5219395" cy="9144"/>
          </a:xfrm>
          <a:prstGeom prst="rect">
            <a:avLst/>
          </a:prstGeom>
          <a:solidFill>
            <a:srgbClr val="E5E7EB"/>
          </a:solidFill>
          <a:ln/>
        </p:spPr>
      </p:sp>
      <p:sp>
        <p:nvSpPr>
          <p:cNvPr id="21" name="Text 15"/>
          <p:cNvSpPr txBox="1"/>
          <p:nvPr/>
        </p:nvSpPr>
        <p:spPr>
          <a:xfrm>
            <a:off x="580644" y="1295705"/>
            <a:ext cx="1534363"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STEP 1: INTRODUCTION</a:t>
            </a:r>
            <a:endParaRPr lang="en-US" sz="900" dirty="0"/>
          </a:p>
        </p:txBody>
      </p:sp>
      <p:sp>
        <p:nvSpPr>
          <p:cNvPr id="22" name="Text 16"/>
          <p:cNvSpPr txBox="1"/>
          <p:nvPr/>
        </p:nvSpPr>
        <p:spPr>
          <a:xfrm>
            <a:off x="580644" y="1476756"/>
            <a:ext cx="2255825"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クイックWinフェーズ</a:t>
            </a:r>
            <a:endParaRPr lang="en-US" sz="1600" dirty="0"/>
          </a:p>
        </p:txBody>
      </p:sp>
      <p:sp>
        <p:nvSpPr>
          <p:cNvPr id="23" name="Text 17"/>
          <p:cNvSpPr txBox="1"/>
          <p:nvPr/>
        </p:nvSpPr>
        <p:spPr>
          <a:xfrm>
            <a:off x="580644" y="1798625"/>
            <a:ext cx="23820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既存ツールの標準機能活用・個人生産性向上</a:t>
            </a:r>
            <a:endParaRPr lang="en-US" sz="900" dirty="0"/>
          </a:p>
        </p:txBody>
      </p:sp>
      <p:sp>
        <p:nvSpPr>
          <p:cNvPr id="24" name="Shape 18"/>
          <p:cNvSpPr/>
          <p:nvPr/>
        </p:nvSpPr>
        <p:spPr>
          <a:xfrm>
            <a:off x="4420210" y="1295705"/>
            <a:ext cx="1000354" cy="304495"/>
          </a:xfrm>
          <a:prstGeom prst="roundRect">
            <a:avLst>
              <a:gd name="adj" fmla="val 187688"/>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pic>
        <p:nvPicPr>
          <p:cNvPr id="25" name="Image 4" descr="preencoded.png"/>
          <p:cNvPicPr>
            <a:picLocks noChangeAspect="1"/>
          </p:cNvPicPr>
          <p:nvPr/>
        </p:nvPicPr>
        <p:blipFill>
          <a:blip r:embed="rId7"/>
          <a:srcRect/>
          <a:stretch/>
        </p:blipFill>
        <p:spPr>
          <a:xfrm>
            <a:off x="4544568" y="1388974"/>
            <a:ext cx="133502" cy="133502"/>
          </a:xfrm>
          <a:prstGeom prst="rect">
            <a:avLst/>
          </a:prstGeom>
        </p:spPr>
      </p:pic>
      <p:sp>
        <p:nvSpPr>
          <p:cNvPr id="26" name="Text 19"/>
          <p:cNvSpPr txBox="1"/>
          <p:nvPr/>
        </p:nvSpPr>
        <p:spPr>
          <a:xfrm>
            <a:off x="4715561" y="1343254"/>
            <a:ext cx="683971"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0 - 3 ヶ月</a:t>
            </a:r>
            <a:endParaRPr lang="en-US" sz="1000" dirty="0"/>
          </a:p>
        </p:txBody>
      </p:sp>
      <p:sp>
        <p:nvSpPr>
          <p:cNvPr id="27" name="Shape 20"/>
          <p:cNvSpPr/>
          <p:nvPr/>
        </p:nvSpPr>
        <p:spPr>
          <a:xfrm>
            <a:off x="580644" y="2285086"/>
            <a:ext cx="4839005" cy="514807"/>
          </a:xfrm>
          <a:prstGeom prst="roundRect">
            <a:avLst>
              <a:gd name="adj" fmla="val 26314"/>
            </a:avLst>
          </a:prstGeom>
          <a:solidFill>
            <a:srgbClr val="FFFFFF"/>
          </a:solidFill>
          <a:ln w="12700">
            <a:solidFill>
              <a:srgbClr val="E5E7EB"/>
            </a:solidFill>
            <a:prstDash val="solid"/>
          </a:ln>
        </p:spPr>
      </p:sp>
      <p:sp>
        <p:nvSpPr>
          <p:cNvPr id="28" name="Shape 21"/>
          <p:cNvSpPr/>
          <p:nvPr/>
        </p:nvSpPr>
        <p:spPr>
          <a:xfrm>
            <a:off x="705002" y="2424989"/>
            <a:ext cx="228600" cy="228600"/>
          </a:xfrm>
          <a:prstGeom prst="ellipse">
            <a:avLst/>
          </a:prstGeom>
          <a:solidFill>
            <a:srgbClr val="6B7280"/>
          </a:solidFill>
          <a:ln/>
        </p:spPr>
      </p:sp>
      <p:sp>
        <p:nvSpPr>
          <p:cNvPr id="29" name="Text 22"/>
          <p:cNvSpPr txBox="1"/>
          <p:nvPr/>
        </p:nvSpPr>
        <p:spPr>
          <a:xfrm>
            <a:off x="782726" y="2453335"/>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A</a:t>
            </a:r>
            <a:endParaRPr lang="en-US" sz="900" dirty="0"/>
          </a:p>
        </p:txBody>
      </p:sp>
      <p:sp>
        <p:nvSpPr>
          <p:cNvPr id="30" name="Text 23"/>
          <p:cNvSpPr txBox="1"/>
          <p:nvPr/>
        </p:nvSpPr>
        <p:spPr>
          <a:xfrm>
            <a:off x="1047902" y="2351837"/>
            <a:ext cx="1678838"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Teams会議・Outlook取得</a:t>
            </a:r>
            <a:endParaRPr lang="en-US" sz="1000" dirty="0"/>
          </a:p>
        </p:txBody>
      </p:sp>
      <p:sp>
        <p:nvSpPr>
          <p:cNvPr id="31" name="Text 24"/>
          <p:cNvSpPr txBox="1"/>
          <p:nvPr/>
        </p:nvSpPr>
        <p:spPr>
          <a:xfrm>
            <a:off x="1047902" y="2520086"/>
            <a:ext cx="1392631"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標準機能での情報収集</a:t>
            </a:r>
            <a:endParaRPr lang="en-US" sz="1000" dirty="0"/>
          </a:p>
        </p:txBody>
      </p:sp>
      <p:sp>
        <p:nvSpPr>
          <p:cNvPr id="32" name="Shape 25"/>
          <p:cNvSpPr/>
          <p:nvPr/>
        </p:nvSpPr>
        <p:spPr>
          <a:xfrm>
            <a:off x="580644" y="2888590"/>
            <a:ext cx="4839005" cy="514807"/>
          </a:xfrm>
          <a:prstGeom prst="roundRect">
            <a:avLst>
              <a:gd name="adj" fmla="val 26314"/>
            </a:avLst>
          </a:prstGeom>
          <a:solidFill>
            <a:srgbClr val="FFFFFF"/>
          </a:solidFill>
          <a:ln w="12700">
            <a:solidFill>
              <a:srgbClr val="E5E7EB"/>
            </a:solidFill>
            <a:prstDash val="solid"/>
          </a:ln>
        </p:spPr>
      </p:sp>
      <p:sp>
        <p:nvSpPr>
          <p:cNvPr id="33" name="Shape 26"/>
          <p:cNvSpPr/>
          <p:nvPr/>
        </p:nvSpPr>
        <p:spPr>
          <a:xfrm>
            <a:off x="705002" y="3028493"/>
            <a:ext cx="228600" cy="228600"/>
          </a:xfrm>
          <a:prstGeom prst="ellipse">
            <a:avLst/>
          </a:prstGeom>
          <a:solidFill>
            <a:srgbClr val="6B7280"/>
          </a:solidFill>
          <a:ln/>
        </p:spPr>
      </p:sp>
      <p:sp>
        <p:nvSpPr>
          <p:cNvPr id="34" name="Text 27"/>
          <p:cNvSpPr txBox="1"/>
          <p:nvPr/>
        </p:nvSpPr>
        <p:spPr>
          <a:xfrm>
            <a:off x="779983" y="3056839"/>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B</a:t>
            </a:r>
            <a:endParaRPr lang="en-US" sz="900" dirty="0"/>
          </a:p>
        </p:txBody>
      </p:sp>
      <p:sp>
        <p:nvSpPr>
          <p:cNvPr id="35" name="Text 28"/>
          <p:cNvSpPr txBox="1"/>
          <p:nvPr/>
        </p:nvSpPr>
        <p:spPr>
          <a:xfrm>
            <a:off x="1047902" y="2955341"/>
            <a:ext cx="1068934"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SharePoint保存</a:t>
            </a:r>
            <a:endParaRPr lang="en-US" sz="1000" dirty="0"/>
          </a:p>
        </p:txBody>
      </p:sp>
      <p:sp>
        <p:nvSpPr>
          <p:cNvPr id="36" name="Text 29"/>
          <p:cNvSpPr txBox="1"/>
          <p:nvPr/>
        </p:nvSpPr>
        <p:spPr>
          <a:xfrm>
            <a:off x="1047902" y="3123590"/>
            <a:ext cx="1907438"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ファイルベースのナレッジ蓄積</a:t>
            </a:r>
            <a:endParaRPr lang="en-US" sz="1000" dirty="0"/>
          </a:p>
        </p:txBody>
      </p:sp>
      <p:sp>
        <p:nvSpPr>
          <p:cNvPr id="37" name="Shape 30"/>
          <p:cNvSpPr/>
          <p:nvPr/>
        </p:nvSpPr>
        <p:spPr>
          <a:xfrm>
            <a:off x="580644" y="3492094"/>
            <a:ext cx="4839005" cy="514807"/>
          </a:xfrm>
          <a:prstGeom prst="roundRect">
            <a:avLst>
              <a:gd name="adj" fmla="val 26314"/>
            </a:avLst>
          </a:prstGeom>
          <a:solidFill>
            <a:srgbClr val="FFFFFF"/>
          </a:solidFill>
          <a:ln w="12700">
            <a:solidFill>
              <a:srgbClr val="E5E7EB"/>
            </a:solidFill>
            <a:prstDash val="solid"/>
          </a:ln>
        </p:spPr>
      </p:sp>
      <p:sp>
        <p:nvSpPr>
          <p:cNvPr id="38" name="Shape 31"/>
          <p:cNvSpPr/>
          <p:nvPr/>
        </p:nvSpPr>
        <p:spPr>
          <a:xfrm>
            <a:off x="705002" y="3631997"/>
            <a:ext cx="228600" cy="228600"/>
          </a:xfrm>
          <a:prstGeom prst="ellipse">
            <a:avLst/>
          </a:prstGeom>
          <a:solidFill>
            <a:srgbClr val="6B7280"/>
          </a:solidFill>
          <a:ln/>
        </p:spPr>
      </p:sp>
      <p:sp>
        <p:nvSpPr>
          <p:cNvPr id="39" name="Text 32"/>
          <p:cNvSpPr txBox="1"/>
          <p:nvPr/>
        </p:nvSpPr>
        <p:spPr>
          <a:xfrm>
            <a:off x="781812" y="366034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C</a:t>
            </a:r>
            <a:endParaRPr lang="en-US" sz="900" dirty="0"/>
          </a:p>
        </p:txBody>
      </p:sp>
      <p:sp>
        <p:nvSpPr>
          <p:cNvPr id="40" name="Text 33"/>
          <p:cNvSpPr txBox="1"/>
          <p:nvPr/>
        </p:nvSpPr>
        <p:spPr>
          <a:xfrm>
            <a:off x="1047902" y="3558845"/>
            <a:ext cx="1573682"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Copilot 横断検索 (Basic)</a:t>
            </a:r>
            <a:endParaRPr lang="en-US" sz="1000" dirty="0"/>
          </a:p>
        </p:txBody>
      </p:sp>
      <p:sp>
        <p:nvSpPr>
          <p:cNvPr id="41" name="Text 34"/>
          <p:cNvSpPr txBox="1"/>
          <p:nvPr/>
        </p:nvSpPr>
        <p:spPr>
          <a:xfrm>
            <a:off x="1047902" y="3727094"/>
            <a:ext cx="1974190"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キーワードベースのM365内検索</a:t>
            </a:r>
            <a:endParaRPr lang="en-US" sz="1000" dirty="0"/>
          </a:p>
        </p:txBody>
      </p:sp>
      <p:sp>
        <p:nvSpPr>
          <p:cNvPr id="42" name="Shape 35"/>
          <p:cNvSpPr/>
          <p:nvPr/>
        </p:nvSpPr>
        <p:spPr>
          <a:xfrm>
            <a:off x="580644" y="4095598"/>
            <a:ext cx="4839005" cy="514807"/>
          </a:xfrm>
          <a:prstGeom prst="roundRect">
            <a:avLst>
              <a:gd name="adj" fmla="val 26314"/>
            </a:avLst>
          </a:prstGeom>
          <a:solidFill>
            <a:srgbClr val="FFFFFF"/>
          </a:solidFill>
          <a:ln w="12700">
            <a:solidFill>
              <a:srgbClr val="E5E7EB"/>
            </a:solidFill>
            <a:prstDash val="solid"/>
          </a:ln>
        </p:spPr>
      </p:sp>
      <p:sp>
        <p:nvSpPr>
          <p:cNvPr id="43" name="Shape 36"/>
          <p:cNvSpPr/>
          <p:nvPr/>
        </p:nvSpPr>
        <p:spPr>
          <a:xfrm>
            <a:off x="705002" y="4235501"/>
            <a:ext cx="228600" cy="228600"/>
          </a:xfrm>
          <a:prstGeom prst="ellipse">
            <a:avLst/>
          </a:prstGeom>
          <a:solidFill>
            <a:srgbClr val="6B7280"/>
          </a:solidFill>
          <a:ln/>
        </p:spPr>
      </p:sp>
      <p:sp>
        <p:nvSpPr>
          <p:cNvPr id="44" name="Text 37"/>
          <p:cNvSpPr txBox="1"/>
          <p:nvPr/>
        </p:nvSpPr>
        <p:spPr>
          <a:xfrm>
            <a:off x="778154" y="4263847"/>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D</a:t>
            </a:r>
            <a:endParaRPr lang="en-US" sz="900" dirty="0"/>
          </a:p>
        </p:txBody>
      </p:sp>
      <p:sp>
        <p:nvSpPr>
          <p:cNvPr id="45" name="Text 38"/>
          <p:cNvSpPr txBox="1"/>
          <p:nvPr/>
        </p:nvSpPr>
        <p:spPr>
          <a:xfrm>
            <a:off x="1047902" y="4162349"/>
            <a:ext cx="1478585"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M365 Copilot 標準機能</a:t>
            </a:r>
            <a:endParaRPr lang="en-US" sz="1000" dirty="0"/>
          </a:p>
        </p:txBody>
      </p:sp>
      <p:sp>
        <p:nvSpPr>
          <p:cNvPr id="46" name="Text 39"/>
          <p:cNvSpPr txBox="1"/>
          <p:nvPr/>
        </p:nvSpPr>
        <p:spPr>
          <a:xfrm>
            <a:off x="1047902" y="4330598"/>
            <a:ext cx="2040941"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ドラフト作成・要約・メール支援</a:t>
            </a:r>
            <a:endParaRPr lang="en-US" sz="1000" dirty="0"/>
          </a:p>
        </p:txBody>
      </p:sp>
      <p:sp>
        <p:nvSpPr>
          <p:cNvPr id="47" name="Shape 40"/>
          <p:cNvSpPr/>
          <p:nvPr/>
        </p:nvSpPr>
        <p:spPr>
          <a:xfrm>
            <a:off x="580644" y="4699102"/>
            <a:ext cx="4839005" cy="514807"/>
          </a:xfrm>
          <a:prstGeom prst="roundRect">
            <a:avLst>
              <a:gd name="adj" fmla="val 26314"/>
            </a:avLst>
          </a:prstGeom>
          <a:solidFill>
            <a:srgbClr val="FFFFFF"/>
          </a:solidFill>
          <a:ln w="12700">
            <a:solidFill>
              <a:srgbClr val="E5E7EB"/>
            </a:solidFill>
            <a:prstDash val="solid"/>
          </a:ln>
        </p:spPr>
      </p:sp>
      <p:sp>
        <p:nvSpPr>
          <p:cNvPr id="48" name="Shape 41"/>
          <p:cNvSpPr/>
          <p:nvPr/>
        </p:nvSpPr>
        <p:spPr>
          <a:xfrm>
            <a:off x="705002" y="4839005"/>
            <a:ext cx="228600" cy="228600"/>
          </a:xfrm>
          <a:prstGeom prst="ellipse">
            <a:avLst/>
          </a:prstGeom>
          <a:solidFill>
            <a:srgbClr val="6B7280"/>
          </a:solidFill>
          <a:ln/>
        </p:spPr>
      </p:sp>
      <p:sp>
        <p:nvSpPr>
          <p:cNvPr id="49" name="Text 42"/>
          <p:cNvSpPr txBox="1"/>
          <p:nvPr/>
        </p:nvSpPr>
        <p:spPr>
          <a:xfrm>
            <a:off x="783641" y="4868266"/>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E</a:t>
            </a:r>
            <a:endParaRPr lang="en-US" sz="900" dirty="0"/>
          </a:p>
        </p:txBody>
      </p:sp>
      <p:sp>
        <p:nvSpPr>
          <p:cNvPr id="50" name="Text 43"/>
          <p:cNvSpPr txBox="1"/>
          <p:nvPr/>
        </p:nvSpPr>
        <p:spPr>
          <a:xfrm>
            <a:off x="1047902" y="4765853"/>
            <a:ext cx="1745590"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Planner / 基本ワークフロー</a:t>
            </a:r>
            <a:endParaRPr lang="en-US" sz="1000" dirty="0"/>
          </a:p>
        </p:txBody>
      </p:sp>
      <p:sp>
        <p:nvSpPr>
          <p:cNvPr id="51" name="Text 44"/>
          <p:cNvSpPr txBox="1"/>
          <p:nvPr/>
        </p:nvSpPr>
        <p:spPr>
          <a:xfrm>
            <a:off x="1047902" y="4934102"/>
            <a:ext cx="1916582"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単純な承認フロー・タスク管理</a:t>
            </a:r>
            <a:endParaRPr lang="en-US" sz="1000" dirty="0"/>
          </a:p>
        </p:txBody>
      </p:sp>
      <p:sp>
        <p:nvSpPr>
          <p:cNvPr id="52" name="Shape 45"/>
          <p:cNvSpPr/>
          <p:nvPr/>
        </p:nvSpPr>
        <p:spPr>
          <a:xfrm>
            <a:off x="580644" y="5302606"/>
            <a:ext cx="4839005" cy="514807"/>
          </a:xfrm>
          <a:prstGeom prst="roundRect">
            <a:avLst>
              <a:gd name="adj" fmla="val 26314"/>
            </a:avLst>
          </a:prstGeom>
          <a:solidFill>
            <a:srgbClr val="FFFFFF"/>
          </a:solidFill>
          <a:ln w="12700">
            <a:solidFill>
              <a:srgbClr val="E5E7EB"/>
            </a:solidFill>
            <a:prstDash val="solid"/>
          </a:ln>
        </p:spPr>
      </p:sp>
      <p:sp>
        <p:nvSpPr>
          <p:cNvPr id="53" name="Shape 46"/>
          <p:cNvSpPr/>
          <p:nvPr/>
        </p:nvSpPr>
        <p:spPr>
          <a:xfrm>
            <a:off x="705002" y="5442509"/>
            <a:ext cx="228600" cy="228600"/>
          </a:xfrm>
          <a:prstGeom prst="ellipse">
            <a:avLst/>
          </a:prstGeom>
          <a:solidFill>
            <a:srgbClr val="6B7280"/>
          </a:solidFill>
          <a:ln/>
        </p:spPr>
      </p:sp>
      <p:sp>
        <p:nvSpPr>
          <p:cNvPr id="54" name="Text 47"/>
          <p:cNvSpPr txBox="1"/>
          <p:nvPr/>
        </p:nvSpPr>
        <p:spPr>
          <a:xfrm>
            <a:off x="785470" y="5471770"/>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F</a:t>
            </a:r>
            <a:endParaRPr lang="en-US" sz="900" dirty="0"/>
          </a:p>
        </p:txBody>
      </p:sp>
      <p:sp>
        <p:nvSpPr>
          <p:cNvPr id="55" name="Text 48"/>
          <p:cNvSpPr txBox="1"/>
          <p:nvPr/>
        </p:nvSpPr>
        <p:spPr>
          <a:xfrm>
            <a:off x="1047902" y="5369357"/>
            <a:ext cx="1288390"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Copilot Dashboard</a:t>
            </a:r>
            <a:endParaRPr lang="en-US" sz="1000" dirty="0"/>
          </a:p>
        </p:txBody>
      </p:sp>
      <p:sp>
        <p:nvSpPr>
          <p:cNvPr id="56" name="Text 49"/>
          <p:cNvSpPr txBox="1"/>
          <p:nvPr/>
        </p:nvSpPr>
        <p:spPr>
          <a:xfrm>
            <a:off x="1047902" y="5538521"/>
            <a:ext cx="1726387"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ライセンス利用率・基本KPI</a:t>
            </a:r>
            <a:endParaRPr lang="en-US" sz="1000" dirty="0"/>
          </a:p>
        </p:txBody>
      </p:sp>
      <p:sp>
        <p:nvSpPr>
          <p:cNvPr id="57" name="Shape 50"/>
          <p:cNvSpPr/>
          <p:nvPr/>
        </p:nvSpPr>
        <p:spPr>
          <a:xfrm>
            <a:off x="580644" y="5907024"/>
            <a:ext cx="4839005" cy="514807"/>
          </a:xfrm>
          <a:prstGeom prst="roundRect">
            <a:avLst>
              <a:gd name="adj" fmla="val 26314"/>
            </a:avLst>
          </a:prstGeom>
          <a:solidFill>
            <a:srgbClr val="FFFFFF"/>
          </a:solidFill>
          <a:ln w="12700">
            <a:solidFill>
              <a:srgbClr val="E5E7EB"/>
            </a:solidFill>
            <a:prstDash val="solid"/>
          </a:ln>
        </p:spPr>
      </p:sp>
      <p:sp>
        <p:nvSpPr>
          <p:cNvPr id="58" name="Shape 51"/>
          <p:cNvSpPr/>
          <p:nvPr/>
        </p:nvSpPr>
        <p:spPr>
          <a:xfrm>
            <a:off x="705002" y="6046927"/>
            <a:ext cx="228600" cy="228600"/>
          </a:xfrm>
          <a:prstGeom prst="ellipse">
            <a:avLst/>
          </a:prstGeom>
          <a:solidFill>
            <a:srgbClr val="6B7280"/>
          </a:solidFill>
          <a:ln/>
        </p:spPr>
      </p:sp>
      <p:sp>
        <p:nvSpPr>
          <p:cNvPr id="59" name="Text 52"/>
          <p:cNvSpPr txBox="1"/>
          <p:nvPr/>
        </p:nvSpPr>
        <p:spPr>
          <a:xfrm>
            <a:off x="778154" y="6075274"/>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G</a:t>
            </a:r>
            <a:endParaRPr lang="en-US" sz="900" dirty="0"/>
          </a:p>
        </p:txBody>
      </p:sp>
      <p:sp>
        <p:nvSpPr>
          <p:cNvPr id="60" name="Text 53"/>
          <p:cNvSpPr txBox="1"/>
          <p:nvPr/>
        </p:nvSpPr>
        <p:spPr>
          <a:xfrm>
            <a:off x="1047902" y="5973775"/>
            <a:ext cx="1497787"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M365 基本セキュリティ</a:t>
            </a:r>
            <a:endParaRPr lang="en-US" sz="1000" dirty="0"/>
          </a:p>
        </p:txBody>
      </p:sp>
      <p:sp>
        <p:nvSpPr>
          <p:cNvPr id="61" name="Text 54"/>
          <p:cNvSpPr txBox="1"/>
          <p:nvPr/>
        </p:nvSpPr>
        <p:spPr>
          <a:xfrm>
            <a:off x="1047902" y="6142025"/>
            <a:ext cx="1764792"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標準DLP・アクセス権限管理</a:t>
            </a:r>
            <a:endParaRPr lang="en-US" sz="1000" dirty="0"/>
          </a:p>
        </p:txBody>
      </p:sp>
      <p:pic>
        <p:nvPicPr>
          <p:cNvPr id="62" name="Image 5" descr="preencoded.png"/>
          <p:cNvPicPr>
            <a:picLocks noChangeAspect="1"/>
          </p:cNvPicPr>
          <p:nvPr/>
        </p:nvPicPr>
        <p:blipFill>
          <a:blip r:embed="rId8"/>
          <a:srcRect t="-30" b="-30"/>
          <a:stretch/>
        </p:blipFill>
        <p:spPr>
          <a:xfrm>
            <a:off x="6001207" y="3546958"/>
            <a:ext cx="190195" cy="304495"/>
          </a:xfrm>
          <a:prstGeom prst="rect">
            <a:avLst/>
          </a:prstGeom>
        </p:spPr>
      </p:pic>
      <p:sp>
        <p:nvSpPr>
          <p:cNvPr id="63" name="Shape 55"/>
          <p:cNvSpPr/>
          <p:nvPr/>
        </p:nvSpPr>
        <p:spPr>
          <a:xfrm>
            <a:off x="6086246" y="3569818"/>
            <a:ext cx="19202" cy="571500"/>
          </a:xfrm>
          <a:prstGeom prst="rect">
            <a:avLst/>
          </a:prstGeom>
          <a:solidFill>
            <a:srgbClr val="D1D5DB"/>
          </a:solidFill>
          <a:ln/>
        </p:spPr>
      </p:sp>
      <p:sp>
        <p:nvSpPr>
          <p:cNvPr id="64" name="Shape 56"/>
          <p:cNvSpPr/>
          <p:nvPr/>
        </p:nvSpPr>
        <p:spPr>
          <a:xfrm>
            <a:off x="6572707" y="1133856"/>
            <a:ext cx="5238598" cy="5447995"/>
          </a:xfrm>
          <a:prstGeom prst="roundRect">
            <a:avLst>
              <a:gd name="adj" fmla="val 381"/>
            </a:avLst>
          </a:prstGeom>
          <a:solidFill>
            <a:srgbClr val="F9FAFB"/>
          </a:solidFill>
          <a:ln w="12700">
            <a:solidFill>
              <a:srgbClr val="E5E7EB"/>
            </a:solidFill>
            <a:prstDash val="solid"/>
          </a:ln>
          <a:effectLst>
            <a:outerShdw blurRad="63500" dist="38100" dir="5400000" algn="bl" rotWithShape="0">
              <a:srgbClr val="000000">
                <a:alpha val="5000"/>
              </a:srgbClr>
            </a:outerShdw>
          </a:effectLst>
        </p:spPr>
      </p:sp>
      <p:sp>
        <p:nvSpPr>
          <p:cNvPr id="65" name="Shape 57"/>
          <p:cNvSpPr/>
          <p:nvPr/>
        </p:nvSpPr>
        <p:spPr>
          <a:xfrm>
            <a:off x="6581851" y="1143000"/>
            <a:ext cx="5219395" cy="990295"/>
          </a:xfrm>
          <a:prstGeom prst="rect">
            <a:avLst/>
          </a:prstGeom>
          <a:solidFill>
            <a:srgbClr val="F3F4F6"/>
          </a:solidFill>
          <a:ln/>
        </p:spPr>
      </p:sp>
      <p:sp>
        <p:nvSpPr>
          <p:cNvPr id="66" name="Shape 58"/>
          <p:cNvSpPr/>
          <p:nvPr/>
        </p:nvSpPr>
        <p:spPr>
          <a:xfrm>
            <a:off x="6581851" y="2124151"/>
            <a:ext cx="5219395" cy="9144"/>
          </a:xfrm>
          <a:prstGeom prst="rect">
            <a:avLst/>
          </a:prstGeom>
          <a:solidFill>
            <a:srgbClr val="E5E7EB"/>
          </a:solidFill>
          <a:ln/>
        </p:spPr>
      </p:sp>
      <p:sp>
        <p:nvSpPr>
          <p:cNvPr id="67" name="Text 59"/>
          <p:cNvSpPr txBox="1"/>
          <p:nvPr/>
        </p:nvSpPr>
        <p:spPr>
          <a:xfrm>
            <a:off x="6772046" y="1295705"/>
            <a:ext cx="1286561" cy="162763"/>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STEP 2: EXPANSION</a:t>
            </a:r>
            <a:endParaRPr lang="en-US" sz="900" dirty="0"/>
          </a:p>
        </p:txBody>
      </p:sp>
      <p:sp>
        <p:nvSpPr>
          <p:cNvPr id="68" name="Text 60"/>
          <p:cNvSpPr txBox="1"/>
          <p:nvPr/>
        </p:nvSpPr>
        <p:spPr>
          <a:xfrm>
            <a:off x="6772046" y="1476756"/>
            <a:ext cx="2074774" cy="30541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体制整備後フェーズ</a:t>
            </a:r>
            <a:endParaRPr lang="en-US" sz="1600" dirty="0"/>
          </a:p>
        </p:txBody>
      </p:sp>
      <p:sp>
        <p:nvSpPr>
          <p:cNvPr id="69" name="Text 61"/>
          <p:cNvSpPr txBox="1"/>
          <p:nvPr/>
        </p:nvSpPr>
        <p:spPr>
          <a:xfrm>
            <a:off x="6772046" y="1798625"/>
            <a:ext cx="2724912" cy="162763"/>
          </a:xfrm>
          <a:prstGeom prst="rect">
            <a:avLst/>
          </a:prstGeom>
          <a:noFill/>
          <a:ln/>
        </p:spPr>
        <p:txBody>
          <a:bodyPr wrap="square" lIns="0" tIns="0" rIns="0" bIns="0" rtlCol="0" anchor="ctr"/>
          <a:lstStyle/>
          <a:p>
            <a:pPr marL="0" indent="0" algn="l">
              <a:buNone/>
            </a:pPr>
            <a:r>
              <a:rPr lang="en-US" sz="900" dirty="0">
                <a:solidFill>
                  <a:srgbClr val="4B5563"/>
                </a:solidFill>
                <a:latin typeface="Noto Sans JP" pitchFamily="34" charset="0"/>
                <a:ea typeface="Noto Sans JP" pitchFamily="34" charset="-122"/>
                <a:cs typeface="Noto Sans JP" pitchFamily="34" charset="-120"/>
              </a:rPr>
              <a:t>カスタム開発・全社データ統合・組織プロセス変革</a:t>
            </a:r>
            <a:endParaRPr lang="en-US" sz="900" dirty="0"/>
          </a:p>
        </p:txBody>
      </p:sp>
      <p:sp>
        <p:nvSpPr>
          <p:cNvPr id="70" name="Shape 62"/>
          <p:cNvSpPr/>
          <p:nvPr/>
        </p:nvSpPr>
        <p:spPr>
          <a:xfrm>
            <a:off x="10256825" y="1295705"/>
            <a:ext cx="1362456" cy="304495"/>
          </a:xfrm>
          <a:prstGeom prst="roundRect">
            <a:avLst>
              <a:gd name="adj" fmla="val 187688"/>
            </a:avLst>
          </a:prstGeom>
          <a:solidFill>
            <a:srgbClr val="FFFFFF"/>
          </a:solidFill>
          <a:ln w="12700">
            <a:solidFill>
              <a:srgbClr val="E5E7EB"/>
            </a:solidFill>
            <a:prstDash val="solid"/>
          </a:ln>
          <a:effectLst>
            <a:outerShdw blurRad="25400" dist="12700" dir="5400000" algn="bl" rotWithShape="0">
              <a:srgbClr val="000000">
                <a:alpha val="5000"/>
              </a:srgbClr>
            </a:outerShdw>
          </a:effectLst>
        </p:spPr>
      </p:sp>
      <p:pic>
        <p:nvPicPr>
          <p:cNvPr id="71" name="Image 6" descr="preencoded.png"/>
          <p:cNvPicPr>
            <a:picLocks noChangeAspect="1"/>
          </p:cNvPicPr>
          <p:nvPr/>
        </p:nvPicPr>
        <p:blipFill>
          <a:blip r:embed="rId7"/>
          <a:srcRect/>
          <a:stretch/>
        </p:blipFill>
        <p:spPr>
          <a:xfrm>
            <a:off x="10380269" y="1388974"/>
            <a:ext cx="133502" cy="133502"/>
          </a:xfrm>
          <a:prstGeom prst="rect">
            <a:avLst/>
          </a:prstGeom>
        </p:spPr>
      </p:pic>
      <p:sp>
        <p:nvSpPr>
          <p:cNvPr id="72" name="Text 63"/>
          <p:cNvSpPr txBox="1"/>
          <p:nvPr/>
        </p:nvSpPr>
        <p:spPr>
          <a:xfrm>
            <a:off x="10552176" y="1343254"/>
            <a:ext cx="1046074" cy="200254"/>
          </a:xfrm>
          <a:prstGeom prst="rect">
            <a:avLst/>
          </a:prstGeom>
          <a:noFill/>
          <a:ln/>
        </p:spPr>
        <p:txBody>
          <a:bodyPr wrap="square" lIns="0" tIns="0" rIns="0" bIns="0" rtlCol="0" anchor="ctr"/>
          <a:lstStyle/>
          <a:p>
            <a:pPr marL="0" indent="0" algn="l">
              <a:buNone/>
            </a:pPr>
            <a:r>
              <a:rPr lang="en-US" sz="1000" b="1" dirty="0">
                <a:solidFill>
                  <a:srgbClr val="DC2626"/>
                </a:solidFill>
                <a:latin typeface="Noto Sans JP" pitchFamily="34" charset="0"/>
                <a:ea typeface="Noto Sans JP" pitchFamily="34" charset="-122"/>
                <a:cs typeface="Noto Sans JP" pitchFamily="34" charset="-120"/>
              </a:rPr>
              <a:t>6 - 12 ヶ月以降</a:t>
            </a:r>
            <a:endParaRPr lang="en-US" sz="1000" dirty="0"/>
          </a:p>
        </p:txBody>
      </p:sp>
      <p:sp>
        <p:nvSpPr>
          <p:cNvPr id="73" name="Shape 64"/>
          <p:cNvSpPr/>
          <p:nvPr/>
        </p:nvSpPr>
        <p:spPr>
          <a:xfrm>
            <a:off x="6772046" y="2285086"/>
            <a:ext cx="4839005" cy="514807"/>
          </a:xfrm>
          <a:prstGeom prst="roundRect">
            <a:avLst>
              <a:gd name="adj" fmla="val 26314"/>
            </a:avLst>
          </a:prstGeom>
          <a:solidFill>
            <a:srgbClr val="FFFFFF"/>
          </a:solidFill>
          <a:ln w="12700">
            <a:solidFill>
              <a:srgbClr val="E5E7EB"/>
            </a:solidFill>
            <a:prstDash val="solid"/>
          </a:ln>
        </p:spPr>
      </p:sp>
      <p:sp>
        <p:nvSpPr>
          <p:cNvPr id="74" name="Shape 65"/>
          <p:cNvSpPr/>
          <p:nvPr/>
        </p:nvSpPr>
        <p:spPr>
          <a:xfrm>
            <a:off x="6896405" y="2424989"/>
            <a:ext cx="228600" cy="228600"/>
          </a:xfrm>
          <a:prstGeom prst="ellipse">
            <a:avLst/>
          </a:prstGeom>
          <a:solidFill>
            <a:srgbClr val="6B7280"/>
          </a:solidFill>
          <a:ln/>
        </p:spPr>
      </p:sp>
      <p:sp>
        <p:nvSpPr>
          <p:cNvPr id="75" name="Text 66"/>
          <p:cNvSpPr txBox="1"/>
          <p:nvPr/>
        </p:nvSpPr>
        <p:spPr>
          <a:xfrm>
            <a:off x="6973214" y="2453335"/>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A</a:t>
            </a:r>
            <a:endParaRPr lang="en-US" sz="900" dirty="0"/>
          </a:p>
        </p:txBody>
      </p:sp>
      <p:sp>
        <p:nvSpPr>
          <p:cNvPr id="76" name="Text 67"/>
          <p:cNvSpPr txBox="1"/>
          <p:nvPr/>
        </p:nvSpPr>
        <p:spPr>
          <a:xfrm>
            <a:off x="7239305" y="2351837"/>
            <a:ext cx="1707185"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業務DB連携・ログ自動取得</a:t>
            </a:r>
            <a:endParaRPr lang="en-US" sz="1000" dirty="0"/>
          </a:p>
        </p:txBody>
      </p:sp>
      <p:sp>
        <p:nvSpPr>
          <p:cNvPr id="77" name="Text 68"/>
          <p:cNvSpPr txBox="1"/>
          <p:nvPr/>
        </p:nvSpPr>
        <p:spPr>
          <a:xfrm>
            <a:off x="7239305" y="2520086"/>
            <a:ext cx="2364638"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API連携による基幹システムデータ統合</a:t>
            </a:r>
            <a:endParaRPr lang="en-US" sz="1000" dirty="0"/>
          </a:p>
        </p:txBody>
      </p:sp>
      <p:sp>
        <p:nvSpPr>
          <p:cNvPr id="78" name="Shape 69"/>
          <p:cNvSpPr/>
          <p:nvPr/>
        </p:nvSpPr>
        <p:spPr>
          <a:xfrm>
            <a:off x="6772046" y="2888590"/>
            <a:ext cx="4839005" cy="514807"/>
          </a:xfrm>
          <a:prstGeom prst="roundRect">
            <a:avLst>
              <a:gd name="adj" fmla="val 26314"/>
            </a:avLst>
          </a:prstGeom>
          <a:solidFill>
            <a:srgbClr val="FFFFFF"/>
          </a:solidFill>
          <a:ln w="12700">
            <a:solidFill>
              <a:srgbClr val="E5E7EB"/>
            </a:solidFill>
            <a:prstDash val="solid"/>
          </a:ln>
        </p:spPr>
      </p:sp>
      <p:sp>
        <p:nvSpPr>
          <p:cNvPr id="79" name="Shape 70"/>
          <p:cNvSpPr/>
          <p:nvPr/>
        </p:nvSpPr>
        <p:spPr>
          <a:xfrm>
            <a:off x="6896405" y="3028493"/>
            <a:ext cx="228600" cy="228600"/>
          </a:xfrm>
          <a:prstGeom prst="ellipse">
            <a:avLst/>
          </a:prstGeom>
          <a:solidFill>
            <a:srgbClr val="6B7280"/>
          </a:solidFill>
          <a:ln/>
        </p:spPr>
      </p:sp>
      <p:sp>
        <p:nvSpPr>
          <p:cNvPr id="80" name="Text 71"/>
          <p:cNvSpPr txBox="1"/>
          <p:nvPr/>
        </p:nvSpPr>
        <p:spPr>
          <a:xfrm>
            <a:off x="6971386" y="3056839"/>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B</a:t>
            </a:r>
            <a:endParaRPr lang="en-US" sz="900" dirty="0"/>
          </a:p>
        </p:txBody>
      </p:sp>
      <p:sp>
        <p:nvSpPr>
          <p:cNvPr id="81" name="Text 72"/>
          <p:cNvSpPr txBox="1"/>
          <p:nvPr/>
        </p:nvSpPr>
        <p:spPr>
          <a:xfrm>
            <a:off x="7239305" y="2955341"/>
            <a:ext cx="1717243"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DWH / データレイク / Loop</a:t>
            </a:r>
            <a:endParaRPr lang="en-US" sz="1000" dirty="0"/>
          </a:p>
        </p:txBody>
      </p:sp>
      <p:sp>
        <p:nvSpPr>
          <p:cNvPr id="82" name="Text 73"/>
          <p:cNvSpPr txBox="1"/>
          <p:nvPr/>
        </p:nvSpPr>
        <p:spPr>
          <a:xfrm>
            <a:off x="7239305" y="3123590"/>
            <a:ext cx="2564892"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構造化データ分析基盤とコラボレーション</a:t>
            </a:r>
            <a:endParaRPr lang="en-US" sz="1000" dirty="0"/>
          </a:p>
        </p:txBody>
      </p:sp>
      <p:sp>
        <p:nvSpPr>
          <p:cNvPr id="83" name="Shape 74"/>
          <p:cNvSpPr/>
          <p:nvPr/>
        </p:nvSpPr>
        <p:spPr>
          <a:xfrm>
            <a:off x="6772046" y="3492094"/>
            <a:ext cx="4839005" cy="514807"/>
          </a:xfrm>
          <a:prstGeom prst="roundRect">
            <a:avLst>
              <a:gd name="adj" fmla="val 26314"/>
            </a:avLst>
          </a:prstGeom>
          <a:solidFill>
            <a:srgbClr val="FFFFFF"/>
          </a:solidFill>
          <a:ln w="12700">
            <a:solidFill>
              <a:srgbClr val="E5E7EB"/>
            </a:solidFill>
            <a:prstDash val="solid"/>
          </a:ln>
        </p:spPr>
      </p:sp>
      <p:sp>
        <p:nvSpPr>
          <p:cNvPr id="84" name="Shape 75"/>
          <p:cNvSpPr/>
          <p:nvPr/>
        </p:nvSpPr>
        <p:spPr>
          <a:xfrm>
            <a:off x="6896405" y="3631997"/>
            <a:ext cx="228600" cy="228600"/>
          </a:xfrm>
          <a:prstGeom prst="ellipse">
            <a:avLst/>
          </a:prstGeom>
          <a:solidFill>
            <a:srgbClr val="6B7280"/>
          </a:solidFill>
          <a:ln/>
        </p:spPr>
      </p:sp>
      <p:sp>
        <p:nvSpPr>
          <p:cNvPr id="85" name="Text 76"/>
          <p:cNvSpPr txBox="1"/>
          <p:nvPr/>
        </p:nvSpPr>
        <p:spPr>
          <a:xfrm>
            <a:off x="6973214" y="3660343"/>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C</a:t>
            </a:r>
            <a:endParaRPr lang="en-US" sz="900" dirty="0"/>
          </a:p>
        </p:txBody>
      </p:sp>
      <p:sp>
        <p:nvSpPr>
          <p:cNvPr id="86" name="Text 77"/>
          <p:cNvSpPr txBox="1"/>
          <p:nvPr/>
        </p:nvSpPr>
        <p:spPr>
          <a:xfrm>
            <a:off x="7239305" y="3558845"/>
            <a:ext cx="1526134"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ベクトル検索・高度RAG</a:t>
            </a:r>
            <a:endParaRPr lang="en-US" sz="1000" dirty="0"/>
          </a:p>
        </p:txBody>
      </p:sp>
      <p:sp>
        <p:nvSpPr>
          <p:cNvPr id="87" name="Text 78"/>
          <p:cNvSpPr txBox="1"/>
          <p:nvPr/>
        </p:nvSpPr>
        <p:spPr>
          <a:xfrm>
            <a:off x="7239305" y="3727094"/>
            <a:ext cx="2554834"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意味検索による高精度な社内ナレッジ活用</a:t>
            </a:r>
            <a:endParaRPr lang="en-US" sz="1000" dirty="0"/>
          </a:p>
        </p:txBody>
      </p:sp>
      <p:sp>
        <p:nvSpPr>
          <p:cNvPr id="88" name="Shape 79"/>
          <p:cNvSpPr/>
          <p:nvPr/>
        </p:nvSpPr>
        <p:spPr>
          <a:xfrm>
            <a:off x="6772046" y="4095598"/>
            <a:ext cx="4839005" cy="514807"/>
          </a:xfrm>
          <a:prstGeom prst="roundRect">
            <a:avLst>
              <a:gd name="adj" fmla="val 26314"/>
            </a:avLst>
          </a:prstGeom>
          <a:solidFill>
            <a:srgbClr val="FFFFFF"/>
          </a:solidFill>
          <a:ln w="12700">
            <a:solidFill>
              <a:srgbClr val="E5E7EB"/>
            </a:solidFill>
            <a:prstDash val="solid"/>
          </a:ln>
        </p:spPr>
      </p:sp>
      <p:sp>
        <p:nvSpPr>
          <p:cNvPr id="89" name="Shape 80"/>
          <p:cNvSpPr/>
          <p:nvPr/>
        </p:nvSpPr>
        <p:spPr>
          <a:xfrm>
            <a:off x="6896405" y="4235501"/>
            <a:ext cx="228600" cy="228600"/>
          </a:xfrm>
          <a:prstGeom prst="ellipse">
            <a:avLst/>
          </a:prstGeom>
          <a:solidFill>
            <a:srgbClr val="6B7280"/>
          </a:solidFill>
          <a:ln/>
        </p:spPr>
      </p:sp>
      <p:sp>
        <p:nvSpPr>
          <p:cNvPr id="90" name="Text 81"/>
          <p:cNvSpPr txBox="1"/>
          <p:nvPr/>
        </p:nvSpPr>
        <p:spPr>
          <a:xfrm>
            <a:off x="6969557" y="4263847"/>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D</a:t>
            </a:r>
            <a:endParaRPr lang="en-US" sz="900" dirty="0"/>
          </a:p>
        </p:txBody>
      </p:sp>
      <p:sp>
        <p:nvSpPr>
          <p:cNvPr id="91" name="Text 82"/>
          <p:cNvSpPr txBox="1"/>
          <p:nvPr/>
        </p:nvSpPr>
        <p:spPr>
          <a:xfrm>
            <a:off x="7239305" y="4162349"/>
            <a:ext cx="1916582"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カスタムLLM・部門特化モデル</a:t>
            </a:r>
            <a:endParaRPr lang="en-US" sz="1000" dirty="0"/>
          </a:p>
        </p:txBody>
      </p:sp>
      <p:sp>
        <p:nvSpPr>
          <p:cNvPr id="92" name="Text 83"/>
          <p:cNvSpPr txBox="1"/>
          <p:nvPr/>
        </p:nvSpPr>
        <p:spPr>
          <a:xfrm>
            <a:off x="7239305" y="4330598"/>
            <a:ext cx="2307031"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専門用語学習・ファインチューニング</a:t>
            </a:r>
            <a:endParaRPr lang="en-US" sz="1000" dirty="0"/>
          </a:p>
        </p:txBody>
      </p:sp>
      <p:sp>
        <p:nvSpPr>
          <p:cNvPr id="93" name="Shape 84"/>
          <p:cNvSpPr/>
          <p:nvPr/>
        </p:nvSpPr>
        <p:spPr>
          <a:xfrm>
            <a:off x="6772046" y="4699102"/>
            <a:ext cx="4839005" cy="514807"/>
          </a:xfrm>
          <a:prstGeom prst="roundRect">
            <a:avLst>
              <a:gd name="adj" fmla="val 26314"/>
            </a:avLst>
          </a:prstGeom>
          <a:solidFill>
            <a:srgbClr val="FFFFFF"/>
          </a:solidFill>
          <a:ln w="12700">
            <a:solidFill>
              <a:srgbClr val="E5E7EB"/>
            </a:solidFill>
            <a:prstDash val="solid"/>
          </a:ln>
        </p:spPr>
      </p:sp>
      <p:sp>
        <p:nvSpPr>
          <p:cNvPr id="94" name="Shape 85"/>
          <p:cNvSpPr/>
          <p:nvPr/>
        </p:nvSpPr>
        <p:spPr>
          <a:xfrm>
            <a:off x="6896405" y="4839005"/>
            <a:ext cx="228600" cy="228600"/>
          </a:xfrm>
          <a:prstGeom prst="ellipse">
            <a:avLst/>
          </a:prstGeom>
          <a:solidFill>
            <a:srgbClr val="6B7280"/>
          </a:solidFill>
          <a:ln/>
        </p:spPr>
      </p:sp>
      <p:sp>
        <p:nvSpPr>
          <p:cNvPr id="95" name="Text 86"/>
          <p:cNvSpPr txBox="1"/>
          <p:nvPr/>
        </p:nvSpPr>
        <p:spPr>
          <a:xfrm>
            <a:off x="6975043" y="4868266"/>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E</a:t>
            </a:r>
            <a:endParaRPr lang="en-US" sz="900" dirty="0"/>
          </a:p>
        </p:txBody>
      </p:sp>
      <p:sp>
        <p:nvSpPr>
          <p:cNvPr id="96" name="Text 87"/>
          <p:cNvSpPr txBox="1"/>
          <p:nvPr/>
        </p:nvSpPr>
        <p:spPr>
          <a:xfrm>
            <a:off x="7239305" y="4765853"/>
            <a:ext cx="2040941"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複雑な自動化・自律エージェント</a:t>
            </a:r>
            <a:endParaRPr lang="en-US" sz="1000" dirty="0"/>
          </a:p>
        </p:txBody>
      </p:sp>
      <p:sp>
        <p:nvSpPr>
          <p:cNvPr id="97" name="Text 88"/>
          <p:cNvSpPr txBox="1"/>
          <p:nvPr/>
        </p:nvSpPr>
        <p:spPr>
          <a:xfrm>
            <a:off x="7239305" y="4934102"/>
            <a:ext cx="2078431"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Copilot Studioによる業務特化Bot</a:t>
            </a:r>
            <a:endParaRPr lang="en-US" sz="1000" dirty="0"/>
          </a:p>
        </p:txBody>
      </p:sp>
      <p:sp>
        <p:nvSpPr>
          <p:cNvPr id="98" name="Shape 89"/>
          <p:cNvSpPr/>
          <p:nvPr/>
        </p:nvSpPr>
        <p:spPr>
          <a:xfrm>
            <a:off x="6772046" y="5302606"/>
            <a:ext cx="4839005" cy="514807"/>
          </a:xfrm>
          <a:prstGeom prst="roundRect">
            <a:avLst>
              <a:gd name="adj" fmla="val 26314"/>
            </a:avLst>
          </a:prstGeom>
          <a:solidFill>
            <a:srgbClr val="FFFFFF"/>
          </a:solidFill>
          <a:ln w="12700">
            <a:solidFill>
              <a:srgbClr val="E5E7EB"/>
            </a:solidFill>
            <a:prstDash val="solid"/>
          </a:ln>
        </p:spPr>
      </p:sp>
      <p:sp>
        <p:nvSpPr>
          <p:cNvPr id="99" name="Shape 90"/>
          <p:cNvSpPr/>
          <p:nvPr/>
        </p:nvSpPr>
        <p:spPr>
          <a:xfrm>
            <a:off x="6896405" y="5442509"/>
            <a:ext cx="228600" cy="228600"/>
          </a:xfrm>
          <a:prstGeom prst="ellipse">
            <a:avLst/>
          </a:prstGeom>
          <a:solidFill>
            <a:srgbClr val="6B7280"/>
          </a:solidFill>
          <a:ln/>
        </p:spPr>
      </p:sp>
      <p:sp>
        <p:nvSpPr>
          <p:cNvPr id="100" name="Text 91"/>
          <p:cNvSpPr txBox="1"/>
          <p:nvPr/>
        </p:nvSpPr>
        <p:spPr>
          <a:xfrm>
            <a:off x="6976872" y="5471770"/>
            <a:ext cx="162763"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F</a:t>
            </a:r>
            <a:endParaRPr lang="en-US" sz="900" dirty="0"/>
          </a:p>
        </p:txBody>
      </p:sp>
      <p:sp>
        <p:nvSpPr>
          <p:cNvPr id="101" name="Text 92"/>
          <p:cNvSpPr txBox="1"/>
          <p:nvPr/>
        </p:nvSpPr>
        <p:spPr>
          <a:xfrm>
            <a:off x="7239305" y="5369357"/>
            <a:ext cx="1402690"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カスタムBI・高度分析</a:t>
            </a:r>
            <a:endParaRPr lang="en-US" sz="1000" dirty="0"/>
          </a:p>
        </p:txBody>
      </p:sp>
      <p:sp>
        <p:nvSpPr>
          <p:cNvPr id="102" name="Text 93"/>
          <p:cNvSpPr txBox="1"/>
          <p:nvPr/>
        </p:nvSpPr>
        <p:spPr>
          <a:xfrm>
            <a:off x="7239305" y="5538521"/>
            <a:ext cx="2136038"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ROI可視化・業務プロセス改善分析</a:t>
            </a:r>
            <a:endParaRPr lang="en-US" sz="1000" dirty="0"/>
          </a:p>
        </p:txBody>
      </p:sp>
      <p:sp>
        <p:nvSpPr>
          <p:cNvPr id="103" name="Shape 94"/>
          <p:cNvSpPr/>
          <p:nvPr/>
        </p:nvSpPr>
        <p:spPr>
          <a:xfrm>
            <a:off x="6772046" y="5907024"/>
            <a:ext cx="4839005" cy="514807"/>
          </a:xfrm>
          <a:prstGeom prst="roundRect">
            <a:avLst>
              <a:gd name="adj" fmla="val 26314"/>
            </a:avLst>
          </a:prstGeom>
          <a:solidFill>
            <a:srgbClr val="FFFFFF"/>
          </a:solidFill>
          <a:ln w="12700">
            <a:solidFill>
              <a:srgbClr val="E5E7EB"/>
            </a:solidFill>
            <a:prstDash val="solid"/>
          </a:ln>
        </p:spPr>
      </p:sp>
      <p:sp>
        <p:nvSpPr>
          <p:cNvPr id="104" name="Shape 95"/>
          <p:cNvSpPr/>
          <p:nvPr/>
        </p:nvSpPr>
        <p:spPr>
          <a:xfrm>
            <a:off x="6896405" y="6046927"/>
            <a:ext cx="228600" cy="228600"/>
          </a:xfrm>
          <a:prstGeom prst="ellipse">
            <a:avLst/>
          </a:prstGeom>
          <a:solidFill>
            <a:srgbClr val="6B7280"/>
          </a:solidFill>
          <a:ln/>
        </p:spPr>
      </p:sp>
      <p:sp>
        <p:nvSpPr>
          <p:cNvPr id="105" name="Text 96"/>
          <p:cNvSpPr txBox="1"/>
          <p:nvPr/>
        </p:nvSpPr>
        <p:spPr>
          <a:xfrm>
            <a:off x="6969557" y="6075274"/>
            <a:ext cx="171907" cy="171907"/>
          </a:xfrm>
          <a:prstGeom prst="rect">
            <a:avLst/>
          </a:prstGeom>
          <a:noFill/>
          <a:ln/>
        </p:spPr>
        <p:txBody>
          <a:bodyPr wrap="square" lIns="0" tIns="0" rIns="0" bIns="0" rtlCol="0" anchor="ctr"/>
          <a:lstStyle/>
          <a:p>
            <a:pPr marL="0" indent="0" algn="l">
              <a:buNone/>
            </a:pPr>
            <a:r>
              <a:rPr lang="en-US" sz="900" b="1" dirty="0">
                <a:solidFill>
                  <a:srgbClr val="FFFFFF"/>
                </a:solidFill>
                <a:latin typeface="Noto Sans JP" pitchFamily="34" charset="0"/>
                <a:ea typeface="Noto Sans JP" pitchFamily="34" charset="-122"/>
                <a:cs typeface="Noto Sans JP" pitchFamily="34" charset="-120"/>
              </a:rPr>
              <a:t>G</a:t>
            </a:r>
            <a:endParaRPr lang="en-US" sz="900" dirty="0"/>
          </a:p>
        </p:txBody>
      </p:sp>
      <p:sp>
        <p:nvSpPr>
          <p:cNvPr id="106" name="Text 97"/>
          <p:cNvSpPr txBox="1"/>
          <p:nvPr/>
        </p:nvSpPr>
        <p:spPr>
          <a:xfrm>
            <a:off x="7239305" y="5973775"/>
            <a:ext cx="1907438" cy="191110"/>
          </a:xfrm>
          <a:prstGeom prst="rect">
            <a:avLst/>
          </a:prstGeom>
          <a:noFill/>
          <a:ln/>
        </p:spPr>
        <p:txBody>
          <a:bodyPr wrap="square" lIns="0" tIns="0" rIns="0" bIns="0" rtlCol="0" anchor="ctr"/>
          <a:lstStyle/>
          <a:p>
            <a:pPr marL="0" indent="0" algn="l">
              <a:buNone/>
            </a:pPr>
            <a:r>
              <a:rPr lang="en-US" sz="1000" b="1" dirty="0">
                <a:solidFill>
                  <a:srgbClr val="111827"/>
                </a:solidFill>
                <a:latin typeface="Noto Sans JP" pitchFamily="34" charset="0"/>
                <a:ea typeface="Noto Sans JP" pitchFamily="34" charset="-122"/>
                <a:cs typeface="Noto Sans JP" pitchFamily="34" charset="-120"/>
              </a:rPr>
              <a:t>高度DLP・カスタムガバナンス</a:t>
            </a:r>
            <a:endParaRPr lang="en-US" sz="1000" dirty="0"/>
          </a:p>
        </p:txBody>
      </p:sp>
      <p:sp>
        <p:nvSpPr>
          <p:cNvPr id="107" name="Text 98"/>
          <p:cNvSpPr txBox="1"/>
          <p:nvPr/>
        </p:nvSpPr>
        <p:spPr>
          <a:xfrm>
            <a:off x="7239305" y="6142025"/>
            <a:ext cx="2288743" cy="191110"/>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AI利用監査・機密情報の自動保護強化</a:t>
            </a:r>
            <a:endParaRPr lang="en-US" sz="1000" dirty="0"/>
          </a:p>
        </p:txBody>
      </p:sp>
      <p:sp>
        <p:nvSpPr>
          <p:cNvPr id="108" name="Shape 99"/>
          <p:cNvSpPr/>
          <p:nvPr/>
        </p:nvSpPr>
        <p:spPr>
          <a:xfrm>
            <a:off x="5753405" y="3927348"/>
            <a:ext cx="685800" cy="237744"/>
          </a:xfrm>
          <a:prstGeom prst="roundRect">
            <a:avLst>
              <a:gd name="adj" fmla="val 61538"/>
            </a:avLst>
          </a:prstGeom>
          <a:solidFill>
            <a:srgbClr val="FEE2E2"/>
          </a:solidFill>
          <a:ln/>
        </p:spPr>
      </p:sp>
      <p:sp>
        <p:nvSpPr>
          <p:cNvPr id="109" name="Text 100"/>
          <p:cNvSpPr txBox="1"/>
          <p:nvPr/>
        </p:nvSpPr>
        <p:spPr>
          <a:xfrm>
            <a:off x="5829300" y="3965753"/>
            <a:ext cx="613562" cy="152705"/>
          </a:xfrm>
          <a:prstGeom prst="rect">
            <a:avLst/>
          </a:prstGeom>
          <a:noFill/>
          <a:ln/>
        </p:spPr>
        <p:txBody>
          <a:bodyPr wrap="square" lIns="0" tIns="0" rIns="0" bIns="0" rtlCol="0" anchor="ctr"/>
          <a:lstStyle/>
          <a:p>
            <a:pPr marL="0" indent="0" algn="ctr">
              <a:buNone/>
            </a:pPr>
            <a:r>
              <a:rPr lang="en-US" sz="800" b="1" dirty="0">
                <a:solidFill>
                  <a:srgbClr val="DC2626"/>
                </a:solidFill>
                <a:latin typeface="Noto Sans JP" pitchFamily="34" charset="0"/>
                <a:ea typeface="Noto Sans JP" pitchFamily="34" charset="-122"/>
                <a:cs typeface="Noto Sans JP" pitchFamily="34" charset="-120"/>
              </a:rPr>
              <a:t>拡張・深化</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978</Words>
  <Application>Microsoft Office PowerPoint</Application>
  <PresentationFormat>ワイド画面</PresentationFormat>
  <Paragraphs>413</Paragraphs>
  <Slides>6</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6</vt:i4>
      </vt:variant>
    </vt:vector>
  </HeadingPairs>
  <TitlesOfParts>
    <vt:vector size="9"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Ryota</cp:lastModifiedBy>
  <cp:revision>1</cp:revision>
  <dcterms:created xsi:type="dcterms:W3CDTF">2026-01-07T02:29:46Z</dcterms:created>
  <dcterms:modified xsi:type="dcterms:W3CDTF">2026-01-07T02:33:19Z</dcterms:modified>
</cp:coreProperties>
</file>