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62" r:id="rId2"/>
    <p:sldId id="261" r:id="rId3"/>
    <p:sldId id="287" r:id="rId4"/>
    <p:sldId id="290" r:id="rId5"/>
    <p:sldId id="297" r:id="rId6"/>
    <p:sldId id="296" r:id="rId7"/>
    <p:sldId id="288" r:id="rId8"/>
    <p:sldId id="286" r:id="rId9"/>
    <p:sldId id="260" r:id="rId10"/>
    <p:sldId id="265" r:id="rId11"/>
    <p:sldId id="289" r:id="rId12"/>
    <p:sldId id="279" r:id="rId13"/>
    <p:sldId id="264" r:id="rId14"/>
    <p:sldId id="276" r:id="rId15"/>
    <p:sldId id="280" r:id="rId16"/>
    <p:sldId id="281" r:id="rId17"/>
    <p:sldId id="282" r:id="rId18"/>
    <p:sldId id="291" r:id="rId19"/>
    <p:sldId id="292" r:id="rId20"/>
    <p:sldId id="293" r:id="rId21"/>
    <p:sldId id="294" r:id="rId22"/>
    <p:sldId id="295"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組織・体制" id="{3D6F5759-40A5-44DA-ADA3-09ED834B7190}">
          <p14:sldIdLst>
            <p14:sldId id="262"/>
            <p14:sldId id="261"/>
            <p14:sldId id="287"/>
            <p14:sldId id="290"/>
            <p14:sldId id="297"/>
          </p14:sldIdLst>
        </p14:section>
        <p14:section name="アクションイメージ" id="{FE090761-3E9F-48E4-8B0A-12B2CC98B3C0}">
          <p14:sldIdLst>
            <p14:sldId id="296"/>
            <p14:sldId id="288"/>
          </p14:sldIdLst>
        </p14:section>
        <p14:section name="削除予定" id="{B218FC4F-1120-4272-9E8B-A72DEF616AA9}">
          <p14:sldIdLst>
            <p14:sldId id="286"/>
            <p14:sldId id="260"/>
            <p14:sldId id="265"/>
            <p14:sldId id="289"/>
            <p14:sldId id="279"/>
            <p14:sldId id="264"/>
            <p14:sldId id="276"/>
            <p14:sldId id="280"/>
            <p14:sldId id="281"/>
            <p14:sldId id="282"/>
            <p14:sldId id="291"/>
            <p14:sldId id="292"/>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724" y="4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240549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jpe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51.png"/></Relationships>
</file>

<file path=ppt/slides/_rels/slide10.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1.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25.png"/><Relationship Id="rId7" Type="http://schemas.openxmlformats.org/officeDocument/2006/relationships/image" Target="../media/image6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63.png"/></Relationships>
</file>

<file path=ppt/slides/_rels/slide1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13.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14.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3" Type="http://schemas.openxmlformats.org/officeDocument/2006/relationships/image" Target="../media/image77.png"/><Relationship Id="rId7" Type="http://schemas.openxmlformats.org/officeDocument/2006/relationships/image" Target="../media/image81.png"/><Relationship Id="rId12" Type="http://schemas.openxmlformats.org/officeDocument/2006/relationships/image" Target="../media/image8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0.png"/><Relationship Id="rId11" Type="http://schemas.openxmlformats.org/officeDocument/2006/relationships/image" Target="../media/image85.png"/><Relationship Id="rId5" Type="http://schemas.openxmlformats.org/officeDocument/2006/relationships/image" Target="../media/image79.pn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png"/></Relationships>
</file>

<file path=ppt/slides/_rels/slide15.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34.png"/><Relationship Id="rId7" Type="http://schemas.openxmlformats.org/officeDocument/2006/relationships/image" Target="../media/image9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 Id="rId9" Type="http://schemas.openxmlformats.org/officeDocument/2006/relationships/image" Target="../media/image93.png"/></Relationships>
</file>

<file path=ppt/slides/_rels/slide16.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png"/><Relationship Id="rId10" Type="http://schemas.openxmlformats.org/officeDocument/2006/relationships/image" Target="../media/image101.png"/><Relationship Id="rId4" Type="http://schemas.openxmlformats.org/officeDocument/2006/relationships/image" Target="../media/image95.png"/><Relationship Id="rId9" Type="http://schemas.openxmlformats.org/officeDocument/2006/relationships/image" Target="../media/image100.png"/></Relationships>
</file>

<file path=ppt/slides/_rels/slide17.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34.png"/><Relationship Id="rId7" Type="http://schemas.openxmlformats.org/officeDocument/2006/relationships/image" Target="../media/image10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4.png"/><Relationship Id="rId5" Type="http://schemas.openxmlformats.org/officeDocument/2006/relationships/image" Target="../media/image103.png"/><Relationship Id="rId10" Type="http://schemas.openxmlformats.org/officeDocument/2006/relationships/image" Target="../media/image41.png"/><Relationship Id="rId4" Type="http://schemas.openxmlformats.org/officeDocument/2006/relationships/image" Target="../media/image102.png"/><Relationship Id="rId9" Type="http://schemas.openxmlformats.org/officeDocument/2006/relationships/image" Target="../media/image99.png"/></Relationships>
</file>

<file path=ppt/slides/_rels/slide18.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7.pn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s>
</file>

<file path=ppt/slides/_rels/slide19.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117.png"/><Relationship Id="rId7" Type="http://schemas.openxmlformats.org/officeDocument/2006/relationships/image" Target="../media/image121.png"/><Relationship Id="rId12" Type="http://schemas.openxmlformats.org/officeDocument/2006/relationships/image" Target="../media/image12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20.png"/><Relationship Id="rId11" Type="http://schemas.openxmlformats.org/officeDocument/2006/relationships/image" Target="../media/image125.png"/><Relationship Id="rId5" Type="http://schemas.openxmlformats.org/officeDocument/2006/relationships/image" Target="../media/image119.png"/><Relationship Id="rId10" Type="http://schemas.openxmlformats.org/officeDocument/2006/relationships/image" Target="../media/image124.png"/><Relationship Id="rId4" Type="http://schemas.openxmlformats.org/officeDocument/2006/relationships/image" Target="../media/image118.png"/><Relationship Id="rId9" Type="http://schemas.openxmlformats.org/officeDocument/2006/relationships/image" Target="../media/image123.png"/></Relationships>
</file>

<file path=ppt/slides/_rels/slide20.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127.png"/><Relationship Id="rId7" Type="http://schemas.openxmlformats.org/officeDocument/2006/relationships/image" Target="../media/image13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30.png"/><Relationship Id="rId11" Type="http://schemas.openxmlformats.org/officeDocument/2006/relationships/image" Target="../media/image135.png"/><Relationship Id="rId5" Type="http://schemas.openxmlformats.org/officeDocument/2006/relationships/image" Target="../media/image129.png"/><Relationship Id="rId10" Type="http://schemas.openxmlformats.org/officeDocument/2006/relationships/image" Target="../media/image134.png"/><Relationship Id="rId4" Type="http://schemas.openxmlformats.org/officeDocument/2006/relationships/image" Target="../media/image128.png"/><Relationship Id="rId9" Type="http://schemas.openxmlformats.org/officeDocument/2006/relationships/image" Target="../media/image133.png"/></Relationships>
</file>

<file path=ppt/slides/_rels/slide21.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136.png"/><Relationship Id="rId7" Type="http://schemas.openxmlformats.org/officeDocument/2006/relationships/image" Target="../media/image140.png"/><Relationship Id="rId12" Type="http://schemas.openxmlformats.org/officeDocument/2006/relationships/image" Target="../media/image14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39.png"/><Relationship Id="rId11" Type="http://schemas.openxmlformats.org/officeDocument/2006/relationships/image" Target="../media/image144.png"/><Relationship Id="rId5" Type="http://schemas.openxmlformats.org/officeDocument/2006/relationships/image" Target="../media/image138.png"/><Relationship Id="rId10" Type="http://schemas.openxmlformats.org/officeDocument/2006/relationships/image" Target="../media/image143.png"/><Relationship Id="rId4" Type="http://schemas.openxmlformats.org/officeDocument/2006/relationships/image" Target="../media/image137.png"/><Relationship Id="rId9" Type="http://schemas.openxmlformats.org/officeDocument/2006/relationships/image" Target="../media/image142.png"/></Relationships>
</file>

<file path=ppt/slides/_rels/slide22.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slide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248156"/>
          </a:xfrm>
          <a:prstGeom prst="rect">
            <a:avLst/>
          </a:prstGeom>
          <a:solidFill>
            <a:srgbClr val="FFFFFF"/>
          </a:solidFill>
          <a:ln/>
        </p:spPr>
        <p:txBody>
          <a:bodyPr/>
          <a:lstStyle/>
          <a:p>
            <a:endParaRPr lang="ja-JP" altLang="en-US"/>
          </a:p>
        </p:txBody>
      </p:sp>
      <p:sp>
        <p:nvSpPr>
          <p:cNvPr id="5" name="Shape 3"/>
          <p:cNvSpPr/>
          <p:nvPr/>
        </p:nvSpPr>
        <p:spPr>
          <a:xfrm>
            <a:off x="0" y="1239012"/>
            <a:ext cx="12191695" cy="9144"/>
          </a:xfrm>
          <a:prstGeom prst="rect">
            <a:avLst/>
          </a:prstGeom>
          <a:solidFill>
            <a:srgbClr val="E5E7EB"/>
          </a:solidFill>
          <a:ln/>
        </p:spPr>
        <p:txBody>
          <a:bodyPr/>
          <a:lstStyle/>
          <a:p>
            <a:endParaRPr lang="ja-JP" altLang="en-US"/>
          </a:p>
        </p:txBody>
      </p:sp>
      <p:sp>
        <p:nvSpPr>
          <p:cNvPr id="9" name="Text 7"/>
          <p:cNvSpPr txBox="1"/>
          <p:nvPr/>
        </p:nvSpPr>
        <p:spPr>
          <a:xfrm>
            <a:off x="609905" y="543154"/>
            <a:ext cx="8296351" cy="438912"/>
          </a:xfrm>
          <a:prstGeom prst="rect">
            <a:avLst/>
          </a:prstGeom>
          <a:noFill/>
          <a:ln/>
        </p:spPr>
        <p:txBody>
          <a:bodyPr wrap="square" lIns="0" tIns="0" rIns="0" bIns="0" rtlCol="0" anchor="ctr"/>
          <a:lstStyle/>
          <a:p>
            <a:pPr marL="0" indent="0" algn="l">
              <a:buNone/>
            </a:pPr>
            <a:r>
              <a:rPr lang="en-US" sz="2400" b="1" dirty="0" err="1">
                <a:solidFill>
                  <a:srgbClr val="1F2937"/>
                </a:solidFill>
                <a:latin typeface="Noto Sans JP" pitchFamily="34" charset="0"/>
                <a:ea typeface="Noto Sans JP" pitchFamily="34" charset="-122"/>
                <a:cs typeface="Noto Sans JP" pitchFamily="34" charset="-120"/>
              </a:rPr>
              <a:t>他社成功事例（九電・パナソニック・デンソ</a:t>
            </a:r>
            <a:r>
              <a:rPr lang="en-US" sz="2400" b="1" dirty="0">
                <a:solidFill>
                  <a:srgbClr val="1F2937"/>
                </a:solidFill>
                <a:latin typeface="Noto Sans JP" pitchFamily="34" charset="0"/>
                <a:ea typeface="Noto Sans JP" pitchFamily="34" charset="-122"/>
                <a:cs typeface="Noto Sans JP" pitchFamily="34" charset="-120"/>
              </a:rPr>
              <a:t>ー）</a:t>
            </a:r>
            <a:endParaRPr lang="en-US" sz="2400" dirty="0"/>
          </a:p>
        </p:txBody>
      </p:sp>
      <p:sp>
        <p:nvSpPr>
          <p:cNvPr id="10" name="Text 8"/>
          <p:cNvSpPr txBox="1"/>
          <p:nvPr/>
        </p:nvSpPr>
        <p:spPr>
          <a:xfrm>
            <a:off x="9559138" y="857707"/>
            <a:ext cx="2129638" cy="191110"/>
          </a:xfrm>
          <a:prstGeom prst="rect">
            <a:avLst/>
          </a:prstGeom>
          <a:noFill/>
          <a:ln/>
        </p:spPr>
        <p:txBody>
          <a:bodyPr wrap="square" lIns="0" tIns="0" rIns="0" bIns="0" rtlCol="0" anchor="ctr"/>
          <a:lstStyle/>
          <a:p>
            <a:pPr marL="0" indent="0" algn="r">
              <a:buNone/>
            </a:pPr>
            <a:r>
              <a:rPr lang="en-US" sz="1000" dirty="0">
                <a:solidFill>
                  <a:srgbClr val="6B7280"/>
                </a:solidFill>
                <a:latin typeface="Noto Sans JP" pitchFamily="34" charset="0"/>
                <a:ea typeface="Noto Sans JP" pitchFamily="34" charset="-122"/>
                <a:cs typeface="Noto Sans JP" pitchFamily="34" charset="-120"/>
              </a:rPr>
              <a:t>アイリスオーヤマ様向け 活用提案</a:t>
            </a:r>
            <a:endParaRPr lang="en-US" sz="1000" dirty="0"/>
          </a:p>
        </p:txBody>
      </p:sp>
      <p:grpSp>
        <p:nvGrpSpPr>
          <p:cNvPr id="88" name="グループ化 87">
            <a:extLst>
              <a:ext uri="{FF2B5EF4-FFF2-40B4-BE49-F238E27FC236}">
                <a16:creationId xmlns:a16="http://schemas.microsoft.com/office/drawing/2014/main" id="{D51ED741-A2FF-D4D8-E055-AC1829DAA0ED}"/>
              </a:ext>
            </a:extLst>
          </p:cNvPr>
          <p:cNvGrpSpPr/>
          <p:nvPr/>
        </p:nvGrpSpPr>
        <p:grpSpPr>
          <a:xfrm>
            <a:off x="593902" y="1282192"/>
            <a:ext cx="10975543" cy="5437023"/>
            <a:chOff x="609905" y="1552651"/>
            <a:chExt cx="10975543" cy="6208776"/>
          </a:xfrm>
        </p:grpSpPr>
        <p:sp>
          <p:nvSpPr>
            <p:cNvPr id="12" name="Shape 10"/>
            <p:cNvSpPr/>
            <p:nvPr/>
          </p:nvSpPr>
          <p:spPr>
            <a:xfrm>
              <a:off x="609905" y="1552651"/>
              <a:ext cx="3504895" cy="3247949"/>
            </a:xfrm>
            <a:prstGeom prst="roundRect">
              <a:avLst>
                <a:gd name="adj" fmla="val 991"/>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13" name="Shape 11"/>
            <p:cNvSpPr/>
            <p:nvPr/>
          </p:nvSpPr>
          <p:spPr>
            <a:xfrm>
              <a:off x="619049" y="1561795"/>
              <a:ext cx="3486607" cy="38405"/>
            </a:xfrm>
            <a:prstGeom prst="rect">
              <a:avLst/>
            </a:prstGeom>
            <a:solidFill>
              <a:srgbClr val="F59E0B"/>
            </a:solidFill>
            <a:ln/>
          </p:spPr>
          <p:txBody>
            <a:bodyPr/>
            <a:lstStyle/>
            <a:p>
              <a:endParaRPr lang="ja-JP" altLang="en-US"/>
            </a:p>
          </p:txBody>
        </p:sp>
        <p:sp>
          <p:nvSpPr>
            <p:cNvPr id="14" name="Shape 12"/>
            <p:cNvSpPr/>
            <p:nvPr/>
          </p:nvSpPr>
          <p:spPr>
            <a:xfrm>
              <a:off x="847649" y="1790395"/>
              <a:ext cx="418795" cy="418795"/>
            </a:xfrm>
            <a:prstGeom prst="roundRect">
              <a:avLst>
                <a:gd name="adj" fmla="val 39698"/>
              </a:avLst>
            </a:prstGeom>
            <a:solidFill>
              <a:srgbClr val="FFFBEB"/>
            </a:solidFill>
            <a:ln/>
          </p:spPr>
          <p:txBody>
            <a:bodyPr/>
            <a:lstStyle/>
            <a:p>
              <a:endParaRPr lang="ja-JP" altLang="en-US"/>
            </a:p>
          </p:txBody>
        </p:sp>
        <p:pic>
          <p:nvPicPr>
            <p:cNvPr id="15" name="Image 0" descr="preencoded.png"/>
            <p:cNvPicPr>
              <a:picLocks noChangeAspect="1"/>
            </p:cNvPicPr>
            <p:nvPr/>
          </p:nvPicPr>
          <p:blipFill>
            <a:blip r:embed="rId3"/>
            <a:srcRect l="-1648" r="-1648"/>
            <a:stretch/>
          </p:blipFill>
          <p:spPr>
            <a:xfrm>
              <a:off x="972007" y="1904695"/>
              <a:ext cx="171907" cy="190195"/>
            </a:xfrm>
            <a:prstGeom prst="rect">
              <a:avLst/>
            </a:prstGeom>
          </p:spPr>
        </p:pic>
        <p:sp>
          <p:nvSpPr>
            <p:cNvPr id="16" name="Text 13"/>
            <p:cNvSpPr txBox="1"/>
            <p:nvPr/>
          </p:nvSpPr>
          <p:spPr>
            <a:xfrm>
              <a:off x="2818181" y="1790395"/>
              <a:ext cx="1167689" cy="191110"/>
            </a:xfrm>
            <a:prstGeom prst="rect">
              <a:avLst/>
            </a:prstGeom>
            <a:noFill/>
            <a:ln/>
          </p:spPr>
          <p:txBody>
            <a:bodyPr wrap="square" lIns="0" tIns="0" rIns="0" bIns="0" rtlCol="0" anchor="ctr"/>
            <a:lstStyle/>
            <a:p>
              <a:pPr marL="0" indent="0" algn="r">
                <a:buNone/>
              </a:pPr>
              <a:r>
                <a:rPr lang="en-US" sz="1000" dirty="0">
                  <a:solidFill>
                    <a:srgbClr val="6B7280"/>
                  </a:solidFill>
                  <a:latin typeface="Noto Sans JP" pitchFamily="34" charset="0"/>
                  <a:ea typeface="Noto Sans JP" pitchFamily="34" charset="-122"/>
                  <a:cs typeface="Noto Sans JP" pitchFamily="34" charset="-120"/>
                </a:rPr>
                <a:t>九州電力グループ</a:t>
              </a:r>
              <a:endParaRPr lang="en-US" sz="1000" dirty="0"/>
            </a:p>
          </p:txBody>
        </p:sp>
        <p:sp>
          <p:nvSpPr>
            <p:cNvPr id="17" name="Text 14"/>
            <p:cNvSpPr txBox="1"/>
            <p:nvPr/>
          </p:nvSpPr>
          <p:spPr>
            <a:xfrm>
              <a:off x="847649" y="2305202"/>
              <a:ext cx="2529230"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JP" pitchFamily="34" charset="0"/>
                  <a:ea typeface="Noto Sans JP" pitchFamily="34" charset="-122"/>
                  <a:cs typeface="Noto Sans JP" pitchFamily="34" charset="-120"/>
                </a:rPr>
                <a:t>段階的展開と社内コンペによる</a:t>
              </a:r>
              <a:endParaRPr lang="en-US" sz="1300" dirty="0"/>
            </a:p>
          </p:txBody>
        </p:sp>
        <p:sp>
          <p:nvSpPr>
            <p:cNvPr id="18" name="Text 15"/>
            <p:cNvSpPr txBox="1"/>
            <p:nvPr/>
          </p:nvSpPr>
          <p:spPr>
            <a:xfrm>
              <a:off x="847649" y="2528316"/>
              <a:ext cx="1500530"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JP" pitchFamily="34" charset="0"/>
                  <a:ea typeface="Noto Sans JP" pitchFamily="34" charset="-122"/>
                  <a:cs typeface="Noto Sans JP" pitchFamily="34" charset="-120"/>
                </a:rPr>
                <a:t>ボトムアップ推進</a:t>
              </a:r>
              <a:endParaRPr lang="en-US" sz="1300" dirty="0"/>
            </a:p>
          </p:txBody>
        </p:sp>
        <p:sp>
          <p:nvSpPr>
            <p:cNvPr id="19" name="Shape 16"/>
            <p:cNvSpPr/>
            <p:nvPr/>
          </p:nvSpPr>
          <p:spPr>
            <a:xfrm>
              <a:off x="847649" y="2960827"/>
              <a:ext cx="743407" cy="200254"/>
            </a:xfrm>
            <a:prstGeom prst="roundRect">
              <a:avLst>
                <a:gd name="adj" fmla="val 86975"/>
              </a:avLst>
            </a:prstGeom>
            <a:solidFill>
              <a:srgbClr val="F3F4F6"/>
            </a:solidFill>
            <a:ln/>
          </p:spPr>
          <p:txBody>
            <a:bodyPr/>
            <a:lstStyle/>
            <a:p>
              <a:endParaRPr lang="ja-JP" altLang="en-US"/>
            </a:p>
          </p:txBody>
        </p:sp>
        <p:sp>
          <p:nvSpPr>
            <p:cNvPr id="20" name="Text 17"/>
            <p:cNvSpPr txBox="1"/>
            <p:nvPr/>
          </p:nvSpPr>
          <p:spPr>
            <a:xfrm>
              <a:off x="905256" y="2979115"/>
              <a:ext cx="707746" cy="152705"/>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最大削減効果</a:t>
              </a:r>
              <a:endParaRPr lang="en-US" sz="800" dirty="0"/>
            </a:p>
          </p:txBody>
        </p:sp>
        <p:sp>
          <p:nvSpPr>
            <p:cNvPr id="21" name="Text 18"/>
            <p:cNvSpPr txBox="1"/>
            <p:nvPr/>
          </p:nvSpPr>
          <p:spPr>
            <a:xfrm>
              <a:off x="847649" y="3146450"/>
              <a:ext cx="576986" cy="352958"/>
            </a:xfrm>
            <a:prstGeom prst="rect">
              <a:avLst/>
            </a:prstGeom>
            <a:noFill/>
            <a:ln/>
          </p:spPr>
          <p:txBody>
            <a:bodyPr wrap="square" lIns="0" tIns="0" rIns="0" bIns="0" rtlCol="0" anchor="ctr"/>
            <a:lstStyle/>
            <a:p>
              <a:pPr marL="0" indent="0" algn="l">
                <a:buNone/>
              </a:pPr>
              <a:r>
                <a:rPr lang="en-US" sz="1900" b="1" dirty="0">
                  <a:solidFill>
                    <a:srgbClr val="1F2937"/>
                  </a:solidFill>
                  <a:latin typeface="Noto Sans JP" pitchFamily="34" charset="0"/>
                  <a:ea typeface="Noto Sans JP" pitchFamily="34" charset="-122"/>
                  <a:cs typeface="Noto Sans JP" pitchFamily="34" charset="-120"/>
                </a:rPr>
                <a:t>9.9</a:t>
              </a:r>
              <a:endParaRPr lang="en-US" sz="1900" dirty="0"/>
            </a:p>
          </p:txBody>
        </p:sp>
        <p:sp>
          <p:nvSpPr>
            <p:cNvPr id="22" name="Text 19"/>
            <p:cNvSpPr txBox="1"/>
            <p:nvPr/>
          </p:nvSpPr>
          <p:spPr>
            <a:xfrm>
              <a:off x="1236269" y="3289097"/>
              <a:ext cx="216713"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a:t>
              </a:r>
              <a:endParaRPr lang="en-US" sz="900" dirty="0"/>
            </a:p>
          </p:txBody>
        </p:sp>
        <p:sp>
          <p:nvSpPr>
            <p:cNvPr id="23" name="Text 20"/>
            <p:cNvSpPr txBox="1"/>
            <p:nvPr/>
          </p:nvSpPr>
          <p:spPr>
            <a:xfrm>
              <a:off x="847649" y="3503981"/>
              <a:ext cx="1464869"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業務時間削減（最大値）</a:t>
              </a:r>
              <a:endParaRPr lang="en-US" sz="900" dirty="0"/>
            </a:p>
          </p:txBody>
        </p:sp>
        <p:sp>
          <p:nvSpPr>
            <p:cNvPr id="24" name="Shape 21"/>
            <p:cNvSpPr/>
            <p:nvPr/>
          </p:nvSpPr>
          <p:spPr>
            <a:xfrm>
              <a:off x="847649" y="3842309"/>
              <a:ext cx="3029407" cy="9144"/>
            </a:xfrm>
            <a:prstGeom prst="rect">
              <a:avLst/>
            </a:prstGeom>
            <a:solidFill>
              <a:srgbClr val="E5E7EB"/>
            </a:solidFill>
            <a:ln/>
          </p:spPr>
          <p:txBody>
            <a:bodyPr/>
            <a:lstStyle/>
            <a:p>
              <a:endParaRPr lang="ja-JP" altLang="en-US"/>
            </a:p>
          </p:txBody>
        </p:sp>
        <p:sp>
          <p:nvSpPr>
            <p:cNvPr id="25" name="Text 22"/>
            <p:cNvSpPr txBox="1"/>
            <p:nvPr/>
          </p:nvSpPr>
          <p:spPr>
            <a:xfrm>
              <a:off x="847649" y="3966667"/>
              <a:ext cx="3084271" cy="581558"/>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400→1,800→10,000名の段階的展開。「Copilotチャレンジカップ」で83件の応募を集め、全組織に利用者を配置。</a:t>
              </a:r>
              <a:endParaRPr lang="en-US" sz="900" dirty="0"/>
            </a:p>
          </p:txBody>
        </p:sp>
        <p:sp>
          <p:nvSpPr>
            <p:cNvPr id="26" name="Shape 23"/>
            <p:cNvSpPr/>
            <p:nvPr/>
          </p:nvSpPr>
          <p:spPr>
            <a:xfrm>
              <a:off x="4343400" y="1552651"/>
              <a:ext cx="3504895" cy="3247949"/>
            </a:xfrm>
            <a:prstGeom prst="roundRect">
              <a:avLst>
                <a:gd name="adj" fmla="val 991"/>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27" name="Shape 24"/>
            <p:cNvSpPr/>
            <p:nvPr/>
          </p:nvSpPr>
          <p:spPr>
            <a:xfrm>
              <a:off x="4352544" y="1561795"/>
              <a:ext cx="3486607" cy="38405"/>
            </a:xfrm>
            <a:prstGeom prst="rect">
              <a:avLst/>
            </a:prstGeom>
            <a:solidFill>
              <a:srgbClr val="0050B3"/>
            </a:solidFill>
            <a:ln/>
          </p:spPr>
          <p:txBody>
            <a:bodyPr/>
            <a:lstStyle/>
            <a:p>
              <a:endParaRPr lang="ja-JP" altLang="en-US"/>
            </a:p>
          </p:txBody>
        </p:sp>
        <p:sp>
          <p:nvSpPr>
            <p:cNvPr id="28" name="Shape 25"/>
            <p:cNvSpPr/>
            <p:nvPr/>
          </p:nvSpPr>
          <p:spPr>
            <a:xfrm>
              <a:off x="4581144" y="1790395"/>
              <a:ext cx="418795" cy="418795"/>
            </a:xfrm>
            <a:prstGeom prst="roundRect">
              <a:avLst>
                <a:gd name="adj" fmla="val 39698"/>
              </a:avLst>
            </a:prstGeom>
            <a:solidFill>
              <a:srgbClr val="E6F7FF"/>
            </a:solidFill>
            <a:ln/>
          </p:spPr>
          <p:txBody>
            <a:bodyPr/>
            <a:lstStyle/>
            <a:p>
              <a:endParaRPr lang="ja-JP" altLang="en-US"/>
            </a:p>
          </p:txBody>
        </p:sp>
        <p:pic>
          <p:nvPicPr>
            <p:cNvPr id="29" name="Image 1" descr="preencoded.png"/>
            <p:cNvPicPr>
              <a:picLocks noChangeAspect="1"/>
            </p:cNvPicPr>
            <p:nvPr/>
          </p:nvPicPr>
          <p:blipFill>
            <a:blip r:embed="rId4"/>
            <a:srcRect l="-1282" r="-1282"/>
            <a:stretch/>
          </p:blipFill>
          <p:spPr>
            <a:xfrm>
              <a:off x="4681728" y="1904695"/>
              <a:ext cx="219456" cy="190195"/>
            </a:xfrm>
            <a:prstGeom prst="rect">
              <a:avLst/>
            </a:prstGeom>
          </p:spPr>
        </p:pic>
        <p:sp>
          <p:nvSpPr>
            <p:cNvPr id="30" name="Text 26"/>
            <p:cNvSpPr txBox="1"/>
            <p:nvPr/>
          </p:nvSpPr>
          <p:spPr>
            <a:xfrm>
              <a:off x="6247181" y="1790395"/>
              <a:ext cx="1472184" cy="191110"/>
            </a:xfrm>
            <a:prstGeom prst="rect">
              <a:avLst/>
            </a:prstGeom>
            <a:noFill/>
            <a:ln/>
          </p:spPr>
          <p:txBody>
            <a:bodyPr wrap="square" lIns="0" tIns="0" rIns="0" bIns="0" rtlCol="0" anchor="ctr"/>
            <a:lstStyle/>
            <a:p>
              <a:pPr marL="0" indent="0" algn="r">
                <a:buNone/>
              </a:pPr>
              <a:r>
                <a:rPr lang="en-US" sz="1000" dirty="0">
                  <a:solidFill>
                    <a:srgbClr val="6B7280"/>
                  </a:solidFill>
                  <a:latin typeface="Noto Sans JP" pitchFamily="34" charset="0"/>
                  <a:ea typeface="Noto Sans JP" pitchFamily="34" charset="-122"/>
                  <a:cs typeface="Noto Sans JP" pitchFamily="34" charset="-120"/>
                </a:rPr>
                <a:t>パナソニック コネクト</a:t>
              </a:r>
              <a:endParaRPr lang="en-US" sz="1000" dirty="0"/>
            </a:p>
          </p:txBody>
        </p:sp>
        <p:sp>
          <p:nvSpPr>
            <p:cNvPr id="31" name="Text 27"/>
            <p:cNvSpPr txBox="1"/>
            <p:nvPr/>
          </p:nvSpPr>
          <p:spPr>
            <a:xfrm>
              <a:off x="4581144" y="2305202"/>
              <a:ext cx="1672438"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JP" pitchFamily="34" charset="0"/>
                  <a:ea typeface="Noto Sans JP" pitchFamily="34" charset="-122"/>
                  <a:cs typeface="Noto Sans JP" pitchFamily="34" charset="-120"/>
                </a:rPr>
                <a:t>国内最速導入による</a:t>
              </a:r>
              <a:endParaRPr lang="en-US" sz="1300" dirty="0"/>
            </a:p>
          </p:txBody>
        </p:sp>
        <p:sp>
          <p:nvSpPr>
            <p:cNvPr id="32" name="Text 28"/>
            <p:cNvSpPr txBox="1"/>
            <p:nvPr/>
          </p:nvSpPr>
          <p:spPr>
            <a:xfrm>
              <a:off x="4581144" y="2528316"/>
              <a:ext cx="1500530"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JP" pitchFamily="34" charset="0"/>
                  <a:ea typeface="Noto Sans JP" pitchFamily="34" charset="-122"/>
                  <a:cs typeface="Noto Sans JP" pitchFamily="34" charset="-120"/>
                </a:rPr>
                <a:t>大規模な時間創出</a:t>
              </a:r>
              <a:endParaRPr lang="en-US" sz="1300" dirty="0"/>
            </a:p>
          </p:txBody>
        </p:sp>
        <p:sp>
          <p:nvSpPr>
            <p:cNvPr id="33" name="Shape 29"/>
            <p:cNvSpPr/>
            <p:nvPr/>
          </p:nvSpPr>
          <p:spPr>
            <a:xfrm>
              <a:off x="4581144" y="2960827"/>
              <a:ext cx="743407" cy="200254"/>
            </a:xfrm>
            <a:prstGeom prst="roundRect">
              <a:avLst>
                <a:gd name="adj" fmla="val 86975"/>
              </a:avLst>
            </a:prstGeom>
            <a:solidFill>
              <a:srgbClr val="F3F4F6"/>
            </a:solidFill>
            <a:ln/>
          </p:spPr>
          <p:txBody>
            <a:bodyPr/>
            <a:lstStyle/>
            <a:p>
              <a:endParaRPr lang="ja-JP" altLang="en-US"/>
            </a:p>
          </p:txBody>
        </p:sp>
        <p:sp>
          <p:nvSpPr>
            <p:cNvPr id="34" name="Text 30"/>
            <p:cNvSpPr txBox="1"/>
            <p:nvPr/>
          </p:nvSpPr>
          <p:spPr>
            <a:xfrm>
              <a:off x="4638751" y="2979115"/>
              <a:ext cx="707746" cy="152705"/>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年間創出時間</a:t>
              </a:r>
              <a:endParaRPr lang="en-US" sz="800" dirty="0"/>
            </a:p>
          </p:txBody>
        </p:sp>
        <p:sp>
          <p:nvSpPr>
            <p:cNvPr id="35" name="Text 31"/>
            <p:cNvSpPr txBox="1"/>
            <p:nvPr/>
          </p:nvSpPr>
          <p:spPr>
            <a:xfrm>
              <a:off x="4581144" y="3146450"/>
              <a:ext cx="728777" cy="352958"/>
            </a:xfrm>
            <a:prstGeom prst="rect">
              <a:avLst/>
            </a:prstGeom>
            <a:noFill/>
            <a:ln/>
          </p:spPr>
          <p:txBody>
            <a:bodyPr wrap="square" lIns="0" tIns="0" rIns="0" bIns="0" rtlCol="0" anchor="ctr"/>
            <a:lstStyle/>
            <a:p>
              <a:pPr marL="0" indent="0" algn="l">
                <a:buNone/>
              </a:pPr>
              <a:r>
                <a:rPr lang="en-US" sz="1900" b="1" dirty="0">
                  <a:solidFill>
                    <a:srgbClr val="1F2937"/>
                  </a:solidFill>
                  <a:latin typeface="Noto Sans JP" pitchFamily="34" charset="0"/>
                  <a:ea typeface="Noto Sans JP" pitchFamily="34" charset="-122"/>
                  <a:cs typeface="Noto Sans JP" pitchFamily="34" charset="-120"/>
                </a:rPr>
                <a:t>18.6</a:t>
              </a:r>
              <a:endParaRPr lang="en-US" sz="1900" dirty="0"/>
            </a:p>
          </p:txBody>
        </p:sp>
        <p:sp>
          <p:nvSpPr>
            <p:cNvPr id="36" name="Text 32"/>
            <p:cNvSpPr txBox="1"/>
            <p:nvPr/>
          </p:nvSpPr>
          <p:spPr>
            <a:xfrm>
              <a:off x="5120640" y="3289097"/>
              <a:ext cx="474574"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万時間</a:t>
              </a:r>
              <a:endParaRPr lang="en-US" sz="900" dirty="0"/>
            </a:p>
          </p:txBody>
        </p:sp>
        <p:sp>
          <p:nvSpPr>
            <p:cNvPr id="37" name="Text 33"/>
            <p:cNvSpPr txBox="1"/>
            <p:nvPr/>
          </p:nvSpPr>
          <p:spPr>
            <a:xfrm>
              <a:off x="4581144" y="3503981"/>
              <a:ext cx="1341425"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全社削減効果（年間）</a:t>
              </a:r>
              <a:endParaRPr lang="en-US" sz="900" dirty="0"/>
            </a:p>
          </p:txBody>
        </p:sp>
        <p:sp>
          <p:nvSpPr>
            <p:cNvPr id="38" name="Shape 34"/>
            <p:cNvSpPr/>
            <p:nvPr/>
          </p:nvSpPr>
          <p:spPr>
            <a:xfrm>
              <a:off x="4581144" y="3842309"/>
              <a:ext cx="3029407" cy="9144"/>
            </a:xfrm>
            <a:prstGeom prst="rect">
              <a:avLst/>
            </a:prstGeom>
            <a:solidFill>
              <a:srgbClr val="E5E7EB"/>
            </a:solidFill>
            <a:ln/>
          </p:spPr>
          <p:txBody>
            <a:bodyPr/>
            <a:lstStyle/>
            <a:p>
              <a:endParaRPr lang="ja-JP" altLang="en-US"/>
            </a:p>
          </p:txBody>
        </p:sp>
        <p:sp>
          <p:nvSpPr>
            <p:cNvPr id="39" name="Text 35"/>
            <p:cNvSpPr txBox="1"/>
            <p:nvPr/>
          </p:nvSpPr>
          <p:spPr>
            <a:xfrm>
              <a:off x="4581144" y="3966667"/>
              <a:ext cx="3045866" cy="581558"/>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AIアシスタントの先行導入で業務プロセスを刷新。FAQ対応やプログラミング補助など多岐にわたる領域で活用。</a:t>
              </a:r>
              <a:endParaRPr lang="en-US" sz="900" dirty="0"/>
            </a:p>
          </p:txBody>
        </p:sp>
        <p:sp>
          <p:nvSpPr>
            <p:cNvPr id="40" name="Shape 36"/>
            <p:cNvSpPr/>
            <p:nvPr/>
          </p:nvSpPr>
          <p:spPr>
            <a:xfrm>
              <a:off x="8076895" y="1552651"/>
              <a:ext cx="3504895" cy="3247949"/>
            </a:xfrm>
            <a:prstGeom prst="roundRect">
              <a:avLst>
                <a:gd name="adj" fmla="val 991"/>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41" name="Shape 37"/>
            <p:cNvSpPr/>
            <p:nvPr/>
          </p:nvSpPr>
          <p:spPr>
            <a:xfrm>
              <a:off x="8086954" y="1561795"/>
              <a:ext cx="3486607" cy="38405"/>
            </a:xfrm>
            <a:prstGeom prst="rect">
              <a:avLst/>
            </a:prstGeom>
            <a:solidFill>
              <a:srgbClr val="D32F2F"/>
            </a:solidFill>
            <a:ln/>
          </p:spPr>
          <p:txBody>
            <a:bodyPr/>
            <a:lstStyle/>
            <a:p>
              <a:endParaRPr lang="ja-JP" altLang="en-US"/>
            </a:p>
          </p:txBody>
        </p:sp>
        <p:sp>
          <p:nvSpPr>
            <p:cNvPr id="42" name="Shape 38"/>
            <p:cNvSpPr/>
            <p:nvPr/>
          </p:nvSpPr>
          <p:spPr>
            <a:xfrm>
              <a:off x="8315554" y="1790395"/>
              <a:ext cx="418795" cy="418795"/>
            </a:xfrm>
            <a:prstGeom prst="roundRect">
              <a:avLst>
                <a:gd name="adj" fmla="val 39698"/>
              </a:avLst>
            </a:prstGeom>
            <a:solidFill>
              <a:srgbClr val="FFEBEE"/>
            </a:solidFill>
            <a:ln/>
          </p:spPr>
          <p:txBody>
            <a:bodyPr/>
            <a:lstStyle/>
            <a:p>
              <a:endParaRPr lang="ja-JP" altLang="en-US"/>
            </a:p>
          </p:txBody>
        </p:sp>
        <p:pic>
          <p:nvPicPr>
            <p:cNvPr id="43" name="Image 2" descr="preencoded.png"/>
            <p:cNvPicPr>
              <a:picLocks noChangeAspect="1"/>
            </p:cNvPicPr>
            <p:nvPr/>
          </p:nvPicPr>
          <p:blipFill>
            <a:blip r:embed="rId5"/>
            <a:srcRect/>
            <a:stretch/>
          </p:blipFill>
          <p:spPr>
            <a:xfrm>
              <a:off x="8429854" y="1904695"/>
              <a:ext cx="190195" cy="190195"/>
            </a:xfrm>
            <a:prstGeom prst="rect">
              <a:avLst/>
            </a:prstGeom>
          </p:spPr>
        </p:pic>
        <p:sp>
          <p:nvSpPr>
            <p:cNvPr id="44" name="Text 39"/>
            <p:cNvSpPr txBox="1"/>
            <p:nvPr/>
          </p:nvSpPr>
          <p:spPr>
            <a:xfrm>
              <a:off x="10810951" y="1790395"/>
              <a:ext cx="633679" cy="191110"/>
            </a:xfrm>
            <a:prstGeom prst="rect">
              <a:avLst/>
            </a:prstGeom>
            <a:noFill/>
            <a:ln/>
          </p:spPr>
          <p:txBody>
            <a:bodyPr wrap="square" lIns="0" tIns="0" rIns="0" bIns="0" rtlCol="0" anchor="ctr"/>
            <a:lstStyle/>
            <a:p>
              <a:pPr marL="0" indent="0" algn="r">
                <a:buNone/>
              </a:pPr>
              <a:r>
                <a:rPr lang="en-US" sz="1000" dirty="0">
                  <a:solidFill>
                    <a:srgbClr val="6B7280"/>
                  </a:solidFill>
                  <a:latin typeface="Noto Sans JP" pitchFamily="34" charset="0"/>
                  <a:ea typeface="Noto Sans JP" pitchFamily="34" charset="-122"/>
                  <a:cs typeface="Noto Sans JP" pitchFamily="34" charset="-120"/>
                </a:rPr>
                <a:t>デンソー</a:t>
              </a:r>
              <a:endParaRPr lang="en-US" sz="1000" dirty="0"/>
            </a:p>
          </p:txBody>
        </p:sp>
        <p:sp>
          <p:nvSpPr>
            <p:cNvPr id="45" name="Text 40"/>
            <p:cNvSpPr txBox="1"/>
            <p:nvPr/>
          </p:nvSpPr>
          <p:spPr>
            <a:xfrm>
              <a:off x="8315554" y="2305202"/>
              <a:ext cx="2186330"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JP" pitchFamily="34" charset="0"/>
                  <a:ea typeface="Noto Sans JP" pitchFamily="34" charset="-122"/>
                  <a:cs typeface="Noto Sans JP" pitchFamily="34" charset="-120"/>
                </a:rPr>
                <a:t>製造現場とオフィス業務の</a:t>
              </a:r>
              <a:endParaRPr lang="en-US" sz="1300" dirty="0"/>
            </a:p>
          </p:txBody>
        </p:sp>
        <p:sp>
          <p:nvSpPr>
            <p:cNvPr id="46" name="Text 41"/>
            <p:cNvSpPr txBox="1"/>
            <p:nvPr/>
          </p:nvSpPr>
          <p:spPr>
            <a:xfrm>
              <a:off x="8315554" y="2528316"/>
              <a:ext cx="1500530"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JP" pitchFamily="34" charset="0"/>
                  <a:ea typeface="Noto Sans JP" pitchFamily="34" charset="-122"/>
                  <a:cs typeface="Noto Sans JP" pitchFamily="34" charset="-120"/>
                </a:rPr>
                <a:t>ハイブリッド活用</a:t>
              </a:r>
              <a:endParaRPr lang="en-US" sz="1300" dirty="0"/>
            </a:p>
          </p:txBody>
        </p:sp>
        <p:sp>
          <p:nvSpPr>
            <p:cNvPr id="47" name="Shape 42"/>
            <p:cNvSpPr/>
            <p:nvPr/>
          </p:nvSpPr>
          <p:spPr>
            <a:xfrm>
              <a:off x="8315554" y="2960827"/>
              <a:ext cx="847649" cy="200254"/>
            </a:xfrm>
            <a:prstGeom prst="roundRect">
              <a:avLst>
                <a:gd name="adj" fmla="val 86975"/>
              </a:avLst>
            </a:prstGeom>
            <a:solidFill>
              <a:srgbClr val="F3F4F6"/>
            </a:solidFill>
            <a:ln/>
          </p:spPr>
          <p:txBody>
            <a:bodyPr/>
            <a:lstStyle/>
            <a:p>
              <a:endParaRPr lang="ja-JP" altLang="en-US"/>
            </a:p>
          </p:txBody>
        </p:sp>
        <p:sp>
          <p:nvSpPr>
            <p:cNvPr id="48" name="Text 43"/>
            <p:cNvSpPr txBox="1"/>
            <p:nvPr/>
          </p:nvSpPr>
          <p:spPr>
            <a:xfrm>
              <a:off x="8372246" y="2979115"/>
              <a:ext cx="812902" cy="152705"/>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一人当たり効果</a:t>
              </a:r>
              <a:endParaRPr lang="en-US" sz="800" dirty="0"/>
            </a:p>
          </p:txBody>
        </p:sp>
        <p:sp>
          <p:nvSpPr>
            <p:cNvPr id="49" name="Text 44"/>
            <p:cNvSpPr txBox="1"/>
            <p:nvPr/>
          </p:nvSpPr>
          <p:spPr>
            <a:xfrm>
              <a:off x="8315554" y="3146450"/>
              <a:ext cx="491033" cy="352958"/>
            </a:xfrm>
            <a:prstGeom prst="rect">
              <a:avLst/>
            </a:prstGeom>
            <a:noFill/>
            <a:ln/>
          </p:spPr>
          <p:txBody>
            <a:bodyPr wrap="square" lIns="0" tIns="0" rIns="0" bIns="0" rtlCol="0" anchor="ctr"/>
            <a:lstStyle/>
            <a:p>
              <a:pPr marL="0" indent="0" algn="l">
                <a:buNone/>
              </a:pPr>
              <a:r>
                <a:rPr lang="en-US" sz="1900" b="1" dirty="0">
                  <a:solidFill>
                    <a:srgbClr val="1F2937"/>
                  </a:solidFill>
                  <a:latin typeface="Noto Sans JP" pitchFamily="34" charset="0"/>
                  <a:ea typeface="Noto Sans JP" pitchFamily="34" charset="-122"/>
                  <a:cs typeface="Noto Sans JP" pitchFamily="34" charset="-120"/>
                </a:rPr>
                <a:t>12</a:t>
              </a:r>
              <a:endParaRPr lang="en-US" sz="1900" dirty="0"/>
            </a:p>
          </p:txBody>
        </p:sp>
        <p:sp>
          <p:nvSpPr>
            <p:cNvPr id="50" name="Text 45"/>
            <p:cNvSpPr txBox="1"/>
            <p:nvPr/>
          </p:nvSpPr>
          <p:spPr>
            <a:xfrm>
              <a:off x="8617306" y="3289097"/>
              <a:ext cx="350215"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時間</a:t>
              </a:r>
              <a:endParaRPr lang="en-US" sz="900" dirty="0"/>
            </a:p>
          </p:txBody>
        </p:sp>
        <p:sp>
          <p:nvSpPr>
            <p:cNvPr id="51" name="Text 46"/>
            <p:cNvSpPr txBox="1"/>
            <p:nvPr/>
          </p:nvSpPr>
          <p:spPr>
            <a:xfrm>
              <a:off x="8315554" y="3503981"/>
              <a:ext cx="969264"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月平均削減時間</a:t>
              </a:r>
              <a:endParaRPr lang="en-US" sz="900" dirty="0"/>
            </a:p>
          </p:txBody>
        </p:sp>
        <p:sp>
          <p:nvSpPr>
            <p:cNvPr id="52" name="Shape 47"/>
            <p:cNvSpPr/>
            <p:nvPr/>
          </p:nvSpPr>
          <p:spPr>
            <a:xfrm>
              <a:off x="8315554" y="4040734"/>
              <a:ext cx="3029407" cy="9144"/>
            </a:xfrm>
            <a:prstGeom prst="rect">
              <a:avLst/>
            </a:prstGeom>
            <a:solidFill>
              <a:srgbClr val="E5E7EB"/>
            </a:solidFill>
            <a:ln/>
          </p:spPr>
          <p:txBody>
            <a:bodyPr/>
            <a:lstStyle/>
            <a:p>
              <a:endParaRPr lang="ja-JP" altLang="en-US"/>
            </a:p>
          </p:txBody>
        </p:sp>
        <p:sp>
          <p:nvSpPr>
            <p:cNvPr id="53" name="Text 48"/>
            <p:cNvSpPr txBox="1"/>
            <p:nvPr/>
          </p:nvSpPr>
          <p:spPr>
            <a:xfrm>
              <a:off x="8315554" y="4164178"/>
              <a:ext cx="3074213" cy="381305"/>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技術資料の検索・要約や会議効率化に注力。エンジニアリング業務の付加価値向上に直結する時間を創出。</a:t>
              </a:r>
              <a:endParaRPr lang="en-US" sz="900" dirty="0"/>
            </a:p>
          </p:txBody>
        </p:sp>
        <p:sp>
          <p:nvSpPr>
            <p:cNvPr id="54" name="Shape 49"/>
            <p:cNvSpPr/>
            <p:nvPr/>
          </p:nvSpPr>
          <p:spPr>
            <a:xfrm>
              <a:off x="609905" y="5027371"/>
              <a:ext cx="4934102" cy="2734056"/>
            </a:xfrm>
            <a:prstGeom prst="roundRect">
              <a:avLst>
                <a:gd name="adj" fmla="val 1398"/>
              </a:avLst>
            </a:prstGeom>
            <a:noFill/>
            <a:ln w="12700">
              <a:solidFill>
                <a:srgbClr val="E2E8F0"/>
              </a:solidFill>
              <a:prstDash val="solid"/>
            </a:ln>
          </p:spPr>
          <p:txBody>
            <a:bodyPr/>
            <a:lstStyle/>
            <a:p>
              <a:endParaRPr lang="ja-JP" altLang="en-US"/>
            </a:p>
          </p:txBody>
        </p:sp>
        <p:sp>
          <p:nvSpPr>
            <p:cNvPr id="55" name="Shape 50"/>
            <p:cNvSpPr/>
            <p:nvPr/>
          </p:nvSpPr>
          <p:spPr>
            <a:xfrm>
              <a:off x="847649" y="5608015"/>
              <a:ext cx="4457700" cy="19202"/>
            </a:xfrm>
            <a:prstGeom prst="rect">
              <a:avLst/>
            </a:prstGeom>
            <a:solidFill>
              <a:srgbClr val="F1F5F9"/>
            </a:solidFill>
            <a:ln/>
          </p:spPr>
          <p:txBody>
            <a:bodyPr/>
            <a:lstStyle/>
            <a:p>
              <a:endParaRPr lang="ja-JP" altLang="en-US"/>
            </a:p>
          </p:txBody>
        </p:sp>
        <p:pic>
          <p:nvPicPr>
            <p:cNvPr id="56" name="Image 3" descr="preencoded.png"/>
            <p:cNvPicPr>
              <a:picLocks noChangeAspect="1"/>
            </p:cNvPicPr>
            <p:nvPr/>
          </p:nvPicPr>
          <p:blipFill>
            <a:blip r:embed="rId6"/>
            <a:srcRect/>
            <a:stretch/>
          </p:blipFill>
          <p:spPr>
            <a:xfrm>
              <a:off x="847649" y="5294376"/>
              <a:ext cx="171907" cy="171907"/>
            </a:xfrm>
            <a:prstGeom prst="rect">
              <a:avLst/>
            </a:prstGeom>
          </p:spPr>
        </p:pic>
        <p:sp>
          <p:nvSpPr>
            <p:cNvPr id="57" name="Text 51"/>
            <p:cNvSpPr txBox="1"/>
            <p:nvPr/>
          </p:nvSpPr>
          <p:spPr>
            <a:xfrm>
              <a:off x="1114654" y="5265115"/>
              <a:ext cx="3200400"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3社の共通成功要因（Key Success Factors）</a:t>
              </a:r>
              <a:endParaRPr lang="en-US" sz="1200" dirty="0"/>
            </a:p>
          </p:txBody>
        </p:sp>
        <p:sp>
          <p:nvSpPr>
            <p:cNvPr id="58" name="Shape 52"/>
            <p:cNvSpPr/>
            <p:nvPr/>
          </p:nvSpPr>
          <p:spPr>
            <a:xfrm>
              <a:off x="847649" y="5799125"/>
              <a:ext cx="228600" cy="228600"/>
            </a:xfrm>
            <a:prstGeom prst="ellipse">
              <a:avLst/>
            </a:prstGeom>
            <a:solidFill>
              <a:srgbClr val="F0F9FF"/>
            </a:solidFill>
            <a:ln/>
          </p:spPr>
          <p:txBody>
            <a:bodyPr/>
            <a:lstStyle/>
            <a:p>
              <a:endParaRPr lang="ja-JP" altLang="en-US"/>
            </a:p>
          </p:txBody>
        </p:sp>
        <p:pic>
          <p:nvPicPr>
            <p:cNvPr id="59" name="Image 4" descr="preencoded.png"/>
            <p:cNvPicPr>
              <a:picLocks noChangeAspect="1"/>
            </p:cNvPicPr>
            <p:nvPr/>
          </p:nvPicPr>
          <p:blipFill>
            <a:blip r:embed="rId7"/>
            <a:srcRect l="-2571" r="-2571"/>
            <a:stretch/>
          </p:blipFill>
          <p:spPr>
            <a:xfrm>
              <a:off x="909828" y="5855818"/>
              <a:ext cx="105156" cy="114300"/>
            </a:xfrm>
            <a:prstGeom prst="rect">
              <a:avLst/>
            </a:prstGeom>
          </p:spPr>
        </p:pic>
        <p:sp>
          <p:nvSpPr>
            <p:cNvPr id="60" name="Text 53"/>
            <p:cNvSpPr txBox="1"/>
            <p:nvPr/>
          </p:nvSpPr>
          <p:spPr>
            <a:xfrm>
              <a:off x="1190549" y="5779922"/>
              <a:ext cx="4120286" cy="391363"/>
            </a:xfrm>
            <a:prstGeom prst="rect">
              <a:avLst/>
            </a:prstGeom>
            <a:noFill/>
            <a:ln/>
          </p:spPr>
          <p:txBody>
            <a:bodyPr wrap="square" lIns="0" tIns="0" rIns="0" bIns="0" rtlCol="0" anchor="ctr"/>
            <a:lstStyle/>
            <a:p>
              <a:pPr marL="0" indent="0" algn="l">
                <a:buNone/>
              </a:pPr>
              <a:r>
                <a:rPr lang="en-US" sz="1000" b="1" dirty="0">
                  <a:solidFill>
                    <a:srgbClr val="FF0000"/>
                  </a:solidFill>
                  <a:latin typeface="Noto Sans JP" pitchFamily="34" charset="0"/>
                  <a:ea typeface="Noto Sans JP" pitchFamily="34" charset="-122"/>
                  <a:cs typeface="Noto Sans JP" pitchFamily="34" charset="-120"/>
                </a:rPr>
                <a:t>段階的なスモールスタート</a:t>
              </a:r>
              <a:r>
                <a:rPr lang="en-US" sz="1000" dirty="0">
                  <a:solidFill>
                    <a:srgbClr val="374151"/>
                  </a:solidFill>
                  <a:latin typeface="Noto Sans JP" pitchFamily="34" charset="0"/>
                  <a:ea typeface="Noto Sans JP" pitchFamily="34" charset="-122"/>
                  <a:cs typeface="Noto Sans JP" pitchFamily="34" charset="-120"/>
                </a:rPr>
                <a:t>： 全社一斉導入ではなく、PoCを経て効果を確認しながら拡大</a:t>
              </a:r>
              <a:endParaRPr lang="en-US" sz="1000" dirty="0"/>
            </a:p>
          </p:txBody>
        </p:sp>
        <p:sp>
          <p:nvSpPr>
            <p:cNvPr id="61" name="Shape 54"/>
            <p:cNvSpPr/>
            <p:nvPr/>
          </p:nvSpPr>
          <p:spPr>
            <a:xfrm>
              <a:off x="847649" y="6313018"/>
              <a:ext cx="228600" cy="228600"/>
            </a:xfrm>
            <a:prstGeom prst="ellipse">
              <a:avLst/>
            </a:prstGeom>
            <a:solidFill>
              <a:srgbClr val="F0F9FF"/>
            </a:solidFill>
            <a:ln/>
          </p:spPr>
          <p:txBody>
            <a:bodyPr/>
            <a:lstStyle/>
            <a:p>
              <a:endParaRPr lang="ja-JP" altLang="en-US"/>
            </a:p>
          </p:txBody>
        </p:sp>
        <p:pic>
          <p:nvPicPr>
            <p:cNvPr id="62" name="Image 5" descr="preencoded.png"/>
            <p:cNvPicPr>
              <a:picLocks noChangeAspect="1"/>
            </p:cNvPicPr>
            <p:nvPr/>
          </p:nvPicPr>
          <p:blipFill>
            <a:blip r:embed="rId7"/>
            <a:srcRect l="-2571" r="-2571"/>
            <a:stretch/>
          </p:blipFill>
          <p:spPr>
            <a:xfrm>
              <a:off x="909828" y="6370625"/>
              <a:ext cx="105156" cy="114300"/>
            </a:xfrm>
            <a:prstGeom prst="rect">
              <a:avLst/>
            </a:prstGeom>
          </p:spPr>
        </p:pic>
        <p:sp>
          <p:nvSpPr>
            <p:cNvPr id="63" name="Text 55"/>
            <p:cNvSpPr txBox="1"/>
            <p:nvPr/>
          </p:nvSpPr>
          <p:spPr>
            <a:xfrm>
              <a:off x="1190549" y="6293815"/>
              <a:ext cx="4129430" cy="391363"/>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ゲーミフィケーション： コンペや表彰制度（チャレンジカップ等）で楽しみながら浸透</a:t>
              </a:r>
              <a:endParaRPr lang="en-US" sz="1000" dirty="0"/>
            </a:p>
          </p:txBody>
        </p:sp>
        <p:sp>
          <p:nvSpPr>
            <p:cNvPr id="64" name="Shape 56"/>
            <p:cNvSpPr/>
            <p:nvPr/>
          </p:nvSpPr>
          <p:spPr>
            <a:xfrm>
              <a:off x="847649" y="6827825"/>
              <a:ext cx="228600" cy="228600"/>
            </a:xfrm>
            <a:prstGeom prst="ellipse">
              <a:avLst/>
            </a:prstGeom>
            <a:solidFill>
              <a:srgbClr val="F0F9FF"/>
            </a:solidFill>
            <a:ln/>
          </p:spPr>
          <p:txBody>
            <a:bodyPr/>
            <a:lstStyle/>
            <a:p>
              <a:endParaRPr lang="ja-JP" altLang="en-US"/>
            </a:p>
          </p:txBody>
        </p:sp>
        <p:pic>
          <p:nvPicPr>
            <p:cNvPr id="65" name="Image 6" descr="preencoded.png"/>
            <p:cNvPicPr>
              <a:picLocks noChangeAspect="1"/>
            </p:cNvPicPr>
            <p:nvPr/>
          </p:nvPicPr>
          <p:blipFill>
            <a:blip r:embed="rId7"/>
            <a:srcRect l="-2571" r="-2571"/>
            <a:stretch/>
          </p:blipFill>
          <p:spPr>
            <a:xfrm>
              <a:off x="909828" y="6884518"/>
              <a:ext cx="105156" cy="114300"/>
            </a:xfrm>
            <a:prstGeom prst="rect">
              <a:avLst/>
            </a:prstGeom>
          </p:spPr>
        </p:pic>
        <p:sp>
          <p:nvSpPr>
            <p:cNvPr id="66" name="Text 57"/>
            <p:cNvSpPr txBox="1"/>
            <p:nvPr/>
          </p:nvSpPr>
          <p:spPr>
            <a:xfrm>
              <a:off x="1190549" y="6808622"/>
              <a:ext cx="4139489" cy="391363"/>
            </a:xfrm>
            <a:prstGeom prst="rect">
              <a:avLst/>
            </a:prstGeom>
            <a:noFill/>
            <a:ln/>
          </p:spPr>
          <p:txBody>
            <a:bodyPr wrap="square" lIns="0" tIns="0" rIns="0" bIns="0" rtlCol="0" anchor="ctr"/>
            <a:lstStyle/>
            <a:p>
              <a:pPr marL="0" indent="0" algn="l">
                <a:buNone/>
              </a:pPr>
              <a:r>
                <a:rPr lang="en-US" sz="1000" b="1" dirty="0">
                  <a:solidFill>
                    <a:srgbClr val="FF0000"/>
                  </a:solidFill>
                  <a:latin typeface="Noto Sans JP" pitchFamily="34" charset="0"/>
                  <a:ea typeface="Noto Sans JP" pitchFamily="34" charset="-122"/>
                  <a:cs typeface="Noto Sans JP" pitchFamily="34" charset="-120"/>
                </a:rPr>
                <a:t>定量的効果の可視化</a:t>
              </a:r>
              <a:r>
                <a:rPr lang="en-US" sz="1000" dirty="0">
                  <a:solidFill>
                    <a:srgbClr val="374151"/>
                  </a:solidFill>
                  <a:latin typeface="Noto Sans JP" pitchFamily="34" charset="0"/>
                  <a:ea typeface="Noto Sans JP" pitchFamily="34" charset="-122"/>
                  <a:cs typeface="Noto Sans JP" pitchFamily="34" charset="-120"/>
                </a:rPr>
                <a:t>： 「削減時間」や「利用率」を常に計測し、経営層への報告を徹底</a:t>
              </a:r>
              <a:endParaRPr lang="en-US" sz="1000" dirty="0"/>
            </a:p>
          </p:txBody>
        </p:sp>
        <p:sp>
          <p:nvSpPr>
            <p:cNvPr id="67" name="Shape 58"/>
            <p:cNvSpPr/>
            <p:nvPr/>
          </p:nvSpPr>
          <p:spPr>
            <a:xfrm>
              <a:off x="5765292" y="5027371"/>
              <a:ext cx="5820156" cy="2734056"/>
            </a:xfrm>
            <a:prstGeom prst="roundRect">
              <a:avLst>
                <a:gd name="adj" fmla="val 1398"/>
              </a:avLst>
            </a:prstGeom>
            <a:solidFill>
              <a:srgbClr val="FFFFFF"/>
            </a:solidFill>
            <a:ln w="12700">
              <a:solidFill>
                <a:srgbClr val="E2E8F0"/>
              </a:solidFill>
              <a:prstDash val="solid"/>
            </a:ln>
          </p:spPr>
          <p:txBody>
            <a:bodyPr/>
            <a:lstStyle/>
            <a:p>
              <a:endParaRPr lang="ja-JP" altLang="en-US"/>
            </a:p>
          </p:txBody>
        </p:sp>
        <p:sp>
          <p:nvSpPr>
            <p:cNvPr id="68" name="Shape 59"/>
            <p:cNvSpPr/>
            <p:nvPr/>
          </p:nvSpPr>
          <p:spPr>
            <a:xfrm>
              <a:off x="6003036" y="5608015"/>
              <a:ext cx="5343754" cy="19202"/>
            </a:xfrm>
            <a:prstGeom prst="rect">
              <a:avLst/>
            </a:prstGeom>
            <a:solidFill>
              <a:srgbClr val="F1F5F9"/>
            </a:solidFill>
            <a:ln/>
          </p:spPr>
          <p:txBody>
            <a:bodyPr/>
            <a:lstStyle/>
            <a:p>
              <a:endParaRPr lang="ja-JP" altLang="en-US"/>
            </a:p>
          </p:txBody>
        </p:sp>
        <p:pic>
          <p:nvPicPr>
            <p:cNvPr id="69" name="Image 7" descr="preencoded.png"/>
            <p:cNvPicPr>
              <a:picLocks noChangeAspect="1"/>
            </p:cNvPicPr>
            <p:nvPr/>
          </p:nvPicPr>
          <p:blipFill>
            <a:blip r:embed="rId8"/>
            <a:srcRect l="-1773" r="-1773"/>
            <a:stretch/>
          </p:blipFill>
          <p:spPr>
            <a:xfrm>
              <a:off x="6003036" y="5294376"/>
              <a:ext cx="133502" cy="171907"/>
            </a:xfrm>
            <a:prstGeom prst="rect">
              <a:avLst/>
            </a:prstGeom>
          </p:spPr>
        </p:pic>
        <p:sp>
          <p:nvSpPr>
            <p:cNvPr id="70" name="Text 60"/>
            <p:cNvSpPr txBox="1"/>
            <p:nvPr/>
          </p:nvSpPr>
          <p:spPr>
            <a:xfrm>
              <a:off x="6231636" y="5265115"/>
              <a:ext cx="2095805"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アイリスオーヤマ様への示唆</a:t>
              </a:r>
              <a:endParaRPr lang="en-US" sz="1200" dirty="0"/>
            </a:p>
          </p:txBody>
        </p:sp>
        <p:sp>
          <p:nvSpPr>
            <p:cNvPr id="71" name="Shape 61"/>
            <p:cNvSpPr/>
            <p:nvPr/>
          </p:nvSpPr>
          <p:spPr>
            <a:xfrm>
              <a:off x="6003036" y="5779922"/>
              <a:ext cx="2600554" cy="800100"/>
            </a:xfrm>
            <a:prstGeom prst="roundRect">
              <a:avLst>
                <a:gd name="adj" fmla="val 10884"/>
              </a:avLst>
            </a:prstGeom>
            <a:solidFill>
              <a:srgbClr val="F8FAFC"/>
            </a:solidFill>
            <a:ln/>
          </p:spPr>
          <p:txBody>
            <a:bodyPr/>
            <a:lstStyle/>
            <a:p>
              <a:endParaRPr lang="ja-JP" altLang="en-US"/>
            </a:p>
          </p:txBody>
        </p:sp>
        <p:sp>
          <p:nvSpPr>
            <p:cNvPr id="72" name="Shape 62"/>
            <p:cNvSpPr/>
            <p:nvPr/>
          </p:nvSpPr>
          <p:spPr>
            <a:xfrm>
              <a:off x="6003036" y="5779922"/>
              <a:ext cx="38405" cy="800100"/>
            </a:xfrm>
            <a:prstGeom prst="rect">
              <a:avLst/>
            </a:prstGeom>
            <a:solidFill>
              <a:srgbClr val="0078D4"/>
            </a:solidFill>
            <a:ln/>
          </p:spPr>
          <p:txBody>
            <a:bodyPr/>
            <a:lstStyle/>
            <a:p>
              <a:endParaRPr lang="ja-JP" altLang="en-US"/>
            </a:p>
          </p:txBody>
        </p:sp>
        <p:sp>
          <p:nvSpPr>
            <p:cNvPr id="73" name="Text 63"/>
            <p:cNvSpPr txBox="1"/>
            <p:nvPr/>
          </p:nvSpPr>
          <p:spPr>
            <a:xfrm>
              <a:off x="6194146" y="5894222"/>
              <a:ext cx="969264" cy="181051"/>
            </a:xfrm>
            <a:prstGeom prst="rect">
              <a:avLst/>
            </a:prstGeom>
            <a:noFill/>
            <a:ln/>
          </p:spPr>
          <p:txBody>
            <a:bodyPr wrap="square" lIns="0" tIns="0" rIns="0" bIns="0" rtlCol="0" anchor="ctr"/>
            <a:lstStyle/>
            <a:p>
              <a:pPr marL="0" indent="0" algn="l">
                <a:buNone/>
              </a:pPr>
              <a:r>
                <a:rPr lang="en-US" sz="900" b="1" dirty="0">
                  <a:solidFill>
                    <a:srgbClr val="1F2937"/>
                  </a:solidFill>
                  <a:latin typeface="Noto Sans JP" pitchFamily="34" charset="0"/>
                  <a:ea typeface="Noto Sans JP" pitchFamily="34" charset="-122"/>
                  <a:cs typeface="Noto Sans JP" pitchFamily="34" charset="-120"/>
                </a:rPr>
                <a:t>現場主導の推進</a:t>
              </a:r>
              <a:endParaRPr lang="en-US" sz="900" dirty="0"/>
            </a:p>
          </p:txBody>
        </p:sp>
        <p:sp>
          <p:nvSpPr>
            <p:cNvPr id="74" name="Text 64"/>
            <p:cNvSpPr txBox="1"/>
            <p:nvPr/>
          </p:nvSpPr>
          <p:spPr>
            <a:xfrm>
              <a:off x="6194146" y="6118250"/>
              <a:ext cx="2267712" cy="333756"/>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トップダウンだけでなく、九電のように現場からのアイデア募集（コンペ）が有効。</a:t>
              </a:r>
              <a:endParaRPr lang="en-US" sz="900" dirty="0"/>
            </a:p>
          </p:txBody>
        </p:sp>
        <p:sp>
          <p:nvSpPr>
            <p:cNvPr id="75" name="Shape 65"/>
            <p:cNvSpPr/>
            <p:nvPr/>
          </p:nvSpPr>
          <p:spPr>
            <a:xfrm>
              <a:off x="8749894" y="5779922"/>
              <a:ext cx="2600554" cy="800100"/>
            </a:xfrm>
            <a:prstGeom prst="roundRect">
              <a:avLst>
                <a:gd name="adj" fmla="val 10884"/>
              </a:avLst>
            </a:prstGeom>
            <a:solidFill>
              <a:srgbClr val="F8FAFC"/>
            </a:solidFill>
            <a:ln/>
          </p:spPr>
          <p:txBody>
            <a:bodyPr/>
            <a:lstStyle/>
            <a:p>
              <a:endParaRPr lang="ja-JP" altLang="en-US"/>
            </a:p>
          </p:txBody>
        </p:sp>
        <p:sp>
          <p:nvSpPr>
            <p:cNvPr id="76" name="Shape 66"/>
            <p:cNvSpPr/>
            <p:nvPr/>
          </p:nvSpPr>
          <p:spPr>
            <a:xfrm>
              <a:off x="8749894" y="5779922"/>
              <a:ext cx="38405" cy="800100"/>
            </a:xfrm>
            <a:prstGeom prst="rect">
              <a:avLst/>
            </a:prstGeom>
            <a:solidFill>
              <a:srgbClr val="0078D4"/>
            </a:solidFill>
            <a:ln/>
          </p:spPr>
          <p:txBody>
            <a:bodyPr/>
            <a:lstStyle/>
            <a:p>
              <a:endParaRPr lang="ja-JP" altLang="en-US"/>
            </a:p>
          </p:txBody>
        </p:sp>
        <p:sp>
          <p:nvSpPr>
            <p:cNvPr id="77" name="Text 67"/>
            <p:cNvSpPr txBox="1"/>
            <p:nvPr/>
          </p:nvSpPr>
          <p:spPr>
            <a:xfrm>
              <a:off x="8940089" y="5894222"/>
              <a:ext cx="1083564" cy="181051"/>
            </a:xfrm>
            <a:prstGeom prst="rect">
              <a:avLst/>
            </a:prstGeom>
            <a:noFill/>
            <a:ln/>
          </p:spPr>
          <p:txBody>
            <a:bodyPr wrap="square" lIns="0" tIns="0" rIns="0" bIns="0" rtlCol="0" anchor="ctr"/>
            <a:lstStyle/>
            <a:p>
              <a:pPr marL="0" indent="0" algn="l">
                <a:buNone/>
              </a:pPr>
              <a:r>
                <a:rPr lang="en-US" sz="900" b="1" dirty="0">
                  <a:solidFill>
                    <a:srgbClr val="1F2937"/>
                  </a:solidFill>
                  <a:latin typeface="Noto Sans JP" pitchFamily="34" charset="0"/>
                  <a:ea typeface="Noto Sans JP" pitchFamily="34" charset="-122"/>
                  <a:cs typeface="Noto Sans JP" pitchFamily="34" charset="-120"/>
                </a:rPr>
                <a:t>アンバサダー配置</a:t>
              </a:r>
              <a:endParaRPr lang="en-US" sz="900" dirty="0"/>
            </a:p>
          </p:txBody>
        </p:sp>
        <p:sp>
          <p:nvSpPr>
            <p:cNvPr id="78" name="Text 68"/>
            <p:cNvSpPr txBox="1"/>
            <p:nvPr/>
          </p:nvSpPr>
          <p:spPr>
            <a:xfrm>
              <a:off x="8940089" y="6118250"/>
              <a:ext cx="2324405" cy="333756"/>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「全組織に1名以上の利用者」を配置し、身近な相談相手を作ることが定着の鍵。</a:t>
              </a:r>
              <a:endParaRPr lang="en-US" sz="900" dirty="0"/>
            </a:p>
          </p:txBody>
        </p:sp>
        <p:sp>
          <p:nvSpPr>
            <p:cNvPr id="79" name="Shape 69"/>
            <p:cNvSpPr/>
            <p:nvPr/>
          </p:nvSpPr>
          <p:spPr>
            <a:xfrm>
              <a:off x="6003036" y="6727241"/>
              <a:ext cx="2600554" cy="800100"/>
            </a:xfrm>
            <a:prstGeom prst="roundRect">
              <a:avLst>
                <a:gd name="adj" fmla="val 10884"/>
              </a:avLst>
            </a:prstGeom>
            <a:solidFill>
              <a:srgbClr val="F8FAFC"/>
            </a:solidFill>
            <a:ln/>
          </p:spPr>
          <p:txBody>
            <a:bodyPr/>
            <a:lstStyle/>
            <a:p>
              <a:endParaRPr lang="ja-JP" altLang="en-US"/>
            </a:p>
          </p:txBody>
        </p:sp>
        <p:sp>
          <p:nvSpPr>
            <p:cNvPr id="80" name="Shape 70"/>
            <p:cNvSpPr/>
            <p:nvPr/>
          </p:nvSpPr>
          <p:spPr>
            <a:xfrm>
              <a:off x="6003036" y="6727241"/>
              <a:ext cx="38405" cy="800100"/>
            </a:xfrm>
            <a:prstGeom prst="rect">
              <a:avLst/>
            </a:prstGeom>
            <a:solidFill>
              <a:srgbClr val="0078D4"/>
            </a:solidFill>
            <a:ln/>
          </p:spPr>
          <p:txBody>
            <a:bodyPr/>
            <a:lstStyle/>
            <a:p>
              <a:endParaRPr lang="ja-JP" altLang="en-US"/>
            </a:p>
          </p:txBody>
        </p:sp>
        <p:sp>
          <p:nvSpPr>
            <p:cNvPr id="81" name="Text 71"/>
            <p:cNvSpPr txBox="1"/>
            <p:nvPr/>
          </p:nvSpPr>
          <p:spPr>
            <a:xfrm>
              <a:off x="6194146" y="6841541"/>
              <a:ext cx="969264" cy="181051"/>
            </a:xfrm>
            <a:prstGeom prst="rect">
              <a:avLst/>
            </a:prstGeom>
            <a:noFill/>
            <a:ln/>
          </p:spPr>
          <p:txBody>
            <a:bodyPr wrap="square" lIns="0" tIns="0" rIns="0" bIns="0" rtlCol="0" anchor="ctr"/>
            <a:lstStyle/>
            <a:p>
              <a:pPr marL="0" indent="0" algn="l">
                <a:buNone/>
              </a:pPr>
              <a:r>
                <a:rPr lang="en-US" sz="900" b="1" dirty="0">
                  <a:solidFill>
                    <a:srgbClr val="1F2937"/>
                  </a:solidFill>
                  <a:latin typeface="Noto Sans JP" pitchFamily="34" charset="0"/>
                  <a:ea typeface="Noto Sans JP" pitchFamily="34" charset="-122"/>
                  <a:cs typeface="Noto Sans JP" pitchFamily="34" charset="-120"/>
                </a:rPr>
                <a:t>測定文化の定着</a:t>
              </a:r>
              <a:endParaRPr lang="en-US" sz="900" dirty="0"/>
            </a:p>
          </p:txBody>
        </p:sp>
        <p:sp>
          <p:nvSpPr>
            <p:cNvPr id="82" name="Text 72"/>
            <p:cNvSpPr txBox="1"/>
            <p:nvPr/>
          </p:nvSpPr>
          <p:spPr>
            <a:xfrm>
              <a:off x="6194146" y="7065569"/>
              <a:ext cx="2324405" cy="333756"/>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パナソニックのように「総削減時間」をKPI化し、投資対効果を明確にアピール。</a:t>
              </a:r>
              <a:endParaRPr lang="en-US" sz="900" dirty="0"/>
            </a:p>
          </p:txBody>
        </p:sp>
        <p:sp>
          <p:nvSpPr>
            <p:cNvPr id="83" name="Shape 73"/>
            <p:cNvSpPr/>
            <p:nvPr/>
          </p:nvSpPr>
          <p:spPr>
            <a:xfrm>
              <a:off x="8749894" y="6727241"/>
              <a:ext cx="2600554" cy="800100"/>
            </a:xfrm>
            <a:prstGeom prst="roundRect">
              <a:avLst>
                <a:gd name="adj" fmla="val 10884"/>
              </a:avLst>
            </a:prstGeom>
            <a:solidFill>
              <a:srgbClr val="F8FAFC"/>
            </a:solidFill>
            <a:ln/>
          </p:spPr>
          <p:txBody>
            <a:bodyPr/>
            <a:lstStyle/>
            <a:p>
              <a:endParaRPr lang="ja-JP" altLang="en-US"/>
            </a:p>
          </p:txBody>
        </p:sp>
        <p:sp>
          <p:nvSpPr>
            <p:cNvPr id="84" name="Shape 74"/>
            <p:cNvSpPr/>
            <p:nvPr/>
          </p:nvSpPr>
          <p:spPr>
            <a:xfrm>
              <a:off x="8749894" y="6727241"/>
              <a:ext cx="38405" cy="800100"/>
            </a:xfrm>
            <a:prstGeom prst="rect">
              <a:avLst/>
            </a:prstGeom>
            <a:solidFill>
              <a:srgbClr val="0078D4"/>
            </a:solidFill>
            <a:ln/>
          </p:spPr>
          <p:txBody>
            <a:bodyPr/>
            <a:lstStyle/>
            <a:p>
              <a:endParaRPr lang="ja-JP" altLang="en-US"/>
            </a:p>
          </p:txBody>
        </p:sp>
        <p:sp>
          <p:nvSpPr>
            <p:cNvPr id="85" name="Text 75"/>
            <p:cNvSpPr txBox="1"/>
            <p:nvPr/>
          </p:nvSpPr>
          <p:spPr>
            <a:xfrm>
              <a:off x="8940089" y="6841541"/>
              <a:ext cx="1083564" cy="181051"/>
            </a:xfrm>
            <a:prstGeom prst="rect">
              <a:avLst/>
            </a:prstGeom>
            <a:noFill/>
            <a:ln/>
          </p:spPr>
          <p:txBody>
            <a:bodyPr wrap="square" lIns="0" tIns="0" rIns="0" bIns="0" rtlCol="0" anchor="ctr"/>
            <a:lstStyle/>
            <a:p>
              <a:pPr marL="0" indent="0" algn="l">
                <a:buNone/>
              </a:pPr>
              <a:r>
                <a:rPr lang="en-US" sz="900" b="1" dirty="0">
                  <a:solidFill>
                    <a:srgbClr val="1F2937"/>
                  </a:solidFill>
                  <a:latin typeface="Noto Sans JP" pitchFamily="34" charset="0"/>
                  <a:ea typeface="Noto Sans JP" pitchFamily="34" charset="-122"/>
                  <a:cs typeface="Noto Sans JP" pitchFamily="34" charset="-120"/>
                </a:rPr>
                <a:t>ハイブリッド活用</a:t>
              </a:r>
              <a:endParaRPr lang="en-US" sz="900" dirty="0"/>
            </a:p>
          </p:txBody>
        </p:sp>
        <p:sp>
          <p:nvSpPr>
            <p:cNvPr id="86" name="Text 76"/>
            <p:cNvSpPr txBox="1"/>
            <p:nvPr/>
          </p:nvSpPr>
          <p:spPr>
            <a:xfrm>
              <a:off x="8940089" y="7065569"/>
              <a:ext cx="2257654" cy="333756"/>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デンソー事例を参考に、開発・製造部門特有の技術文書活用ニーズにも対応。</a:t>
              </a:r>
              <a:endParaRPr lang="en-US" sz="900" dirty="0"/>
            </a:p>
          </p:txBody>
        </p:sp>
      </p:grpSp>
      <p:sp>
        <p:nvSpPr>
          <p:cNvPr id="87" name="Text 77"/>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07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248156"/>
          </a:xfrm>
          <a:prstGeom prst="rect">
            <a:avLst/>
          </a:prstGeom>
          <a:solidFill>
            <a:srgbClr val="FFFFFF"/>
          </a:solidFill>
          <a:ln/>
        </p:spPr>
        <p:txBody>
          <a:bodyPr/>
          <a:lstStyle/>
          <a:p>
            <a:endParaRPr lang="ja-JP" altLang="en-US"/>
          </a:p>
        </p:txBody>
      </p:sp>
      <p:sp>
        <p:nvSpPr>
          <p:cNvPr id="5" name="Shape 3"/>
          <p:cNvSpPr/>
          <p:nvPr/>
        </p:nvSpPr>
        <p:spPr>
          <a:xfrm>
            <a:off x="0" y="1239012"/>
            <a:ext cx="12191695" cy="9144"/>
          </a:xfrm>
          <a:prstGeom prst="rect">
            <a:avLst/>
          </a:prstGeom>
          <a:solidFill>
            <a:srgbClr val="E5E7EB"/>
          </a:solidFill>
          <a:ln/>
        </p:spPr>
        <p:txBody>
          <a:bodyPr/>
          <a:lstStyle/>
          <a:p>
            <a:endParaRPr lang="ja-JP" altLang="en-US"/>
          </a:p>
        </p:txBody>
      </p:sp>
      <p:sp>
        <p:nvSpPr>
          <p:cNvPr id="9" name="Text 7"/>
          <p:cNvSpPr txBox="1"/>
          <p:nvPr/>
        </p:nvSpPr>
        <p:spPr>
          <a:xfrm>
            <a:off x="609905" y="543154"/>
            <a:ext cx="6467551" cy="438912"/>
          </a:xfrm>
          <a:prstGeom prst="rect">
            <a:avLst/>
          </a:prstGeom>
          <a:noFill/>
          <a:ln/>
        </p:spPr>
        <p:txBody>
          <a:bodyPr wrap="square" lIns="0" tIns="0" rIns="0" bIns="0" rtlCol="0" anchor="ctr"/>
          <a:lstStyle/>
          <a:p>
            <a:pPr marL="0" indent="0" algn="l">
              <a:buNone/>
            </a:pPr>
            <a:r>
              <a:rPr lang="en-US" sz="2400" b="1" dirty="0" err="1">
                <a:solidFill>
                  <a:srgbClr val="1F2937"/>
                </a:solidFill>
                <a:latin typeface="Noto Sans JP" pitchFamily="34" charset="0"/>
                <a:ea typeface="Noto Sans JP" pitchFamily="34" charset="-122"/>
                <a:cs typeface="Noto Sans JP" pitchFamily="34" charset="-120"/>
              </a:rPr>
              <a:t>他社成功事例（住友商事／JCB</a:t>
            </a:r>
            <a:r>
              <a:rPr lang="en-US" sz="2400" b="1" dirty="0">
                <a:solidFill>
                  <a:srgbClr val="1F2937"/>
                </a:solidFill>
                <a:latin typeface="Noto Sans JP" pitchFamily="34" charset="0"/>
                <a:ea typeface="Noto Sans JP" pitchFamily="34" charset="-122"/>
                <a:cs typeface="Noto Sans JP" pitchFamily="34" charset="-120"/>
              </a:rPr>
              <a:t>）</a:t>
            </a:r>
            <a:endParaRPr lang="en-US" sz="2400" dirty="0"/>
          </a:p>
        </p:txBody>
      </p:sp>
      <p:sp>
        <p:nvSpPr>
          <p:cNvPr id="10" name="Text 8"/>
          <p:cNvSpPr txBox="1"/>
          <p:nvPr/>
        </p:nvSpPr>
        <p:spPr>
          <a:xfrm>
            <a:off x="9559138" y="857707"/>
            <a:ext cx="2129638" cy="191110"/>
          </a:xfrm>
          <a:prstGeom prst="rect">
            <a:avLst/>
          </a:prstGeom>
          <a:noFill/>
          <a:ln/>
        </p:spPr>
        <p:txBody>
          <a:bodyPr wrap="square" lIns="0" tIns="0" rIns="0" bIns="0" rtlCol="0" anchor="ctr"/>
          <a:lstStyle/>
          <a:p>
            <a:pPr marL="0" indent="0" algn="r">
              <a:buNone/>
            </a:pPr>
            <a:r>
              <a:rPr lang="en-US" sz="1000" dirty="0">
                <a:solidFill>
                  <a:srgbClr val="6B7280"/>
                </a:solidFill>
                <a:latin typeface="Noto Sans JP" pitchFamily="34" charset="0"/>
                <a:ea typeface="Noto Sans JP" pitchFamily="34" charset="-122"/>
                <a:cs typeface="Noto Sans JP" pitchFamily="34" charset="-120"/>
              </a:rPr>
              <a:t>アイリスオーヤマ様向け 活用提案</a:t>
            </a:r>
            <a:endParaRPr lang="en-US" sz="1000" dirty="0"/>
          </a:p>
        </p:txBody>
      </p:sp>
      <p:grpSp>
        <p:nvGrpSpPr>
          <p:cNvPr id="89" name="グループ化 88">
            <a:extLst>
              <a:ext uri="{FF2B5EF4-FFF2-40B4-BE49-F238E27FC236}">
                <a16:creationId xmlns:a16="http://schemas.microsoft.com/office/drawing/2014/main" id="{45F63789-DBCA-CEEC-61BB-BD065D67E3CE}"/>
              </a:ext>
            </a:extLst>
          </p:cNvPr>
          <p:cNvGrpSpPr/>
          <p:nvPr/>
        </p:nvGrpSpPr>
        <p:grpSpPr>
          <a:xfrm>
            <a:off x="565100" y="1305763"/>
            <a:ext cx="10971885" cy="5486400"/>
            <a:chOff x="609905" y="1552651"/>
            <a:chExt cx="10971885" cy="5486400"/>
          </a:xfrm>
        </p:grpSpPr>
        <p:sp>
          <p:nvSpPr>
            <p:cNvPr id="12" name="Shape 10"/>
            <p:cNvSpPr/>
            <p:nvPr/>
          </p:nvSpPr>
          <p:spPr>
            <a:xfrm>
              <a:off x="609905" y="1552651"/>
              <a:ext cx="5333695" cy="5486400"/>
            </a:xfrm>
            <a:prstGeom prst="roundRect">
              <a:avLst>
                <a:gd name="adj" fmla="val 367"/>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13" name="Shape 11"/>
            <p:cNvSpPr/>
            <p:nvPr/>
          </p:nvSpPr>
          <p:spPr>
            <a:xfrm>
              <a:off x="619049" y="1561795"/>
              <a:ext cx="5315407" cy="57607"/>
            </a:xfrm>
            <a:prstGeom prst="rect">
              <a:avLst/>
            </a:prstGeom>
            <a:solidFill>
              <a:srgbClr val="0055A5"/>
            </a:solidFill>
            <a:ln/>
          </p:spPr>
          <p:txBody>
            <a:bodyPr/>
            <a:lstStyle/>
            <a:p>
              <a:endParaRPr lang="ja-JP" altLang="en-US"/>
            </a:p>
          </p:txBody>
        </p:sp>
        <p:sp>
          <p:nvSpPr>
            <p:cNvPr id="14" name="Shape 12"/>
            <p:cNvSpPr/>
            <p:nvPr/>
          </p:nvSpPr>
          <p:spPr>
            <a:xfrm>
              <a:off x="847649" y="2476195"/>
              <a:ext cx="4858207" cy="9144"/>
            </a:xfrm>
            <a:prstGeom prst="rect">
              <a:avLst/>
            </a:prstGeom>
            <a:solidFill>
              <a:srgbClr val="F1F5F9"/>
            </a:solidFill>
            <a:ln/>
          </p:spPr>
          <p:txBody>
            <a:bodyPr/>
            <a:lstStyle/>
            <a:p>
              <a:endParaRPr lang="ja-JP" altLang="en-US"/>
            </a:p>
          </p:txBody>
        </p:sp>
        <p:sp>
          <p:nvSpPr>
            <p:cNvPr id="15" name="Shape 13"/>
            <p:cNvSpPr/>
            <p:nvPr/>
          </p:nvSpPr>
          <p:spPr>
            <a:xfrm>
              <a:off x="847649" y="1828800"/>
              <a:ext cx="457200" cy="457200"/>
            </a:xfrm>
            <a:prstGeom prst="roundRect">
              <a:avLst>
                <a:gd name="adj" fmla="val 33333"/>
              </a:avLst>
            </a:prstGeom>
            <a:solidFill>
              <a:srgbClr val="E6F0FA"/>
            </a:solidFill>
            <a:ln/>
          </p:spPr>
          <p:txBody>
            <a:bodyPr/>
            <a:lstStyle/>
            <a:p>
              <a:endParaRPr lang="ja-JP" altLang="en-US"/>
            </a:p>
          </p:txBody>
        </p:sp>
        <p:sp>
          <p:nvSpPr>
            <p:cNvPr id="16" name="Text 14"/>
            <p:cNvSpPr txBox="1"/>
            <p:nvPr/>
          </p:nvSpPr>
          <p:spPr>
            <a:xfrm>
              <a:off x="929945" y="1886407"/>
              <a:ext cx="467258" cy="342900"/>
            </a:xfrm>
            <a:prstGeom prst="rect">
              <a:avLst/>
            </a:prstGeom>
            <a:noFill/>
            <a:ln/>
          </p:spPr>
          <p:txBody>
            <a:bodyPr wrap="square" lIns="0" tIns="0" rIns="0" bIns="0" rtlCol="0" anchor="ctr"/>
            <a:lstStyle/>
            <a:p>
              <a:pPr marL="0" indent="0" algn="l">
                <a:buNone/>
              </a:pPr>
              <a:r>
                <a:rPr lang="en-US" sz="1800" b="1" dirty="0">
                  <a:solidFill>
                    <a:srgbClr val="0055A5"/>
                  </a:solidFill>
                  <a:latin typeface="Noto Sans JP" pitchFamily="34" charset="0"/>
                  <a:ea typeface="Noto Sans JP" pitchFamily="34" charset="-122"/>
                  <a:cs typeface="Noto Sans JP" pitchFamily="34" charset="-120"/>
                </a:rPr>
                <a:t>SC</a:t>
              </a:r>
              <a:endParaRPr lang="en-US" sz="1800" dirty="0"/>
            </a:p>
          </p:txBody>
        </p:sp>
        <p:sp>
          <p:nvSpPr>
            <p:cNvPr id="17" name="Text 15"/>
            <p:cNvSpPr txBox="1"/>
            <p:nvPr/>
          </p:nvSpPr>
          <p:spPr>
            <a:xfrm>
              <a:off x="1457554" y="1790395"/>
              <a:ext cx="1004926" cy="30541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住友商事</a:t>
              </a:r>
              <a:endParaRPr lang="en-US" sz="1600" dirty="0"/>
            </a:p>
          </p:txBody>
        </p:sp>
        <p:sp>
          <p:nvSpPr>
            <p:cNvPr id="18" name="Text 16"/>
            <p:cNvSpPr txBox="1"/>
            <p:nvPr/>
          </p:nvSpPr>
          <p:spPr>
            <a:xfrm>
              <a:off x="1457554" y="2124151"/>
              <a:ext cx="2281428" cy="191110"/>
            </a:xfrm>
            <a:prstGeom prst="rect">
              <a:avLst/>
            </a:prstGeom>
            <a:noFill/>
            <a:ln/>
          </p:spPr>
          <p:txBody>
            <a:bodyPr wrap="square" lIns="0" tIns="0" rIns="0" bIns="0" rtlCol="0" anchor="ctr"/>
            <a:lstStyle/>
            <a:p>
              <a:pPr marL="0" indent="0" algn="l">
                <a:buNone/>
              </a:pPr>
              <a:r>
                <a:rPr lang="en-US" sz="1000" dirty="0">
                  <a:solidFill>
                    <a:srgbClr val="6B7280"/>
                  </a:solidFill>
                  <a:latin typeface="Noto Sans JP" pitchFamily="34" charset="0"/>
                  <a:ea typeface="Noto Sans JP" pitchFamily="34" charset="-122"/>
                  <a:cs typeface="Noto Sans JP" pitchFamily="34" charset="-120"/>
                </a:rPr>
                <a:t>9,000名全社展開 / 商社・グローバル</a:t>
              </a:r>
              <a:endParaRPr lang="en-US" sz="1000" dirty="0"/>
            </a:p>
          </p:txBody>
        </p:sp>
        <p:sp>
          <p:nvSpPr>
            <p:cNvPr id="19" name="Shape 17"/>
            <p:cNvSpPr/>
            <p:nvPr/>
          </p:nvSpPr>
          <p:spPr>
            <a:xfrm>
              <a:off x="847649" y="2676449"/>
              <a:ext cx="2352751" cy="666598"/>
            </a:xfrm>
            <a:prstGeom prst="roundRect">
              <a:avLst>
                <a:gd name="adj" fmla="val 15677"/>
              </a:avLst>
            </a:prstGeom>
            <a:solidFill>
              <a:srgbClr val="EFF6FF"/>
            </a:solidFill>
            <a:ln/>
          </p:spPr>
          <p:txBody>
            <a:bodyPr/>
            <a:lstStyle/>
            <a:p>
              <a:endParaRPr lang="ja-JP" altLang="en-US"/>
            </a:p>
          </p:txBody>
        </p:sp>
        <p:sp>
          <p:nvSpPr>
            <p:cNvPr id="20" name="Shape 18"/>
            <p:cNvSpPr/>
            <p:nvPr/>
          </p:nvSpPr>
          <p:spPr>
            <a:xfrm>
              <a:off x="847649" y="2676449"/>
              <a:ext cx="38405" cy="666598"/>
            </a:xfrm>
            <a:prstGeom prst="rect">
              <a:avLst/>
            </a:prstGeom>
            <a:solidFill>
              <a:srgbClr val="3B82F6"/>
            </a:solidFill>
            <a:ln/>
          </p:spPr>
          <p:txBody>
            <a:bodyPr/>
            <a:lstStyle/>
            <a:p>
              <a:endParaRPr lang="ja-JP" altLang="en-US"/>
            </a:p>
          </p:txBody>
        </p:sp>
        <p:sp>
          <p:nvSpPr>
            <p:cNvPr id="21" name="Text 19"/>
            <p:cNvSpPr txBox="1"/>
            <p:nvPr/>
          </p:nvSpPr>
          <p:spPr>
            <a:xfrm>
              <a:off x="1000354" y="2790749"/>
              <a:ext cx="790956"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利用率 (MAU)</a:t>
              </a:r>
              <a:endParaRPr lang="en-US" sz="900" dirty="0"/>
            </a:p>
          </p:txBody>
        </p:sp>
        <p:sp>
          <p:nvSpPr>
            <p:cNvPr id="22" name="Text 20"/>
            <p:cNvSpPr txBox="1"/>
            <p:nvPr/>
          </p:nvSpPr>
          <p:spPr>
            <a:xfrm>
              <a:off x="1000354" y="2971800"/>
              <a:ext cx="381305" cy="277063"/>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JP" pitchFamily="34" charset="0"/>
                  <a:ea typeface="Noto Sans JP" pitchFamily="34" charset="-122"/>
                  <a:cs typeface="Noto Sans JP" pitchFamily="34" charset="-120"/>
                </a:rPr>
                <a:t>70</a:t>
              </a:r>
              <a:endParaRPr lang="en-US" sz="1500" dirty="0"/>
            </a:p>
          </p:txBody>
        </p:sp>
        <p:sp>
          <p:nvSpPr>
            <p:cNvPr id="23" name="Text 21"/>
            <p:cNvSpPr txBox="1"/>
            <p:nvPr/>
          </p:nvSpPr>
          <p:spPr>
            <a:xfrm>
              <a:off x="1232611" y="3057754"/>
              <a:ext cx="200254"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a:t>
              </a:r>
              <a:endParaRPr lang="en-US" sz="900" dirty="0"/>
            </a:p>
          </p:txBody>
        </p:sp>
        <p:sp>
          <p:nvSpPr>
            <p:cNvPr id="24" name="Shape 22"/>
            <p:cNvSpPr/>
            <p:nvPr/>
          </p:nvSpPr>
          <p:spPr>
            <a:xfrm>
              <a:off x="3353105" y="2676449"/>
              <a:ext cx="2352751" cy="666598"/>
            </a:xfrm>
            <a:prstGeom prst="roundRect">
              <a:avLst>
                <a:gd name="adj" fmla="val 15677"/>
              </a:avLst>
            </a:prstGeom>
            <a:solidFill>
              <a:srgbClr val="EFF6FF"/>
            </a:solidFill>
            <a:ln/>
          </p:spPr>
          <p:txBody>
            <a:bodyPr/>
            <a:lstStyle/>
            <a:p>
              <a:endParaRPr lang="ja-JP" altLang="en-US"/>
            </a:p>
          </p:txBody>
        </p:sp>
        <p:sp>
          <p:nvSpPr>
            <p:cNvPr id="25" name="Shape 23"/>
            <p:cNvSpPr/>
            <p:nvPr/>
          </p:nvSpPr>
          <p:spPr>
            <a:xfrm>
              <a:off x="3353105" y="2676449"/>
              <a:ext cx="38405" cy="666598"/>
            </a:xfrm>
            <a:prstGeom prst="rect">
              <a:avLst/>
            </a:prstGeom>
            <a:solidFill>
              <a:srgbClr val="3B82F6"/>
            </a:solidFill>
            <a:ln/>
          </p:spPr>
          <p:txBody>
            <a:bodyPr/>
            <a:lstStyle/>
            <a:p>
              <a:endParaRPr lang="ja-JP" altLang="en-US"/>
            </a:p>
          </p:txBody>
        </p:sp>
        <p:sp>
          <p:nvSpPr>
            <p:cNvPr id="26" name="Text 24"/>
            <p:cNvSpPr txBox="1"/>
            <p:nvPr/>
          </p:nvSpPr>
          <p:spPr>
            <a:xfrm>
              <a:off x="3504895" y="2790749"/>
              <a:ext cx="896112"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コスト削減効果</a:t>
              </a:r>
              <a:endParaRPr lang="en-US" sz="900" dirty="0"/>
            </a:p>
          </p:txBody>
        </p:sp>
        <p:sp>
          <p:nvSpPr>
            <p:cNvPr id="27" name="Text 25"/>
            <p:cNvSpPr txBox="1"/>
            <p:nvPr/>
          </p:nvSpPr>
          <p:spPr>
            <a:xfrm>
              <a:off x="3504895" y="2971800"/>
              <a:ext cx="381305" cy="277063"/>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JP" pitchFamily="34" charset="0"/>
                  <a:ea typeface="Noto Sans JP" pitchFamily="34" charset="-122"/>
                  <a:cs typeface="Noto Sans JP" pitchFamily="34" charset="-120"/>
                </a:rPr>
                <a:t>12</a:t>
              </a:r>
              <a:endParaRPr lang="en-US" sz="1500" dirty="0"/>
            </a:p>
          </p:txBody>
        </p:sp>
        <p:sp>
          <p:nvSpPr>
            <p:cNvPr id="28" name="Text 26"/>
            <p:cNvSpPr txBox="1"/>
            <p:nvPr/>
          </p:nvSpPr>
          <p:spPr>
            <a:xfrm>
              <a:off x="3737153" y="3057754"/>
              <a:ext cx="47640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億円/年</a:t>
              </a:r>
              <a:endParaRPr lang="en-US" sz="900" dirty="0"/>
            </a:p>
          </p:txBody>
        </p:sp>
        <p:sp>
          <p:nvSpPr>
            <p:cNvPr id="29" name="Shape 27"/>
            <p:cNvSpPr/>
            <p:nvPr/>
          </p:nvSpPr>
          <p:spPr>
            <a:xfrm>
              <a:off x="847649" y="3495751"/>
              <a:ext cx="2352751" cy="666598"/>
            </a:xfrm>
            <a:prstGeom prst="roundRect">
              <a:avLst>
                <a:gd name="adj" fmla="val 15677"/>
              </a:avLst>
            </a:prstGeom>
            <a:solidFill>
              <a:srgbClr val="F8FAFC"/>
            </a:solidFill>
            <a:ln/>
          </p:spPr>
          <p:txBody>
            <a:bodyPr/>
            <a:lstStyle/>
            <a:p>
              <a:endParaRPr lang="ja-JP" altLang="en-US"/>
            </a:p>
          </p:txBody>
        </p:sp>
        <p:sp>
          <p:nvSpPr>
            <p:cNvPr id="30" name="Shape 28"/>
            <p:cNvSpPr/>
            <p:nvPr/>
          </p:nvSpPr>
          <p:spPr>
            <a:xfrm>
              <a:off x="847649" y="3495751"/>
              <a:ext cx="38405" cy="666598"/>
            </a:xfrm>
            <a:prstGeom prst="rect">
              <a:avLst/>
            </a:prstGeom>
            <a:solidFill>
              <a:srgbClr val="CBD5E1"/>
            </a:solidFill>
            <a:ln/>
          </p:spPr>
          <p:txBody>
            <a:bodyPr/>
            <a:lstStyle/>
            <a:p>
              <a:endParaRPr lang="ja-JP" altLang="en-US"/>
            </a:p>
          </p:txBody>
        </p:sp>
        <p:sp>
          <p:nvSpPr>
            <p:cNvPr id="31" name="Text 29"/>
            <p:cNvSpPr txBox="1"/>
            <p:nvPr/>
          </p:nvSpPr>
          <p:spPr>
            <a:xfrm>
              <a:off x="1000354" y="3610051"/>
              <a:ext cx="896112"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契約書チェック</a:t>
              </a:r>
              <a:endParaRPr lang="en-US" sz="900" dirty="0"/>
            </a:p>
          </p:txBody>
        </p:sp>
        <p:sp>
          <p:nvSpPr>
            <p:cNvPr id="32" name="Text 30"/>
            <p:cNvSpPr txBox="1"/>
            <p:nvPr/>
          </p:nvSpPr>
          <p:spPr>
            <a:xfrm>
              <a:off x="1000354" y="3791102"/>
              <a:ext cx="457200" cy="277063"/>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JP" pitchFamily="34" charset="0"/>
                  <a:ea typeface="Noto Sans JP" pitchFamily="34" charset="-122"/>
                  <a:cs typeface="Noto Sans JP" pitchFamily="34" charset="-120"/>
                </a:rPr>
                <a:t>1/3</a:t>
              </a:r>
              <a:endParaRPr lang="en-US" sz="1500" dirty="0"/>
            </a:p>
          </p:txBody>
        </p:sp>
        <p:sp>
          <p:nvSpPr>
            <p:cNvPr id="33" name="Text 31"/>
            <p:cNvSpPr txBox="1"/>
            <p:nvPr/>
          </p:nvSpPr>
          <p:spPr>
            <a:xfrm>
              <a:off x="1305763" y="3877056"/>
              <a:ext cx="4389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に短縮</a:t>
              </a:r>
              <a:endParaRPr lang="en-US" sz="900" dirty="0"/>
            </a:p>
          </p:txBody>
        </p:sp>
        <p:sp>
          <p:nvSpPr>
            <p:cNvPr id="34" name="Shape 32"/>
            <p:cNvSpPr/>
            <p:nvPr/>
          </p:nvSpPr>
          <p:spPr>
            <a:xfrm>
              <a:off x="3353105" y="3495751"/>
              <a:ext cx="2352751" cy="666598"/>
            </a:xfrm>
            <a:prstGeom prst="roundRect">
              <a:avLst>
                <a:gd name="adj" fmla="val 15677"/>
              </a:avLst>
            </a:prstGeom>
            <a:solidFill>
              <a:srgbClr val="F8FAFC"/>
            </a:solidFill>
            <a:ln/>
          </p:spPr>
          <p:txBody>
            <a:bodyPr/>
            <a:lstStyle/>
            <a:p>
              <a:endParaRPr lang="ja-JP" altLang="en-US"/>
            </a:p>
          </p:txBody>
        </p:sp>
        <p:sp>
          <p:nvSpPr>
            <p:cNvPr id="35" name="Shape 33"/>
            <p:cNvSpPr/>
            <p:nvPr/>
          </p:nvSpPr>
          <p:spPr>
            <a:xfrm>
              <a:off x="3353105" y="3495751"/>
              <a:ext cx="38405" cy="666598"/>
            </a:xfrm>
            <a:prstGeom prst="rect">
              <a:avLst/>
            </a:prstGeom>
            <a:solidFill>
              <a:srgbClr val="CBD5E1"/>
            </a:solidFill>
            <a:ln/>
          </p:spPr>
          <p:txBody>
            <a:bodyPr/>
            <a:lstStyle/>
            <a:p>
              <a:endParaRPr lang="ja-JP" altLang="en-US"/>
            </a:p>
          </p:txBody>
        </p:sp>
        <p:sp>
          <p:nvSpPr>
            <p:cNvPr id="36" name="Text 34"/>
            <p:cNvSpPr txBox="1"/>
            <p:nvPr/>
          </p:nvSpPr>
          <p:spPr>
            <a:xfrm>
              <a:off x="3504895" y="3610051"/>
              <a:ext cx="553212"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推進体制</a:t>
              </a:r>
              <a:endParaRPr lang="en-US" sz="900" dirty="0"/>
            </a:p>
          </p:txBody>
        </p:sp>
        <p:sp>
          <p:nvSpPr>
            <p:cNvPr id="37" name="Text 35"/>
            <p:cNvSpPr txBox="1"/>
            <p:nvPr/>
          </p:nvSpPr>
          <p:spPr>
            <a:xfrm>
              <a:off x="3504895" y="3791102"/>
              <a:ext cx="495605" cy="277063"/>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JP" pitchFamily="34" charset="0"/>
                  <a:ea typeface="Noto Sans JP" pitchFamily="34" charset="-122"/>
                  <a:cs typeface="Noto Sans JP" pitchFamily="34" charset="-120"/>
                </a:rPr>
                <a:t>100</a:t>
              </a:r>
              <a:endParaRPr lang="en-US" sz="1500" dirty="0"/>
            </a:p>
          </p:txBody>
        </p:sp>
        <p:sp>
          <p:nvSpPr>
            <p:cNvPr id="38" name="Text 36"/>
            <p:cNvSpPr txBox="1"/>
            <p:nvPr/>
          </p:nvSpPr>
          <p:spPr>
            <a:xfrm>
              <a:off x="3853282" y="3877056"/>
              <a:ext cx="914400"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名超 Champion</a:t>
              </a:r>
              <a:endParaRPr lang="en-US" sz="900" dirty="0"/>
            </a:p>
          </p:txBody>
        </p:sp>
        <p:sp>
          <p:nvSpPr>
            <p:cNvPr id="39" name="Shape 37"/>
            <p:cNvSpPr/>
            <p:nvPr/>
          </p:nvSpPr>
          <p:spPr>
            <a:xfrm>
              <a:off x="847649" y="4390949"/>
              <a:ext cx="4858207" cy="2409444"/>
            </a:xfrm>
            <a:prstGeom prst="roundRect">
              <a:avLst>
                <a:gd name="adj" fmla="val 1200"/>
              </a:avLst>
            </a:prstGeom>
            <a:solidFill>
              <a:srgbClr val="FFFFFF"/>
            </a:solidFill>
            <a:ln w="12700">
              <a:solidFill>
                <a:srgbClr val="E2E8F0"/>
              </a:solidFill>
              <a:prstDash val="solid"/>
            </a:ln>
          </p:spPr>
          <p:txBody>
            <a:bodyPr/>
            <a:lstStyle/>
            <a:p>
              <a:endParaRPr lang="ja-JP" altLang="en-US"/>
            </a:p>
          </p:txBody>
        </p:sp>
        <p:pic>
          <p:nvPicPr>
            <p:cNvPr id="40" name="Image 0" descr="preencoded.png"/>
            <p:cNvPicPr>
              <a:picLocks noChangeAspect="1"/>
            </p:cNvPicPr>
            <p:nvPr/>
          </p:nvPicPr>
          <p:blipFill>
            <a:blip r:embed="rId3"/>
            <a:srcRect l="-3425" r="-3425"/>
            <a:stretch/>
          </p:blipFill>
          <p:spPr>
            <a:xfrm>
              <a:off x="1009498" y="4586630"/>
              <a:ext cx="142646" cy="133502"/>
            </a:xfrm>
            <a:prstGeom prst="rect">
              <a:avLst/>
            </a:prstGeom>
          </p:spPr>
        </p:pic>
        <p:sp>
          <p:nvSpPr>
            <p:cNvPr id="41" name="Text 38"/>
            <p:cNvSpPr txBox="1"/>
            <p:nvPr/>
          </p:nvSpPr>
          <p:spPr>
            <a:xfrm>
              <a:off x="1228954" y="4552798"/>
              <a:ext cx="948233" cy="200254"/>
            </a:xfrm>
            <a:prstGeom prst="rect">
              <a:avLst/>
            </a:prstGeom>
            <a:noFill/>
            <a:ln/>
          </p:spPr>
          <p:txBody>
            <a:bodyPr wrap="square" lIns="0" tIns="0" rIns="0" bIns="0" rtlCol="0" anchor="ctr"/>
            <a:lstStyle/>
            <a:p>
              <a:pPr marL="0" indent="0" algn="l">
                <a:buNone/>
              </a:pPr>
              <a:r>
                <a:rPr lang="en-US" sz="1000" b="1" dirty="0">
                  <a:solidFill>
                    <a:srgbClr val="4B5563"/>
                  </a:solidFill>
                  <a:latin typeface="Noto Sans JP" pitchFamily="34" charset="0"/>
                  <a:ea typeface="Noto Sans JP" pitchFamily="34" charset="-122"/>
                  <a:cs typeface="Noto Sans JP" pitchFamily="34" charset="-120"/>
                </a:rPr>
                <a:t>成功要因分析</a:t>
              </a:r>
              <a:endParaRPr lang="en-US" sz="1000" dirty="0"/>
            </a:p>
          </p:txBody>
        </p:sp>
        <p:pic>
          <p:nvPicPr>
            <p:cNvPr id="42" name="Image 1" descr="preencoded.png"/>
            <p:cNvPicPr>
              <a:picLocks noChangeAspect="1"/>
            </p:cNvPicPr>
            <p:nvPr/>
          </p:nvPicPr>
          <p:blipFill>
            <a:blip r:embed="rId4"/>
            <a:srcRect/>
            <a:stretch/>
          </p:blipFill>
          <p:spPr>
            <a:xfrm>
              <a:off x="1009498" y="4895698"/>
              <a:ext cx="133502" cy="133502"/>
            </a:xfrm>
            <a:prstGeom prst="rect">
              <a:avLst/>
            </a:prstGeom>
          </p:spPr>
        </p:pic>
        <p:sp>
          <p:nvSpPr>
            <p:cNvPr id="43" name="Text 39"/>
            <p:cNvSpPr txBox="1"/>
            <p:nvPr/>
          </p:nvSpPr>
          <p:spPr>
            <a:xfrm>
              <a:off x="1238098" y="4867351"/>
              <a:ext cx="4169664" cy="372161"/>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段階的展開戦略： Step1パイロット50名 → Step2部門500名 → Step3全社9,000名へ計画的に拡大。</a:t>
              </a:r>
              <a:endParaRPr lang="en-US" sz="900" dirty="0"/>
            </a:p>
          </p:txBody>
        </p:sp>
        <p:pic>
          <p:nvPicPr>
            <p:cNvPr id="44" name="Image 2" descr="preencoded.png"/>
            <p:cNvPicPr>
              <a:picLocks noChangeAspect="1"/>
            </p:cNvPicPr>
            <p:nvPr/>
          </p:nvPicPr>
          <p:blipFill>
            <a:blip r:embed="rId4"/>
            <a:srcRect/>
            <a:stretch/>
          </p:blipFill>
          <p:spPr>
            <a:xfrm>
              <a:off x="1009498" y="5362956"/>
              <a:ext cx="133502" cy="133502"/>
            </a:xfrm>
            <a:prstGeom prst="rect">
              <a:avLst/>
            </a:prstGeom>
          </p:spPr>
        </p:pic>
        <p:sp>
          <p:nvSpPr>
            <p:cNvPr id="45" name="Text 40"/>
            <p:cNvSpPr txBox="1"/>
            <p:nvPr/>
          </p:nvSpPr>
          <p:spPr>
            <a:xfrm>
              <a:off x="1238098" y="5333695"/>
              <a:ext cx="4389120" cy="372161"/>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Copilot Champion制度： 各部門にアンバサダーを配置し、現場レベルでの質問対応と成功事例収集を自律化。</a:t>
              </a:r>
              <a:endParaRPr lang="en-US" sz="900" dirty="0"/>
            </a:p>
          </p:txBody>
        </p:sp>
        <p:pic>
          <p:nvPicPr>
            <p:cNvPr id="46" name="Image 3" descr="preencoded.png"/>
            <p:cNvPicPr>
              <a:picLocks noChangeAspect="1"/>
            </p:cNvPicPr>
            <p:nvPr/>
          </p:nvPicPr>
          <p:blipFill>
            <a:blip r:embed="rId4"/>
            <a:srcRect/>
            <a:stretch/>
          </p:blipFill>
          <p:spPr>
            <a:xfrm>
              <a:off x="1009498" y="5829300"/>
              <a:ext cx="133502" cy="133502"/>
            </a:xfrm>
            <a:prstGeom prst="rect">
              <a:avLst/>
            </a:prstGeom>
          </p:spPr>
        </p:pic>
        <p:sp>
          <p:nvSpPr>
            <p:cNvPr id="47" name="Text 41"/>
            <p:cNvSpPr txBox="1"/>
            <p:nvPr/>
          </p:nvSpPr>
          <p:spPr>
            <a:xfrm>
              <a:off x="1238098" y="5800954"/>
              <a:ext cx="4208069" cy="372161"/>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継続的教育エコシステム： 月次の勉強会開催、実用的なプロンプト集の配布、成功事例の社内SNS共有。</a:t>
              </a:r>
              <a:endParaRPr lang="en-US" sz="900" dirty="0"/>
            </a:p>
          </p:txBody>
        </p:sp>
        <p:pic>
          <p:nvPicPr>
            <p:cNvPr id="48" name="Image 4" descr="preencoded.png"/>
            <p:cNvPicPr>
              <a:picLocks noChangeAspect="1"/>
            </p:cNvPicPr>
            <p:nvPr/>
          </p:nvPicPr>
          <p:blipFill>
            <a:blip r:embed="rId4"/>
            <a:srcRect/>
            <a:stretch/>
          </p:blipFill>
          <p:spPr>
            <a:xfrm>
              <a:off x="1009498" y="6295644"/>
              <a:ext cx="133502" cy="133502"/>
            </a:xfrm>
            <a:prstGeom prst="rect">
              <a:avLst/>
            </a:prstGeom>
          </p:spPr>
        </p:pic>
        <p:sp>
          <p:nvSpPr>
            <p:cNvPr id="49" name="Text 42"/>
            <p:cNvSpPr txBox="1"/>
            <p:nvPr/>
          </p:nvSpPr>
          <p:spPr>
            <a:xfrm>
              <a:off x="1238098" y="6267298"/>
              <a:ext cx="4369918" cy="372161"/>
            </a:xfrm>
            <a:prstGeom prst="rect">
              <a:avLst/>
            </a:prstGeom>
            <a:noFill/>
            <a:ln/>
          </p:spPr>
          <p:txBody>
            <a:bodyPr wrap="square" lIns="0" tIns="0" rIns="0" bIns="0" rtlCol="0" anchor="ctr"/>
            <a:lstStyle/>
            <a:p>
              <a:pPr marL="0" indent="0" algn="l">
                <a:buNone/>
              </a:pPr>
              <a:r>
                <a:rPr lang="en-US" sz="900" b="1" dirty="0">
                  <a:solidFill>
                    <a:srgbClr val="FF0000"/>
                  </a:solidFill>
                  <a:latin typeface="Noto Sans JP" pitchFamily="34" charset="0"/>
                  <a:ea typeface="Noto Sans JP" pitchFamily="34" charset="-122"/>
                  <a:cs typeface="Noto Sans JP" pitchFamily="34" charset="-120"/>
                </a:rPr>
                <a:t>推進組織： IT企画推進部(5名)が事務局となり、現場Champion(100名超)と連携するハブ＆スポーク型。</a:t>
              </a:r>
              <a:endParaRPr lang="en-US" sz="900" b="1" dirty="0">
                <a:solidFill>
                  <a:srgbClr val="FF0000"/>
                </a:solidFill>
              </a:endParaRPr>
            </a:p>
          </p:txBody>
        </p:sp>
        <p:sp>
          <p:nvSpPr>
            <p:cNvPr id="50" name="Shape 43"/>
            <p:cNvSpPr/>
            <p:nvPr/>
          </p:nvSpPr>
          <p:spPr>
            <a:xfrm>
              <a:off x="6248095" y="1552651"/>
              <a:ext cx="5333695" cy="5486400"/>
            </a:xfrm>
            <a:prstGeom prst="roundRect">
              <a:avLst>
                <a:gd name="adj" fmla="val 367"/>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51" name="Shape 44"/>
            <p:cNvSpPr/>
            <p:nvPr/>
          </p:nvSpPr>
          <p:spPr>
            <a:xfrm>
              <a:off x="6258154" y="1561795"/>
              <a:ext cx="5315407" cy="57607"/>
            </a:xfrm>
            <a:prstGeom prst="rect">
              <a:avLst/>
            </a:prstGeom>
            <a:solidFill>
              <a:srgbClr val="008751"/>
            </a:solidFill>
            <a:ln/>
          </p:spPr>
          <p:txBody>
            <a:bodyPr/>
            <a:lstStyle/>
            <a:p>
              <a:endParaRPr lang="ja-JP" altLang="en-US"/>
            </a:p>
          </p:txBody>
        </p:sp>
        <p:sp>
          <p:nvSpPr>
            <p:cNvPr id="52" name="Shape 45"/>
            <p:cNvSpPr/>
            <p:nvPr/>
          </p:nvSpPr>
          <p:spPr>
            <a:xfrm>
              <a:off x="6486754" y="2476195"/>
              <a:ext cx="4858207" cy="9144"/>
            </a:xfrm>
            <a:prstGeom prst="rect">
              <a:avLst/>
            </a:prstGeom>
            <a:solidFill>
              <a:srgbClr val="F1F5F9"/>
            </a:solidFill>
            <a:ln/>
          </p:spPr>
          <p:txBody>
            <a:bodyPr/>
            <a:lstStyle/>
            <a:p>
              <a:endParaRPr lang="ja-JP" altLang="en-US"/>
            </a:p>
          </p:txBody>
        </p:sp>
        <p:sp>
          <p:nvSpPr>
            <p:cNvPr id="53" name="Shape 46"/>
            <p:cNvSpPr/>
            <p:nvPr/>
          </p:nvSpPr>
          <p:spPr>
            <a:xfrm>
              <a:off x="6486754" y="1828800"/>
              <a:ext cx="457200" cy="457200"/>
            </a:xfrm>
            <a:prstGeom prst="roundRect">
              <a:avLst>
                <a:gd name="adj" fmla="val 33333"/>
              </a:avLst>
            </a:prstGeom>
            <a:solidFill>
              <a:srgbClr val="E6F7ED"/>
            </a:solidFill>
            <a:ln/>
          </p:spPr>
          <p:txBody>
            <a:bodyPr/>
            <a:lstStyle/>
            <a:p>
              <a:endParaRPr lang="ja-JP" altLang="en-US"/>
            </a:p>
          </p:txBody>
        </p:sp>
        <p:sp>
          <p:nvSpPr>
            <p:cNvPr id="54" name="Text 47"/>
            <p:cNvSpPr txBox="1"/>
            <p:nvPr/>
          </p:nvSpPr>
          <p:spPr>
            <a:xfrm>
              <a:off x="6496812" y="1886407"/>
              <a:ext cx="609905" cy="342900"/>
            </a:xfrm>
            <a:prstGeom prst="rect">
              <a:avLst/>
            </a:prstGeom>
            <a:noFill/>
            <a:ln/>
          </p:spPr>
          <p:txBody>
            <a:bodyPr wrap="square" lIns="0" tIns="0" rIns="0" bIns="0" rtlCol="0" anchor="ctr"/>
            <a:lstStyle/>
            <a:p>
              <a:pPr marL="0" indent="0" algn="l">
                <a:buNone/>
              </a:pPr>
              <a:r>
                <a:rPr lang="en-US" sz="1800" b="1" dirty="0">
                  <a:solidFill>
                    <a:srgbClr val="008751"/>
                  </a:solidFill>
                  <a:latin typeface="Noto Sans JP" pitchFamily="34" charset="0"/>
                  <a:ea typeface="Noto Sans JP" pitchFamily="34" charset="-122"/>
                  <a:cs typeface="Noto Sans JP" pitchFamily="34" charset="-120"/>
                </a:rPr>
                <a:t>JCB</a:t>
              </a:r>
              <a:endParaRPr lang="en-US" sz="1800" dirty="0"/>
            </a:p>
          </p:txBody>
        </p:sp>
        <p:sp>
          <p:nvSpPr>
            <p:cNvPr id="55" name="Text 48"/>
            <p:cNvSpPr txBox="1"/>
            <p:nvPr/>
          </p:nvSpPr>
          <p:spPr>
            <a:xfrm>
              <a:off x="7095744" y="1790395"/>
              <a:ext cx="557784" cy="30541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JCB</a:t>
              </a:r>
              <a:endParaRPr lang="en-US" sz="1600" dirty="0"/>
            </a:p>
          </p:txBody>
        </p:sp>
        <p:sp>
          <p:nvSpPr>
            <p:cNvPr id="56" name="Text 49"/>
            <p:cNvSpPr txBox="1"/>
            <p:nvPr/>
          </p:nvSpPr>
          <p:spPr>
            <a:xfrm>
              <a:off x="7095744" y="2124151"/>
              <a:ext cx="2348179" cy="191110"/>
            </a:xfrm>
            <a:prstGeom prst="rect">
              <a:avLst/>
            </a:prstGeom>
            <a:noFill/>
            <a:ln/>
          </p:spPr>
          <p:txBody>
            <a:bodyPr wrap="square" lIns="0" tIns="0" rIns="0" bIns="0" rtlCol="0" anchor="ctr"/>
            <a:lstStyle/>
            <a:p>
              <a:pPr marL="0" indent="0" algn="l">
                <a:buNone/>
              </a:pPr>
              <a:r>
                <a:rPr lang="en-US" sz="1000" dirty="0">
                  <a:solidFill>
                    <a:srgbClr val="6B7280"/>
                  </a:solidFill>
                  <a:latin typeface="Noto Sans JP" pitchFamily="34" charset="0"/>
                  <a:ea typeface="Noto Sans JP" pitchFamily="34" charset="-122"/>
                  <a:cs typeface="Noto Sans JP" pitchFamily="34" charset="-120"/>
                </a:rPr>
                <a:t>全社展開 / 金融・決済ソリューション</a:t>
              </a:r>
              <a:endParaRPr lang="en-US" sz="1000" dirty="0"/>
            </a:p>
          </p:txBody>
        </p:sp>
        <p:sp>
          <p:nvSpPr>
            <p:cNvPr id="57" name="Shape 50"/>
            <p:cNvSpPr/>
            <p:nvPr/>
          </p:nvSpPr>
          <p:spPr>
            <a:xfrm>
              <a:off x="6486754" y="2676449"/>
              <a:ext cx="2352751" cy="666598"/>
            </a:xfrm>
            <a:prstGeom prst="roundRect">
              <a:avLst>
                <a:gd name="adj" fmla="val 15677"/>
              </a:avLst>
            </a:prstGeom>
            <a:solidFill>
              <a:srgbClr val="EFF6FF"/>
            </a:solidFill>
            <a:ln/>
          </p:spPr>
          <p:txBody>
            <a:bodyPr/>
            <a:lstStyle/>
            <a:p>
              <a:endParaRPr lang="ja-JP" altLang="en-US"/>
            </a:p>
          </p:txBody>
        </p:sp>
        <p:sp>
          <p:nvSpPr>
            <p:cNvPr id="58" name="Shape 51"/>
            <p:cNvSpPr/>
            <p:nvPr/>
          </p:nvSpPr>
          <p:spPr>
            <a:xfrm>
              <a:off x="6486754" y="2676449"/>
              <a:ext cx="38405" cy="666598"/>
            </a:xfrm>
            <a:prstGeom prst="rect">
              <a:avLst/>
            </a:prstGeom>
            <a:solidFill>
              <a:srgbClr val="3B82F6"/>
            </a:solidFill>
            <a:ln/>
          </p:spPr>
          <p:txBody>
            <a:bodyPr/>
            <a:lstStyle/>
            <a:p>
              <a:endParaRPr lang="ja-JP" altLang="en-US"/>
            </a:p>
          </p:txBody>
        </p:sp>
        <p:sp>
          <p:nvSpPr>
            <p:cNvPr id="59" name="Text 52"/>
            <p:cNvSpPr txBox="1"/>
            <p:nvPr/>
          </p:nvSpPr>
          <p:spPr>
            <a:xfrm>
              <a:off x="6638544" y="2790749"/>
              <a:ext cx="438912"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利用率</a:t>
              </a:r>
              <a:endParaRPr lang="en-US" sz="900" dirty="0"/>
            </a:p>
          </p:txBody>
        </p:sp>
        <p:sp>
          <p:nvSpPr>
            <p:cNvPr id="60" name="Text 53"/>
            <p:cNvSpPr txBox="1"/>
            <p:nvPr/>
          </p:nvSpPr>
          <p:spPr>
            <a:xfrm>
              <a:off x="6638544" y="2971800"/>
              <a:ext cx="381305" cy="277063"/>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JP" pitchFamily="34" charset="0"/>
                  <a:ea typeface="Noto Sans JP" pitchFamily="34" charset="-122"/>
                  <a:cs typeface="Noto Sans JP" pitchFamily="34" charset="-120"/>
                </a:rPr>
                <a:t>83</a:t>
              </a:r>
              <a:endParaRPr lang="en-US" sz="1500" dirty="0"/>
            </a:p>
          </p:txBody>
        </p:sp>
        <p:sp>
          <p:nvSpPr>
            <p:cNvPr id="61" name="Text 54"/>
            <p:cNvSpPr txBox="1"/>
            <p:nvPr/>
          </p:nvSpPr>
          <p:spPr>
            <a:xfrm>
              <a:off x="6870802" y="3057754"/>
              <a:ext cx="200254"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a:t>
              </a:r>
              <a:endParaRPr lang="en-US" sz="900" dirty="0"/>
            </a:p>
          </p:txBody>
        </p:sp>
        <p:sp>
          <p:nvSpPr>
            <p:cNvPr id="62" name="Shape 55"/>
            <p:cNvSpPr/>
            <p:nvPr/>
          </p:nvSpPr>
          <p:spPr>
            <a:xfrm>
              <a:off x="8991295" y="2676449"/>
              <a:ext cx="2352751" cy="666598"/>
            </a:xfrm>
            <a:prstGeom prst="roundRect">
              <a:avLst>
                <a:gd name="adj" fmla="val 15677"/>
              </a:avLst>
            </a:prstGeom>
            <a:solidFill>
              <a:srgbClr val="EFF6FF"/>
            </a:solidFill>
            <a:ln/>
          </p:spPr>
          <p:txBody>
            <a:bodyPr/>
            <a:lstStyle/>
            <a:p>
              <a:endParaRPr lang="ja-JP" altLang="en-US"/>
            </a:p>
          </p:txBody>
        </p:sp>
        <p:sp>
          <p:nvSpPr>
            <p:cNvPr id="63" name="Shape 56"/>
            <p:cNvSpPr/>
            <p:nvPr/>
          </p:nvSpPr>
          <p:spPr>
            <a:xfrm>
              <a:off x="8991295" y="2676449"/>
              <a:ext cx="38405" cy="666598"/>
            </a:xfrm>
            <a:prstGeom prst="rect">
              <a:avLst/>
            </a:prstGeom>
            <a:solidFill>
              <a:srgbClr val="3B82F6"/>
            </a:solidFill>
            <a:ln/>
          </p:spPr>
          <p:txBody>
            <a:bodyPr/>
            <a:lstStyle/>
            <a:p>
              <a:endParaRPr lang="ja-JP" altLang="en-US"/>
            </a:p>
          </p:txBody>
        </p:sp>
        <p:sp>
          <p:nvSpPr>
            <p:cNvPr id="64" name="Text 57"/>
            <p:cNvSpPr txBox="1"/>
            <p:nvPr/>
          </p:nvSpPr>
          <p:spPr>
            <a:xfrm>
              <a:off x="9144000" y="2790749"/>
              <a:ext cx="781812"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業務削減効果</a:t>
              </a:r>
              <a:endParaRPr lang="en-US" sz="900" dirty="0"/>
            </a:p>
          </p:txBody>
        </p:sp>
        <p:sp>
          <p:nvSpPr>
            <p:cNvPr id="65" name="Text 58"/>
            <p:cNvSpPr txBox="1"/>
            <p:nvPr/>
          </p:nvSpPr>
          <p:spPr>
            <a:xfrm>
              <a:off x="9144000" y="2971800"/>
              <a:ext cx="267005" cy="277063"/>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JP" pitchFamily="34" charset="0"/>
                  <a:ea typeface="Noto Sans JP" pitchFamily="34" charset="-122"/>
                  <a:cs typeface="Noto Sans JP" pitchFamily="34" charset="-120"/>
                </a:rPr>
                <a:t>6</a:t>
              </a:r>
              <a:endParaRPr lang="en-US" sz="1500" dirty="0"/>
            </a:p>
          </p:txBody>
        </p:sp>
        <p:sp>
          <p:nvSpPr>
            <p:cNvPr id="66" name="Text 59"/>
            <p:cNvSpPr txBox="1"/>
            <p:nvPr/>
          </p:nvSpPr>
          <p:spPr>
            <a:xfrm>
              <a:off x="9260129" y="3057754"/>
              <a:ext cx="638251"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時間/月/人</a:t>
              </a:r>
              <a:endParaRPr lang="en-US" sz="900" dirty="0"/>
            </a:p>
          </p:txBody>
        </p:sp>
        <p:sp>
          <p:nvSpPr>
            <p:cNvPr id="67" name="Shape 60"/>
            <p:cNvSpPr/>
            <p:nvPr/>
          </p:nvSpPr>
          <p:spPr>
            <a:xfrm>
              <a:off x="6486754" y="3495751"/>
              <a:ext cx="2352751" cy="666598"/>
            </a:xfrm>
            <a:prstGeom prst="roundRect">
              <a:avLst>
                <a:gd name="adj" fmla="val 15677"/>
              </a:avLst>
            </a:prstGeom>
            <a:solidFill>
              <a:srgbClr val="F8FAFC"/>
            </a:solidFill>
            <a:ln/>
          </p:spPr>
          <p:txBody>
            <a:bodyPr/>
            <a:lstStyle/>
            <a:p>
              <a:endParaRPr lang="ja-JP" altLang="en-US"/>
            </a:p>
          </p:txBody>
        </p:sp>
        <p:sp>
          <p:nvSpPr>
            <p:cNvPr id="68" name="Shape 61"/>
            <p:cNvSpPr/>
            <p:nvPr/>
          </p:nvSpPr>
          <p:spPr>
            <a:xfrm>
              <a:off x="6486754" y="3495751"/>
              <a:ext cx="38405" cy="666598"/>
            </a:xfrm>
            <a:prstGeom prst="rect">
              <a:avLst/>
            </a:prstGeom>
            <a:solidFill>
              <a:srgbClr val="CBD5E1"/>
            </a:solidFill>
            <a:ln/>
          </p:spPr>
          <p:txBody>
            <a:bodyPr/>
            <a:lstStyle/>
            <a:p>
              <a:endParaRPr lang="ja-JP" altLang="en-US"/>
            </a:p>
          </p:txBody>
        </p:sp>
        <p:sp>
          <p:nvSpPr>
            <p:cNvPr id="69" name="Text 62"/>
            <p:cNvSpPr txBox="1"/>
            <p:nvPr/>
          </p:nvSpPr>
          <p:spPr>
            <a:xfrm>
              <a:off x="6638544" y="3610051"/>
              <a:ext cx="896112"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年間コスト削減</a:t>
              </a:r>
              <a:endParaRPr lang="en-US" sz="900" dirty="0"/>
            </a:p>
          </p:txBody>
        </p:sp>
        <p:sp>
          <p:nvSpPr>
            <p:cNvPr id="70" name="Text 63"/>
            <p:cNvSpPr txBox="1"/>
            <p:nvPr/>
          </p:nvSpPr>
          <p:spPr>
            <a:xfrm>
              <a:off x="6638544" y="3791102"/>
              <a:ext cx="715061" cy="277063"/>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JP" pitchFamily="34" charset="0"/>
                  <a:ea typeface="Noto Sans JP" pitchFamily="34" charset="-122"/>
                  <a:cs typeface="Noto Sans JP" pitchFamily="34" charset="-120"/>
                </a:rPr>
                <a:t>数億円</a:t>
              </a:r>
              <a:endParaRPr lang="en-US" sz="1500" dirty="0"/>
            </a:p>
          </p:txBody>
        </p:sp>
        <p:sp>
          <p:nvSpPr>
            <p:cNvPr id="71" name="Text 64"/>
            <p:cNvSpPr txBox="1"/>
            <p:nvPr/>
          </p:nvSpPr>
          <p:spPr>
            <a:xfrm>
              <a:off x="7210044" y="3877056"/>
              <a:ext cx="3246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規模</a:t>
              </a:r>
              <a:endParaRPr lang="en-US" sz="900" dirty="0"/>
            </a:p>
          </p:txBody>
        </p:sp>
        <p:sp>
          <p:nvSpPr>
            <p:cNvPr id="72" name="Shape 65"/>
            <p:cNvSpPr/>
            <p:nvPr/>
          </p:nvSpPr>
          <p:spPr>
            <a:xfrm>
              <a:off x="8991295" y="3495751"/>
              <a:ext cx="2352751" cy="666598"/>
            </a:xfrm>
            <a:prstGeom prst="roundRect">
              <a:avLst>
                <a:gd name="adj" fmla="val 15677"/>
              </a:avLst>
            </a:prstGeom>
            <a:solidFill>
              <a:srgbClr val="F8FAFC"/>
            </a:solidFill>
            <a:ln/>
          </p:spPr>
          <p:txBody>
            <a:bodyPr/>
            <a:lstStyle/>
            <a:p>
              <a:endParaRPr lang="ja-JP" altLang="en-US"/>
            </a:p>
          </p:txBody>
        </p:sp>
        <p:sp>
          <p:nvSpPr>
            <p:cNvPr id="73" name="Shape 66"/>
            <p:cNvSpPr/>
            <p:nvPr/>
          </p:nvSpPr>
          <p:spPr>
            <a:xfrm>
              <a:off x="8991295" y="3495751"/>
              <a:ext cx="38405" cy="666598"/>
            </a:xfrm>
            <a:prstGeom prst="rect">
              <a:avLst/>
            </a:prstGeom>
            <a:solidFill>
              <a:srgbClr val="CBD5E1"/>
            </a:solidFill>
            <a:ln/>
          </p:spPr>
          <p:txBody>
            <a:bodyPr/>
            <a:lstStyle/>
            <a:p>
              <a:endParaRPr lang="ja-JP" altLang="en-US"/>
            </a:p>
          </p:txBody>
        </p:sp>
        <p:sp>
          <p:nvSpPr>
            <p:cNvPr id="74" name="Text 67"/>
            <p:cNvSpPr txBox="1"/>
            <p:nvPr/>
          </p:nvSpPr>
          <p:spPr>
            <a:xfrm>
              <a:off x="9144000" y="3610051"/>
              <a:ext cx="553212"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推進体制</a:t>
              </a:r>
              <a:endParaRPr lang="en-US" sz="900" dirty="0"/>
            </a:p>
          </p:txBody>
        </p:sp>
        <p:sp>
          <p:nvSpPr>
            <p:cNvPr id="75" name="Text 68"/>
            <p:cNvSpPr txBox="1"/>
            <p:nvPr/>
          </p:nvSpPr>
          <p:spPr>
            <a:xfrm>
              <a:off x="9144000" y="3791102"/>
              <a:ext cx="267005" cy="277063"/>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JP" pitchFamily="34" charset="0"/>
                  <a:ea typeface="Noto Sans JP" pitchFamily="34" charset="-122"/>
                  <a:cs typeface="Noto Sans JP" pitchFamily="34" charset="-120"/>
                </a:rPr>
                <a:t>3</a:t>
              </a:r>
              <a:endParaRPr lang="en-US" sz="1500" dirty="0"/>
            </a:p>
          </p:txBody>
        </p:sp>
        <p:sp>
          <p:nvSpPr>
            <p:cNvPr id="76" name="Text 69"/>
            <p:cNvSpPr txBox="1"/>
            <p:nvPr/>
          </p:nvSpPr>
          <p:spPr>
            <a:xfrm>
              <a:off x="9260129" y="3877056"/>
              <a:ext cx="4389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層構造</a:t>
              </a:r>
              <a:endParaRPr lang="en-US" sz="900" dirty="0"/>
            </a:p>
          </p:txBody>
        </p:sp>
        <p:sp>
          <p:nvSpPr>
            <p:cNvPr id="77" name="Shape 70"/>
            <p:cNvSpPr/>
            <p:nvPr/>
          </p:nvSpPr>
          <p:spPr>
            <a:xfrm>
              <a:off x="6486754" y="4390949"/>
              <a:ext cx="4858207" cy="2409444"/>
            </a:xfrm>
            <a:prstGeom prst="roundRect">
              <a:avLst>
                <a:gd name="adj" fmla="val 1200"/>
              </a:avLst>
            </a:prstGeom>
            <a:solidFill>
              <a:srgbClr val="FFFFFF"/>
            </a:solidFill>
            <a:ln w="12700">
              <a:solidFill>
                <a:srgbClr val="E2E8F0"/>
              </a:solidFill>
              <a:prstDash val="solid"/>
            </a:ln>
          </p:spPr>
          <p:txBody>
            <a:bodyPr/>
            <a:lstStyle/>
            <a:p>
              <a:endParaRPr lang="ja-JP" altLang="en-US"/>
            </a:p>
          </p:txBody>
        </p:sp>
        <p:pic>
          <p:nvPicPr>
            <p:cNvPr id="78" name="Image 5" descr="preencoded.png"/>
            <p:cNvPicPr>
              <a:picLocks noChangeAspect="1"/>
            </p:cNvPicPr>
            <p:nvPr/>
          </p:nvPicPr>
          <p:blipFill>
            <a:blip r:embed="rId5"/>
            <a:srcRect l="-3425" r="-3425"/>
            <a:stretch/>
          </p:blipFill>
          <p:spPr>
            <a:xfrm>
              <a:off x="6648602" y="4586630"/>
              <a:ext cx="142646" cy="133502"/>
            </a:xfrm>
            <a:prstGeom prst="rect">
              <a:avLst/>
            </a:prstGeom>
          </p:spPr>
        </p:pic>
        <p:sp>
          <p:nvSpPr>
            <p:cNvPr id="79" name="Text 71"/>
            <p:cNvSpPr txBox="1"/>
            <p:nvPr/>
          </p:nvSpPr>
          <p:spPr>
            <a:xfrm>
              <a:off x="6867144" y="4552798"/>
              <a:ext cx="948233" cy="200254"/>
            </a:xfrm>
            <a:prstGeom prst="rect">
              <a:avLst/>
            </a:prstGeom>
            <a:noFill/>
            <a:ln/>
          </p:spPr>
          <p:txBody>
            <a:bodyPr wrap="square" lIns="0" tIns="0" rIns="0" bIns="0" rtlCol="0" anchor="ctr"/>
            <a:lstStyle/>
            <a:p>
              <a:pPr marL="0" indent="0" algn="l">
                <a:buNone/>
              </a:pPr>
              <a:r>
                <a:rPr lang="en-US" sz="1000" b="1" dirty="0">
                  <a:solidFill>
                    <a:srgbClr val="4B5563"/>
                  </a:solidFill>
                  <a:latin typeface="Noto Sans JP" pitchFamily="34" charset="0"/>
                  <a:ea typeface="Noto Sans JP" pitchFamily="34" charset="-122"/>
                  <a:cs typeface="Noto Sans JP" pitchFamily="34" charset="-120"/>
                </a:rPr>
                <a:t>成功要因分析</a:t>
              </a:r>
              <a:endParaRPr lang="en-US" sz="1000" dirty="0"/>
            </a:p>
          </p:txBody>
        </p:sp>
        <p:pic>
          <p:nvPicPr>
            <p:cNvPr id="80" name="Image 6" descr="preencoded.png"/>
            <p:cNvPicPr>
              <a:picLocks noChangeAspect="1"/>
            </p:cNvPicPr>
            <p:nvPr/>
          </p:nvPicPr>
          <p:blipFill>
            <a:blip r:embed="rId4"/>
            <a:srcRect/>
            <a:stretch/>
          </p:blipFill>
          <p:spPr>
            <a:xfrm>
              <a:off x="6648602" y="4895698"/>
              <a:ext cx="133502" cy="133502"/>
            </a:xfrm>
            <a:prstGeom prst="rect">
              <a:avLst/>
            </a:prstGeom>
          </p:spPr>
        </p:pic>
        <p:sp>
          <p:nvSpPr>
            <p:cNvPr id="81" name="Text 72"/>
            <p:cNvSpPr txBox="1"/>
            <p:nvPr/>
          </p:nvSpPr>
          <p:spPr>
            <a:xfrm>
              <a:off x="6877202" y="4867351"/>
              <a:ext cx="4283964" cy="372161"/>
            </a:xfrm>
            <a:prstGeom prst="rect">
              <a:avLst/>
            </a:prstGeom>
            <a:noFill/>
            <a:ln/>
          </p:spPr>
          <p:txBody>
            <a:bodyPr wrap="square" lIns="0" tIns="0" rIns="0" bIns="0" rtlCol="0" anchor="ctr"/>
            <a:lstStyle/>
            <a:p>
              <a:pPr marL="0" indent="0" algn="l">
                <a:buNone/>
              </a:pPr>
              <a:r>
                <a:rPr lang="en-US" sz="900" b="1" dirty="0">
                  <a:solidFill>
                    <a:srgbClr val="FF0000"/>
                  </a:solidFill>
                  <a:latin typeface="Noto Sans JP" pitchFamily="34" charset="0"/>
                  <a:ea typeface="Noto Sans JP" pitchFamily="34" charset="-122"/>
                  <a:cs typeface="Noto Sans JP" pitchFamily="34" charset="-120"/>
                </a:rPr>
                <a:t>部門別ユースケースの明確化： 営業(提案書)、経理(報告メール)、人事(募集要項)など、職種ごとの「勝ちパターン」を定義。</a:t>
              </a:r>
              <a:endParaRPr lang="en-US" sz="900" b="1" dirty="0">
                <a:solidFill>
                  <a:srgbClr val="FF0000"/>
                </a:solidFill>
              </a:endParaRPr>
            </a:p>
          </p:txBody>
        </p:sp>
        <p:pic>
          <p:nvPicPr>
            <p:cNvPr id="82" name="Image 7" descr="preencoded.png"/>
            <p:cNvPicPr>
              <a:picLocks noChangeAspect="1"/>
            </p:cNvPicPr>
            <p:nvPr/>
          </p:nvPicPr>
          <p:blipFill>
            <a:blip r:embed="rId4"/>
            <a:srcRect/>
            <a:stretch/>
          </p:blipFill>
          <p:spPr>
            <a:xfrm>
              <a:off x="6648602" y="5362956"/>
              <a:ext cx="133502" cy="133502"/>
            </a:xfrm>
            <a:prstGeom prst="rect">
              <a:avLst/>
            </a:prstGeom>
          </p:spPr>
        </p:pic>
        <p:sp>
          <p:nvSpPr>
            <p:cNvPr id="83" name="Text 73"/>
            <p:cNvSpPr txBox="1"/>
            <p:nvPr/>
          </p:nvSpPr>
          <p:spPr>
            <a:xfrm>
              <a:off x="6877202" y="5333695"/>
              <a:ext cx="4322369" cy="372161"/>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リアルタイムフィードバック： 利用ログ分析と月次インタビューを組み合わせ、阻害要因を即時に特定・改善。</a:t>
              </a:r>
              <a:endParaRPr lang="en-US" sz="900" dirty="0"/>
            </a:p>
          </p:txBody>
        </p:sp>
        <p:pic>
          <p:nvPicPr>
            <p:cNvPr id="84" name="Image 8" descr="preencoded.png"/>
            <p:cNvPicPr>
              <a:picLocks noChangeAspect="1"/>
            </p:cNvPicPr>
            <p:nvPr/>
          </p:nvPicPr>
          <p:blipFill>
            <a:blip r:embed="rId4"/>
            <a:srcRect/>
            <a:stretch/>
          </p:blipFill>
          <p:spPr>
            <a:xfrm>
              <a:off x="6648602" y="5829300"/>
              <a:ext cx="133502" cy="133502"/>
            </a:xfrm>
            <a:prstGeom prst="rect">
              <a:avLst/>
            </a:prstGeom>
          </p:spPr>
        </p:pic>
        <p:sp>
          <p:nvSpPr>
            <p:cNvPr id="85" name="Text 74"/>
            <p:cNvSpPr txBox="1"/>
            <p:nvPr/>
          </p:nvSpPr>
          <p:spPr>
            <a:xfrm>
              <a:off x="6877202" y="5800954"/>
              <a:ext cx="4331513" cy="372161"/>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安心安全なルール確立： 機密情報の取り扱いガイドラインやプロンプト作成マニュアルを整備し、心理的障壁を除去。</a:t>
              </a:r>
              <a:endParaRPr lang="en-US" sz="900" dirty="0"/>
            </a:p>
          </p:txBody>
        </p:sp>
        <p:pic>
          <p:nvPicPr>
            <p:cNvPr id="86" name="Image 9" descr="preencoded.png"/>
            <p:cNvPicPr>
              <a:picLocks noChangeAspect="1"/>
            </p:cNvPicPr>
            <p:nvPr/>
          </p:nvPicPr>
          <p:blipFill>
            <a:blip r:embed="rId4"/>
            <a:srcRect/>
            <a:stretch/>
          </p:blipFill>
          <p:spPr>
            <a:xfrm>
              <a:off x="6648602" y="6295644"/>
              <a:ext cx="133502" cy="133502"/>
            </a:xfrm>
            <a:prstGeom prst="rect">
              <a:avLst/>
            </a:prstGeom>
          </p:spPr>
        </p:pic>
        <p:sp>
          <p:nvSpPr>
            <p:cNvPr id="87" name="Text 75"/>
            <p:cNvSpPr txBox="1"/>
            <p:nvPr/>
          </p:nvSpPr>
          <p:spPr>
            <a:xfrm>
              <a:off x="6877202" y="6267298"/>
              <a:ext cx="4313225" cy="372161"/>
            </a:xfrm>
            <a:prstGeom prst="rect">
              <a:avLst/>
            </a:prstGeom>
            <a:noFill/>
            <a:ln/>
          </p:spPr>
          <p:txBody>
            <a:bodyPr wrap="square" lIns="0" tIns="0" rIns="0" bIns="0" rtlCol="0" anchor="ctr"/>
            <a:lstStyle/>
            <a:p>
              <a:pPr marL="0" indent="0" algn="l">
                <a:buNone/>
              </a:pPr>
              <a:r>
                <a:rPr lang="en-US" sz="900" b="1" dirty="0">
                  <a:solidFill>
                    <a:srgbClr val="FF0000"/>
                  </a:solidFill>
                  <a:latin typeface="Noto Sans JP" pitchFamily="34" charset="0"/>
                  <a:ea typeface="Noto Sans JP" pitchFamily="34" charset="-122"/>
                  <a:cs typeface="Noto Sans JP" pitchFamily="34" charset="-120"/>
                </a:rPr>
                <a:t>強固な3層推進体制： 経営層(戦略) → 推進チーム(10名・施策) → 部門アンバサダー(50名・現場)の連携。</a:t>
              </a:r>
              <a:endParaRPr lang="en-US" sz="900" b="1" dirty="0">
                <a:solidFill>
                  <a:srgbClr val="FF0000"/>
                </a:solidFill>
              </a:endParaRPr>
            </a:p>
          </p:txBody>
        </p:sp>
      </p:grpSp>
      <p:sp>
        <p:nvSpPr>
          <p:cNvPr id="88" name="Text 76"/>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06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047902"/>
          </a:xfrm>
          <a:prstGeom prst="rect">
            <a:avLst/>
          </a:prstGeom>
          <a:solidFill>
            <a:srgbClr val="FFFFFF"/>
          </a:solidFill>
          <a:ln/>
        </p:spPr>
        <p:txBody>
          <a:bodyPr/>
          <a:lstStyle/>
          <a:p>
            <a:endParaRPr lang="ja-JP" altLang="en-US"/>
          </a:p>
        </p:txBody>
      </p:sp>
      <p:sp>
        <p:nvSpPr>
          <p:cNvPr id="5" name="Shape 3"/>
          <p:cNvSpPr/>
          <p:nvPr/>
        </p:nvSpPr>
        <p:spPr>
          <a:xfrm>
            <a:off x="0" y="1038758"/>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190195"/>
            <a:ext cx="4500677" cy="419710"/>
          </a:xfrm>
          <a:prstGeom prst="rect">
            <a:avLst/>
          </a:prstGeom>
          <a:noFill/>
          <a:ln/>
        </p:spPr>
        <p:txBody>
          <a:bodyPr wrap="square" lIns="0" tIns="0" rIns="0" bIns="0" rtlCol="0" anchor="ctr"/>
          <a:lstStyle/>
          <a:p>
            <a:pPr marL="0" indent="0" algn="l">
              <a:buNone/>
            </a:pPr>
            <a:r>
              <a:rPr lang="en-US" sz="2200" b="1" dirty="0">
                <a:solidFill>
                  <a:srgbClr val="1E3A8A"/>
                </a:solidFill>
                <a:latin typeface="Noto Sans JP" pitchFamily="34" charset="0"/>
                <a:ea typeface="Noto Sans JP" pitchFamily="34" charset="-122"/>
                <a:cs typeface="Noto Sans JP" pitchFamily="34" charset="-120"/>
              </a:rPr>
              <a:t>具体的推進体制案：組織構造詳細</a:t>
            </a:r>
            <a:endParaRPr lang="en-US" sz="2200" dirty="0"/>
          </a:p>
        </p:txBody>
      </p:sp>
      <p:sp>
        <p:nvSpPr>
          <p:cNvPr id="7" name="Text 5"/>
          <p:cNvSpPr txBox="1"/>
          <p:nvPr/>
        </p:nvSpPr>
        <p:spPr>
          <a:xfrm>
            <a:off x="609905" y="629107"/>
            <a:ext cx="4441241" cy="200254"/>
          </a:xfrm>
          <a:prstGeom prst="rect">
            <a:avLst/>
          </a:prstGeom>
          <a:noFill/>
          <a:ln/>
        </p:spPr>
        <p:txBody>
          <a:bodyPr wrap="square" lIns="0" tIns="0" rIns="0" bIns="0" rtlCol="0" anchor="ctr"/>
          <a:lstStyle/>
          <a:p>
            <a:pPr marL="0" indent="0" algn="l">
              <a:buNone/>
            </a:pPr>
            <a:r>
              <a:rPr lang="en-US" sz="1100" dirty="0">
                <a:solidFill>
                  <a:srgbClr val="64748B"/>
                </a:solidFill>
                <a:latin typeface="Noto Sans JP" pitchFamily="34" charset="0"/>
                <a:ea typeface="Noto Sans JP" pitchFamily="34" charset="-122"/>
                <a:cs typeface="Noto Sans JP" pitchFamily="34" charset="-120"/>
              </a:rPr>
              <a:t>AI推進委員会・事務局・現場Championの3層構造による役割と責任</a:t>
            </a:r>
            <a:endParaRPr lang="en-US" sz="1100" dirty="0"/>
          </a:p>
        </p:txBody>
      </p:sp>
      <p:sp>
        <p:nvSpPr>
          <p:cNvPr id="118" name="Text 109"/>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32</a:t>
            </a:r>
            <a:endParaRPr lang="en-US" sz="900" dirty="0"/>
          </a:p>
        </p:txBody>
      </p:sp>
      <p:pic>
        <p:nvPicPr>
          <p:cNvPr id="1026" name="Picture 2">
            <a:extLst>
              <a:ext uri="{FF2B5EF4-FFF2-40B4-BE49-F238E27FC236}">
                <a16:creationId xmlns:a16="http://schemas.microsoft.com/office/drawing/2014/main" id="{3A0F9552-9151-51F8-5F01-216D07B23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456" y="7523795"/>
            <a:ext cx="5602270" cy="3017785"/>
          </a:xfrm>
          <a:prstGeom prst="rect">
            <a:avLst/>
          </a:prstGeom>
          <a:noFill/>
          <a:extLst>
            <a:ext uri="{909E8E84-426E-40DD-AFC4-6F175D3DCCD1}">
              <a14:hiddenFill xmlns:a14="http://schemas.microsoft.com/office/drawing/2010/main">
                <a:solidFill>
                  <a:srgbClr val="FFFFFF"/>
                </a:solidFill>
              </a14:hiddenFill>
            </a:ext>
          </a:extLst>
        </p:spPr>
      </p:pic>
      <p:grpSp>
        <p:nvGrpSpPr>
          <p:cNvPr id="1024" name="グループ化 1023">
            <a:extLst>
              <a:ext uri="{FF2B5EF4-FFF2-40B4-BE49-F238E27FC236}">
                <a16:creationId xmlns:a16="http://schemas.microsoft.com/office/drawing/2014/main" id="{8E397DC8-0852-3D78-9169-C92543068A2F}"/>
              </a:ext>
            </a:extLst>
          </p:cNvPr>
          <p:cNvGrpSpPr/>
          <p:nvPr/>
        </p:nvGrpSpPr>
        <p:grpSpPr>
          <a:xfrm>
            <a:off x="494692" y="1329393"/>
            <a:ext cx="11249862" cy="5358529"/>
            <a:chOff x="494692" y="1329393"/>
            <a:chExt cx="11249862" cy="7249002"/>
          </a:xfrm>
        </p:grpSpPr>
        <p:sp>
          <p:nvSpPr>
            <p:cNvPr id="11" name="Shape 9"/>
            <p:cNvSpPr/>
            <p:nvPr/>
          </p:nvSpPr>
          <p:spPr>
            <a:xfrm>
              <a:off x="4048049" y="1329393"/>
              <a:ext cx="3047695" cy="1952244"/>
            </a:xfrm>
            <a:prstGeom prst="roundRect">
              <a:avLst>
                <a:gd name="adj" fmla="val 2742"/>
              </a:avLst>
            </a:prstGeom>
            <a:solidFill>
              <a:srgbClr val="FFFFFF"/>
            </a:solidFill>
            <a:ln/>
            <a:effectLst>
              <a:outerShdw blurRad="38100" dist="25400" dir="5400000" algn="bl" rotWithShape="0">
                <a:srgbClr val="000000">
                  <a:alpha val="3000"/>
                </a:srgbClr>
              </a:outerShdw>
            </a:effectLst>
          </p:spPr>
          <p:txBody>
            <a:bodyPr/>
            <a:lstStyle/>
            <a:p>
              <a:endParaRPr lang="ja-JP" altLang="en-US"/>
            </a:p>
          </p:txBody>
        </p:sp>
        <p:sp>
          <p:nvSpPr>
            <p:cNvPr id="12" name="Shape 10"/>
            <p:cNvSpPr/>
            <p:nvPr/>
          </p:nvSpPr>
          <p:spPr>
            <a:xfrm>
              <a:off x="4048049" y="1329393"/>
              <a:ext cx="47549" cy="1952244"/>
            </a:xfrm>
            <a:prstGeom prst="rect">
              <a:avLst/>
            </a:prstGeom>
            <a:solidFill>
              <a:srgbClr val="1E3A8A"/>
            </a:solidFill>
            <a:ln/>
          </p:spPr>
          <p:txBody>
            <a:bodyPr/>
            <a:lstStyle/>
            <a:p>
              <a:endParaRPr lang="ja-JP" altLang="en-US"/>
            </a:p>
          </p:txBody>
        </p:sp>
        <p:sp>
          <p:nvSpPr>
            <p:cNvPr id="13" name="Shape 11"/>
            <p:cNvSpPr/>
            <p:nvPr/>
          </p:nvSpPr>
          <p:spPr>
            <a:xfrm>
              <a:off x="4285793" y="1995991"/>
              <a:ext cx="2619756" cy="9144"/>
            </a:xfrm>
            <a:prstGeom prst="rect">
              <a:avLst/>
            </a:prstGeom>
            <a:solidFill>
              <a:srgbClr val="F1F5F9"/>
            </a:solidFill>
            <a:ln/>
          </p:spPr>
          <p:txBody>
            <a:bodyPr/>
            <a:lstStyle/>
            <a:p>
              <a:endParaRPr lang="ja-JP" altLang="en-US"/>
            </a:p>
          </p:txBody>
        </p:sp>
        <p:sp>
          <p:nvSpPr>
            <p:cNvPr id="14" name="Shape 12"/>
            <p:cNvSpPr/>
            <p:nvPr/>
          </p:nvSpPr>
          <p:spPr>
            <a:xfrm>
              <a:off x="4285793" y="1567137"/>
              <a:ext cx="304495" cy="304495"/>
            </a:xfrm>
            <a:prstGeom prst="roundRect">
              <a:avLst>
                <a:gd name="adj" fmla="val 56306"/>
              </a:avLst>
            </a:prstGeom>
            <a:solidFill>
              <a:srgbClr val="EFF6FF"/>
            </a:solidFill>
            <a:ln/>
          </p:spPr>
          <p:txBody>
            <a:bodyPr/>
            <a:lstStyle/>
            <a:p>
              <a:endParaRPr lang="ja-JP" altLang="en-US"/>
            </a:p>
          </p:txBody>
        </p:sp>
        <p:pic>
          <p:nvPicPr>
            <p:cNvPr id="15" name="Image 0" descr="preencoded.png"/>
            <p:cNvPicPr>
              <a:picLocks noChangeAspect="1"/>
            </p:cNvPicPr>
            <p:nvPr/>
          </p:nvPicPr>
          <p:blipFill>
            <a:blip r:embed="rId4"/>
            <a:srcRect t="-43" b="-43"/>
            <a:stretch/>
          </p:blipFill>
          <p:spPr>
            <a:xfrm>
              <a:off x="4371746" y="1643033"/>
              <a:ext cx="133502" cy="152705"/>
            </a:xfrm>
            <a:prstGeom prst="rect">
              <a:avLst/>
            </a:prstGeom>
          </p:spPr>
        </p:pic>
        <p:sp>
          <p:nvSpPr>
            <p:cNvPr id="16" name="Text 13"/>
            <p:cNvSpPr txBox="1"/>
            <p:nvPr/>
          </p:nvSpPr>
          <p:spPr>
            <a:xfrm>
              <a:off x="4686300" y="1519589"/>
              <a:ext cx="1028700"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AI推進委員会</a:t>
              </a:r>
              <a:endParaRPr lang="en-US" sz="1200" dirty="0"/>
            </a:p>
          </p:txBody>
        </p:sp>
        <p:sp>
          <p:nvSpPr>
            <p:cNvPr id="17" name="Text 14"/>
            <p:cNvSpPr txBox="1"/>
            <p:nvPr/>
          </p:nvSpPr>
          <p:spPr>
            <a:xfrm>
              <a:off x="4686300" y="1748189"/>
              <a:ext cx="1010412"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経営層・戦略決定</a:t>
              </a:r>
              <a:endParaRPr lang="en-US" sz="900" dirty="0"/>
            </a:p>
          </p:txBody>
        </p:sp>
        <p:sp>
          <p:nvSpPr>
            <p:cNvPr id="18" name="Text 15"/>
            <p:cNvSpPr txBox="1"/>
            <p:nvPr/>
          </p:nvSpPr>
          <p:spPr>
            <a:xfrm>
              <a:off x="4285793" y="2119435"/>
              <a:ext cx="474574" cy="181051"/>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委員長</a:t>
              </a:r>
              <a:endParaRPr lang="en-US" sz="900" dirty="0"/>
            </a:p>
          </p:txBody>
        </p:sp>
        <p:sp>
          <p:nvSpPr>
            <p:cNvPr id="19" name="Text 16"/>
            <p:cNvSpPr txBox="1"/>
            <p:nvPr/>
          </p:nvSpPr>
          <p:spPr>
            <a:xfrm>
              <a:off x="4933188" y="2119435"/>
              <a:ext cx="1550822" cy="181051"/>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取締役CTO (兼AI推進室長)</a:t>
              </a:r>
              <a:endParaRPr lang="en-US" sz="900" dirty="0"/>
            </a:p>
          </p:txBody>
        </p:sp>
        <p:sp>
          <p:nvSpPr>
            <p:cNvPr id="20" name="Text 17"/>
            <p:cNvSpPr txBox="1"/>
            <p:nvPr/>
          </p:nvSpPr>
          <p:spPr>
            <a:xfrm>
              <a:off x="4285793" y="2381868"/>
              <a:ext cx="350215" cy="181051"/>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委員</a:t>
              </a:r>
              <a:endParaRPr lang="en-US" sz="900" dirty="0"/>
            </a:p>
          </p:txBody>
        </p:sp>
        <p:sp>
          <p:nvSpPr>
            <p:cNvPr id="21" name="Text 18"/>
            <p:cNvSpPr txBox="1"/>
            <p:nvPr/>
          </p:nvSpPr>
          <p:spPr>
            <a:xfrm>
              <a:off x="4933188" y="2381868"/>
              <a:ext cx="1751076" cy="181051"/>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各本部長、CIO、CHRO、CFO</a:t>
              </a:r>
              <a:endParaRPr lang="en-US" sz="900" dirty="0"/>
            </a:p>
          </p:txBody>
        </p:sp>
        <p:sp>
          <p:nvSpPr>
            <p:cNvPr id="22" name="Text 19"/>
            <p:cNvSpPr txBox="1"/>
            <p:nvPr/>
          </p:nvSpPr>
          <p:spPr>
            <a:xfrm>
              <a:off x="4285793" y="2643386"/>
              <a:ext cx="350215" cy="181051"/>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頻度</a:t>
              </a:r>
              <a:endParaRPr lang="en-US" sz="900" dirty="0"/>
            </a:p>
          </p:txBody>
        </p:sp>
        <p:sp>
          <p:nvSpPr>
            <p:cNvPr id="23" name="Text 20"/>
            <p:cNvSpPr txBox="1"/>
            <p:nvPr/>
          </p:nvSpPr>
          <p:spPr>
            <a:xfrm>
              <a:off x="4933188" y="2643386"/>
              <a:ext cx="1283818" cy="181051"/>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月1回定例 + 臨時随時</a:t>
              </a:r>
              <a:endParaRPr lang="en-US" sz="900" dirty="0"/>
            </a:p>
          </p:txBody>
        </p:sp>
        <p:sp>
          <p:nvSpPr>
            <p:cNvPr id="24" name="Text 21"/>
            <p:cNvSpPr txBox="1"/>
            <p:nvPr/>
          </p:nvSpPr>
          <p:spPr>
            <a:xfrm>
              <a:off x="4285793" y="2905819"/>
              <a:ext cx="350215" cy="181051"/>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役割</a:t>
              </a:r>
              <a:endParaRPr lang="en-US" sz="900" dirty="0"/>
            </a:p>
          </p:txBody>
        </p:sp>
        <p:sp>
          <p:nvSpPr>
            <p:cNvPr id="25" name="Text 22"/>
            <p:cNvSpPr txBox="1"/>
            <p:nvPr/>
          </p:nvSpPr>
          <p:spPr>
            <a:xfrm>
              <a:off x="4933188" y="2905819"/>
              <a:ext cx="1960474" cy="181051"/>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戦略決定、予算承認、リスク管理</a:t>
              </a:r>
              <a:endParaRPr lang="en-US" sz="900" dirty="0"/>
            </a:p>
          </p:txBody>
        </p:sp>
        <p:sp>
          <p:nvSpPr>
            <p:cNvPr id="26" name="Shape 23"/>
            <p:cNvSpPr/>
            <p:nvPr/>
          </p:nvSpPr>
          <p:spPr>
            <a:xfrm>
              <a:off x="494692" y="2281404"/>
              <a:ext cx="3047695" cy="3219602"/>
            </a:xfrm>
            <a:prstGeom prst="roundRect">
              <a:avLst>
                <a:gd name="adj" fmla="val 1125"/>
              </a:avLst>
            </a:prstGeom>
            <a:solidFill>
              <a:srgbClr val="FFFFFF"/>
            </a:solidFill>
            <a:ln w="12700">
              <a:solidFill>
                <a:srgbClr val="E2E8F0"/>
              </a:solidFill>
              <a:prstDash val="solid"/>
            </a:ln>
          </p:spPr>
          <p:txBody>
            <a:bodyPr/>
            <a:lstStyle/>
            <a:p>
              <a:endParaRPr lang="ja-JP" altLang="en-US"/>
            </a:p>
          </p:txBody>
        </p:sp>
        <p:sp>
          <p:nvSpPr>
            <p:cNvPr id="27" name="Shape 24"/>
            <p:cNvSpPr/>
            <p:nvPr/>
          </p:nvSpPr>
          <p:spPr>
            <a:xfrm>
              <a:off x="1181404" y="2552980"/>
              <a:ext cx="1640435" cy="590702"/>
            </a:xfrm>
            <a:prstGeom prst="roundRect">
              <a:avLst>
                <a:gd name="adj" fmla="val 19974"/>
              </a:avLst>
            </a:prstGeom>
            <a:solidFill>
              <a:srgbClr val="1E3A8A"/>
            </a:solidFill>
            <a:ln/>
          </p:spPr>
          <p:txBody>
            <a:bodyPr/>
            <a:lstStyle/>
            <a:p>
              <a:endParaRPr lang="ja-JP" altLang="en-US"/>
            </a:p>
          </p:txBody>
        </p:sp>
        <p:sp>
          <p:nvSpPr>
            <p:cNvPr id="28" name="Text 25"/>
            <p:cNvSpPr txBox="1"/>
            <p:nvPr/>
          </p:nvSpPr>
          <p:spPr>
            <a:xfrm>
              <a:off x="1620318" y="2667280"/>
              <a:ext cx="900684" cy="191110"/>
            </a:xfrm>
            <a:prstGeom prst="rect">
              <a:avLst/>
            </a:prstGeom>
            <a:noFill/>
            <a:ln/>
          </p:spPr>
          <p:txBody>
            <a:bodyPr wrap="square" lIns="0" tIns="0" rIns="0" bIns="0" rtlCol="0" anchor="ctr"/>
            <a:lstStyle/>
            <a:p>
              <a:pPr marL="0" indent="0" algn="ctr">
                <a:buNone/>
              </a:pPr>
              <a:r>
                <a:rPr lang="en-US" sz="1000" b="1" dirty="0">
                  <a:solidFill>
                    <a:srgbClr val="FFFFFF"/>
                  </a:solidFill>
                  <a:latin typeface="Noto Sans JP" pitchFamily="34" charset="0"/>
                  <a:ea typeface="Noto Sans JP" pitchFamily="34" charset="-122"/>
                  <a:cs typeface="Noto Sans JP" pitchFamily="34" charset="-120"/>
                </a:rPr>
                <a:t>AI推進委員会</a:t>
              </a:r>
              <a:endParaRPr lang="en-US" sz="1000" dirty="0"/>
            </a:p>
          </p:txBody>
        </p:sp>
        <p:sp>
          <p:nvSpPr>
            <p:cNvPr id="29" name="Text 26"/>
            <p:cNvSpPr txBox="1"/>
            <p:nvPr/>
          </p:nvSpPr>
          <p:spPr>
            <a:xfrm>
              <a:off x="1327710" y="2867534"/>
              <a:ext cx="1469441" cy="152705"/>
            </a:xfrm>
            <a:prstGeom prst="rect">
              <a:avLst/>
            </a:prstGeom>
            <a:noFill/>
            <a:ln/>
          </p:spPr>
          <p:txBody>
            <a:bodyPr wrap="square" lIns="0" tIns="0" rIns="0" bIns="0" rtlCol="0" anchor="ctr"/>
            <a:lstStyle/>
            <a:p>
              <a:pPr marL="0" indent="0" algn="ctr">
                <a:buNone/>
              </a:pPr>
              <a:r>
                <a:rPr lang="en-US" sz="800" dirty="0">
                  <a:solidFill>
                    <a:srgbClr val="FFFFFF">
                      <a:alpha val="90000"/>
                    </a:srgbClr>
                  </a:solidFill>
                  <a:latin typeface="Noto Sans JP" pitchFamily="34" charset="0"/>
                  <a:ea typeface="Noto Sans JP" pitchFamily="34" charset="-122"/>
                  <a:cs typeface="Noto Sans JP" pitchFamily="34" charset="-120"/>
                </a:rPr>
                <a:t>経営層 (Steering Committee)</a:t>
              </a:r>
              <a:endParaRPr lang="en-US" sz="800" dirty="0"/>
            </a:p>
          </p:txBody>
        </p:sp>
        <p:sp>
          <p:nvSpPr>
            <p:cNvPr id="30" name="Shape 27"/>
            <p:cNvSpPr/>
            <p:nvPr/>
          </p:nvSpPr>
          <p:spPr>
            <a:xfrm>
              <a:off x="2008938" y="3291816"/>
              <a:ext cx="19202" cy="152705"/>
            </a:xfrm>
            <a:prstGeom prst="rect">
              <a:avLst/>
            </a:prstGeom>
            <a:solidFill>
              <a:srgbClr val="CBD5E1"/>
            </a:solidFill>
            <a:ln/>
          </p:spPr>
          <p:txBody>
            <a:bodyPr/>
            <a:lstStyle/>
            <a:p>
              <a:endParaRPr lang="ja-JP" altLang="en-US"/>
            </a:p>
          </p:txBody>
        </p:sp>
        <p:sp>
          <p:nvSpPr>
            <p:cNvPr id="31" name="Shape 28"/>
            <p:cNvSpPr/>
            <p:nvPr/>
          </p:nvSpPr>
          <p:spPr>
            <a:xfrm>
              <a:off x="923927" y="3596311"/>
              <a:ext cx="2194707" cy="590702"/>
            </a:xfrm>
            <a:prstGeom prst="roundRect">
              <a:avLst>
                <a:gd name="adj" fmla="val 19974"/>
              </a:avLst>
            </a:prstGeom>
            <a:solidFill>
              <a:srgbClr val="2563EB"/>
            </a:solidFill>
            <a:ln/>
          </p:spPr>
          <p:txBody>
            <a:bodyPr/>
            <a:lstStyle/>
            <a:p>
              <a:endParaRPr lang="ja-JP" altLang="en-US"/>
            </a:p>
          </p:txBody>
        </p:sp>
        <p:sp>
          <p:nvSpPr>
            <p:cNvPr id="32" name="Text 29"/>
            <p:cNvSpPr txBox="1"/>
            <p:nvPr/>
          </p:nvSpPr>
          <p:spPr>
            <a:xfrm>
              <a:off x="1620318" y="3710611"/>
              <a:ext cx="900684" cy="191110"/>
            </a:xfrm>
            <a:prstGeom prst="rect">
              <a:avLst/>
            </a:prstGeom>
            <a:noFill/>
            <a:ln/>
          </p:spPr>
          <p:txBody>
            <a:bodyPr wrap="square" lIns="0" tIns="0" rIns="0" bIns="0" rtlCol="0" anchor="ctr"/>
            <a:lstStyle/>
            <a:p>
              <a:pPr marL="0" indent="0" algn="ctr">
                <a:buNone/>
              </a:pPr>
              <a:r>
                <a:rPr lang="en-US" sz="1000" b="1" dirty="0">
                  <a:solidFill>
                    <a:srgbClr val="FFFFFF"/>
                  </a:solidFill>
                  <a:latin typeface="Noto Sans JP" pitchFamily="34" charset="0"/>
                  <a:ea typeface="Noto Sans JP" pitchFamily="34" charset="-122"/>
                  <a:cs typeface="Noto Sans JP" pitchFamily="34" charset="-120"/>
                </a:rPr>
                <a:t>AI推進事務局</a:t>
              </a:r>
              <a:endParaRPr lang="en-US" sz="1000" dirty="0"/>
            </a:p>
          </p:txBody>
        </p:sp>
        <p:sp>
          <p:nvSpPr>
            <p:cNvPr id="33" name="Text 30"/>
            <p:cNvSpPr txBox="1"/>
            <p:nvPr/>
          </p:nvSpPr>
          <p:spPr>
            <a:xfrm>
              <a:off x="1388061" y="3910864"/>
              <a:ext cx="1345997" cy="152705"/>
            </a:xfrm>
            <a:prstGeom prst="rect">
              <a:avLst/>
            </a:prstGeom>
            <a:noFill/>
            <a:ln/>
          </p:spPr>
          <p:txBody>
            <a:bodyPr wrap="square" lIns="0" tIns="0" rIns="0" bIns="0" rtlCol="0" anchor="ctr"/>
            <a:lstStyle/>
            <a:p>
              <a:pPr marL="0" indent="0" algn="ctr">
                <a:buNone/>
              </a:pPr>
              <a:r>
                <a:rPr lang="en-US" sz="800" dirty="0">
                  <a:solidFill>
                    <a:srgbClr val="FFFFFF">
                      <a:alpha val="90000"/>
                    </a:srgbClr>
                  </a:solidFill>
                  <a:latin typeface="Noto Sans JP" pitchFamily="34" charset="0"/>
                  <a:ea typeface="Noto Sans JP" pitchFamily="34" charset="-122"/>
                  <a:cs typeface="Noto Sans JP" pitchFamily="34" charset="-120"/>
                </a:rPr>
                <a:t>推進チーム 6名 (PMO/CoE)</a:t>
              </a:r>
              <a:endParaRPr lang="en-US" sz="800" dirty="0"/>
            </a:p>
          </p:txBody>
        </p:sp>
        <p:sp>
          <p:nvSpPr>
            <p:cNvPr id="34" name="Shape 31"/>
            <p:cNvSpPr/>
            <p:nvPr/>
          </p:nvSpPr>
          <p:spPr>
            <a:xfrm>
              <a:off x="2008938" y="4334232"/>
              <a:ext cx="19202" cy="152705"/>
            </a:xfrm>
            <a:prstGeom prst="rect">
              <a:avLst/>
            </a:prstGeom>
            <a:solidFill>
              <a:srgbClr val="CBD5E1"/>
            </a:solidFill>
            <a:ln/>
          </p:spPr>
          <p:txBody>
            <a:bodyPr/>
            <a:lstStyle/>
            <a:p>
              <a:endParaRPr lang="ja-JP" altLang="en-US"/>
            </a:p>
          </p:txBody>
        </p:sp>
        <p:sp>
          <p:nvSpPr>
            <p:cNvPr id="35" name="Shape 32"/>
            <p:cNvSpPr/>
            <p:nvPr/>
          </p:nvSpPr>
          <p:spPr>
            <a:xfrm>
              <a:off x="656541" y="4639641"/>
              <a:ext cx="2723998" cy="590702"/>
            </a:xfrm>
            <a:prstGeom prst="roundRect">
              <a:avLst>
                <a:gd name="adj" fmla="val 19974"/>
              </a:avLst>
            </a:prstGeom>
            <a:solidFill>
              <a:srgbClr val="10B981"/>
            </a:solidFill>
            <a:ln/>
          </p:spPr>
          <p:txBody>
            <a:bodyPr/>
            <a:lstStyle/>
            <a:p>
              <a:endParaRPr lang="ja-JP" altLang="en-US"/>
            </a:p>
          </p:txBody>
        </p:sp>
        <p:sp>
          <p:nvSpPr>
            <p:cNvPr id="36" name="Text 33"/>
            <p:cNvSpPr txBox="1"/>
            <p:nvPr/>
          </p:nvSpPr>
          <p:spPr>
            <a:xfrm>
              <a:off x="1428294" y="4753941"/>
              <a:ext cx="1281989" cy="191110"/>
            </a:xfrm>
            <a:prstGeom prst="rect">
              <a:avLst/>
            </a:prstGeom>
            <a:noFill/>
            <a:ln/>
          </p:spPr>
          <p:txBody>
            <a:bodyPr wrap="square" lIns="0" tIns="0" rIns="0" bIns="0" rtlCol="0" anchor="ctr"/>
            <a:lstStyle/>
            <a:p>
              <a:pPr marL="0" indent="0" algn="ctr">
                <a:buNone/>
              </a:pPr>
              <a:r>
                <a:rPr lang="en-US" sz="1000" b="1" dirty="0">
                  <a:solidFill>
                    <a:srgbClr val="FFFFFF"/>
                  </a:solidFill>
                  <a:latin typeface="Noto Sans JP" pitchFamily="34" charset="0"/>
                  <a:ea typeface="Noto Sans JP" pitchFamily="34" charset="-122"/>
                  <a:cs typeface="Noto Sans JP" pitchFamily="34" charset="-120"/>
                </a:rPr>
                <a:t>Copilot Champion</a:t>
              </a:r>
              <a:endParaRPr lang="en-US" sz="1000" dirty="0"/>
            </a:p>
          </p:txBody>
        </p:sp>
        <p:sp>
          <p:nvSpPr>
            <p:cNvPr id="37" name="Text 34"/>
            <p:cNvSpPr txBox="1"/>
            <p:nvPr/>
          </p:nvSpPr>
          <p:spPr>
            <a:xfrm>
              <a:off x="1402691" y="4953280"/>
              <a:ext cx="1317650" cy="152705"/>
            </a:xfrm>
            <a:prstGeom prst="rect">
              <a:avLst/>
            </a:prstGeom>
            <a:noFill/>
            <a:ln/>
          </p:spPr>
          <p:txBody>
            <a:bodyPr wrap="square" lIns="0" tIns="0" rIns="0" bIns="0" rtlCol="0" anchor="ctr"/>
            <a:lstStyle/>
            <a:p>
              <a:pPr marL="0" indent="0" algn="ctr">
                <a:buNone/>
              </a:pPr>
              <a:r>
                <a:rPr lang="en-US" sz="800" dirty="0">
                  <a:solidFill>
                    <a:srgbClr val="FFFFFF">
                      <a:alpha val="90000"/>
                    </a:srgbClr>
                  </a:solidFill>
                  <a:latin typeface="Noto Sans JP" pitchFamily="34" charset="0"/>
                  <a:ea typeface="Noto Sans JP" pitchFamily="34" charset="-122"/>
                  <a:cs typeface="Noto Sans JP" pitchFamily="34" charset="-120"/>
                </a:rPr>
                <a:t>現場アンバサダー 30-50名</a:t>
              </a:r>
              <a:endParaRPr lang="en-US" sz="800" dirty="0"/>
            </a:p>
          </p:txBody>
        </p:sp>
        <p:grpSp>
          <p:nvGrpSpPr>
            <p:cNvPr id="119" name="グループ化 118">
              <a:extLst>
                <a:ext uri="{FF2B5EF4-FFF2-40B4-BE49-F238E27FC236}">
                  <a16:creationId xmlns:a16="http://schemas.microsoft.com/office/drawing/2014/main" id="{6C98243D-0A26-FE96-E07A-A3EE32148EDB}"/>
                </a:ext>
              </a:extLst>
            </p:cNvPr>
            <p:cNvGrpSpPr/>
            <p:nvPr/>
          </p:nvGrpSpPr>
          <p:grpSpPr>
            <a:xfrm>
              <a:off x="4048049" y="3512346"/>
              <a:ext cx="7696505" cy="3100089"/>
              <a:chOff x="3886200" y="1271930"/>
              <a:chExt cx="7696505" cy="2667305"/>
            </a:xfrm>
          </p:grpSpPr>
          <p:sp>
            <p:nvSpPr>
              <p:cNvPr id="38" name="Shape 35"/>
              <p:cNvSpPr/>
              <p:nvPr/>
            </p:nvSpPr>
            <p:spPr>
              <a:xfrm>
                <a:off x="3886200" y="1271930"/>
                <a:ext cx="7696505" cy="2667305"/>
              </a:xfrm>
              <a:prstGeom prst="roundRect">
                <a:avLst>
                  <a:gd name="adj" fmla="val 1469"/>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39" name="Shape 36"/>
              <p:cNvSpPr/>
              <p:nvPr/>
            </p:nvSpPr>
            <p:spPr>
              <a:xfrm>
                <a:off x="3895344" y="1281074"/>
                <a:ext cx="7677302" cy="418795"/>
              </a:xfrm>
              <a:prstGeom prst="rect">
                <a:avLst/>
              </a:prstGeom>
              <a:solidFill>
                <a:srgbClr val="2563EB"/>
              </a:solidFill>
              <a:ln/>
            </p:spPr>
            <p:txBody>
              <a:bodyPr/>
              <a:lstStyle/>
              <a:p>
                <a:endParaRPr lang="ja-JP" altLang="en-US"/>
              </a:p>
            </p:txBody>
          </p:sp>
          <p:pic>
            <p:nvPicPr>
              <p:cNvPr id="40" name="Image 1" descr="preencoded.png"/>
              <p:cNvPicPr>
                <a:picLocks noChangeAspect="1"/>
              </p:cNvPicPr>
              <p:nvPr/>
            </p:nvPicPr>
            <p:blipFill>
              <a:blip r:embed="rId5"/>
              <a:srcRect l="-769" r="-769"/>
              <a:stretch/>
            </p:blipFill>
            <p:spPr>
              <a:xfrm>
                <a:off x="4048049" y="1416406"/>
                <a:ext cx="181051" cy="142646"/>
              </a:xfrm>
              <a:prstGeom prst="rect">
                <a:avLst/>
              </a:prstGeom>
            </p:spPr>
          </p:pic>
          <p:sp>
            <p:nvSpPr>
              <p:cNvPr id="41" name="Text 37"/>
              <p:cNvSpPr txBox="1"/>
              <p:nvPr/>
            </p:nvSpPr>
            <p:spPr>
              <a:xfrm>
                <a:off x="4304995" y="1380744"/>
                <a:ext cx="2250338" cy="219456"/>
              </a:xfrm>
              <a:prstGeom prst="rect">
                <a:avLst/>
              </a:prstGeom>
              <a:noFill/>
              <a:ln/>
            </p:spPr>
            <p:txBody>
              <a:bodyPr wrap="square" lIns="0" tIns="0" rIns="0" bIns="0" rtlCol="0" anchor="ctr"/>
              <a:lstStyle/>
              <a:p>
                <a:pPr marL="0" indent="0" algn="l">
                  <a:buNone/>
                </a:pPr>
                <a:r>
                  <a:rPr lang="en-US" sz="1100" b="1" dirty="0">
                    <a:solidFill>
                      <a:srgbClr val="FFFFFF"/>
                    </a:solidFill>
                    <a:latin typeface="Noto Sans JP" pitchFamily="34" charset="0"/>
                    <a:ea typeface="Noto Sans JP" pitchFamily="34" charset="-122"/>
                    <a:cs typeface="Noto Sans JP" pitchFamily="34" charset="-120"/>
                  </a:rPr>
                  <a:t>AI推進事務局（推進チーム）詳細</a:t>
                </a:r>
                <a:endParaRPr lang="en-US" sz="1100" dirty="0"/>
              </a:p>
            </p:txBody>
          </p:sp>
          <p:sp>
            <p:nvSpPr>
              <p:cNvPr id="42" name="Shape 38"/>
              <p:cNvSpPr/>
              <p:nvPr/>
            </p:nvSpPr>
            <p:spPr>
              <a:xfrm>
                <a:off x="10550347" y="1376172"/>
                <a:ext cx="875995" cy="228600"/>
              </a:xfrm>
              <a:prstGeom prst="roundRect">
                <a:avLst>
                  <a:gd name="adj" fmla="val 66667"/>
                </a:avLst>
              </a:prstGeom>
              <a:solidFill>
                <a:srgbClr val="FFFFFF">
                  <a:alpha val="20000"/>
                </a:srgbClr>
              </a:solidFill>
              <a:ln/>
            </p:spPr>
            <p:txBody>
              <a:bodyPr/>
              <a:lstStyle/>
              <a:p>
                <a:endParaRPr lang="ja-JP" altLang="en-US"/>
              </a:p>
            </p:txBody>
          </p:sp>
          <p:sp>
            <p:nvSpPr>
              <p:cNvPr id="43" name="Text 39"/>
              <p:cNvSpPr txBox="1"/>
              <p:nvPr/>
            </p:nvSpPr>
            <p:spPr>
              <a:xfrm>
                <a:off x="10626242" y="1395374"/>
                <a:ext cx="817474" cy="181051"/>
              </a:xfrm>
              <a:prstGeom prst="rect">
                <a:avLst/>
              </a:prstGeom>
              <a:noFill/>
              <a:ln/>
            </p:spPr>
            <p:txBody>
              <a:bodyPr wrap="square" lIns="0" tIns="0" rIns="0" bIns="0" rtlCol="0" anchor="ctr"/>
              <a:lstStyle/>
              <a:p>
                <a:pPr marL="0" indent="0" algn="l">
                  <a:buNone/>
                </a:pPr>
                <a:r>
                  <a:rPr lang="en-US" sz="900" dirty="0">
                    <a:solidFill>
                      <a:srgbClr val="FFFFFF"/>
                    </a:solidFill>
                    <a:latin typeface="Noto Sans JP" pitchFamily="34" charset="0"/>
                    <a:ea typeface="Noto Sans JP" pitchFamily="34" charset="-122"/>
                    <a:cs typeface="Noto Sans JP" pitchFamily="34" charset="-120"/>
                  </a:rPr>
                  <a:t>合計 6名体制</a:t>
                </a:r>
                <a:endParaRPr lang="en-US" sz="900" dirty="0"/>
              </a:p>
            </p:txBody>
          </p:sp>
          <p:sp>
            <p:nvSpPr>
              <p:cNvPr id="44" name="Shape 40"/>
              <p:cNvSpPr/>
              <p:nvPr/>
            </p:nvSpPr>
            <p:spPr>
              <a:xfrm>
                <a:off x="3895344" y="1695298"/>
                <a:ext cx="1923898" cy="371246"/>
              </a:xfrm>
              <a:prstGeom prst="rect">
                <a:avLst/>
              </a:prstGeom>
              <a:solidFill>
                <a:srgbClr val="F8FAFC"/>
              </a:solidFill>
              <a:ln/>
            </p:spPr>
            <p:txBody>
              <a:bodyPr/>
              <a:lstStyle/>
              <a:p>
                <a:endParaRPr lang="ja-JP" altLang="en-US"/>
              </a:p>
            </p:txBody>
          </p:sp>
          <p:sp>
            <p:nvSpPr>
              <p:cNvPr id="45" name="Shape 41"/>
              <p:cNvSpPr/>
              <p:nvPr/>
            </p:nvSpPr>
            <p:spPr>
              <a:xfrm>
                <a:off x="3895344" y="2047342"/>
                <a:ext cx="1923898" cy="19202"/>
              </a:xfrm>
              <a:prstGeom prst="rect">
                <a:avLst/>
              </a:prstGeom>
              <a:solidFill>
                <a:srgbClr val="E2E8F0"/>
              </a:solidFill>
              <a:ln/>
            </p:spPr>
            <p:txBody>
              <a:bodyPr/>
              <a:lstStyle/>
              <a:p>
                <a:endParaRPr lang="ja-JP" altLang="en-US"/>
              </a:p>
            </p:txBody>
          </p:sp>
          <p:sp>
            <p:nvSpPr>
              <p:cNvPr id="46" name="Text 42"/>
              <p:cNvSpPr txBox="1"/>
              <p:nvPr/>
            </p:nvSpPr>
            <p:spPr>
              <a:xfrm>
                <a:off x="4009644" y="1790395"/>
                <a:ext cx="324612" cy="162763"/>
              </a:xfrm>
              <a:prstGeom prst="rect">
                <a:avLst/>
              </a:prstGeom>
              <a:noFill/>
              <a:ln/>
            </p:spPr>
            <p:txBody>
              <a:bodyPr wrap="square" lIns="0" tIns="0" rIns="0" bIns="0" rtlCol="0" anchor="ctr"/>
              <a:lstStyle/>
              <a:p>
                <a:pPr marL="0" indent="0" algn="l">
                  <a:buNone/>
                </a:pPr>
                <a:r>
                  <a:rPr lang="en-US" sz="900" b="1" dirty="0">
                    <a:solidFill>
                      <a:srgbClr val="475569"/>
                    </a:solidFill>
                    <a:latin typeface="Noto Sans JP" pitchFamily="34" charset="0"/>
                    <a:ea typeface="Noto Sans JP" pitchFamily="34" charset="-122"/>
                    <a:cs typeface="Noto Sans JP" pitchFamily="34" charset="-120"/>
                  </a:rPr>
                  <a:t>役職</a:t>
                </a:r>
                <a:endParaRPr lang="en-US" sz="900" dirty="0"/>
              </a:p>
            </p:txBody>
          </p:sp>
          <p:sp>
            <p:nvSpPr>
              <p:cNvPr id="47" name="Shape 43"/>
              <p:cNvSpPr/>
              <p:nvPr/>
            </p:nvSpPr>
            <p:spPr>
              <a:xfrm>
                <a:off x="5814670" y="1695298"/>
                <a:ext cx="619049" cy="371246"/>
              </a:xfrm>
              <a:prstGeom prst="rect">
                <a:avLst/>
              </a:prstGeom>
              <a:solidFill>
                <a:srgbClr val="F8FAFC"/>
              </a:solidFill>
              <a:ln/>
            </p:spPr>
            <p:txBody>
              <a:bodyPr/>
              <a:lstStyle/>
              <a:p>
                <a:endParaRPr lang="ja-JP" altLang="en-US"/>
              </a:p>
            </p:txBody>
          </p:sp>
          <p:sp>
            <p:nvSpPr>
              <p:cNvPr id="48" name="Shape 44"/>
              <p:cNvSpPr/>
              <p:nvPr/>
            </p:nvSpPr>
            <p:spPr>
              <a:xfrm>
                <a:off x="5814670" y="2047342"/>
                <a:ext cx="619049" cy="19202"/>
              </a:xfrm>
              <a:prstGeom prst="rect">
                <a:avLst/>
              </a:prstGeom>
              <a:solidFill>
                <a:srgbClr val="E2E8F0"/>
              </a:solidFill>
              <a:ln/>
            </p:spPr>
            <p:txBody>
              <a:bodyPr/>
              <a:lstStyle/>
              <a:p>
                <a:endParaRPr lang="ja-JP" altLang="en-US"/>
              </a:p>
            </p:txBody>
          </p:sp>
          <p:sp>
            <p:nvSpPr>
              <p:cNvPr id="49" name="Text 45"/>
              <p:cNvSpPr txBox="1"/>
              <p:nvPr/>
            </p:nvSpPr>
            <p:spPr>
              <a:xfrm>
                <a:off x="5928970" y="1790395"/>
                <a:ext cx="324612" cy="162763"/>
              </a:xfrm>
              <a:prstGeom prst="rect">
                <a:avLst/>
              </a:prstGeom>
              <a:noFill/>
              <a:ln/>
            </p:spPr>
            <p:txBody>
              <a:bodyPr wrap="square" lIns="0" tIns="0" rIns="0" bIns="0" rtlCol="0" anchor="ctr"/>
              <a:lstStyle/>
              <a:p>
                <a:pPr marL="0" indent="0" algn="l">
                  <a:buNone/>
                </a:pPr>
                <a:r>
                  <a:rPr lang="en-US" sz="900" b="1" dirty="0">
                    <a:solidFill>
                      <a:srgbClr val="475569"/>
                    </a:solidFill>
                    <a:latin typeface="Noto Sans JP" pitchFamily="34" charset="0"/>
                    <a:ea typeface="Noto Sans JP" pitchFamily="34" charset="-122"/>
                    <a:cs typeface="Noto Sans JP" pitchFamily="34" charset="-120"/>
                  </a:rPr>
                  <a:t>人数</a:t>
                </a:r>
                <a:endParaRPr lang="en-US" sz="900" dirty="0"/>
              </a:p>
            </p:txBody>
          </p:sp>
          <p:sp>
            <p:nvSpPr>
              <p:cNvPr id="50" name="Shape 46"/>
              <p:cNvSpPr/>
              <p:nvPr/>
            </p:nvSpPr>
            <p:spPr>
              <a:xfrm>
                <a:off x="6429146" y="1695298"/>
                <a:ext cx="2848356" cy="371246"/>
              </a:xfrm>
              <a:prstGeom prst="rect">
                <a:avLst/>
              </a:prstGeom>
              <a:solidFill>
                <a:srgbClr val="F8FAFC"/>
              </a:solidFill>
              <a:ln/>
            </p:spPr>
            <p:txBody>
              <a:bodyPr/>
              <a:lstStyle/>
              <a:p>
                <a:endParaRPr lang="ja-JP" altLang="en-US"/>
              </a:p>
            </p:txBody>
          </p:sp>
          <p:sp>
            <p:nvSpPr>
              <p:cNvPr id="51" name="Shape 47"/>
              <p:cNvSpPr/>
              <p:nvPr/>
            </p:nvSpPr>
            <p:spPr>
              <a:xfrm>
                <a:off x="6429146" y="2047342"/>
                <a:ext cx="2848356" cy="19202"/>
              </a:xfrm>
              <a:prstGeom prst="rect">
                <a:avLst/>
              </a:prstGeom>
              <a:solidFill>
                <a:srgbClr val="E2E8F0"/>
              </a:solidFill>
              <a:ln/>
            </p:spPr>
            <p:txBody>
              <a:bodyPr/>
              <a:lstStyle/>
              <a:p>
                <a:endParaRPr lang="ja-JP" altLang="en-US"/>
              </a:p>
            </p:txBody>
          </p:sp>
          <p:sp>
            <p:nvSpPr>
              <p:cNvPr id="52" name="Text 48"/>
              <p:cNvSpPr txBox="1"/>
              <p:nvPr/>
            </p:nvSpPr>
            <p:spPr>
              <a:xfrm>
                <a:off x="6543446" y="1790395"/>
                <a:ext cx="553212" cy="162763"/>
              </a:xfrm>
              <a:prstGeom prst="rect">
                <a:avLst/>
              </a:prstGeom>
              <a:noFill/>
              <a:ln/>
            </p:spPr>
            <p:txBody>
              <a:bodyPr wrap="square" lIns="0" tIns="0" rIns="0" bIns="0" rtlCol="0" anchor="ctr"/>
              <a:lstStyle/>
              <a:p>
                <a:pPr marL="0" indent="0" algn="l">
                  <a:buNone/>
                </a:pPr>
                <a:r>
                  <a:rPr lang="en-US" sz="900" b="1" dirty="0">
                    <a:solidFill>
                      <a:srgbClr val="475569"/>
                    </a:solidFill>
                    <a:latin typeface="Noto Sans JP" pitchFamily="34" charset="0"/>
                    <a:ea typeface="Noto Sans JP" pitchFamily="34" charset="-122"/>
                    <a:cs typeface="Noto Sans JP" pitchFamily="34" charset="-120"/>
                  </a:rPr>
                  <a:t>主要任務</a:t>
                </a:r>
                <a:endParaRPr lang="en-US" sz="900" dirty="0"/>
              </a:p>
            </p:txBody>
          </p:sp>
          <p:sp>
            <p:nvSpPr>
              <p:cNvPr id="53" name="Shape 49"/>
              <p:cNvSpPr/>
              <p:nvPr/>
            </p:nvSpPr>
            <p:spPr>
              <a:xfrm>
                <a:off x="9269273" y="1695298"/>
                <a:ext cx="2305202" cy="371246"/>
              </a:xfrm>
              <a:prstGeom prst="rect">
                <a:avLst/>
              </a:prstGeom>
              <a:solidFill>
                <a:srgbClr val="F8FAFC"/>
              </a:solidFill>
              <a:ln/>
            </p:spPr>
            <p:txBody>
              <a:bodyPr/>
              <a:lstStyle/>
              <a:p>
                <a:endParaRPr lang="ja-JP" altLang="en-US"/>
              </a:p>
            </p:txBody>
          </p:sp>
          <p:sp>
            <p:nvSpPr>
              <p:cNvPr id="54" name="Shape 50"/>
              <p:cNvSpPr/>
              <p:nvPr/>
            </p:nvSpPr>
            <p:spPr>
              <a:xfrm>
                <a:off x="9269273" y="2047342"/>
                <a:ext cx="2305202" cy="19202"/>
              </a:xfrm>
              <a:prstGeom prst="rect">
                <a:avLst/>
              </a:prstGeom>
              <a:solidFill>
                <a:srgbClr val="E2E8F0"/>
              </a:solidFill>
              <a:ln/>
            </p:spPr>
            <p:txBody>
              <a:bodyPr/>
              <a:lstStyle/>
              <a:p>
                <a:endParaRPr lang="ja-JP" altLang="en-US"/>
              </a:p>
            </p:txBody>
          </p:sp>
          <p:sp>
            <p:nvSpPr>
              <p:cNvPr id="55" name="Text 51"/>
              <p:cNvSpPr txBox="1"/>
              <p:nvPr/>
            </p:nvSpPr>
            <p:spPr>
              <a:xfrm>
                <a:off x="9383573" y="1790395"/>
                <a:ext cx="1010412" cy="162763"/>
              </a:xfrm>
              <a:prstGeom prst="rect">
                <a:avLst/>
              </a:prstGeom>
              <a:noFill/>
              <a:ln/>
            </p:spPr>
            <p:txBody>
              <a:bodyPr wrap="square" lIns="0" tIns="0" rIns="0" bIns="0" rtlCol="0" anchor="ctr"/>
              <a:lstStyle/>
              <a:p>
                <a:pPr marL="0" indent="0" algn="l">
                  <a:buNone/>
                </a:pPr>
                <a:r>
                  <a:rPr lang="en-US" sz="900" b="1" dirty="0">
                    <a:solidFill>
                      <a:srgbClr val="475569"/>
                    </a:solidFill>
                    <a:latin typeface="Noto Sans JP" pitchFamily="34" charset="0"/>
                    <a:ea typeface="Noto Sans JP" pitchFamily="34" charset="-122"/>
                    <a:cs typeface="Noto Sans JP" pitchFamily="34" charset="-120"/>
                  </a:rPr>
                  <a:t>必要スキル・経験</a:t>
                </a:r>
                <a:endParaRPr lang="en-US" sz="900" dirty="0"/>
              </a:p>
            </p:txBody>
          </p:sp>
          <p:sp>
            <p:nvSpPr>
              <p:cNvPr id="56" name="Shape 52"/>
              <p:cNvSpPr/>
              <p:nvPr/>
            </p:nvSpPr>
            <p:spPr>
              <a:xfrm>
                <a:off x="3895344" y="2438705"/>
                <a:ext cx="1923898" cy="9144"/>
              </a:xfrm>
              <a:prstGeom prst="rect">
                <a:avLst/>
              </a:prstGeom>
              <a:solidFill>
                <a:srgbClr val="F1F5F9"/>
              </a:solidFill>
              <a:ln/>
            </p:spPr>
            <p:txBody>
              <a:bodyPr/>
              <a:lstStyle/>
              <a:p>
                <a:endParaRPr lang="ja-JP" altLang="en-US"/>
              </a:p>
            </p:txBody>
          </p:sp>
          <p:sp>
            <p:nvSpPr>
              <p:cNvPr id="57" name="Text 53"/>
              <p:cNvSpPr txBox="1"/>
              <p:nvPr/>
            </p:nvSpPr>
            <p:spPr>
              <a:xfrm>
                <a:off x="4009644" y="2171700"/>
                <a:ext cx="1105510" cy="162763"/>
              </a:xfrm>
              <a:prstGeom prst="rect">
                <a:avLst/>
              </a:prstGeom>
              <a:noFill/>
              <a:ln/>
            </p:spPr>
            <p:txBody>
              <a:bodyPr wrap="square" lIns="0" tIns="0" rIns="0" bIns="0" rtlCol="0" anchor="ctr"/>
              <a:lstStyle/>
              <a:p>
                <a:pPr marL="0" indent="0" algn="l">
                  <a:buNone/>
                </a:pPr>
                <a:r>
                  <a:rPr lang="en-US" sz="900" b="1" dirty="0">
                    <a:solidFill>
                      <a:srgbClr val="334155"/>
                    </a:solidFill>
                    <a:latin typeface="Noto Sans JP" pitchFamily="34" charset="0"/>
                    <a:ea typeface="Noto Sans JP" pitchFamily="34" charset="-122"/>
                    <a:cs typeface="Noto Sans JP" pitchFamily="34" charset="-120"/>
                  </a:rPr>
                  <a:t>AI戦略マネージャー</a:t>
                </a:r>
                <a:endParaRPr lang="en-US" sz="900" dirty="0"/>
              </a:p>
            </p:txBody>
          </p:sp>
          <p:sp>
            <p:nvSpPr>
              <p:cNvPr id="58" name="Shape 54"/>
              <p:cNvSpPr/>
              <p:nvPr/>
            </p:nvSpPr>
            <p:spPr>
              <a:xfrm>
                <a:off x="5814670" y="2438705"/>
                <a:ext cx="619049" cy="9144"/>
              </a:xfrm>
              <a:prstGeom prst="rect">
                <a:avLst/>
              </a:prstGeom>
              <a:solidFill>
                <a:srgbClr val="F1F5F9"/>
              </a:solidFill>
              <a:ln/>
            </p:spPr>
            <p:txBody>
              <a:bodyPr/>
              <a:lstStyle/>
              <a:p>
                <a:endParaRPr lang="ja-JP" altLang="en-US"/>
              </a:p>
            </p:txBody>
          </p:sp>
          <p:sp>
            <p:nvSpPr>
              <p:cNvPr id="59" name="Text 55"/>
              <p:cNvSpPr txBox="1"/>
              <p:nvPr/>
            </p:nvSpPr>
            <p:spPr>
              <a:xfrm>
                <a:off x="5928970" y="2171700"/>
                <a:ext cx="152705"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1</a:t>
                </a:r>
                <a:endParaRPr lang="en-US" sz="900" dirty="0"/>
              </a:p>
            </p:txBody>
          </p:sp>
          <p:sp>
            <p:nvSpPr>
              <p:cNvPr id="60" name="Shape 56"/>
              <p:cNvSpPr/>
              <p:nvPr/>
            </p:nvSpPr>
            <p:spPr>
              <a:xfrm>
                <a:off x="6429146" y="2438705"/>
                <a:ext cx="2848356" cy="9144"/>
              </a:xfrm>
              <a:prstGeom prst="rect">
                <a:avLst/>
              </a:prstGeom>
              <a:solidFill>
                <a:srgbClr val="F1F5F9"/>
              </a:solidFill>
              <a:ln/>
            </p:spPr>
            <p:txBody>
              <a:bodyPr/>
              <a:lstStyle/>
              <a:p>
                <a:endParaRPr lang="ja-JP" altLang="en-US"/>
              </a:p>
            </p:txBody>
          </p:sp>
          <p:sp>
            <p:nvSpPr>
              <p:cNvPr id="61" name="Text 57"/>
              <p:cNvSpPr txBox="1"/>
              <p:nvPr/>
            </p:nvSpPr>
            <p:spPr>
              <a:xfrm>
                <a:off x="6543446" y="2171700"/>
                <a:ext cx="2000707"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全体戦略立案、経営層報告、ROI算出</a:t>
                </a:r>
                <a:endParaRPr lang="en-US" sz="900" dirty="0"/>
              </a:p>
            </p:txBody>
          </p:sp>
          <p:sp>
            <p:nvSpPr>
              <p:cNvPr id="62" name="Shape 58"/>
              <p:cNvSpPr/>
              <p:nvPr/>
            </p:nvSpPr>
            <p:spPr>
              <a:xfrm>
                <a:off x="9269273" y="2438705"/>
                <a:ext cx="2305202" cy="9144"/>
              </a:xfrm>
              <a:prstGeom prst="rect">
                <a:avLst/>
              </a:prstGeom>
              <a:solidFill>
                <a:srgbClr val="F1F5F9"/>
              </a:solidFill>
              <a:ln/>
            </p:spPr>
            <p:txBody>
              <a:bodyPr/>
              <a:lstStyle/>
              <a:p>
                <a:endParaRPr lang="ja-JP" altLang="en-US"/>
              </a:p>
            </p:txBody>
          </p:sp>
          <p:sp>
            <p:nvSpPr>
              <p:cNvPr id="63" name="Text 59"/>
              <p:cNvSpPr txBox="1"/>
              <p:nvPr/>
            </p:nvSpPr>
            <p:spPr>
              <a:xfrm>
                <a:off x="9383573" y="2171700"/>
                <a:ext cx="1257300"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経営企画、DX推進経験</a:t>
                </a:r>
                <a:endParaRPr lang="en-US" sz="900" dirty="0"/>
              </a:p>
            </p:txBody>
          </p:sp>
          <p:sp>
            <p:nvSpPr>
              <p:cNvPr id="64" name="Shape 60"/>
              <p:cNvSpPr/>
              <p:nvPr/>
            </p:nvSpPr>
            <p:spPr>
              <a:xfrm>
                <a:off x="3895344" y="2805379"/>
                <a:ext cx="1923898" cy="9144"/>
              </a:xfrm>
              <a:prstGeom prst="rect">
                <a:avLst/>
              </a:prstGeom>
              <a:solidFill>
                <a:srgbClr val="F1F5F9"/>
              </a:solidFill>
              <a:ln/>
            </p:spPr>
            <p:txBody>
              <a:bodyPr/>
              <a:lstStyle/>
              <a:p>
                <a:endParaRPr lang="ja-JP" altLang="en-US"/>
              </a:p>
            </p:txBody>
          </p:sp>
          <p:sp>
            <p:nvSpPr>
              <p:cNvPr id="65" name="Text 61"/>
              <p:cNvSpPr txBox="1"/>
              <p:nvPr/>
            </p:nvSpPr>
            <p:spPr>
              <a:xfrm>
                <a:off x="4009644" y="2542946"/>
                <a:ext cx="1343254" cy="162763"/>
              </a:xfrm>
              <a:prstGeom prst="rect">
                <a:avLst/>
              </a:prstGeom>
              <a:noFill/>
              <a:ln/>
            </p:spPr>
            <p:txBody>
              <a:bodyPr wrap="square" lIns="0" tIns="0" rIns="0" bIns="0" rtlCol="0" anchor="ctr"/>
              <a:lstStyle/>
              <a:p>
                <a:pPr marL="0" indent="0" algn="l">
                  <a:buNone/>
                </a:pPr>
                <a:r>
                  <a:rPr lang="en-US" sz="900" b="1" dirty="0">
                    <a:solidFill>
                      <a:srgbClr val="334155"/>
                    </a:solidFill>
                    <a:latin typeface="Noto Sans JP" pitchFamily="34" charset="0"/>
                    <a:ea typeface="Noto Sans JP" pitchFamily="34" charset="-122"/>
                    <a:cs typeface="Noto Sans JP" pitchFamily="34" charset="-120"/>
                  </a:rPr>
                  <a:t>テクニカルアーキテクト</a:t>
                </a:r>
                <a:endParaRPr lang="en-US" sz="900" dirty="0"/>
              </a:p>
            </p:txBody>
          </p:sp>
          <p:sp>
            <p:nvSpPr>
              <p:cNvPr id="66" name="Shape 62"/>
              <p:cNvSpPr/>
              <p:nvPr/>
            </p:nvSpPr>
            <p:spPr>
              <a:xfrm>
                <a:off x="5814670" y="2805379"/>
                <a:ext cx="619049" cy="9144"/>
              </a:xfrm>
              <a:prstGeom prst="rect">
                <a:avLst/>
              </a:prstGeom>
              <a:solidFill>
                <a:srgbClr val="F1F5F9"/>
              </a:solidFill>
              <a:ln/>
            </p:spPr>
            <p:txBody>
              <a:bodyPr/>
              <a:lstStyle/>
              <a:p>
                <a:endParaRPr lang="ja-JP" altLang="en-US"/>
              </a:p>
            </p:txBody>
          </p:sp>
          <p:sp>
            <p:nvSpPr>
              <p:cNvPr id="67" name="Text 63"/>
              <p:cNvSpPr txBox="1"/>
              <p:nvPr/>
            </p:nvSpPr>
            <p:spPr>
              <a:xfrm>
                <a:off x="5928970" y="2542946"/>
                <a:ext cx="152705"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2</a:t>
                </a:r>
                <a:endParaRPr lang="en-US" sz="900" dirty="0"/>
              </a:p>
            </p:txBody>
          </p:sp>
          <p:sp>
            <p:nvSpPr>
              <p:cNvPr id="68" name="Shape 64"/>
              <p:cNvSpPr/>
              <p:nvPr/>
            </p:nvSpPr>
            <p:spPr>
              <a:xfrm>
                <a:off x="6429146" y="2805379"/>
                <a:ext cx="2848356" cy="9144"/>
              </a:xfrm>
              <a:prstGeom prst="rect">
                <a:avLst/>
              </a:prstGeom>
              <a:solidFill>
                <a:srgbClr val="F1F5F9"/>
              </a:solidFill>
              <a:ln/>
            </p:spPr>
            <p:txBody>
              <a:bodyPr/>
              <a:lstStyle/>
              <a:p>
                <a:endParaRPr lang="ja-JP" altLang="en-US"/>
              </a:p>
            </p:txBody>
          </p:sp>
          <p:sp>
            <p:nvSpPr>
              <p:cNvPr id="69" name="Text 65"/>
              <p:cNvSpPr txBox="1"/>
              <p:nvPr/>
            </p:nvSpPr>
            <p:spPr>
              <a:xfrm>
                <a:off x="6543446" y="2542946"/>
                <a:ext cx="2143354"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技術設計、セキュリティ、ベンダー連携</a:t>
                </a:r>
                <a:endParaRPr lang="en-US" sz="900" dirty="0"/>
              </a:p>
            </p:txBody>
          </p:sp>
          <p:sp>
            <p:nvSpPr>
              <p:cNvPr id="70" name="Shape 66"/>
              <p:cNvSpPr/>
              <p:nvPr/>
            </p:nvSpPr>
            <p:spPr>
              <a:xfrm>
                <a:off x="9269273" y="2805379"/>
                <a:ext cx="2305202" cy="9144"/>
              </a:xfrm>
              <a:prstGeom prst="rect">
                <a:avLst/>
              </a:prstGeom>
              <a:solidFill>
                <a:srgbClr val="F1F5F9"/>
              </a:solidFill>
              <a:ln/>
            </p:spPr>
            <p:txBody>
              <a:bodyPr/>
              <a:lstStyle/>
              <a:p>
                <a:endParaRPr lang="ja-JP" altLang="en-US"/>
              </a:p>
            </p:txBody>
          </p:sp>
          <p:sp>
            <p:nvSpPr>
              <p:cNvPr id="71" name="Text 67"/>
              <p:cNvSpPr txBox="1"/>
              <p:nvPr/>
            </p:nvSpPr>
            <p:spPr>
              <a:xfrm>
                <a:off x="9383573" y="2542946"/>
                <a:ext cx="1810512"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M365、Azure、セキュリティ設計</a:t>
                </a:r>
                <a:endParaRPr lang="en-US" sz="900" dirty="0"/>
              </a:p>
            </p:txBody>
          </p:sp>
          <p:sp>
            <p:nvSpPr>
              <p:cNvPr id="72" name="Shape 68"/>
              <p:cNvSpPr/>
              <p:nvPr/>
            </p:nvSpPr>
            <p:spPr>
              <a:xfrm>
                <a:off x="3895344" y="3176626"/>
                <a:ext cx="1923898" cy="9144"/>
              </a:xfrm>
              <a:prstGeom prst="rect">
                <a:avLst/>
              </a:prstGeom>
              <a:solidFill>
                <a:srgbClr val="F1F5F9"/>
              </a:solidFill>
              <a:ln/>
            </p:spPr>
            <p:txBody>
              <a:bodyPr/>
              <a:lstStyle/>
              <a:p>
                <a:endParaRPr lang="ja-JP" altLang="en-US"/>
              </a:p>
            </p:txBody>
          </p:sp>
          <p:sp>
            <p:nvSpPr>
              <p:cNvPr id="73" name="Text 69"/>
              <p:cNvSpPr txBox="1"/>
              <p:nvPr/>
            </p:nvSpPr>
            <p:spPr>
              <a:xfrm>
                <a:off x="4009644" y="2915107"/>
                <a:ext cx="1228954" cy="162763"/>
              </a:xfrm>
              <a:prstGeom prst="rect">
                <a:avLst/>
              </a:prstGeom>
              <a:noFill/>
              <a:ln/>
            </p:spPr>
            <p:txBody>
              <a:bodyPr wrap="square" lIns="0" tIns="0" rIns="0" bIns="0" rtlCol="0" anchor="ctr"/>
              <a:lstStyle/>
              <a:p>
                <a:pPr marL="0" indent="0" algn="l">
                  <a:buNone/>
                </a:pPr>
                <a:r>
                  <a:rPr lang="en-US" sz="900" b="1" dirty="0">
                    <a:solidFill>
                      <a:srgbClr val="334155"/>
                    </a:solidFill>
                    <a:latin typeface="Noto Sans JP" pitchFamily="34" charset="0"/>
                    <a:ea typeface="Noto Sans JP" pitchFamily="34" charset="-122"/>
                    <a:cs typeface="Noto Sans JP" pitchFamily="34" charset="-120"/>
                  </a:rPr>
                  <a:t>チェンジマネージャー</a:t>
                </a:r>
                <a:endParaRPr lang="en-US" sz="900" dirty="0"/>
              </a:p>
            </p:txBody>
          </p:sp>
          <p:sp>
            <p:nvSpPr>
              <p:cNvPr id="74" name="Shape 70"/>
              <p:cNvSpPr/>
              <p:nvPr/>
            </p:nvSpPr>
            <p:spPr>
              <a:xfrm>
                <a:off x="5814670" y="3176626"/>
                <a:ext cx="619049" cy="9144"/>
              </a:xfrm>
              <a:prstGeom prst="rect">
                <a:avLst/>
              </a:prstGeom>
              <a:solidFill>
                <a:srgbClr val="F1F5F9"/>
              </a:solidFill>
              <a:ln/>
            </p:spPr>
            <p:txBody>
              <a:bodyPr/>
              <a:lstStyle/>
              <a:p>
                <a:endParaRPr lang="ja-JP" altLang="en-US"/>
              </a:p>
            </p:txBody>
          </p:sp>
          <p:sp>
            <p:nvSpPr>
              <p:cNvPr id="75" name="Text 71"/>
              <p:cNvSpPr txBox="1"/>
              <p:nvPr/>
            </p:nvSpPr>
            <p:spPr>
              <a:xfrm>
                <a:off x="5928970" y="2915107"/>
                <a:ext cx="152705"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1</a:t>
                </a:r>
                <a:endParaRPr lang="en-US" sz="900" dirty="0"/>
              </a:p>
            </p:txBody>
          </p:sp>
          <p:sp>
            <p:nvSpPr>
              <p:cNvPr id="76" name="Shape 72"/>
              <p:cNvSpPr/>
              <p:nvPr/>
            </p:nvSpPr>
            <p:spPr>
              <a:xfrm>
                <a:off x="6429146" y="3176626"/>
                <a:ext cx="2848356" cy="9144"/>
              </a:xfrm>
              <a:prstGeom prst="rect">
                <a:avLst/>
              </a:prstGeom>
              <a:solidFill>
                <a:srgbClr val="F1F5F9"/>
              </a:solidFill>
              <a:ln/>
            </p:spPr>
            <p:txBody>
              <a:bodyPr/>
              <a:lstStyle/>
              <a:p>
                <a:endParaRPr lang="ja-JP" altLang="en-US"/>
              </a:p>
            </p:txBody>
          </p:sp>
          <p:sp>
            <p:nvSpPr>
              <p:cNvPr id="77" name="Text 73"/>
              <p:cNvSpPr txBox="1"/>
              <p:nvPr/>
            </p:nvSpPr>
            <p:spPr>
              <a:xfrm>
                <a:off x="6543446" y="2915107"/>
                <a:ext cx="2257654"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教育プログラム開発、現場支援、事例集約</a:t>
                </a:r>
                <a:endParaRPr lang="en-US" sz="900" dirty="0"/>
              </a:p>
            </p:txBody>
          </p:sp>
          <p:sp>
            <p:nvSpPr>
              <p:cNvPr id="78" name="Shape 74"/>
              <p:cNvSpPr/>
              <p:nvPr/>
            </p:nvSpPr>
            <p:spPr>
              <a:xfrm>
                <a:off x="9269273" y="3176626"/>
                <a:ext cx="2305202" cy="9144"/>
              </a:xfrm>
              <a:prstGeom prst="rect">
                <a:avLst/>
              </a:prstGeom>
              <a:solidFill>
                <a:srgbClr val="F1F5F9"/>
              </a:solidFill>
              <a:ln/>
            </p:spPr>
            <p:txBody>
              <a:bodyPr/>
              <a:lstStyle/>
              <a:p>
                <a:endParaRPr lang="ja-JP" altLang="en-US"/>
              </a:p>
            </p:txBody>
          </p:sp>
          <p:sp>
            <p:nvSpPr>
              <p:cNvPr id="79" name="Text 75"/>
              <p:cNvSpPr txBox="1"/>
              <p:nvPr/>
            </p:nvSpPr>
            <p:spPr>
              <a:xfrm>
                <a:off x="9383573" y="2915107"/>
                <a:ext cx="2039112"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組織開発、教育設計、ファシリテート</a:t>
                </a:r>
                <a:endParaRPr lang="en-US" sz="900" dirty="0"/>
              </a:p>
            </p:txBody>
          </p:sp>
          <p:sp>
            <p:nvSpPr>
              <p:cNvPr id="80" name="Shape 76"/>
              <p:cNvSpPr/>
              <p:nvPr/>
            </p:nvSpPr>
            <p:spPr>
              <a:xfrm>
                <a:off x="3895344" y="3547872"/>
                <a:ext cx="1923898" cy="9144"/>
              </a:xfrm>
              <a:prstGeom prst="rect">
                <a:avLst/>
              </a:prstGeom>
              <a:solidFill>
                <a:srgbClr val="F1F5F9"/>
              </a:solidFill>
              <a:ln/>
            </p:spPr>
            <p:txBody>
              <a:bodyPr/>
              <a:lstStyle/>
              <a:p>
                <a:endParaRPr lang="ja-JP" altLang="en-US"/>
              </a:p>
            </p:txBody>
          </p:sp>
          <p:sp>
            <p:nvSpPr>
              <p:cNvPr id="81" name="Text 77"/>
              <p:cNvSpPr txBox="1"/>
              <p:nvPr/>
            </p:nvSpPr>
            <p:spPr>
              <a:xfrm>
                <a:off x="4009644" y="3286354"/>
                <a:ext cx="1228954" cy="162763"/>
              </a:xfrm>
              <a:prstGeom prst="rect">
                <a:avLst/>
              </a:prstGeom>
              <a:noFill/>
              <a:ln/>
            </p:spPr>
            <p:txBody>
              <a:bodyPr wrap="square" lIns="0" tIns="0" rIns="0" bIns="0" rtlCol="0" anchor="ctr"/>
              <a:lstStyle/>
              <a:p>
                <a:pPr marL="0" indent="0" algn="l">
                  <a:buNone/>
                </a:pPr>
                <a:r>
                  <a:rPr lang="en-US" sz="900" b="1" dirty="0">
                    <a:solidFill>
                      <a:srgbClr val="334155"/>
                    </a:solidFill>
                    <a:latin typeface="Noto Sans JP" pitchFamily="34" charset="0"/>
                    <a:ea typeface="Noto Sans JP" pitchFamily="34" charset="-122"/>
                    <a:cs typeface="Noto Sans JP" pitchFamily="34" charset="-120"/>
                  </a:rPr>
                  <a:t>データガバナンス担当</a:t>
                </a:r>
                <a:endParaRPr lang="en-US" sz="900" dirty="0"/>
              </a:p>
            </p:txBody>
          </p:sp>
          <p:sp>
            <p:nvSpPr>
              <p:cNvPr id="82" name="Shape 78"/>
              <p:cNvSpPr/>
              <p:nvPr/>
            </p:nvSpPr>
            <p:spPr>
              <a:xfrm>
                <a:off x="5814670" y="3547872"/>
                <a:ext cx="619049" cy="9144"/>
              </a:xfrm>
              <a:prstGeom prst="rect">
                <a:avLst/>
              </a:prstGeom>
              <a:solidFill>
                <a:srgbClr val="F1F5F9"/>
              </a:solidFill>
              <a:ln/>
            </p:spPr>
            <p:txBody>
              <a:bodyPr/>
              <a:lstStyle/>
              <a:p>
                <a:endParaRPr lang="ja-JP" altLang="en-US"/>
              </a:p>
            </p:txBody>
          </p:sp>
          <p:sp>
            <p:nvSpPr>
              <p:cNvPr id="83" name="Text 79"/>
              <p:cNvSpPr txBox="1"/>
              <p:nvPr/>
            </p:nvSpPr>
            <p:spPr>
              <a:xfrm>
                <a:off x="5928970" y="3286354"/>
                <a:ext cx="152705"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1</a:t>
                </a:r>
                <a:endParaRPr lang="en-US" sz="900" dirty="0"/>
              </a:p>
            </p:txBody>
          </p:sp>
          <p:sp>
            <p:nvSpPr>
              <p:cNvPr id="84" name="Shape 80"/>
              <p:cNvSpPr/>
              <p:nvPr/>
            </p:nvSpPr>
            <p:spPr>
              <a:xfrm>
                <a:off x="6429146" y="3547872"/>
                <a:ext cx="2848356" cy="9144"/>
              </a:xfrm>
              <a:prstGeom prst="rect">
                <a:avLst/>
              </a:prstGeom>
              <a:solidFill>
                <a:srgbClr val="F1F5F9"/>
              </a:solidFill>
              <a:ln/>
            </p:spPr>
            <p:txBody>
              <a:bodyPr/>
              <a:lstStyle/>
              <a:p>
                <a:endParaRPr lang="ja-JP" altLang="en-US"/>
              </a:p>
            </p:txBody>
          </p:sp>
          <p:sp>
            <p:nvSpPr>
              <p:cNvPr id="85" name="Text 81"/>
              <p:cNvSpPr txBox="1"/>
              <p:nvPr/>
            </p:nvSpPr>
            <p:spPr>
              <a:xfrm>
                <a:off x="6543446" y="3286354"/>
                <a:ext cx="2134210"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ポリシー策定、コンプライアンス、監査</a:t>
                </a:r>
                <a:endParaRPr lang="en-US" sz="900" dirty="0"/>
              </a:p>
            </p:txBody>
          </p:sp>
          <p:sp>
            <p:nvSpPr>
              <p:cNvPr id="86" name="Shape 82"/>
              <p:cNvSpPr/>
              <p:nvPr/>
            </p:nvSpPr>
            <p:spPr>
              <a:xfrm>
                <a:off x="9269273" y="3547872"/>
                <a:ext cx="2305202" cy="9144"/>
              </a:xfrm>
              <a:prstGeom prst="rect">
                <a:avLst/>
              </a:prstGeom>
              <a:solidFill>
                <a:srgbClr val="F1F5F9"/>
              </a:solidFill>
              <a:ln/>
            </p:spPr>
            <p:txBody>
              <a:bodyPr/>
              <a:lstStyle/>
              <a:p>
                <a:endParaRPr lang="ja-JP" altLang="en-US"/>
              </a:p>
            </p:txBody>
          </p:sp>
          <p:sp>
            <p:nvSpPr>
              <p:cNvPr id="87" name="Text 83"/>
              <p:cNvSpPr txBox="1"/>
              <p:nvPr/>
            </p:nvSpPr>
            <p:spPr>
              <a:xfrm>
                <a:off x="9383573" y="3286354"/>
                <a:ext cx="1581912"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個人情報保護法、リスク管理</a:t>
                </a:r>
                <a:endParaRPr lang="en-US" sz="900" dirty="0"/>
              </a:p>
            </p:txBody>
          </p:sp>
          <p:sp>
            <p:nvSpPr>
              <p:cNvPr id="88" name="Text 84"/>
              <p:cNvSpPr txBox="1"/>
              <p:nvPr/>
            </p:nvSpPr>
            <p:spPr>
              <a:xfrm>
                <a:off x="4009644" y="3657600"/>
                <a:ext cx="1457554" cy="162763"/>
              </a:xfrm>
              <a:prstGeom prst="rect">
                <a:avLst/>
              </a:prstGeom>
              <a:noFill/>
              <a:ln/>
            </p:spPr>
            <p:txBody>
              <a:bodyPr wrap="square" lIns="0" tIns="0" rIns="0" bIns="0" rtlCol="0" anchor="ctr"/>
              <a:lstStyle/>
              <a:p>
                <a:pPr marL="0" indent="0" algn="l">
                  <a:buNone/>
                </a:pPr>
                <a:r>
                  <a:rPr lang="en-US" sz="900" b="1" dirty="0">
                    <a:solidFill>
                      <a:srgbClr val="334155"/>
                    </a:solidFill>
                    <a:latin typeface="Noto Sans JP" pitchFamily="34" charset="0"/>
                    <a:ea typeface="Noto Sans JP" pitchFamily="34" charset="-122"/>
                    <a:cs typeface="Noto Sans JP" pitchFamily="34" charset="-120"/>
                  </a:rPr>
                  <a:t>プロジェクトマネージャー</a:t>
                </a:r>
                <a:endParaRPr lang="en-US" sz="900" dirty="0"/>
              </a:p>
            </p:txBody>
          </p:sp>
          <p:sp>
            <p:nvSpPr>
              <p:cNvPr id="89" name="Text 85"/>
              <p:cNvSpPr txBox="1"/>
              <p:nvPr/>
            </p:nvSpPr>
            <p:spPr>
              <a:xfrm>
                <a:off x="5928970" y="3657600"/>
                <a:ext cx="152705"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1</a:t>
                </a:r>
                <a:endParaRPr lang="en-US" sz="900" dirty="0"/>
              </a:p>
            </p:txBody>
          </p:sp>
          <p:sp>
            <p:nvSpPr>
              <p:cNvPr id="90" name="Text 86"/>
              <p:cNvSpPr txBox="1"/>
              <p:nvPr/>
            </p:nvSpPr>
            <p:spPr>
              <a:xfrm>
                <a:off x="6543446" y="3657600"/>
                <a:ext cx="2324405"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進捗管理、KPI設定、ステークホルダー調整</a:t>
                </a:r>
                <a:endParaRPr lang="en-US" sz="900" dirty="0"/>
              </a:p>
            </p:txBody>
          </p:sp>
          <p:sp>
            <p:nvSpPr>
              <p:cNvPr id="91" name="Text 87"/>
              <p:cNvSpPr txBox="1"/>
              <p:nvPr/>
            </p:nvSpPr>
            <p:spPr>
              <a:xfrm>
                <a:off x="9383573" y="3657600"/>
                <a:ext cx="1791310" cy="162763"/>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PMP/PMBOK、プロジェクト管理</a:t>
                </a:r>
                <a:endParaRPr lang="en-US" sz="900" dirty="0"/>
              </a:p>
            </p:txBody>
          </p:sp>
        </p:grpSp>
        <p:sp>
          <p:nvSpPr>
            <p:cNvPr id="92" name="Shape 88"/>
            <p:cNvSpPr/>
            <p:nvPr/>
          </p:nvSpPr>
          <p:spPr>
            <a:xfrm>
              <a:off x="4048049" y="6863895"/>
              <a:ext cx="7696505" cy="1714500"/>
            </a:xfrm>
            <a:prstGeom prst="roundRect">
              <a:avLst>
                <a:gd name="adj" fmla="val 3556"/>
              </a:avLst>
            </a:prstGeom>
            <a:solidFill>
              <a:srgbClr val="FFFFFF"/>
            </a:solidFill>
            <a:ln w="50800">
              <a:solidFill>
                <a:srgbClr val="10B981"/>
              </a:solidFill>
              <a:prstDash val="solid"/>
            </a:ln>
          </p:spPr>
          <p:txBody>
            <a:bodyPr/>
            <a:lstStyle/>
            <a:p>
              <a:endParaRPr lang="ja-JP" altLang="en-US"/>
            </a:p>
          </p:txBody>
        </p:sp>
        <p:pic>
          <p:nvPicPr>
            <p:cNvPr id="93" name="Image 2" descr="preencoded.png"/>
            <p:cNvPicPr>
              <a:picLocks noChangeAspect="1"/>
            </p:cNvPicPr>
            <p:nvPr/>
          </p:nvPicPr>
          <p:blipFill>
            <a:blip r:embed="rId6"/>
            <a:srcRect/>
            <a:stretch/>
          </p:blipFill>
          <p:spPr>
            <a:xfrm>
              <a:off x="4209898" y="7102553"/>
              <a:ext cx="171907" cy="171907"/>
            </a:xfrm>
            <a:prstGeom prst="rect">
              <a:avLst/>
            </a:prstGeom>
          </p:spPr>
        </p:pic>
        <p:sp>
          <p:nvSpPr>
            <p:cNvPr id="94" name="Text 89"/>
            <p:cNvSpPr txBox="1"/>
            <p:nvPr/>
          </p:nvSpPr>
          <p:spPr>
            <a:xfrm>
              <a:off x="4457700" y="7055005"/>
              <a:ext cx="3910889" cy="267005"/>
            </a:xfrm>
            <a:prstGeom prst="rect">
              <a:avLst/>
            </a:prstGeom>
            <a:noFill/>
            <a:ln/>
          </p:spPr>
          <p:txBody>
            <a:bodyPr wrap="square" lIns="0" tIns="0" rIns="0" bIns="0" rtlCol="0" anchor="ctr"/>
            <a:lstStyle/>
            <a:p>
              <a:pPr marL="0" indent="0" algn="l">
                <a:buNone/>
              </a:pPr>
              <a:r>
                <a:rPr lang="en-US" sz="1300" b="1" dirty="0">
                  <a:solidFill>
                    <a:srgbClr val="065F46"/>
                  </a:solidFill>
                  <a:latin typeface="Noto Sans JP" pitchFamily="34" charset="0"/>
                  <a:ea typeface="Noto Sans JP" pitchFamily="34" charset="-122"/>
                  <a:cs typeface="Noto Sans JP" pitchFamily="34" charset="-120"/>
                </a:rPr>
                <a:t>部門別 Copilot Champion（現場アンバサダー）</a:t>
              </a:r>
              <a:endParaRPr lang="en-US" sz="1300" dirty="0"/>
            </a:p>
          </p:txBody>
        </p:sp>
        <p:sp>
          <p:nvSpPr>
            <p:cNvPr id="95" name="Shape 90"/>
            <p:cNvSpPr/>
            <p:nvPr/>
          </p:nvSpPr>
          <p:spPr>
            <a:xfrm>
              <a:off x="10775290" y="7074207"/>
              <a:ext cx="809244" cy="228600"/>
            </a:xfrm>
            <a:prstGeom prst="roundRect">
              <a:avLst>
                <a:gd name="adj" fmla="val 66667"/>
              </a:avLst>
            </a:prstGeom>
            <a:solidFill>
              <a:srgbClr val="ECFDF5"/>
            </a:solidFill>
            <a:ln/>
          </p:spPr>
          <p:txBody>
            <a:bodyPr/>
            <a:lstStyle/>
            <a:p>
              <a:endParaRPr lang="ja-JP" altLang="en-US"/>
            </a:p>
          </p:txBody>
        </p:sp>
        <p:sp>
          <p:nvSpPr>
            <p:cNvPr id="96" name="Text 91"/>
            <p:cNvSpPr txBox="1"/>
            <p:nvPr/>
          </p:nvSpPr>
          <p:spPr>
            <a:xfrm>
              <a:off x="10851185" y="7102553"/>
              <a:ext cx="743407" cy="162763"/>
            </a:xfrm>
            <a:prstGeom prst="rect">
              <a:avLst/>
            </a:prstGeom>
            <a:noFill/>
            <a:ln/>
          </p:spPr>
          <p:txBody>
            <a:bodyPr wrap="square" lIns="0" tIns="0" rIns="0" bIns="0" rtlCol="0" anchor="ctr"/>
            <a:lstStyle/>
            <a:p>
              <a:pPr marL="0" indent="0" algn="l">
                <a:buNone/>
              </a:pPr>
              <a:r>
                <a:rPr lang="en-US" sz="900" b="1" dirty="0">
                  <a:solidFill>
                    <a:srgbClr val="047857"/>
                  </a:solidFill>
                  <a:latin typeface="Noto Sans JP" pitchFamily="34" charset="0"/>
                  <a:ea typeface="Noto Sans JP" pitchFamily="34" charset="-122"/>
                  <a:cs typeface="Noto Sans JP" pitchFamily="34" charset="-120"/>
                </a:rPr>
                <a:t>30-50名規模</a:t>
              </a:r>
              <a:endParaRPr lang="en-US" sz="900" dirty="0"/>
            </a:p>
          </p:txBody>
        </p:sp>
        <p:pic>
          <p:nvPicPr>
            <p:cNvPr id="97" name="Image 3" descr="preencoded.png"/>
            <p:cNvPicPr>
              <a:picLocks noChangeAspect="1"/>
            </p:cNvPicPr>
            <p:nvPr/>
          </p:nvPicPr>
          <p:blipFill>
            <a:blip r:embed="rId7"/>
            <a:srcRect t="-1958" b="-1958"/>
            <a:stretch/>
          </p:blipFill>
          <p:spPr>
            <a:xfrm>
              <a:off x="4209898" y="7537808"/>
              <a:ext cx="75895" cy="105156"/>
            </a:xfrm>
            <a:prstGeom prst="rect">
              <a:avLst/>
            </a:prstGeom>
          </p:spPr>
        </p:pic>
        <p:sp>
          <p:nvSpPr>
            <p:cNvPr id="98" name="Text 92"/>
            <p:cNvSpPr txBox="1"/>
            <p:nvPr/>
          </p:nvSpPr>
          <p:spPr>
            <a:xfrm>
              <a:off x="4343400" y="7512205"/>
              <a:ext cx="602590"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配置・選定</a:t>
              </a:r>
              <a:endParaRPr lang="en-US" sz="800" dirty="0"/>
            </a:p>
          </p:txBody>
        </p:sp>
        <p:sp>
          <p:nvSpPr>
            <p:cNvPr id="99" name="Text 93"/>
            <p:cNvSpPr txBox="1"/>
            <p:nvPr/>
          </p:nvSpPr>
          <p:spPr>
            <a:xfrm>
              <a:off x="4209898" y="7717030"/>
              <a:ext cx="798271" cy="181051"/>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部門別 1-3名</a:t>
              </a:r>
              <a:endParaRPr lang="en-US" sz="900" dirty="0"/>
            </a:p>
          </p:txBody>
        </p:sp>
        <p:sp>
          <p:nvSpPr>
            <p:cNvPr id="100" name="Text 94"/>
            <p:cNvSpPr txBox="1"/>
            <p:nvPr/>
          </p:nvSpPr>
          <p:spPr>
            <a:xfrm>
              <a:off x="4209898" y="7928257"/>
              <a:ext cx="943661"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部門推薦 ＋ 自薦</a:t>
              </a:r>
              <a:endParaRPr lang="en-US" sz="900" dirty="0"/>
            </a:p>
          </p:txBody>
        </p:sp>
        <p:sp>
          <p:nvSpPr>
            <p:cNvPr id="101" name="Text 95"/>
            <p:cNvSpPr txBox="1"/>
            <p:nvPr/>
          </p:nvSpPr>
          <p:spPr>
            <a:xfrm>
              <a:off x="4209898" y="8080961"/>
              <a:ext cx="1295705"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(AI活用に前向きな社員)</a:t>
              </a:r>
              <a:endParaRPr lang="en-US" sz="900" dirty="0"/>
            </a:p>
          </p:txBody>
        </p:sp>
        <p:pic>
          <p:nvPicPr>
            <p:cNvPr id="102" name="Image 4" descr="preencoded.png"/>
            <p:cNvPicPr>
              <a:picLocks noChangeAspect="1"/>
            </p:cNvPicPr>
            <p:nvPr/>
          </p:nvPicPr>
          <p:blipFill>
            <a:blip r:embed="rId8"/>
            <a:srcRect/>
            <a:stretch/>
          </p:blipFill>
          <p:spPr>
            <a:xfrm>
              <a:off x="6090819" y="7537808"/>
              <a:ext cx="105156" cy="105156"/>
            </a:xfrm>
            <a:prstGeom prst="rect">
              <a:avLst/>
            </a:prstGeom>
          </p:spPr>
        </p:pic>
        <p:sp>
          <p:nvSpPr>
            <p:cNvPr id="103" name="Text 96"/>
            <p:cNvSpPr txBox="1"/>
            <p:nvPr/>
          </p:nvSpPr>
          <p:spPr>
            <a:xfrm>
              <a:off x="6252667" y="7512205"/>
              <a:ext cx="288950"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役割</a:t>
              </a:r>
              <a:endParaRPr lang="en-US" sz="800" dirty="0"/>
            </a:p>
          </p:txBody>
        </p:sp>
        <p:sp>
          <p:nvSpPr>
            <p:cNvPr id="104" name="Text 97"/>
            <p:cNvSpPr txBox="1"/>
            <p:nvPr/>
          </p:nvSpPr>
          <p:spPr>
            <a:xfrm>
              <a:off x="6090819" y="7717030"/>
              <a:ext cx="1341425" cy="181051"/>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・部門内での活用促進</a:t>
              </a:r>
              <a:endParaRPr lang="en-US" sz="900" dirty="0"/>
            </a:p>
          </p:txBody>
        </p:sp>
        <p:sp>
          <p:nvSpPr>
            <p:cNvPr id="105" name="Text 98"/>
            <p:cNvSpPr txBox="1"/>
            <p:nvPr/>
          </p:nvSpPr>
          <p:spPr>
            <a:xfrm>
              <a:off x="6090819" y="7889852"/>
              <a:ext cx="1464869" cy="181051"/>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・質問対応（一次窓口）</a:t>
              </a:r>
              <a:endParaRPr lang="en-US" sz="900" dirty="0"/>
            </a:p>
          </p:txBody>
        </p:sp>
        <p:sp>
          <p:nvSpPr>
            <p:cNvPr id="106" name="Text 99"/>
            <p:cNvSpPr txBox="1"/>
            <p:nvPr/>
          </p:nvSpPr>
          <p:spPr>
            <a:xfrm>
              <a:off x="6090819" y="8063588"/>
              <a:ext cx="1464869" cy="181051"/>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・成功事例の収集・共有</a:t>
              </a:r>
              <a:endParaRPr lang="en-US" sz="900" dirty="0"/>
            </a:p>
          </p:txBody>
        </p:sp>
        <p:pic>
          <p:nvPicPr>
            <p:cNvPr id="107" name="Image 5" descr="preencoded.png"/>
            <p:cNvPicPr>
              <a:picLocks noChangeAspect="1"/>
            </p:cNvPicPr>
            <p:nvPr/>
          </p:nvPicPr>
          <p:blipFill>
            <a:blip r:embed="rId9"/>
            <a:srcRect l="-783" r="-783"/>
            <a:stretch/>
          </p:blipFill>
          <p:spPr>
            <a:xfrm>
              <a:off x="7972654" y="7537808"/>
              <a:ext cx="133502" cy="105156"/>
            </a:xfrm>
            <a:prstGeom prst="rect">
              <a:avLst/>
            </a:prstGeom>
          </p:spPr>
        </p:pic>
        <p:sp>
          <p:nvSpPr>
            <p:cNvPr id="108" name="Text 100"/>
            <p:cNvSpPr txBox="1"/>
            <p:nvPr/>
          </p:nvSpPr>
          <p:spPr>
            <a:xfrm>
              <a:off x="8162849" y="7512205"/>
              <a:ext cx="288950"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教育</a:t>
              </a:r>
              <a:endParaRPr lang="en-US" sz="800" dirty="0"/>
            </a:p>
          </p:txBody>
        </p:sp>
        <p:sp>
          <p:nvSpPr>
            <p:cNvPr id="109" name="Text 101"/>
            <p:cNvSpPr txBox="1"/>
            <p:nvPr/>
          </p:nvSpPr>
          <p:spPr>
            <a:xfrm>
              <a:off x="7972654" y="7717030"/>
              <a:ext cx="1283818" cy="181051"/>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・月1回の定例勉強会</a:t>
              </a:r>
              <a:endParaRPr lang="en-US" sz="900" dirty="0"/>
            </a:p>
          </p:txBody>
        </p:sp>
        <p:sp>
          <p:nvSpPr>
            <p:cNvPr id="110" name="Text 102"/>
            <p:cNvSpPr txBox="1"/>
            <p:nvPr/>
          </p:nvSpPr>
          <p:spPr>
            <a:xfrm>
              <a:off x="7972654" y="7889852"/>
              <a:ext cx="1160374" cy="181051"/>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・年2回の集中研修</a:t>
              </a:r>
              <a:endParaRPr lang="en-US" sz="900" dirty="0"/>
            </a:p>
          </p:txBody>
        </p:sp>
        <p:sp>
          <p:nvSpPr>
            <p:cNvPr id="111" name="Text 103"/>
            <p:cNvSpPr txBox="1"/>
            <p:nvPr/>
          </p:nvSpPr>
          <p:spPr>
            <a:xfrm>
              <a:off x="7972654" y="8101993"/>
              <a:ext cx="1714500"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 先行機能へのアクセス権付与</a:t>
              </a:r>
              <a:endParaRPr lang="en-US" sz="900" dirty="0"/>
            </a:p>
          </p:txBody>
        </p:sp>
        <p:pic>
          <p:nvPicPr>
            <p:cNvPr id="112" name="Image 6" descr="preencoded.png"/>
            <p:cNvPicPr>
              <a:picLocks noChangeAspect="1"/>
            </p:cNvPicPr>
            <p:nvPr/>
          </p:nvPicPr>
          <p:blipFill>
            <a:blip r:embed="rId10"/>
            <a:srcRect/>
            <a:stretch/>
          </p:blipFill>
          <p:spPr>
            <a:xfrm>
              <a:off x="9853575" y="7537808"/>
              <a:ext cx="105156" cy="105156"/>
            </a:xfrm>
            <a:prstGeom prst="rect">
              <a:avLst/>
            </a:prstGeom>
          </p:spPr>
        </p:pic>
        <p:sp>
          <p:nvSpPr>
            <p:cNvPr id="113" name="Text 104"/>
            <p:cNvSpPr txBox="1"/>
            <p:nvPr/>
          </p:nvSpPr>
          <p:spPr>
            <a:xfrm>
              <a:off x="10015423" y="7512205"/>
              <a:ext cx="812902" cy="162763"/>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インセンティブ</a:t>
              </a:r>
              <a:endParaRPr lang="en-US" sz="800" dirty="0"/>
            </a:p>
          </p:txBody>
        </p:sp>
        <p:sp>
          <p:nvSpPr>
            <p:cNvPr id="114" name="Shape 105"/>
            <p:cNvSpPr/>
            <p:nvPr/>
          </p:nvSpPr>
          <p:spPr>
            <a:xfrm>
              <a:off x="9853575" y="7726174"/>
              <a:ext cx="1733702" cy="685800"/>
            </a:xfrm>
            <a:prstGeom prst="roundRect">
              <a:avLst>
                <a:gd name="adj" fmla="val 11111"/>
              </a:avLst>
            </a:prstGeom>
            <a:solidFill>
              <a:srgbClr val="F0FDF4"/>
            </a:solidFill>
            <a:ln w="12700">
              <a:solidFill>
                <a:srgbClr val="BBF7D0"/>
              </a:solidFill>
              <a:prstDash val="solid"/>
            </a:ln>
          </p:spPr>
          <p:txBody>
            <a:bodyPr/>
            <a:lstStyle/>
            <a:p>
              <a:endParaRPr lang="ja-JP" altLang="en-US"/>
            </a:p>
          </p:txBody>
        </p:sp>
        <p:sp>
          <p:nvSpPr>
            <p:cNvPr id="115" name="Text 106"/>
            <p:cNvSpPr txBox="1"/>
            <p:nvPr/>
          </p:nvSpPr>
          <p:spPr>
            <a:xfrm>
              <a:off x="9939528" y="7812128"/>
              <a:ext cx="1172261" cy="162763"/>
            </a:xfrm>
            <a:prstGeom prst="rect">
              <a:avLst/>
            </a:prstGeom>
            <a:noFill/>
            <a:ln/>
          </p:spPr>
          <p:txBody>
            <a:bodyPr wrap="square" lIns="0" tIns="0" rIns="0" bIns="0" rtlCol="0" anchor="ctr"/>
            <a:lstStyle/>
            <a:p>
              <a:pPr marL="0" indent="0" algn="l">
                <a:buNone/>
              </a:pPr>
              <a:r>
                <a:rPr lang="en-US" sz="900" dirty="0">
                  <a:solidFill>
                    <a:srgbClr val="166534"/>
                  </a:solidFill>
                  <a:latin typeface="Noto Sans JP" pitchFamily="34" charset="0"/>
                  <a:ea typeface="Noto Sans JP" pitchFamily="34" charset="-122"/>
                  <a:cs typeface="Noto Sans JP" pitchFamily="34" charset="-120"/>
                </a:rPr>
                <a:t>・月額手当：1-3万円</a:t>
              </a:r>
              <a:endParaRPr lang="en-US" sz="900" dirty="0"/>
            </a:p>
          </p:txBody>
        </p:sp>
        <p:sp>
          <p:nvSpPr>
            <p:cNvPr id="116" name="Text 107"/>
            <p:cNvSpPr txBox="1"/>
            <p:nvPr/>
          </p:nvSpPr>
          <p:spPr>
            <a:xfrm>
              <a:off x="9939528" y="7983121"/>
              <a:ext cx="1353312" cy="162763"/>
            </a:xfrm>
            <a:prstGeom prst="rect">
              <a:avLst/>
            </a:prstGeom>
            <a:noFill/>
            <a:ln/>
          </p:spPr>
          <p:txBody>
            <a:bodyPr wrap="square" lIns="0" tIns="0" rIns="0" bIns="0" rtlCol="0" anchor="ctr"/>
            <a:lstStyle/>
            <a:p>
              <a:pPr marL="0" indent="0" algn="l">
                <a:buNone/>
              </a:pPr>
              <a:r>
                <a:rPr lang="en-US" sz="900" dirty="0">
                  <a:solidFill>
                    <a:srgbClr val="166534"/>
                  </a:solidFill>
                  <a:latin typeface="Noto Sans JP" pitchFamily="34" charset="0"/>
                  <a:ea typeface="Noto Sans JP" pitchFamily="34" charset="-122"/>
                  <a:cs typeface="Noto Sans JP" pitchFamily="34" charset="-120"/>
                </a:rPr>
                <a:t>・社外研修への参加権利</a:t>
              </a:r>
              <a:endParaRPr lang="en-US" sz="900" dirty="0"/>
            </a:p>
          </p:txBody>
        </p:sp>
        <p:sp>
          <p:nvSpPr>
            <p:cNvPr id="117" name="Text 108"/>
            <p:cNvSpPr txBox="1"/>
            <p:nvPr/>
          </p:nvSpPr>
          <p:spPr>
            <a:xfrm>
              <a:off x="9939528" y="8155028"/>
              <a:ext cx="896112" cy="162763"/>
            </a:xfrm>
            <a:prstGeom prst="rect">
              <a:avLst/>
            </a:prstGeom>
            <a:noFill/>
            <a:ln/>
          </p:spPr>
          <p:txBody>
            <a:bodyPr wrap="square" lIns="0" tIns="0" rIns="0" bIns="0" rtlCol="0" anchor="ctr"/>
            <a:lstStyle/>
            <a:p>
              <a:pPr marL="0" indent="0" algn="l">
                <a:buNone/>
              </a:pPr>
              <a:r>
                <a:rPr lang="en-US" sz="900" dirty="0">
                  <a:solidFill>
                    <a:srgbClr val="166534"/>
                  </a:solidFill>
                  <a:latin typeface="Noto Sans JP" pitchFamily="34" charset="0"/>
                  <a:ea typeface="Noto Sans JP" pitchFamily="34" charset="-122"/>
                  <a:cs typeface="Noto Sans JP" pitchFamily="34" charset="-120"/>
                </a:rPr>
                <a:t>・社内表彰制度</a:t>
              </a:r>
              <a:endParaRPr lang="en-US" sz="900" dirty="0"/>
            </a:p>
          </p:txBody>
        </p:sp>
        <p:cxnSp>
          <p:nvCxnSpPr>
            <p:cNvPr id="121" name="直線矢印コネクタ 120">
              <a:extLst>
                <a:ext uri="{FF2B5EF4-FFF2-40B4-BE49-F238E27FC236}">
                  <a16:creationId xmlns:a16="http://schemas.microsoft.com/office/drawing/2014/main" id="{CBD1966B-042E-0FAB-F549-16615B658BCA}"/>
                </a:ext>
              </a:extLst>
            </p:cNvPr>
            <p:cNvCxnSpPr>
              <a:cxnSpLocks/>
              <a:stCxn id="27" idx="3"/>
            </p:cNvCxnSpPr>
            <p:nvPr/>
          </p:nvCxnSpPr>
          <p:spPr>
            <a:xfrm flipV="1">
              <a:off x="2821839" y="2119435"/>
              <a:ext cx="1079905" cy="72889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2" name="直線矢印コネクタ 121">
              <a:extLst>
                <a:ext uri="{FF2B5EF4-FFF2-40B4-BE49-F238E27FC236}">
                  <a16:creationId xmlns:a16="http://schemas.microsoft.com/office/drawing/2014/main" id="{6C8682DF-97DC-D2F8-C8DA-89F0002179CF}"/>
                </a:ext>
              </a:extLst>
            </p:cNvPr>
            <p:cNvCxnSpPr>
              <a:cxnSpLocks/>
              <a:stCxn id="31" idx="3"/>
              <a:endCxn id="39" idx="1"/>
            </p:cNvCxnSpPr>
            <p:nvPr/>
          </p:nvCxnSpPr>
          <p:spPr>
            <a:xfrm flipV="1">
              <a:off x="3118634" y="3766347"/>
              <a:ext cx="938559" cy="12531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5" name="直線矢印コネクタ 124">
              <a:extLst>
                <a:ext uri="{FF2B5EF4-FFF2-40B4-BE49-F238E27FC236}">
                  <a16:creationId xmlns:a16="http://schemas.microsoft.com/office/drawing/2014/main" id="{3628B970-CA7C-CD1D-4ABE-93340A106689}"/>
                </a:ext>
              </a:extLst>
            </p:cNvPr>
            <p:cNvCxnSpPr>
              <a:cxnSpLocks/>
              <a:stCxn id="35" idx="3"/>
              <a:endCxn id="92" idx="1"/>
            </p:cNvCxnSpPr>
            <p:nvPr/>
          </p:nvCxnSpPr>
          <p:spPr>
            <a:xfrm>
              <a:off x="3380539" y="4934992"/>
              <a:ext cx="667510" cy="278615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
        <p:nvSpPr>
          <p:cNvPr id="1025" name="正方形/長方形 1024">
            <a:extLst>
              <a:ext uri="{FF2B5EF4-FFF2-40B4-BE49-F238E27FC236}">
                <a16:creationId xmlns:a16="http://schemas.microsoft.com/office/drawing/2014/main" id="{49C6B6BC-8255-9092-B50C-C0270E412552}"/>
              </a:ext>
            </a:extLst>
          </p:cNvPr>
          <p:cNvSpPr/>
          <p:nvPr/>
        </p:nvSpPr>
        <p:spPr>
          <a:xfrm>
            <a:off x="282094" y="5431570"/>
            <a:ext cx="3423969" cy="12574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技術ガバナンスは推進チーム内に配置</a:t>
            </a:r>
            <a:endParaRPr kumimoji="1" lang="en-US" altLang="ja-JP" dirty="0"/>
          </a:p>
          <a:p>
            <a:pPr algn="ctr"/>
            <a:r>
              <a:rPr kumimoji="1" lang="ja-JP" altLang="en-US" dirty="0"/>
              <a:t>トップ層は委員会</a:t>
            </a:r>
            <a:r>
              <a:rPr kumimoji="1" lang="en-US" altLang="ja-JP" dirty="0"/>
              <a:t>(</a:t>
            </a:r>
            <a:r>
              <a:rPr kumimoji="1" lang="ja-JP" altLang="en-US" dirty="0"/>
              <a:t>経営層</a:t>
            </a:r>
            <a:r>
              <a:rPr kumimoji="1" lang="en-US" altLang="ja-JP" dirty="0"/>
              <a:t>)</a:t>
            </a:r>
            <a:endParaRPr kumimoji="1" lang="ja-JP"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181405"/>
          </a:xfrm>
          <a:prstGeom prst="rect">
            <a:avLst/>
          </a:prstGeom>
          <a:solidFill>
            <a:srgbClr val="FFFFFF"/>
          </a:solidFill>
          <a:ln/>
        </p:spPr>
        <p:txBody>
          <a:bodyPr/>
          <a:lstStyle/>
          <a:p>
            <a:endParaRPr lang="ja-JP" altLang="en-US"/>
          </a:p>
        </p:txBody>
      </p:sp>
      <p:sp>
        <p:nvSpPr>
          <p:cNvPr id="5" name="Shape 3"/>
          <p:cNvSpPr/>
          <p:nvPr/>
        </p:nvSpPr>
        <p:spPr>
          <a:xfrm>
            <a:off x="0" y="1172261"/>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267005"/>
            <a:ext cx="4677156" cy="438912"/>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利用促進のための5段階推進戦略</a:t>
            </a:r>
            <a:endParaRPr lang="en-US" sz="2400" dirty="0"/>
          </a:p>
        </p:txBody>
      </p:sp>
      <p:sp>
        <p:nvSpPr>
          <p:cNvPr id="7" name="Text 5"/>
          <p:cNvSpPr txBox="1"/>
          <p:nvPr/>
        </p:nvSpPr>
        <p:spPr>
          <a:xfrm>
            <a:off x="609905" y="747065"/>
            <a:ext cx="4553712" cy="228600"/>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現状分析から全社展開までの12ヶ月ロードマップ（四半期整合）</a:t>
            </a:r>
            <a:endParaRPr lang="en-US" sz="1200" dirty="0"/>
          </a:p>
        </p:txBody>
      </p:sp>
      <p:sp>
        <p:nvSpPr>
          <p:cNvPr id="11" name="Shape 9"/>
          <p:cNvSpPr/>
          <p:nvPr/>
        </p:nvSpPr>
        <p:spPr>
          <a:xfrm>
            <a:off x="609905" y="2032711"/>
            <a:ext cx="10972800" cy="38405"/>
          </a:xfrm>
          <a:prstGeom prst="roundRect">
            <a:avLst>
              <a:gd name="adj" fmla="val 1190470"/>
            </a:avLst>
          </a:prstGeom>
          <a:solidFill>
            <a:srgbClr val="E2E8F0"/>
          </a:solidFill>
          <a:ln/>
        </p:spPr>
        <p:txBody>
          <a:bodyPr/>
          <a:lstStyle/>
          <a:p>
            <a:endParaRPr lang="ja-JP" altLang="en-US" sz="2000"/>
          </a:p>
        </p:txBody>
      </p:sp>
      <p:sp>
        <p:nvSpPr>
          <p:cNvPr id="12" name="Text 10"/>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35</a:t>
            </a:r>
            <a:endParaRPr lang="en-US" sz="900" dirty="0"/>
          </a:p>
        </p:txBody>
      </p:sp>
      <p:sp>
        <p:nvSpPr>
          <p:cNvPr id="13" name="Shape 11"/>
          <p:cNvSpPr/>
          <p:nvPr/>
        </p:nvSpPr>
        <p:spPr>
          <a:xfrm>
            <a:off x="609905" y="1556309"/>
            <a:ext cx="2085746" cy="4572000"/>
          </a:xfrm>
          <a:prstGeom prst="roundRect">
            <a:avLst>
              <a:gd name="adj" fmla="val 2402"/>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14" name="Text 12"/>
          <p:cNvSpPr txBox="1"/>
          <p:nvPr/>
        </p:nvSpPr>
        <p:spPr>
          <a:xfrm>
            <a:off x="794614" y="2902306"/>
            <a:ext cx="831190" cy="191110"/>
          </a:xfrm>
          <a:prstGeom prst="rect">
            <a:avLst/>
          </a:prstGeom>
          <a:noFill/>
          <a:ln/>
        </p:spPr>
        <p:txBody>
          <a:bodyPr wrap="square" lIns="0" tIns="0" rIns="0" bIns="0" rtlCol="0" anchor="ctr"/>
          <a:lstStyle/>
          <a:p>
            <a:pPr marL="0" indent="0" algn="ctr">
              <a:buNone/>
            </a:pPr>
            <a:r>
              <a:rPr lang="en-US" sz="1200" b="1" dirty="0">
                <a:solidFill>
                  <a:srgbClr val="1F2937"/>
                </a:solidFill>
                <a:latin typeface="Noto Sans JP" pitchFamily="34" charset="0"/>
                <a:ea typeface="Noto Sans JP" pitchFamily="34" charset="-122"/>
                <a:cs typeface="Noto Sans JP" pitchFamily="34" charset="-120"/>
              </a:rPr>
              <a:t>現状分析と</a:t>
            </a:r>
            <a:endParaRPr lang="en-US" sz="1200" dirty="0"/>
          </a:p>
        </p:txBody>
      </p:sp>
      <p:sp>
        <p:nvSpPr>
          <p:cNvPr id="15" name="Text 13"/>
          <p:cNvSpPr txBox="1"/>
          <p:nvPr/>
        </p:nvSpPr>
        <p:spPr>
          <a:xfrm>
            <a:off x="1508760" y="2902306"/>
            <a:ext cx="1117397" cy="191110"/>
          </a:xfrm>
          <a:prstGeom prst="rect">
            <a:avLst/>
          </a:prstGeom>
          <a:noFill/>
          <a:ln/>
        </p:spPr>
        <p:txBody>
          <a:bodyPr wrap="square" lIns="0" tIns="0" rIns="0" bIns="0" rtlCol="0" anchor="ctr"/>
          <a:lstStyle/>
          <a:p>
            <a:pPr marL="0" indent="0" algn="ctr">
              <a:buNone/>
            </a:pPr>
            <a:r>
              <a:rPr lang="en-US" sz="1200" b="1" dirty="0">
                <a:solidFill>
                  <a:srgbClr val="1F2937"/>
                </a:solidFill>
                <a:latin typeface="Noto Sans JP" pitchFamily="34" charset="0"/>
                <a:ea typeface="Noto Sans JP" pitchFamily="34" charset="-122"/>
                <a:cs typeface="Noto Sans JP" pitchFamily="34" charset="-120"/>
              </a:rPr>
              <a:t>優先課題の特定</a:t>
            </a:r>
            <a:endParaRPr lang="en-US" sz="1200" dirty="0"/>
          </a:p>
        </p:txBody>
      </p:sp>
      <p:sp>
        <p:nvSpPr>
          <p:cNvPr id="16" name="Shape 14"/>
          <p:cNvSpPr/>
          <p:nvPr/>
        </p:nvSpPr>
        <p:spPr>
          <a:xfrm>
            <a:off x="771754" y="3318358"/>
            <a:ext cx="1762049" cy="495605"/>
          </a:xfrm>
          <a:prstGeom prst="roundRect">
            <a:avLst>
              <a:gd name="adj" fmla="val 21289"/>
            </a:avLst>
          </a:prstGeom>
          <a:solidFill>
            <a:srgbClr val="F8FAFC"/>
          </a:solidFill>
          <a:ln w="12700">
            <a:solidFill>
              <a:srgbClr val="F1F5F9"/>
            </a:solidFill>
            <a:prstDash val="solid"/>
          </a:ln>
        </p:spPr>
        <p:txBody>
          <a:bodyPr/>
          <a:lstStyle/>
          <a:p>
            <a:endParaRPr lang="ja-JP" altLang="en-US" sz="2000"/>
          </a:p>
        </p:txBody>
      </p:sp>
      <p:sp>
        <p:nvSpPr>
          <p:cNvPr id="17" name="Text 15"/>
          <p:cNvSpPr txBox="1"/>
          <p:nvPr/>
        </p:nvSpPr>
        <p:spPr>
          <a:xfrm>
            <a:off x="857707" y="3404311"/>
            <a:ext cx="1677010" cy="324612"/>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利用状況分析部門別利用率・目的調査</a:t>
            </a:r>
            <a:endParaRPr lang="en-US" sz="1000" dirty="0"/>
          </a:p>
        </p:txBody>
      </p:sp>
      <p:sp>
        <p:nvSpPr>
          <p:cNvPr id="18" name="Shape 16"/>
          <p:cNvSpPr/>
          <p:nvPr/>
        </p:nvSpPr>
        <p:spPr>
          <a:xfrm>
            <a:off x="771754" y="3905402"/>
            <a:ext cx="1762049" cy="495605"/>
          </a:xfrm>
          <a:prstGeom prst="roundRect">
            <a:avLst>
              <a:gd name="adj" fmla="val 21289"/>
            </a:avLst>
          </a:prstGeom>
          <a:solidFill>
            <a:srgbClr val="F8FAFC"/>
          </a:solidFill>
          <a:ln w="12700">
            <a:solidFill>
              <a:srgbClr val="F1F5F9"/>
            </a:solidFill>
            <a:prstDash val="solid"/>
          </a:ln>
        </p:spPr>
        <p:txBody>
          <a:bodyPr/>
          <a:lstStyle/>
          <a:p>
            <a:endParaRPr lang="ja-JP" altLang="en-US" sz="2000"/>
          </a:p>
        </p:txBody>
      </p:sp>
      <p:sp>
        <p:nvSpPr>
          <p:cNvPr id="19" name="Text 17"/>
          <p:cNvSpPr txBox="1"/>
          <p:nvPr/>
        </p:nvSpPr>
        <p:spPr>
          <a:xfrm>
            <a:off x="857707" y="3991356"/>
            <a:ext cx="1677010" cy="324612"/>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課題抽出アンケート・インタビュー</a:t>
            </a:r>
            <a:endParaRPr lang="en-US" sz="1000" dirty="0"/>
          </a:p>
        </p:txBody>
      </p:sp>
      <p:sp>
        <p:nvSpPr>
          <p:cNvPr id="20" name="Shape 18"/>
          <p:cNvSpPr/>
          <p:nvPr/>
        </p:nvSpPr>
        <p:spPr>
          <a:xfrm>
            <a:off x="771754" y="4491533"/>
            <a:ext cx="1762049" cy="495605"/>
          </a:xfrm>
          <a:prstGeom prst="roundRect">
            <a:avLst>
              <a:gd name="adj" fmla="val 21289"/>
            </a:avLst>
          </a:prstGeom>
          <a:solidFill>
            <a:srgbClr val="F8FAFC"/>
          </a:solidFill>
          <a:ln w="12700">
            <a:solidFill>
              <a:srgbClr val="F1F5F9"/>
            </a:solidFill>
            <a:prstDash val="solid"/>
          </a:ln>
        </p:spPr>
        <p:txBody>
          <a:bodyPr/>
          <a:lstStyle/>
          <a:p>
            <a:endParaRPr lang="ja-JP" altLang="en-US" sz="2000"/>
          </a:p>
        </p:txBody>
      </p:sp>
      <p:sp>
        <p:nvSpPr>
          <p:cNvPr id="21" name="Text 19"/>
          <p:cNvSpPr txBox="1"/>
          <p:nvPr/>
        </p:nvSpPr>
        <p:spPr>
          <a:xfrm>
            <a:off x="857707" y="4577486"/>
            <a:ext cx="1677010" cy="324612"/>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成功事例発掘先行利用者の事例収集</a:t>
            </a:r>
            <a:endParaRPr lang="en-US" sz="1000" dirty="0"/>
          </a:p>
        </p:txBody>
      </p:sp>
      <p:sp>
        <p:nvSpPr>
          <p:cNvPr id="22" name="Shape 20"/>
          <p:cNvSpPr/>
          <p:nvPr/>
        </p:nvSpPr>
        <p:spPr>
          <a:xfrm>
            <a:off x="619049" y="1566367"/>
            <a:ext cx="2066544" cy="1047902"/>
          </a:xfrm>
          <a:prstGeom prst="roundRect">
            <a:avLst>
              <a:gd name="adj" fmla="val 9519"/>
            </a:avLst>
          </a:prstGeom>
          <a:solidFill>
            <a:srgbClr val="64748B"/>
          </a:solidFill>
          <a:ln/>
        </p:spPr>
        <p:txBody>
          <a:bodyPr/>
          <a:lstStyle/>
          <a:p>
            <a:endParaRPr lang="ja-JP" altLang="en-US" sz="2000"/>
          </a:p>
        </p:txBody>
      </p:sp>
      <p:sp>
        <p:nvSpPr>
          <p:cNvPr id="23" name="Shape 21"/>
          <p:cNvSpPr/>
          <p:nvPr/>
        </p:nvSpPr>
        <p:spPr>
          <a:xfrm>
            <a:off x="619049" y="1566367"/>
            <a:ext cx="2066544" cy="75895"/>
          </a:xfrm>
          <a:prstGeom prst="rect">
            <a:avLst/>
          </a:prstGeom>
          <a:solidFill>
            <a:srgbClr val="475569"/>
          </a:solidFill>
          <a:ln/>
        </p:spPr>
        <p:txBody>
          <a:bodyPr/>
          <a:lstStyle/>
          <a:p>
            <a:endParaRPr lang="ja-JP" altLang="en-US" sz="2000"/>
          </a:p>
        </p:txBody>
      </p:sp>
      <p:sp>
        <p:nvSpPr>
          <p:cNvPr id="24" name="Text 22"/>
          <p:cNvSpPr txBox="1"/>
          <p:nvPr/>
        </p:nvSpPr>
        <p:spPr>
          <a:xfrm>
            <a:off x="1399032" y="1685239"/>
            <a:ext cx="593446" cy="152705"/>
          </a:xfrm>
          <a:prstGeom prst="rect">
            <a:avLst/>
          </a:prstGeom>
          <a:noFill/>
          <a:ln/>
        </p:spPr>
        <p:txBody>
          <a:bodyPr wrap="square" lIns="0" tIns="0" rIns="0" bIns="0" rtlCol="0" anchor="ctr"/>
          <a:lstStyle/>
          <a:p>
            <a:pPr marL="0" indent="0" algn="ctr">
              <a:buNone/>
            </a:pPr>
            <a:r>
              <a:rPr lang="en-US" sz="900" b="1" dirty="0">
                <a:solidFill>
                  <a:srgbClr val="FFFFFF">
                    <a:alpha val="90000"/>
                  </a:srgbClr>
                </a:solidFill>
                <a:latin typeface="Noto Sans JP" pitchFamily="34" charset="0"/>
                <a:ea typeface="Noto Sans JP" pitchFamily="34" charset="-122"/>
                <a:cs typeface="Noto Sans JP" pitchFamily="34" charset="-120"/>
              </a:rPr>
              <a:t>PHASE 1</a:t>
            </a:r>
            <a:endParaRPr lang="en-US" sz="900" dirty="0"/>
          </a:p>
        </p:txBody>
      </p:sp>
      <p:pic>
        <p:nvPicPr>
          <p:cNvPr id="25" name="Image 0" descr="preencoded.png"/>
          <p:cNvPicPr>
            <a:picLocks noChangeAspect="1"/>
          </p:cNvPicPr>
          <p:nvPr/>
        </p:nvPicPr>
        <p:blipFill>
          <a:blip r:embed="rId3"/>
          <a:srcRect/>
          <a:stretch/>
        </p:blipFill>
        <p:spPr>
          <a:xfrm>
            <a:off x="1556309" y="1913839"/>
            <a:ext cx="190195" cy="190195"/>
          </a:xfrm>
          <a:prstGeom prst="rect">
            <a:avLst/>
          </a:prstGeom>
        </p:spPr>
      </p:pic>
      <p:sp>
        <p:nvSpPr>
          <p:cNvPr id="26" name="Shape 23"/>
          <p:cNvSpPr/>
          <p:nvPr/>
        </p:nvSpPr>
        <p:spPr>
          <a:xfrm>
            <a:off x="1365199" y="2185416"/>
            <a:ext cx="580644" cy="228600"/>
          </a:xfrm>
          <a:prstGeom prst="roundRect">
            <a:avLst>
              <a:gd name="adj" fmla="val 200000"/>
            </a:avLst>
          </a:prstGeom>
          <a:solidFill>
            <a:srgbClr val="000000">
              <a:alpha val="20000"/>
            </a:srgbClr>
          </a:solidFill>
          <a:ln/>
        </p:spPr>
        <p:txBody>
          <a:bodyPr/>
          <a:lstStyle/>
          <a:p>
            <a:endParaRPr lang="ja-JP" altLang="en-US" sz="2000"/>
          </a:p>
        </p:txBody>
      </p:sp>
      <p:sp>
        <p:nvSpPr>
          <p:cNvPr id="27" name="Text 24"/>
          <p:cNvSpPr txBox="1"/>
          <p:nvPr/>
        </p:nvSpPr>
        <p:spPr>
          <a:xfrm>
            <a:off x="1479499" y="2203704"/>
            <a:ext cx="445313" cy="181051"/>
          </a:xfrm>
          <a:prstGeom prst="rect">
            <a:avLst/>
          </a:prstGeom>
          <a:noFill/>
          <a:ln/>
        </p:spPr>
        <p:txBody>
          <a:bodyPr wrap="square" lIns="0" tIns="0" rIns="0" bIns="0" rtlCol="0" anchor="ctr"/>
          <a:lstStyle/>
          <a:p>
            <a:pPr marL="0" indent="0" algn="ctr">
              <a:buNone/>
            </a:pPr>
            <a:r>
              <a:rPr lang="en-US" sz="1000" b="1" dirty="0">
                <a:solidFill>
                  <a:srgbClr val="FFFFFF"/>
                </a:solidFill>
                <a:latin typeface="Noto Sans JP" pitchFamily="34" charset="0"/>
                <a:ea typeface="Noto Sans JP" pitchFamily="34" charset="-122"/>
                <a:cs typeface="Noto Sans JP" pitchFamily="34" charset="-120"/>
              </a:rPr>
              <a:t>月 1-2</a:t>
            </a:r>
            <a:endParaRPr lang="en-US" sz="1000" dirty="0"/>
          </a:p>
        </p:txBody>
      </p:sp>
      <p:sp>
        <p:nvSpPr>
          <p:cNvPr id="28" name="Text 25"/>
          <p:cNvSpPr txBox="1"/>
          <p:nvPr/>
        </p:nvSpPr>
        <p:spPr>
          <a:xfrm>
            <a:off x="1219353" y="2427732"/>
            <a:ext cx="812902" cy="160935"/>
          </a:xfrm>
          <a:prstGeom prst="rect">
            <a:avLst/>
          </a:prstGeom>
          <a:noFill/>
          <a:ln/>
        </p:spPr>
        <p:txBody>
          <a:bodyPr wrap="square" lIns="0" tIns="0" rIns="0" bIns="0" rtlCol="0" anchor="ctr"/>
          <a:lstStyle/>
          <a:p>
            <a:pPr marL="0" indent="0" algn="ctr">
              <a:buNone/>
            </a:pPr>
            <a:r>
              <a:rPr lang="en-US" sz="900" dirty="0">
                <a:solidFill>
                  <a:srgbClr val="FFFFFF">
                    <a:alpha val="95000"/>
                  </a:srgbClr>
                </a:solidFill>
                <a:latin typeface="Noto Sans JP" pitchFamily="34" charset="0"/>
                <a:ea typeface="Noto Sans JP" pitchFamily="34" charset="-122"/>
                <a:cs typeface="Noto Sans JP" pitchFamily="34" charset="-120"/>
              </a:rPr>
              <a:t>所要: 1-2ヶ月</a:t>
            </a:r>
            <a:endParaRPr lang="en-US" sz="900" dirty="0"/>
          </a:p>
        </p:txBody>
      </p:sp>
      <p:sp>
        <p:nvSpPr>
          <p:cNvPr id="29" name="Shape 26"/>
          <p:cNvSpPr/>
          <p:nvPr/>
        </p:nvSpPr>
        <p:spPr>
          <a:xfrm>
            <a:off x="2831897" y="1556309"/>
            <a:ext cx="2085746" cy="4572000"/>
          </a:xfrm>
          <a:prstGeom prst="roundRect">
            <a:avLst>
              <a:gd name="adj" fmla="val 2402"/>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30" name="Text 27"/>
          <p:cNvSpPr txBox="1"/>
          <p:nvPr/>
        </p:nvSpPr>
        <p:spPr>
          <a:xfrm>
            <a:off x="3374136" y="2902306"/>
            <a:ext cx="831190" cy="191110"/>
          </a:xfrm>
          <a:prstGeom prst="rect">
            <a:avLst/>
          </a:prstGeom>
          <a:noFill/>
          <a:ln/>
        </p:spPr>
        <p:txBody>
          <a:bodyPr wrap="square" lIns="0" tIns="0" rIns="0" bIns="0" rtlCol="0" anchor="ctr"/>
          <a:lstStyle/>
          <a:p>
            <a:pPr marL="0" indent="0" algn="ctr">
              <a:buNone/>
            </a:pPr>
            <a:r>
              <a:rPr lang="en-US" sz="1200" b="1" dirty="0">
                <a:solidFill>
                  <a:srgbClr val="1F2937"/>
                </a:solidFill>
                <a:latin typeface="Noto Sans JP" pitchFamily="34" charset="0"/>
                <a:ea typeface="Noto Sans JP" pitchFamily="34" charset="-122"/>
                <a:cs typeface="Noto Sans JP" pitchFamily="34" charset="-120"/>
              </a:rPr>
              <a:t>推進体制の</a:t>
            </a:r>
            <a:endParaRPr lang="en-US" sz="1200" dirty="0"/>
          </a:p>
        </p:txBody>
      </p:sp>
      <p:sp>
        <p:nvSpPr>
          <p:cNvPr id="31" name="Text 28"/>
          <p:cNvSpPr txBox="1"/>
          <p:nvPr/>
        </p:nvSpPr>
        <p:spPr>
          <a:xfrm>
            <a:off x="4088282" y="2902306"/>
            <a:ext cx="403250" cy="191110"/>
          </a:xfrm>
          <a:prstGeom prst="rect">
            <a:avLst/>
          </a:prstGeom>
          <a:noFill/>
          <a:ln/>
        </p:spPr>
        <p:txBody>
          <a:bodyPr wrap="square" lIns="0" tIns="0" rIns="0" bIns="0" rtlCol="0" anchor="ctr"/>
          <a:lstStyle/>
          <a:p>
            <a:pPr marL="0" indent="0" algn="ctr">
              <a:buNone/>
            </a:pPr>
            <a:r>
              <a:rPr lang="en-US" sz="1200" b="1" dirty="0">
                <a:solidFill>
                  <a:srgbClr val="1F2937"/>
                </a:solidFill>
                <a:latin typeface="Noto Sans JP" pitchFamily="34" charset="0"/>
                <a:ea typeface="Noto Sans JP" pitchFamily="34" charset="-122"/>
                <a:cs typeface="Noto Sans JP" pitchFamily="34" charset="-120"/>
              </a:rPr>
              <a:t>構築</a:t>
            </a:r>
            <a:endParaRPr lang="en-US" sz="1200" dirty="0"/>
          </a:p>
        </p:txBody>
      </p:sp>
      <p:sp>
        <p:nvSpPr>
          <p:cNvPr id="32" name="Shape 29"/>
          <p:cNvSpPr/>
          <p:nvPr/>
        </p:nvSpPr>
        <p:spPr>
          <a:xfrm>
            <a:off x="2993746" y="3318358"/>
            <a:ext cx="1762049" cy="495605"/>
          </a:xfrm>
          <a:prstGeom prst="roundRect">
            <a:avLst>
              <a:gd name="adj" fmla="val 21289"/>
            </a:avLst>
          </a:prstGeom>
          <a:solidFill>
            <a:srgbClr val="F8FAFC"/>
          </a:solidFill>
          <a:ln w="12700">
            <a:solidFill>
              <a:srgbClr val="F1F5F9"/>
            </a:solidFill>
            <a:prstDash val="solid"/>
          </a:ln>
        </p:spPr>
        <p:txBody>
          <a:bodyPr/>
          <a:lstStyle/>
          <a:p>
            <a:endParaRPr lang="ja-JP" altLang="en-US" sz="2000"/>
          </a:p>
        </p:txBody>
      </p:sp>
      <p:sp>
        <p:nvSpPr>
          <p:cNvPr id="33" name="Text 30"/>
          <p:cNvSpPr txBox="1"/>
          <p:nvPr/>
        </p:nvSpPr>
        <p:spPr>
          <a:xfrm>
            <a:off x="3079699" y="3404311"/>
            <a:ext cx="1677010" cy="324612"/>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委員会設置経営層によるAI推進委員会</a:t>
            </a:r>
            <a:endParaRPr lang="en-US" sz="1000" dirty="0"/>
          </a:p>
        </p:txBody>
      </p:sp>
      <p:sp>
        <p:nvSpPr>
          <p:cNvPr id="34" name="Shape 31"/>
          <p:cNvSpPr/>
          <p:nvPr/>
        </p:nvSpPr>
        <p:spPr>
          <a:xfrm>
            <a:off x="2993746" y="3905402"/>
            <a:ext cx="1762049" cy="333756"/>
          </a:xfrm>
          <a:prstGeom prst="roundRect">
            <a:avLst>
              <a:gd name="adj" fmla="val 46967"/>
            </a:avLst>
          </a:prstGeom>
          <a:solidFill>
            <a:srgbClr val="F8FAFC"/>
          </a:solidFill>
          <a:ln w="12700">
            <a:solidFill>
              <a:srgbClr val="F1F5F9"/>
            </a:solidFill>
            <a:prstDash val="solid"/>
          </a:ln>
        </p:spPr>
        <p:txBody>
          <a:bodyPr/>
          <a:lstStyle/>
          <a:p>
            <a:endParaRPr lang="ja-JP" altLang="en-US" sz="2000"/>
          </a:p>
        </p:txBody>
      </p:sp>
      <p:sp>
        <p:nvSpPr>
          <p:cNvPr id="35" name="Text 32"/>
          <p:cNvSpPr txBox="1"/>
          <p:nvPr/>
        </p:nvSpPr>
        <p:spPr>
          <a:xfrm>
            <a:off x="3079699" y="3991356"/>
            <a:ext cx="1666951" cy="162763"/>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事務局編成専任・兼務 6名体制</a:t>
            </a:r>
            <a:endParaRPr lang="en-US" sz="1000" dirty="0"/>
          </a:p>
        </p:txBody>
      </p:sp>
      <p:sp>
        <p:nvSpPr>
          <p:cNvPr id="36" name="Shape 33"/>
          <p:cNvSpPr/>
          <p:nvPr/>
        </p:nvSpPr>
        <p:spPr>
          <a:xfrm>
            <a:off x="2993746" y="4331513"/>
            <a:ext cx="1762049" cy="495605"/>
          </a:xfrm>
          <a:prstGeom prst="roundRect">
            <a:avLst>
              <a:gd name="adj" fmla="val 21289"/>
            </a:avLst>
          </a:prstGeom>
          <a:solidFill>
            <a:srgbClr val="F8FAFC"/>
          </a:solidFill>
          <a:ln w="12700">
            <a:solidFill>
              <a:srgbClr val="F1F5F9"/>
            </a:solidFill>
            <a:prstDash val="solid"/>
          </a:ln>
        </p:spPr>
        <p:txBody>
          <a:bodyPr/>
          <a:lstStyle/>
          <a:p>
            <a:endParaRPr lang="ja-JP" altLang="en-US" sz="2000"/>
          </a:p>
        </p:txBody>
      </p:sp>
      <p:sp>
        <p:nvSpPr>
          <p:cNvPr id="37" name="Text 34"/>
          <p:cNvSpPr txBox="1"/>
          <p:nvPr/>
        </p:nvSpPr>
        <p:spPr>
          <a:xfrm>
            <a:off x="3079699" y="4417466"/>
            <a:ext cx="1677010" cy="324612"/>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Champion選定現場アンバサダー30-50名</a:t>
            </a:r>
            <a:endParaRPr lang="en-US" sz="1000" dirty="0"/>
          </a:p>
        </p:txBody>
      </p:sp>
      <p:sp>
        <p:nvSpPr>
          <p:cNvPr id="38" name="Shape 35"/>
          <p:cNvSpPr/>
          <p:nvPr/>
        </p:nvSpPr>
        <p:spPr>
          <a:xfrm>
            <a:off x="2841041" y="1566367"/>
            <a:ext cx="2066544" cy="1047902"/>
          </a:xfrm>
          <a:prstGeom prst="roundRect">
            <a:avLst>
              <a:gd name="adj" fmla="val 9519"/>
            </a:avLst>
          </a:prstGeom>
          <a:solidFill>
            <a:srgbClr val="3B82F6"/>
          </a:solidFill>
          <a:ln/>
        </p:spPr>
        <p:txBody>
          <a:bodyPr/>
          <a:lstStyle/>
          <a:p>
            <a:endParaRPr lang="ja-JP" altLang="en-US" sz="2000"/>
          </a:p>
        </p:txBody>
      </p:sp>
      <p:sp>
        <p:nvSpPr>
          <p:cNvPr id="39" name="Shape 36"/>
          <p:cNvSpPr/>
          <p:nvPr/>
        </p:nvSpPr>
        <p:spPr>
          <a:xfrm>
            <a:off x="2841041" y="1566367"/>
            <a:ext cx="2066544" cy="75895"/>
          </a:xfrm>
          <a:prstGeom prst="rect">
            <a:avLst/>
          </a:prstGeom>
          <a:solidFill>
            <a:srgbClr val="2563EB"/>
          </a:solidFill>
          <a:ln/>
        </p:spPr>
        <p:txBody>
          <a:bodyPr/>
          <a:lstStyle/>
          <a:p>
            <a:endParaRPr lang="ja-JP" altLang="en-US" sz="2000"/>
          </a:p>
        </p:txBody>
      </p:sp>
      <p:sp>
        <p:nvSpPr>
          <p:cNvPr id="40" name="Text 37"/>
          <p:cNvSpPr txBox="1"/>
          <p:nvPr/>
        </p:nvSpPr>
        <p:spPr>
          <a:xfrm>
            <a:off x="3621024" y="1685239"/>
            <a:ext cx="593446" cy="152705"/>
          </a:xfrm>
          <a:prstGeom prst="rect">
            <a:avLst/>
          </a:prstGeom>
          <a:noFill/>
          <a:ln/>
        </p:spPr>
        <p:txBody>
          <a:bodyPr wrap="square" lIns="0" tIns="0" rIns="0" bIns="0" rtlCol="0" anchor="ctr"/>
          <a:lstStyle/>
          <a:p>
            <a:pPr marL="0" indent="0" algn="ctr">
              <a:buNone/>
            </a:pPr>
            <a:r>
              <a:rPr lang="en-US" sz="900" b="1" dirty="0">
                <a:solidFill>
                  <a:srgbClr val="FFFFFF">
                    <a:alpha val="90000"/>
                  </a:srgbClr>
                </a:solidFill>
                <a:latin typeface="Noto Sans JP" pitchFamily="34" charset="0"/>
                <a:ea typeface="Noto Sans JP" pitchFamily="34" charset="-122"/>
                <a:cs typeface="Noto Sans JP" pitchFamily="34" charset="-120"/>
              </a:rPr>
              <a:t>PHASE 2</a:t>
            </a:r>
            <a:endParaRPr lang="en-US" sz="900" dirty="0"/>
          </a:p>
        </p:txBody>
      </p:sp>
      <p:pic>
        <p:nvPicPr>
          <p:cNvPr id="41" name="Image 1" descr="preencoded.png"/>
          <p:cNvPicPr>
            <a:picLocks noChangeAspect="1"/>
          </p:cNvPicPr>
          <p:nvPr/>
        </p:nvPicPr>
        <p:blipFill>
          <a:blip r:embed="rId4"/>
          <a:srcRect/>
          <a:stretch/>
        </p:blipFill>
        <p:spPr>
          <a:xfrm>
            <a:off x="3754526" y="1913839"/>
            <a:ext cx="237744" cy="190195"/>
          </a:xfrm>
          <a:prstGeom prst="rect">
            <a:avLst/>
          </a:prstGeom>
        </p:spPr>
      </p:pic>
      <p:sp>
        <p:nvSpPr>
          <p:cNvPr id="42" name="Shape 38"/>
          <p:cNvSpPr/>
          <p:nvPr/>
        </p:nvSpPr>
        <p:spPr>
          <a:xfrm>
            <a:off x="3647542" y="2185416"/>
            <a:ext cx="457200" cy="228600"/>
          </a:xfrm>
          <a:prstGeom prst="roundRect">
            <a:avLst>
              <a:gd name="adj" fmla="val 200000"/>
            </a:avLst>
          </a:prstGeom>
          <a:solidFill>
            <a:srgbClr val="000000">
              <a:alpha val="20000"/>
            </a:srgbClr>
          </a:solidFill>
          <a:ln/>
        </p:spPr>
        <p:txBody>
          <a:bodyPr/>
          <a:lstStyle/>
          <a:p>
            <a:endParaRPr lang="ja-JP" altLang="en-US" sz="2000"/>
          </a:p>
        </p:txBody>
      </p:sp>
      <p:sp>
        <p:nvSpPr>
          <p:cNvPr id="43" name="Text 39"/>
          <p:cNvSpPr txBox="1"/>
          <p:nvPr/>
        </p:nvSpPr>
        <p:spPr>
          <a:xfrm>
            <a:off x="3761842" y="2203704"/>
            <a:ext cx="321869" cy="181051"/>
          </a:xfrm>
          <a:prstGeom prst="rect">
            <a:avLst/>
          </a:prstGeom>
          <a:noFill/>
          <a:ln/>
        </p:spPr>
        <p:txBody>
          <a:bodyPr wrap="square" lIns="0" tIns="0" rIns="0" bIns="0" rtlCol="0" anchor="ctr"/>
          <a:lstStyle/>
          <a:p>
            <a:pPr marL="0" indent="0" algn="ctr">
              <a:buNone/>
            </a:pPr>
            <a:r>
              <a:rPr lang="en-US" sz="1000" b="1" dirty="0">
                <a:solidFill>
                  <a:srgbClr val="FFFFFF"/>
                </a:solidFill>
                <a:latin typeface="Noto Sans JP" pitchFamily="34" charset="0"/>
                <a:ea typeface="Noto Sans JP" pitchFamily="34" charset="-122"/>
                <a:cs typeface="Noto Sans JP" pitchFamily="34" charset="-120"/>
              </a:rPr>
              <a:t>月 3</a:t>
            </a:r>
            <a:endParaRPr lang="en-US" sz="1000" dirty="0"/>
          </a:p>
        </p:txBody>
      </p:sp>
      <p:sp>
        <p:nvSpPr>
          <p:cNvPr id="44" name="Text 40"/>
          <p:cNvSpPr txBox="1"/>
          <p:nvPr/>
        </p:nvSpPr>
        <p:spPr>
          <a:xfrm>
            <a:off x="3431743" y="2435963"/>
            <a:ext cx="860450" cy="152704"/>
          </a:xfrm>
          <a:prstGeom prst="rect">
            <a:avLst/>
          </a:prstGeom>
          <a:noFill/>
          <a:ln/>
        </p:spPr>
        <p:txBody>
          <a:bodyPr wrap="square" lIns="0" tIns="0" rIns="0" bIns="0" rtlCol="0" anchor="ctr"/>
          <a:lstStyle/>
          <a:p>
            <a:pPr marL="0" indent="0" algn="ctr">
              <a:buNone/>
            </a:pPr>
            <a:r>
              <a:rPr lang="en-US" sz="900" dirty="0">
                <a:solidFill>
                  <a:srgbClr val="FFFFFF">
                    <a:alpha val="95000"/>
                  </a:srgbClr>
                </a:solidFill>
                <a:latin typeface="Noto Sans JP" pitchFamily="34" charset="0"/>
                <a:ea typeface="Noto Sans JP" pitchFamily="34" charset="-122"/>
                <a:cs typeface="Noto Sans JP" pitchFamily="34" charset="-120"/>
              </a:rPr>
              <a:t>所要: 1ヶ月</a:t>
            </a:r>
            <a:endParaRPr lang="en-US" sz="900" dirty="0"/>
          </a:p>
        </p:txBody>
      </p:sp>
      <p:sp>
        <p:nvSpPr>
          <p:cNvPr id="45" name="Shape 41"/>
          <p:cNvSpPr/>
          <p:nvPr/>
        </p:nvSpPr>
        <p:spPr>
          <a:xfrm>
            <a:off x="5053889" y="1556309"/>
            <a:ext cx="2085746" cy="4572000"/>
          </a:xfrm>
          <a:prstGeom prst="roundRect">
            <a:avLst>
              <a:gd name="adj" fmla="val 2402"/>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46" name="Text 42"/>
          <p:cNvSpPr txBox="1"/>
          <p:nvPr/>
        </p:nvSpPr>
        <p:spPr>
          <a:xfrm>
            <a:off x="5245913" y="2902306"/>
            <a:ext cx="1384402" cy="191110"/>
          </a:xfrm>
          <a:prstGeom prst="rect">
            <a:avLst/>
          </a:prstGeom>
          <a:noFill/>
          <a:ln/>
        </p:spPr>
        <p:txBody>
          <a:bodyPr wrap="square" lIns="0" tIns="0" rIns="0" bIns="0" rtlCol="0" anchor="ctr"/>
          <a:lstStyle/>
          <a:p>
            <a:pPr marL="0" indent="0" algn="ctr">
              <a:buNone/>
            </a:pPr>
            <a:r>
              <a:rPr lang="en-US" sz="1200" b="1" dirty="0">
                <a:solidFill>
                  <a:srgbClr val="1F2937"/>
                </a:solidFill>
                <a:latin typeface="Noto Sans JP" pitchFamily="34" charset="0"/>
                <a:ea typeface="Noto Sans JP" pitchFamily="34" charset="-122"/>
                <a:cs typeface="Noto Sans JP" pitchFamily="34" charset="-120"/>
              </a:rPr>
              <a:t>部門別ユースケース</a:t>
            </a:r>
            <a:endParaRPr lang="en-US" sz="1200" dirty="0"/>
          </a:p>
        </p:txBody>
      </p:sp>
      <p:sp>
        <p:nvSpPr>
          <p:cNvPr id="47" name="Text 43"/>
          <p:cNvSpPr txBox="1"/>
          <p:nvPr/>
        </p:nvSpPr>
        <p:spPr>
          <a:xfrm>
            <a:off x="6517843" y="2902306"/>
            <a:ext cx="545897" cy="191110"/>
          </a:xfrm>
          <a:prstGeom prst="rect">
            <a:avLst/>
          </a:prstGeom>
          <a:noFill/>
          <a:ln/>
        </p:spPr>
        <p:txBody>
          <a:bodyPr wrap="square" lIns="0" tIns="0" rIns="0" bIns="0" rtlCol="0" anchor="ctr"/>
          <a:lstStyle/>
          <a:p>
            <a:pPr marL="0" indent="0" algn="ctr">
              <a:buNone/>
            </a:pPr>
            <a:r>
              <a:rPr lang="en-US" sz="1200" b="1" dirty="0">
                <a:solidFill>
                  <a:srgbClr val="1F2937"/>
                </a:solidFill>
                <a:latin typeface="Noto Sans JP" pitchFamily="34" charset="0"/>
                <a:ea typeface="Noto Sans JP" pitchFamily="34" charset="-122"/>
                <a:cs typeface="Noto Sans JP" pitchFamily="34" charset="-120"/>
              </a:rPr>
              <a:t>の開発</a:t>
            </a:r>
            <a:endParaRPr lang="en-US" sz="1200" dirty="0"/>
          </a:p>
        </p:txBody>
      </p:sp>
      <p:sp>
        <p:nvSpPr>
          <p:cNvPr id="48" name="Shape 44"/>
          <p:cNvSpPr/>
          <p:nvPr/>
        </p:nvSpPr>
        <p:spPr>
          <a:xfrm>
            <a:off x="5215738" y="3318358"/>
            <a:ext cx="1762049" cy="495605"/>
          </a:xfrm>
          <a:prstGeom prst="roundRect">
            <a:avLst>
              <a:gd name="adj" fmla="val 21289"/>
            </a:avLst>
          </a:prstGeom>
          <a:solidFill>
            <a:srgbClr val="F8FAFC"/>
          </a:solidFill>
          <a:ln w="12700">
            <a:solidFill>
              <a:srgbClr val="F1F5F9"/>
            </a:solidFill>
            <a:prstDash val="solid"/>
          </a:ln>
        </p:spPr>
        <p:txBody>
          <a:bodyPr/>
          <a:lstStyle/>
          <a:p>
            <a:endParaRPr lang="ja-JP" altLang="en-US" sz="2000"/>
          </a:p>
        </p:txBody>
      </p:sp>
      <p:sp>
        <p:nvSpPr>
          <p:cNvPr id="49" name="Text 45"/>
          <p:cNvSpPr txBox="1"/>
          <p:nvPr/>
        </p:nvSpPr>
        <p:spPr>
          <a:xfrm>
            <a:off x="5301691" y="3404311"/>
            <a:ext cx="1677010" cy="324612"/>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シナリオ作成6部門の具体的活用シーン</a:t>
            </a:r>
            <a:endParaRPr lang="en-US" sz="1000" dirty="0"/>
          </a:p>
        </p:txBody>
      </p:sp>
      <p:sp>
        <p:nvSpPr>
          <p:cNvPr id="50" name="Shape 46"/>
          <p:cNvSpPr/>
          <p:nvPr/>
        </p:nvSpPr>
        <p:spPr>
          <a:xfrm>
            <a:off x="5215738" y="3905402"/>
            <a:ext cx="1762049" cy="495605"/>
          </a:xfrm>
          <a:prstGeom prst="roundRect">
            <a:avLst>
              <a:gd name="adj" fmla="val 21289"/>
            </a:avLst>
          </a:prstGeom>
          <a:solidFill>
            <a:srgbClr val="F8FAFC"/>
          </a:solidFill>
          <a:ln w="12700">
            <a:solidFill>
              <a:srgbClr val="F1F5F9"/>
            </a:solidFill>
            <a:prstDash val="solid"/>
          </a:ln>
        </p:spPr>
        <p:txBody>
          <a:bodyPr/>
          <a:lstStyle/>
          <a:p>
            <a:endParaRPr lang="ja-JP" altLang="en-US" sz="2000"/>
          </a:p>
        </p:txBody>
      </p:sp>
      <p:sp>
        <p:nvSpPr>
          <p:cNvPr id="51" name="Text 47"/>
          <p:cNvSpPr txBox="1"/>
          <p:nvPr/>
        </p:nvSpPr>
        <p:spPr>
          <a:xfrm>
            <a:off x="5301691" y="3991356"/>
            <a:ext cx="1677010" cy="324612"/>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プロンプト開発推奨プロンプト集の整備</a:t>
            </a:r>
            <a:endParaRPr lang="en-US" sz="1000" dirty="0"/>
          </a:p>
        </p:txBody>
      </p:sp>
      <p:sp>
        <p:nvSpPr>
          <p:cNvPr id="52" name="Shape 48"/>
          <p:cNvSpPr/>
          <p:nvPr/>
        </p:nvSpPr>
        <p:spPr>
          <a:xfrm>
            <a:off x="5215738" y="4491533"/>
            <a:ext cx="1762049" cy="333756"/>
          </a:xfrm>
          <a:prstGeom prst="roundRect">
            <a:avLst>
              <a:gd name="adj" fmla="val 46967"/>
            </a:avLst>
          </a:prstGeom>
          <a:solidFill>
            <a:srgbClr val="F8FAFC"/>
          </a:solidFill>
          <a:ln w="12700">
            <a:solidFill>
              <a:srgbClr val="F1F5F9"/>
            </a:solidFill>
            <a:prstDash val="solid"/>
          </a:ln>
        </p:spPr>
        <p:txBody>
          <a:bodyPr/>
          <a:lstStyle/>
          <a:p>
            <a:endParaRPr lang="ja-JP" altLang="en-US" sz="2000"/>
          </a:p>
        </p:txBody>
      </p:sp>
      <p:sp>
        <p:nvSpPr>
          <p:cNvPr id="53" name="Text 49"/>
          <p:cNvSpPr txBox="1"/>
          <p:nvPr/>
        </p:nvSpPr>
        <p:spPr>
          <a:xfrm>
            <a:off x="5301691" y="4577486"/>
            <a:ext cx="1581912" cy="162763"/>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測定設計効果測定指標の定義</a:t>
            </a:r>
            <a:endParaRPr lang="en-US" sz="1000" dirty="0"/>
          </a:p>
        </p:txBody>
      </p:sp>
      <p:sp>
        <p:nvSpPr>
          <p:cNvPr id="54" name="Shape 50"/>
          <p:cNvSpPr/>
          <p:nvPr/>
        </p:nvSpPr>
        <p:spPr>
          <a:xfrm>
            <a:off x="5063033" y="1566367"/>
            <a:ext cx="2066544" cy="1047902"/>
          </a:xfrm>
          <a:prstGeom prst="roundRect">
            <a:avLst>
              <a:gd name="adj" fmla="val 9519"/>
            </a:avLst>
          </a:prstGeom>
          <a:solidFill>
            <a:srgbClr val="2563EB"/>
          </a:solidFill>
          <a:ln/>
        </p:spPr>
        <p:txBody>
          <a:bodyPr/>
          <a:lstStyle/>
          <a:p>
            <a:endParaRPr lang="ja-JP" altLang="en-US" sz="2000"/>
          </a:p>
        </p:txBody>
      </p:sp>
      <p:sp>
        <p:nvSpPr>
          <p:cNvPr id="55" name="Shape 51"/>
          <p:cNvSpPr/>
          <p:nvPr/>
        </p:nvSpPr>
        <p:spPr>
          <a:xfrm>
            <a:off x="5063033" y="1566367"/>
            <a:ext cx="2066544" cy="75895"/>
          </a:xfrm>
          <a:prstGeom prst="rect">
            <a:avLst/>
          </a:prstGeom>
          <a:solidFill>
            <a:srgbClr val="1D4ED8"/>
          </a:solidFill>
          <a:ln/>
        </p:spPr>
        <p:txBody>
          <a:bodyPr/>
          <a:lstStyle/>
          <a:p>
            <a:endParaRPr lang="ja-JP" altLang="en-US" sz="2000"/>
          </a:p>
        </p:txBody>
      </p:sp>
      <p:sp>
        <p:nvSpPr>
          <p:cNvPr id="56" name="Text 52"/>
          <p:cNvSpPr txBox="1"/>
          <p:nvPr/>
        </p:nvSpPr>
        <p:spPr>
          <a:xfrm>
            <a:off x="5843016" y="1685239"/>
            <a:ext cx="593446" cy="152705"/>
          </a:xfrm>
          <a:prstGeom prst="rect">
            <a:avLst/>
          </a:prstGeom>
          <a:noFill/>
          <a:ln/>
        </p:spPr>
        <p:txBody>
          <a:bodyPr wrap="square" lIns="0" tIns="0" rIns="0" bIns="0" rtlCol="0" anchor="ctr"/>
          <a:lstStyle/>
          <a:p>
            <a:pPr marL="0" indent="0" algn="ctr">
              <a:buNone/>
            </a:pPr>
            <a:r>
              <a:rPr lang="en-US" sz="900" b="1" dirty="0">
                <a:solidFill>
                  <a:srgbClr val="FFFFFF">
                    <a:alpha val="90000"/>
                  </a:srgbClr>
                </a:solidFill>
                <a:latin typeface="Noto Sans JP" pitchFamily="34" charset="0"/>
                <a:ea typeface="Noto Sans JP" pitchFamily="34" charset="-122"/>
                <a:cs typeface="Noto Sans JP" pitchFamily="34" charset="-120"/>
              </a:rPr>
              <a:t>PHASE 3</a:t>
            </a:r>
            <a:endParaRPr lang="en-US" sz="900" dirty="0"/>
          </a:p>
        </p:txBody>
      </p:sp>
      <p:pic>
        <p:nvPicPr>
          <p:cNvPr id="57" name="Image 2" descr="preencoded.png"/>
          <p:cNvPicPr>
            <a:picLocks noChangeAspect="1"/>
          </p:cNvPicPr>
          <p:nvPr/>
        </p:nvPicPr>
        <p:blipFill>
          <a:blip r:embed="rId5"/>
          <a:srcRect/>
          <a:stretch/>
        </p:blipFill>
        <p:spPr>
          <a:xfrm>
            <a:off x="6001207" y="1913839"/>
            <a:ext cx="190195" cy="190195"/>
          </a:xfrm>
          <a:prstGeom prst="rect">
            <a:avLst/>
          </a:prstGeom>
        </p:spPr>
      </p:pic>
      <p:sp>
        <p:nvSpPr>
          <p:cNvPr id="58" name="Shape 53"/>
          <p:cNvSpPr/>
          <p:nvPr/>
        </p:nvSpPr>
        <p:spPr>
          <a:xfrm>
            <a:off x="5810098" y="2185416"/>
            <a:ext cx="580644" cy="228600"/>
          </a:xfrm>
          <a:prstGeom prst="roundRect">
            <a:avLst>
              <a:gd name="adj" fmla="val 200000"/>
            </a:avLst>
          </a:prstGeom>
          <a:solidFill>
            <a:srgbClr val="000000">
              <a:alpha val="20000"/>
            </a:srgbClr>
          </a:solidFill>
          <a:ln/>
        </p:spPr>
        <p:txBody>
          <a:bodyPr/>
          <a:lstStyle/>
          <a:p>
            <a:endParaRPr lang="ja-JP" altLang="en-US" sz="2000"/>
          </a:p>
        </p:txBody>
      </p:sp>
      <p:sp>
        <p:nvSpPr>
          <p:cNvPr id="59" name="Text 54"/>
          <p:cNvSpPr txBox="1"/>
          <p:nvPr/>
        </p:nvSpPr>
        <p:spPr>
          <a:xfrm>
            <a:off x="5924398" y="2203704"/>
            <a:ext cx="445313" cy="181051"/>
          </a:xfrm>
          <a:prstGeom prst="rect">
            <a:avLst/>
          </a:prstGeom>
          <a:noFill/>
          <a:ln/>
        </p:spPr>
        <p:txBody>
          <a:bodyPr wrap="square" lIns="0" tIns="0" rIns="0" bIns="0" rtlCol="0" anchor="ctr"/>
          <a:lstStyle/>
          <a:p>
            <a:pPr marL="0" indent="0" algn="ctr">
              <a:buNone/>
            </a:pPr>
            <a:r>
              <a:rPr lang="en-US" sz="1000" b="1" dirty="0">
                <a:solidFill>
                  <a:srgbClr val="FFFFFF"/>
                </a:solidFill>
                <a:latin typeface="Noto Sans JP" pitchFamily="34" charset="0"/>
                <a:ea typeface="Noto Sans JP" pitchFamily="34" charset="-122"/>
                <a:cs typeface="Noto Sans JP" pitchFamily="34" charset="-120"/>
              </a:rPr>
              <a:t>月 4-6</a:t>
            </a:r>
            <a:endParaRPr lang="en-US" sz="1000" dirty="0"/>
          </a:p>
        </p:txBody>
      </p:sp>
      <p:sp>
        <p:nvSpPr>
          <p:cNvPr id="60" name="Text 55"/>
          <p:cNvSpPr txBox="1"/>
          <p:nvPr/>
        </p:nvSpPr>
        <p:spPr>
          <a:xfrm>
            <a:off x="5654316" y="2427732"/>
            <a:ext cx="867766" cy="152704"/>
          </a:xfrm>
          <a:prstGeom prst="rect">
            <a:avLst/>
          </a:prstGeom>
          <a:noFill/>
          <a:ln/>
        </p:spPr>
        <p:txBody>
          <a:bodyPr wrap="square" lIns="0" tIns="0" rIns="0" bIns="0" rtlCol="0" anchor="ctr"/>
          <a:lstStyle/>
          <a:p>
            <a:pPr marL="0" indent="0" algn="ctr">
              <a:buNone/>
            </a:pPr>
            <a:r>
              <a:rPr lang="en-US" sz="900" dirty="0">
                <a:solidFill>
                  <a:srgbClr val="FFFFFF">
                    <a:alpha val="95000"/>
                  </a:srgbClr>
                </a:solidFill>
                <a:latin typeface="Noto Sans JP" pitchFamily="34" charset="0"/>
                <a:ea typeface="Noto Sans JP" pitchFamily="34" charset="-122"/>
                <a:cs typeface="Noto Sans JP" pitchFamily="34" charset="-120"/>
              </a:rPr>
              <a:t>所要: 2-3ヶ月</a:t>
            </a:r>
            <a:endParaRPr lang="en-US" sz="900" dirty="0"/>
          </a:p>
        </p:txBody>
      </p:sp>
      <p:sp>
        <p:nvSpPr>
          <p:cNvPr id="61" name="Shape 56"/>
          <p:cNvSpPr/>
          <p:nvPr/>
        </p:nvSpPr>
        <p:spPr>
          <a:xfrm>
            <a:off x="7275881" y="1556309"/>
            <a:ext cx="2085746" cy="4572000"/>
          </a:xfrm>
          <a:prstGeom prst="roundRect">
            <a:avLst>
              <a:gd name="adj" fmla="val 2402"/>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62" name="Text 57"/>
          <p:cNvSpPr txBox="1"/>
          <p:nvPr/>
        </p:nvSpPr>
        <p:spPr>
          <a:xfrm>
            <a:off x="7461504" y="2902306"/>
            <a:ext cx="1250899" cy="191110"/>
          </a:xfrm>
          <a:prstGeom prst="rect">
            <a:avLst/>
          </a:prstGeom>
          <a:noFill/>
          <a:ln/>
        </p:spPr>
        <p:txBody>
          <a:bodyPr wrap="square" lIns="0" tIns="0" rIns="0" bIns="0" rtlCol="0" anchor="ctr"/>
          <a:lstStyle/>
          <a:p>
            <a:pPr marL="0" indent="0" algn="ctr">
              <a:buNone/>
            </a:pPr>
            <a:r>
              <a:rPr lang="en-US" sz="1200" b="1" dirty="0">
                <a:solidFill>
                  <a:srgbClr val="1F2937"/>
                </a:solidFill>
                <a:latin typeface="Noto Sans JP" pitchFamily="34" charset="0"/>
                <a:ea typeface="Noto Sans JP" pitchFamily="34" charset="-122"/>
                <a:cs typeface="Noto Sans JP" pitchFamily="34" charset="-120"/>
              </a:rPr>
              <a:t>トライアル展開と</a:t>
            </a:r>
            <a:endParaRPr lang="en-US" sz="1200" dirty="0"/>
          </a:p>
        </p:txBody>
      </p:sp>
      <p:sp>
        <p:nvSpPr>
          <p:cNvPr id="63" name="Text 58"/>
          <p:cNvSpPr txBox="1"/>
          <p:nvPr/>
        </p:nvSpPr>
        <p:spPr>
          <a:xfrm>
            <a:off x="8602675" y="2902306"/>
            <a:ext cx="688543" cy="191110"/>
          </a:xfrm>
          <a:prstGeom prst="rect">
            <a:avLst/>
          </a:prstGeom>
          <a:noFill/>
          <a:ln/>
        </p:spPr>
        <p:txBody>
          <a:bodyPr wrap="square" lIns="0" tIns="0" rIns="0" bIns="0" rtlCol="0" anchor="ctr"/>
          <a:lstStyle/>
          <a:p>
            <a:pPr marL="0" indent="0" algn="ctr">
              <a:buNone/>
            </a:pPr>
            <a:r>
              <a:rPr lang="en-US" sz="1200" b="1" dirty="0">
                <a:solidFill>
                  <a:srgbClr val="1F2937"/>
                </a:solidFill>
                <a:latin typeface="Noto Sans JP" pitchFamily="34" charset="0"/>
                <a:ea typeface="Noto Sans JP" pitchFamily="34" charset="-122"/>
                <a:cs typeface="Noto Sans JP" pitchFamily="34" charset="-120"/>
              </a:rPr>
              <a:t>効果測定</a:t>
            </a:r>
            <a:endParaRPr lang="en-US" sz="1200" dirty="0"/>
          </a:p>
        </p:txBody>
      </p:sp>
      <p:sp>
        <p:nvSpPr>
          <p:cNvPr id="64" name="Shape 59"/>
          <p:cNvSpPr/>
          <p:nvPr/>
        </p:nvSpPr>
        <p:spPr>
          <a:xfrm>
            <a:off x="7437730" y="3318358"/>
            <a:ext cx="1762049" cy="495605"/>
          </a:xfrm>
          <a:prstGeom prst="roundRect">
            <a:avLst>
              <a:gd name="adj" fmla="val 21289"/>
            </a:avLst>
          </a:prstGeom>
          <a:solidFill>
            <a:srgbClr val="F8FAFC"/>
          </a:solidFill>
          <a:ln w="12700">
            <a:solidFill>
              <a:srgbClr val="F1F5F9"/>
            </a:solidFill>
            <a:prstDash val="solid"/>
          </a:ln>
        </p:spPr>
        <p:txBody>
          <a:bodyPr/>
          <a:lstStyle/>
          <a:p>
            <a:endParaRPr lang="ja-JP" altLang="en-US" sz="2000"/>
          </a:p>
        </p:txBody>
      </p:sp>
      <p:sp>
        <p:nvSpPr>
          <p:cNvPr id="65" name="Text 60"/>
          <p:cNvSpPr txBox="1"/>
          <p:nvPr/>
        </p:nvSpPr>
        <p:spPr>
          <a:xfrm>
            <a:off x="7523683" y="3404311"/>
            <a:ext cx="1677010" cy="324612"/>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トライアル実施3-5部門・50-100名規模</a:t>
            </a:r>
            <a:endParaRPr lang="en-US" sz="1000" dirty="0"/>
          </a:p>
        </p:txBody>
      </p:sp>
      <p:sp>
        <p:nvSpPr>
          <p:cNvPr id="66" name="Shape 61"/>
          <p:cNvSpPr/>
          <p:nvPr/>
        </p:nvSpPr>
        <p:spPr>
          <a:xfrm>
            <a:off x="7437730" y="3905402"/>
            <a:ext cx="1762049" cy="333756"/>
          </a:xfrm>
          <a:prstGeom prst="roundRect">
            <a:avLst>
              <a:gd name="adj" fmla="val 46967"/>
            </a:avLst>
          </a:prstGeom>
          <a:solidFill>
            <a:srgbClr val="F8FAFC"/>
          </a:solidFill>
          <a:ln w="12700">
            <a:solidFill>
              <a:srgbClr val="F1F5F9"/>
            </a:solidFill>
            <a:prstDash val="solid"/>
          </a:ln>
        </p:spPr>
        <p:txBody>
          <a:bodyPr/>
          <a:lstStyle/>
          <a:p>
            <a:endParaRPr lang="ja-JP" altLang="en-US" sz="2000"/>
          </a:p>
        </p:txBody>
      </p:sp>
      <p:sp>
        <p:nvSpPr>
          <p:cNvPr id="67" name="Text 62"/>
          <p:cNvSpPr txBox="1"/>
          <p:nvPr/>
        </p:nvSpPr>
        <p:spPr>
          <a:xfrm>
            <a:off x="7523683" y="3991356"/>
            <a:ext cx="1552651" cy="162763"/>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効果測定ログ分析・BVA測定</a:t>
            </a:r>
            <a:endParaRPr lang="en-US" sz="1000" dirty="0"/>
          </a:p>
        </p:txBody>
      </p:sp>
      <p:sp>
        <p:nvSpPr>
          <p:cNvPr id="68" name="Shape 63"/>
          <p:cNvSpPr/>
          <p:nvPr/>
        </p:nvSpPr>
        <p:spPr>
          <a:xfrm>
            <a:off x="7437730" y="4331513"/>
            <a:ext cx="1762049" cy="333756"/>
          </a:xfrm>
          <a:prstGeom prst="roundRect">
            <a:avLst>
              <a:gd name="adj" fmla="val 46967"/>
            </a:avLst>
          </a:prstGeom>
          <a:solidFill>
            <a:srgbClr val="F8FAFC"/>
          </a:solidFill>
          <a:ln w="12700">
            <a:solidFill>
              <a:srgbClr val="F1F5F9"/>
            </a:solidFill>
            <a:prstDash val="solid"/>
          </a:ln>
        </p:spPr>
        <p:txBody>
          <a:bodyPr/>
          <a:lstStyle/>
          <a:p>
            <a:endParaRPr lang="ja-JP" altLang="en-US" sz="2000"/>
          </a:p>
        </p:txBody>
      </p:sp>
      <p:sp>
        <p:nvSpPr>
          <p:cNvPr id="69" name="Text 64"/>
          <p:cNvSpPr txBox="1"/>
          <p:nvPr/>
        </p:nvSpPr>
        <p:spPr>
          <a:xfrm>
            <a:off x="7523683" y="4417466"/>
            <a:ext cx="1677010" cy="162763"/>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検証成功基準（利用率70%等）</a:t>
            </a:r>
            <a:endParaRPr lang="en-US" sz="1000" dirty="0"/>
          </a:p>
        </p:txBody>
      </p:sp>
      <p:sp>
        <p:nvSpPr>
          <p:cNvPr id="70" name="Shape 65"/>
          <p:cNvSpPr/>
          <p:nvPr/>
        </p:nvSpPr>
        <p:spPr>
          <a:xfrm>
            <a:off x="7285025" y="1566367"/>
            <a:ext cx="2066544" cy="1047902"/>
          </a:xfrm>
          <a:prstGeom prst="roundRect">
            <a:avLst>
              <a:gd name="adj" fmla="val 9519"/>
            </a:avLst>
          </a:prstGeom>
          <a:solidFill>
            <a:srgbClr val="1D4ED8"/>
          </a:solidFill>
          <a:ln/>
        </p:spPr>
        <p:txBody>
          <a:bodyPr/>
          <a:lstStyle/>
          <a:p>
            <a:endParaRPr lang="ja-JP" altLang="en-US" sz="2000"/>
          </a:p>
        </p:txBody>
      </p:sp>
      <p:sp>
        <p:nvSpPr>
          <p:cNvPr id="71" name="Shape 66"/>
          <p:cNvSpPr/>
          <p:nvPr/>
        </p:nvSpPr>
        <p:spPr>
          <a:xfrm>
            <a:off x="7285025" y="1566367"/>
            <a:ext cx="2066544" cy="75895"/>
          </a:xfrm>
          <a:prstGeom prst="rect">
            <a:avLst/>
          </a:prstGeom>
          <a:solidFill>
            <a:srgbClr val="1E40AF"/>
          </a:solidFill>
          <a:ln/>
        </p:spPr>
        <p:txBody>
          <a:bodyPr/>
          <a:lstStyle/>
          <a:p>
            <a:endParaRPr lang="ja-JP" altLang="en-US" sz="2000"/>
          </a:p>
        </p:txBody>
      </p:sp>
      <p:sp>
        <p:nvSpPr>
          <p:cNvPr id="72" name="Text 67"/>
          <p:cNvSpPr txBox="1"/>
          <p:nvPr/>
        </p:nvSpPr>
        <p:spPr>
          <a:xfrm>
            <a:off x="8065008" y="1685239"/>
            <a:ext cx="593446" cy="152705"/>
          </a:xfrm>
          <a:prstGeom prst="rect">
            <a:avLst/>
          </a:prstGeom>
          <a:noFill/>
          <a:ln/>
        </p:spPr>
        <p:txBody>
          <a:bodyPr wrap="square" lIns="0" tIns="0" rIns="0" bIns="0" rtlCol="0" anchor="ctr"/>
          <a:lstStyle/>
          <a:p>
            <a:pPr marL="0" indent="0" algn="ctr">
              <a:buNone/>
            </a:pPr>
            <a:r>
              <a:rPr lang="en-US" sz="900" b="1" dirty="0">
                <a:solidFill>
                  <a:srgbClr val="FFFFFF">
                    <a:alpha val="90000"/>
                  </a:srgbClr>
                </a:solidFill>
                <a:latin typeface="Noto Sans JP" pitchFamily="34" charset="0"/>
                <a:ea typeface="Noto Sans JP" pitchFamily="34" charset="-122"/>
                <a:cs typeface="Noto Sans JP" pitchFamily="34" charset="-120"/>
              </a:rPr>
              <a:t>PHASE 4</a:t>
            </a:r>
            <a:endParaRPr lang="en-US" sz="900" dirty="0"/>
          </a:p>
        </p:txBody>
      </p:sp>
      <p:pic>
        <p:nvPicPr>
          <p:cNvPr id="73" name="Image 3" descr="preencoded.png"/>
          <p:cNvPicPr>
            <a:picLocks noChangeAspect="1"/>
          </p:cNvPicPr>
          <p:nvPr/>
        </p:nvPicPr>
        <p:blipFill>
          <a:blip r:embed="rId6"/>
          <a:srcRect l="-1648" r="-1648"/>
          <a:stretch/>
        </p:blipFill>
        <p:spPr>
          <a:xfrm>
            <a:off x="8232343" y="1913839"/>
            <a:ext cx="171907" cy="190195"/>
          </a:xfrm>
          <a:prstGeom prst="rect">
            <a:avLst/>
          </a:prstGeom>
        </p:spPr>
      </p:pic>
      <p:sp>
        <p:nvSpPr>
          <p:cNvPr id="74" name="Shape 68"/>
          <p:cNvSpPr/>
          <p:nvPr/>
        </p:nvSpPr>
        <p:spPr>
          <a:xfrm>
            <a:off x="8032090" y="2185416"/>
            <a:ext cx="580644" cy="228600"/>
          </a:xfrm>
          <a:prstGeom prst="roundRect">
            <a:avLst>
              <a:gd name="adj" fmla="val 200000"/>
            </a:avLst>
          </a:prstGeom>
          <a:solidFill>
            <a:srgbClr val="000000">
              <a:alpha val="20000"/>
            </a:srgbClr>
          </a:solidFill>
          <a:ln/>
        </p:spPr>
        <p:txBody>
          <a:bodyPr/>
          <a:lstStyle/>
          <a:p>
            <a:endParaRPr lang="ja-JP" altLang="en-US" sz="2000"/>
          </a:p>
        </p:txBody>
      </p:sp>
      <p:sp>
        <p:nvSpPr>
          <p:cNvPr id="75" name="Text 69"/>
          <p:cNvSpPr txBox="1"/>
          <p:nvPr/>
        </p:nvSpPr>
        <p:spPr>
          <a:xfrm>
            <a:off x="8146390" y="2203704"/>
            <a:ext cx="445313" cy="181051"/>
          </a:xfrm>
          <a:prstGeom prst="rect">
            <a:avLst/>
          </a:prstGeom>
          <a:noFill/>
          <a:ln/>
        </p:spPr>
        <p:txBody>
          <a:bodyPr wrap="square" lIns="0" tIns="0" rIns="0" bIns="0" rtlCol="0" anchor="ctr"/>
          <a:lstStyle/>
          <a:p>
            <a:pPr marL="0" indent="0" algn="ctr">
              <a:buNone/>
            </a:pPr>
            <a:r>
              <a:rPr lang="en-US" sz="1000" b="1" dirty="0">
                <a:solidFill>
                  <a:srgbClr val="FFFFFF"/>
                </a:solidFill>
                <a:latin typeface="Noto Sans JP" pitchFamily="34" charset="0"/>
                <a:ea typeface="Noto Sans JP" pitchFamily="34" charset="-122"/>
                <a:cs typeface="Noto Sans JP" pitchFamily="34" charset="-120"/>
              </a:rPr>
              <a:t>月 7-9</a:t>
            </a:r>
            <a:endParaRPr lang="en-US" sz="1000" dirty="0"/>
          </a:p>
        </p:txBody>
      </p:sp>
      <p:sp>
        <p:nvSpPr>
          <p:cNvPr id="76" name="Text 70"/>
          <p:cNvSpPr txBox="1"/>
          <p:nvPr/>
        </p:nvSpPr>
        <p:spPr>
          <a:xfrm>
            <a:off x="7843723" y="2465079"/>
            <a:ext cx="814731" cy="98755"/>
          </a:xfrm>
          <a:prstGeom prst="rect">
            <a:avLst/>
          </a:prstGeom>
          <a:noFill/>
          <a:ln/>
        </p:spPr>
        <p:txBody>
          <a:bodyPr wrap="square" lIns="0" tIns="0" rIns="0" bIns="0" rtlCol="0" anchor="ctr"/>
          <a:lstStyle/>
          <a:p>
            <a:pPr marL="0" indent="0" algn="ctr">
              <a:buNone/>
            </a:pPr>
            <a:r>
              <a:rPr lang="en-US" sz="900" dirty="0">
                <a:solidFill>
                  <a:srgbClr val="FFFFFF">
                    <a:alpha val="95000"/>
                  </a:srgbClr>
                </a:solidFill>
                <a:latin typeface="Noto Sans JP" pitchFamily="34" charset="0"/>
                <a:ea typeface="Noto Sans JP" pitchFamily="34" charset="-122"/>
                <a:cs typeface="Noto Sans JP" pitchFamily="34" charset="-120"/>
              </a:rPr>
              <a:t>所要: 3ヶ月</a:t>
            </a:r>
            <a:endParaRPr lang="en-US" sz="900" dirty="0"/>
          </a:p>
        </p:txBody>
      </p:sp>
      <p:sp>
        <p:nvSpPr>
          <p:cNvPr id="77" name="Shape 71"/>
          <p:cNvSpPr/>
          <p:nvPr/>
        </p:nvSpPr>
        <p:spPr>
          <a:xfrm>
            <a:off x="9497873" y="1556309"/>
            <a:ext cx="2085746" cy="4572000"/>
          </a:xfrm>
          <a:prstGeom prst="roundRect">
            <a:avLst>
              <a:gd name="adj" fmla="val 2402"/>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78" name="Text 72"/>
          <p:cNvSpPr txBox="1"/>
          <p:nvPr/>
        </p:nvSpPr>
        <p:spPr>
          <a:xfrm>
            <a:off x="9968789" y="2902306"/>
            <a:ext cx="831190" cy="191110"/>
          </a:xfrm>
          <a:prstGeom prst="rect">
            <a:avLst/>
          </a:prstGeom>
          <a:noFill/>
          <a:ln/>
        </p:spPr>
        <p:txBody>
          <a:bodyPr wrap="square" lIns="0" tIns="0" rIns="0" bIns="0" rtlCol="0" anchor="ctr"/>
          <a:lstStyle/>
          <a:p>
            <a:pPr marL="0" indent="0" algn="ctr">
              <a:buNone/>
            </a:pPr>
            <a:r>
              <a:rPr lang="en-US" sz="1200" b="1" dirty="0">
                <a:solidFill>
                  <a:srgbClr val="1F2937"/>
                </a:solidFill>
                <a:latin typeface="Noto Sans JP" pitchFamily="34" charset="0"/>
                <a:ea typeface="Noto Sans JP" pitchFamily="34" charset="-122"/>
                <a:cs typeface="Noto Sans JP" pitchFamily="34" charset="-120"/>
              </a:rPr>
              <a:t>全社展開と</a:t>
            </a:r>
            <a:endParaRPr lang="en-US" sz="1200" dirty="0"/>
          </a:p>
        </p:txBody>
      </p:sp>
      <p:sp>
        <p:nvSpPr>
          <p:cNvPr id="79" name="Text 73"/>
          <p:cNvSpPr txBox="1"/>
          <p:nvPr/>
        </p:nvSpPr>
        <p:spPr>
          <a:xfrm>
            <a:off x="10682935" y="2902306"/>
            <a:ext cx="545897" cy="191110"/>
          </a:xfrm>
          <a:prstGeom prst="rect">
            <a:avLst/>
          </a:prstGeom>
          <a:noFill/>
          <a:ln/>
        </p:spPr>
        <p:txBody>
          <a:bodyPr wrap="square" lIns="0" tIns="0" rIns="0" bIns="0" rtlCol="0" anchor="ctr"/>
          <a:lstStyle/>
          <a:p>
            <a:pPr marL="0" indent="0" algn="ctr">
              <a:buNone/>
            </a:pPr>
            <a:r>
              <a:rPr lang="en-US" sz="1200" b="1" dirty="0">
                <a:solidFill>
                  <a:srgbClr val="1F2937"/>
                </a:solidFill>
                <a:latin typeface="Noto Sans JP" pitchFamily="34" charset="0"/>
                <a:ea typeface="Noto Sans JP" pitchFamily="34" charset="-122"/>
                <a:cs typeface="Noto Sans JP" pitchFamily="34" charset="-120"/>
              </a:rPr>
              <a:t>定着化</a:t>
            </a:r>
            <a:endParaRPr lang="en-US" sz="1200" dirty="0"/>
          </a:p>
        </p:txBody>
      </p:sp>
      <p:sp>
        <p:nvSpPr>
          <p:cNvPr id="80" name="Shape 74"/>
          <p:cNvSpPr/>
          <p:nvPr/>
        </p:nvSpPr>
        <p:spPr>
          <a:xfrm>
            <a:off x="9659722" y="3318358"/>
            <a:ext cx="1762049" cy="495605"/>
          </a:xfrm>
          <a:prstGeom prst="roundRect">
            <a:avLst>
              <a:gd name="adj" fmla="val 21289"/>
            </a:avLst>
          </a:prstGeom>
          <a:solidFill>
            <a:srgbClr val="F8FAFC"/>
          </a:solidFill>
          <a:ln w="12700">
            <a:solidFill>
              <a:srgbClr val="F1F5F9"/>
            </a:solidFill>
            <a:prstDash val="solid"/>
          </a:ln>
        </p:spPr>
        <p:txBody>
          <a:bodyPr/>
          <a:lstStyle/>
          <a:p>
            <a:endParaRPr lang="ja-JP" altLang="en-US" sz="2000"/>
          </a:p>
        </p:txBody>
      </p:sp>
      <p:sp>
        <p:nvSpPr>
          <p:cNvPr id="81" name="Text 75"/>
          <p:cNvSpPr txBox="1"/>
          <p:nvPr/>
        </p:nvSpPr>
        <p:spPr>
          <a:xfrm>
            <a:off x="9745675" y="3404311"/>
            <a:ext cx="1677010" cy="324612"/>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波状展開成功事例ベースの順次拡大</a:t>
            </a:r>
            <a:endParaRPr lang="en-US" sz="1000" dirty="0"/>
          </a:p>
        </p:txBody>
      </p:sp>
      <p:sp>
        <p:nvSpPr>
          <p:cNvPr id="82" name="Shape 76"/>
          <p:cNvSpPr/>
          <p:nvPr/>
        </p:nvSpPr>
        <p:spPr>
          <a:xfrm>
            <a:off x="9659722" y="3905402"/>
            <a:ext cx="1762049" cy="333756"/>
          </a:xfrm>
          <a:prstGeom prst="roundRect">
            <a:avLst>
              <a:gd name="adj" fmla="val 46967"/>
            </a:avLst>
          </a:prstGeom>
          <a:solidFill>
            <a:srgbClr val="F8FAFC"/>
          </a:solidFill>
          <a:ln w="12700">
            <a:solidFill>
              <a:srgbClr val="F1F5F9"/>
            </a:solidFill>
            <a:prstDash val="solid"/>
          </a:ln>
        </p:spPr>
        <p:txBody>
          <a:bodyPr/>
          <a:lstStyle/>
          <a:p>
            <a:endParaRPr lang="ja-JP" altLang="en-US" sz="2000"/>
          </a:p>
        </p:txBody>
      </p:sp>
      <p:sp>
        <p:nvSpPr>
          <p:cNvPr id="83" name="Text 77"/>
          <p:cNvSpPr txBox="1"/>
          <p:nvPr/>
        </p:nvSpPr>
        <p:spPr>
          <a:xfrm>
            <a:off x="9745675" y="3991356"/>
            <a:ext cx="1638605" cy="162763"/>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教育強化eラーニング・勉強会</a:t>
            </a:r>
            <a:endParaRPr lang="en-US" sz="1000" dirty="0"/>
          </a:p>
        </p:txBody>
      </p:sp>
      <p:sp>
        <p:nvSpPr>
          <p:cNvPr id="84" name="Shape 78"/>
          <p:cNvSpPr/>
          <p:nvPr/>
        </p:nvSpPr>
        <p:spPr>
          <a:xfrm>
            <a:off x="9659722" y="4331513"/>
            <a:ext cx="1762049" cy="495605"/>
          </a:xfrm>
          <a:prstGeom prst="roundRect">
            <a:avLst>
              <a:gd name="adj" fmla="val 21289"/>
            </a:avLst>
          </a:prstGeom>
          <a:solidFill>
            <a:srgbClr val="F8FAFC"/>
          </a:solidFill>
          <a:ln w="12700">
            <a:solidFill>
              <a:srgbClr val="F1F5F9"/>
            </a:solidFill>
            <a:prstDash val="solid"/>
          </a:ln>
        </p:spPr>
        <p:txBody>
          <a:bodyPr/>
          <a:lstStyle/>
          <a:p>
            <a:endParaRPr lang="ja-JP" altLang="en-US" sz="2000"/>
          </a:p>
        </p:txBody>
      </p:sp>
      <p:sp>
        <p:nvSpPr>
          <p:cNvPr id="85" name="Text 79"/>
          <p:cNvSpPr txBox="1"/>
          <p:nvPr/>
        </p:nvSpPr>
        <p:spPr>
          <a:xfrm>
            <a:off x="9745675" y="4417466"/>
            <a:ext cx="1677010" cy="324612"/>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定着化施策表彰制度・コミュニティ</a:t>
            </a:r>
            <a:endParaRPr lang="en-US" sz="1000" dirty="0"/>
          </a:p>
        </p:txBody>
      </p:sp>
      <p:sp>
        <p:nvSpPr>
          <p:cNvPr id="86" name="Shape 80"/>
          <p:cNvSpPr/>
          <p:nvPr/>
        </p:nvSpPr>
        <p:spPr>
          <a:xfrm>
            <a:off x="9507017" y="1566367"/>
            <a:ext cx="2066544" cy="1047902"/>
          </a:xfrm>
          <a:prstGeom prst="roundRect">
            <a:avLst>
              <a:gd name="adj" fmla="val 9519"/>
            </a:avLst>
          </a:prstGeom>
          <a:solidFill>
            <a:srgbClr val="059669"/>
          </a:solidFill>
          <a:ln/>
        </p:spPr>
        <p:txBody>
          <a:bodyPr/>
          <a:lstStyle/>
          <a:p>
            <a:endParaRPr lang="ja-JP" altLang="en-US" sz="2000"/>
          </a:p>
        </p:txBody>
      </p:sp>
      <p:sp>
        <p:nvSpPr>
          <p:cNvPr id="87" name="Shape 81"/>
          <p:cNvSpPr/>
          <p:nvPr/>
        </p:nvSpPr>
        <p:spPr>
          <a:xfrm>
            <a:off x="9507017" y="1566367"/>
            <a:ext cx="2066544" cy="75895"/>
          </a:xfrm>
          <a:prstGeom prst="rect">
            <a:avLst/>
          </a:prstGeom>
          <a:solidFill>
            <a:srgbClr val="047857"/>
          </a:solidFill>
          <a:ln/>
        </p:spPr>
        <p:txBody>
          <a:bodyPr/>
          <a:lstStyle/>
          <a:p>
            <a:endParaRPr lang="ja-JP" altLang="en-US" sz="2000"/>
          </a:p>
        </p:txBody>
      </p:sp>
      <p:sp>
        <p:nvSpPr>
          <p:cNvPr id="88" name="Text 82"/>
          <p:cNvSpPr txBox="1"/>
          <p:nvPr/>
        </p:nvSpPr>
        <p:spPr>
          <a:xfrm>
            <a:off x="10287000" y="1685239"/>
            <a:ext cx="593446" cy="152705"/>
          </a:xfrm>
          <a:prstGeom prst="rect">
            <a:avLst/>
          </a:prstGeom>
          <a:noFill/>
          <a:ln/>
        </p:spPr>
        <p:txBody>
          <a:bodyPr wrap="square" lIns="0" tIns="0" rIns="0" bIns="0" rtlCol="0" anchor="ctr"/>
          <a:lstStyle/>
          <a:p>
            <a:pPr marL="0" indent="0" algn="ctr">
              <a:buNone/>
            </a:pPr>
            <a:r>
              <a:rPr lang="en-US" sz="900" b="1" dirty="0">
                <a:solidFill>
                  <a:srgbClr val="FFFFFF">
                    <a:alpha val="90000"/>
                  </a:srgbClr>
                </a:solidFill>
                <a:latin typeface="Noto Sans JP" pitchFamily="34" charset="0"/>
                <a:ea typeface="Noto Sans JP" pitchFamily="34" charset="-122"/>
                <a:cs typeface="Noto Sans JP" pitchFamily="34" charset="-120"/>
              </a:rPr>
              <a:t>PHASE 5</a:t>
            </a:r>
            <a:endParaRPr lang="en-US" sz="900" dirty="0"/>
          </a:p>
        </p:txBody>
      </p:sp>
      <p:pic>
        <p:nvPicPr>
          <p:cNvPr id="89" name="Image 4" descr="preencoded.png"/>
          <p:cNvPicPr>
            <a:picLocks noChangeAspect="1"/>
          </p:cNvPicPr>
          <p:nvPr/>
        </p:nvPicPr>
        <p:blipFill>
          <a:blip r:embed="rId7"/>
          <a:srcRect/>
          <a:stretch/>
        </p:blipFill>
        <p:spPr>
          <a:xfrm>
            <a:off x="10445191" y="1913839"/>
            <a:ext cx="190195" cy="190195"/>
          </a:xfrm>
          <a:prstGeom prst="rect">
            <a:avLst/>
          </a:prstGeom>
        </p:spPr>
      </p:pic>
      <p:sp>
        <p:nvSpPr>
          <p:cNvPr id="90" name="Shape 83"/>
          <p:cNvSpPr/>
          <p:nvPr/>
        </p:nvSpPr>
        <p:spPr>
          <a:xfrm>
            <a:off x="10180930" y="2185416"/>
            <a:ext cx="724205" cy="228600"/>
          </a:xfrm>
          <a:prstGeom prst="roundRect">
            <a:avLst>
              <a:gd name="adj" fmla="val 200000"/>
            </a:avLst>
          </a:prstGeom>
          <a:solidFill>
            <a:srgbClr val="000000">
              <a:alpha val="20000"/>
            </a:srgbClr>
          </a:solidFill>
          <a:ln/>
        </p:spPr>
        <p:txBody>
          <a:bodyPr/>
          <a:lstStyle/>
          <a:p>
            <a:endParaRPr lang="ja-JP" altLang="en-US" sz="2000"/>
          </a:p>
        </p:txBody>
      </p:sp>
      <p:sp>
        <p:nvSpPr>
          <p:cNvPr id="91" name="Text 84"/>
          <p:cNvSpPr txBox="1"/>
          <p:nvPr/>
        </p:nvSpPr>
        <p:spPr>
          <a:xfrm>
            <a:off x="10295230" y="2203704"/>
            <a:ext cx="588874" cy="181051"/>
          </a:xfrm>
          <a:prstGeom prst="rect">
            <a:avLst/>
          </a:prstGeom>
          <a:noFill/>
          <a:ln/>
        </p:spPr>
        <p:txBody>
          <a:bodyPr wrap="square" lIns="0" tIns="0" rIns="0" bIns="0" rtlCol="0" anchor="ctr"/>
          <a:lstStyle/>
          <a:p>
            <a:pPr marL="0" indent="0" algn="ctr">
              <a:buNone/>
            </a:pPr>
            <a:r>
              <a:rPr lang="en-US" sz="1000" b="1" dirty="0">
                <a:solidFill>
                  <a:srgbClr val="FFFFFF"/>
                </a:solidFill>
                <a:latin typeface="Noto Sans JP" pitchFamily="34" charset="0"/>
                <a:ea typeface="Noto Sans JP" pitchFamily="34" charset="-122"/>
                <a:cs typeface="Noto Sans JP" pitchFamily="34" charset="-120"/>
              </a:rPr>
              <a:t>月 10-12</a:t>
            </a:r>
            <a:endParaRPr lang="en-US" sz="1000" dirty="0"/>
          </a:p>
        </p:txBody>
      </p:sp>
      <p:sp>
        <p:nvSpPr>
          <p:cNvPr id="92" name="Text 85"/>
          <p:cNvSpPr txBox="1"/>
          <p:nvPr/>
        </p:nvSpPr>
        <p:spPr>
          <a:xfrm>
            <a:off x="10193900" y="2488229"/>
            <a:ext cx="719320" cy="86868"/>
          </a:xfrm>
          <a:prstGeom prst="rect">
            <a:avLst/>
          </a:prstGeom>
          <a:noFill/>
          <a:ln/>
        </p:spPr>
        <p:txBody>
          <a:bodyPr wrap="square" lIns="0" tIns="0" rIns="0" bIns="0" rtlCol="0" anchor="ctr"/>
          <a:lstStyle/>
          <a:p>
            <a:pPr marL="0" indent="0" algn="ctr">
              <a:buNone/>
            </a:pPr>
            <a:r>
              <a:rPr lang="en-US" sz="900" dirty="0">
                <a:solidFill>
                  <a:srgbClr val="FFFFFF">
                    <a:alpha val="95000"/>
                  </a:srgbClr>
                </a:solidFill>
                <a:latin typeface="Noto Sans JP" pitchFamily="34" charset="0"/>
                <a:ea typeface="Noto Sans JP" pitchFamily="34" charset="-122"/>
                <a:cs typeface="Noto Sans JP" pitchFamily="34" charset="-120"/>
              </a:rPr>
              <a:t>所要: 3ヶ月</a:t>
            </a:r>
            <a:endParaRPr lang="en-US" sz="900" dirty="0"/>
          </a:p>
        </p:txBody>
      </p:sp>
      <p:pic>
        <p:nvPicPr>
          <p:cNvPr id="2050" name="Picture 2">
            <a:extLst>
              <a:ext uri="{FF2B5EF4-FFF2-40B4-BE49-F238E27FC236}">
                <a16:creationId xmlns:a16="http://schemas.microsoft.com/office/drawing/2014/main" id="{CF2AADA3-D79F-6433-2653-4A4CF46D818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4939" y="7166103"/>
            <a:ext cx="5447088" cy="29483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CC410784-40C8-2706-5B5F-CEE07A7170A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69711" y="7120433"/>
            <a:ext cx="5493017" cy="3058351"/>
          </a:xfrm>
          <a:prstGeom prst="rect">
            <a:avLst/>
          </a:prstGeom>
          <a:noFill/>
          <a:extLst>
            <a:ext uri="{909E8E84-426E-40DD-AFC4-6F175D3DCCD1}">
              <a14:hiddenFill xmlns:a14="http://schemas.microsoft.com/office/drawing/2010/main">
                <a:solidFill>
                  <a:srgbClr val="FFFFFF"/>
                </a:solidFill>
              </a14:hiddenFill>
            </a:ext>
          </a:extLst>
        </p:spPr>
      </p:pic>
      <p:sp>
        <p:nvSpPr>
          <p:cNvPr id="93" name="正方形/長方形 92">
            <a:extLst>
              <a:ext uri="{FF2B5EF4-FFF2-40B4-BE49-F238E27FC236}">
                <a16:creationId xmlns:a16="http://schemas.microsoft.com/office/drawing/2014/main" id="{09861019-98EB-9D3A-56CC-34C7E9266C6B}"/>
              </a:ext>
            </a:extLst>
          </p:cNvPr>
          <p:cNvSpPr/>
          <p:nvPr/>
        </p:nvSpPr>
        <p:spPr>
          <a:xfrm>
            <a:off x="3372837" y="5466090"/>
            <a:ext cx="1629460" cy="2834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＋環境整備</a:t>
            </a:r>
          </a:p>
        </p:txBody>
      </p:sp>
      <p:sp>
        <p:nvSpPr>
          <p:cNvPr id="94" name="正方形/長方形 93">
            <a:extLst>
              <a:ext uri="{FF2B5EF4-FFF2-40B4-BE49-F238E27FC236}">
                <a16:creationId xmlns:a16="http://schemas.microsoft.com/office/drawing/2014/main" id="{86753972-660C-7C31-2167-C82B39BB958A}"/>
              </a:ext>
            </a:extLst>
          </p:cNvPr>
          <p:cNvSpPr/>
          <p:nvPr/>
        </p:nvSpPr>
        <p:spPr>
          <a:xfrm>
            <a:off x="5554981" y="5253949"/>
            <a:ext cx="1629460" cy="960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勝ちパターン</a:t>
            </a:r>
            <a:endParaRPr kumimoji="1" lang="en-US" altLang="ja-JP" sz="1400" dirty="0"/>
          </a:p>
          <a:p>
            <a:pPr algn="ctr"/>
            <a:r>
              <a:rPr kumimoji="1" lang="ja-JP" altLang="en-US" sz="1400" dirty="0"/>
              <a:t>クイックウィン</a:t>
            </a:r>
            <a:endParaRPr kumimoji="1" lang="en-US" altLang="ja-JP" sz="1400" dirty="0"/>
          </a:p>
        </p:txBody>
      </p:sp>
      <p:sp>
        <p:nvSpPr>
          <p:cNvPr id="95" name="正方形/長方形 94">
            <a:extLst>
              <a:ext uri="{FF2B5EF4-FFF2-40B4-BE49-F238E27FC236}">
                <a16:creationId xmlns:a16="http://schemas.microsoft.com/office/drawing/2014/main" id="{2C396976-59B3-C5B3-CAF5-16D3CDFBB3CB}"/>
              </a:ext>
            </a:extLst>
          </p:cNvPr>
          <p:cNvSpPr/>
          <p:nvPr/>
        </p:nvSpPr>
        <p:spPr>
          <a:xfrm>
            <a:off x="7843123" y="5212300"/>
            <a:ext cx="3173255" cy="3689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スケール・全社展開</a:t>
            </a:r>
          </a:p>
        </p:txBody>
      </p:sp>
      <p:sp>
        <p:nvSpPr>
          <p:cNvPr id="96" name="正方形/長方形 95">
            <a:extLst>
              <a:ext uri="{FF2B5EF4-FFF2-40B4-BE49-F238E27FC236}">
                <a16:creationId xmlns:a16="http://schemas.microsoft.com/office/drawing/2014/main" id="{0961A9B7-A989-D1CF-2FF7-4838BC7B9141}"/>
              </a:ext>
            </a:extLst>
          </p:cNvPr>
          <p:cNvSpPr/>
          <p:nvPr/>
        </p:nvSpPr>
        <p:spPr>
          <a:xfrm>
            <a:off x="10180930" y="5795011"/>
            <a:ext cx="1638461" cy="3904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a:t>
            </a:r>
            <a:r>
              <a:rPr kumimoji="1" lang="en-US" altLang="ja-JP" sz="1400" dirty="0"/>
              <a:t>PDCA</a:t>
            </a:r>
            <a:r>
              <a:rPr kumimoji="1" lang="ja-JP" altLang="en-US" sz="1400" dirty="0"/>
              <a:t>基盤構築</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181405"/>
          </a:xfrm>
          <a:prstGeom prst="rect">
            <a:avLst/>
          </a:prstGeom>
          <a:solidFill>
            <a:srgbClr val="FFFFFF"/>
          </a:solidFill>
          <a:ln/>
        </p:spPr>
        <p:txBody>
          <a:bodyPr/>
          <a:lstStyle/>
          <a:p>
            <a:endParaRPr lang="ja-JP" altLang="en-US"/>
          </a:p>
        </p:txBody>
      </p:sp>
      <p:sp>
        <p:nvSpPr>
          <p:cNvPr id="5" name="Shape 3"/>
          <p:cNvSpPr/>
          <p:nvPr/>
        </p:nvSpPr>
        <p:spPr>
          <a:xfrm>
            <a:off x="0" y="1172261"/>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267005"/>
            <a:ext cx="4791456" cy="438912"/>
          </a:xfrm>
          <a:prstGeom prst="rect">
            <a:avLst/>
          </a:prstGeom>
          <a:noFill/>
          <a:ln/>
        </p:spPr>
        <p:txBody>
          <a:bodyPr wrap="square" lIns="0" tIns="0" rIns="0" bIns="0" rtlCol="0" anchor="ctr"/>
          <a:lstStyle/>
          <a:p>
            <a:pPr marL="0" indent="0" algn="l">
              <a:buNone/>
            </a:pPr>
            <a:r>
              <a:rPr lang="en-US" sz="2400" b="1" dirty="0" err="1">
                <a:solidFill>
                  <a:srgbClr val="1F2937"/>
                </a:solidFill>
                <a:latin typeface="Noto Sans JP" pitchFamily="34" charset="0"/>
                <a:ea typeface="Noto Sans JP" pitchFamily="34" charset="-122"/>
                <a:cs typeface="Noto Sans JP" pitchFamily="34" charset="-120"/>
              </a:rPr>
              <a:t>推奨と結論</a:t>
            </a:r>
            <a:endParaRPr lang="en-US" sz="2400" dirty="0"/>
          </a:p>
        </p:txBody>
      </p:sp>
      <p:sp>
        <p:nvSpPr>
          <p:cNvPr id="7" name="Text 5"/>
          <p:cNvSpPr txBox="1"/>
          <p:nvPr/>
        </p:nvSpPr>
        <p:spPr>
          <a:xfrm>
            <a:off x="609905" y="747065"/>
            <a:ext cx="2638958" cy="228600"/>
          </a:xfrm>
          <a:prstGeom prst="rect">
            <a:avLst/>
          </a:prstGeom>
          <a:noFill/>
          <a:ln/>
        </p:spPr>
        <p:txBody>
          <a:bodyPr wrap="square" lIns="0" tIns="0" rIns="0" bIns="0" rtlCol="0" anchor="ctr"/>
          <a:lstStyle/>
          <a:p>
            <a:pPr marL="0" indent="0" algn="l">
              <a:buNone/>
            </a:pPr>
            <a:r>
              <a:rPr lang="en-US" sz="1200" dirty="0" err="1">
                <a:solidFill>
                  <a:srgbClr val="6B7280"/>
                </a:solidFill>
                <a:latin typeface="Noto Sans JP" pitchFamily="34" charset="0"/>
                <a:ea typeface="Noto Sans JP" pitchFamily="34" charset="-122"/>
                <a:cs typeface="Noto Sans JP" pitchFamily="34" charset="-120"/>
              </a:rPr>
              <a:t>組織体制・役割分担のまとめ</a:t>
            </a:r>
            <a:endParaRPr lang="en-US" sz="1200" dirty="0"/>
          </a:p>
        </p:txBody>
      </p:sp>
      <p:grpSp>
        <p:nvGrpSpPr>
          <p:cNvPr id="55" name="グループ化 54">
            <a:extLst>
              <a:ext uri="{FF2B5EF4-FFF2-40B4-BE49-F238E27FC236}">
                <a16:creationId xmlns:a16="http://schemas.microsoft.com/office/drawing/2014/main" id="{52D81EBE-A6FA-01EE-33FA-C6A53B8F9803}"/>
              </a:ext>
            </a:extLst>
          </p:cNvPr>
          <p:cNvGrpSpPr/>
          <p:nvPr/>
        </p:nvGrpSpPr>
        <p:grpSpPr>
          <a:xfrm>
            <a:off x="609447" y="1244498"/>
            <a:ext cx="10972800" cy="5469940"/>
            <a:chOff x="609905" y="1480414"/>
            <a:chExt cx="10972800" cy="5705856"/>
          </a:xfrm>
        </p:grpSpPr>
        <p:sp>
          <p:nvSpPr>
            <p:cNvPr id="11" name="Shape 9"/>
            <p:cNvSpPr/>
            <p:nvPr/>
          </p:nvSpPr>
          <p:spPr>
            <a:xfrm>
              <a:off x="609905" y="1480414"/>
              <a:ext cx="5372100" cy="2533802"/>
            </a:xfrm>
            <a:prstGeom prst="roundRect">
              <a:avLst>
                <a:gd name="adj" fmla="val 2171"/>
              </a:avLst>
            </a:prstGeom>
            <a:solidFill>
              <a:srgbClr val="FFFFFF"/>
            </a:solidFill>
            <a:ln w="12700">
              <a:solidFill>
                <a:srgbClr val="E2E8F0"/>
              </a:solidFill>
              <a:prstDash val="solid"/>
            </a:ln>
            <a:effectLst>
              <a:outerShdw blurRad="38100" dist="25400" dir="5400000" algn="bl" rotWithShape="0">
                <a:srgbClr val="000000">
                  <a:alpha val="5000"/>
                </a:srgbClr>
              </a:outerShdw>
            </a:effectLst>
          </p:spPr>
          <p:txBody>
            <a:bodyPr/>
            <a:lstStyle/>
            <a:p>
              <a:endParaRPr lang="ja-JP" altLang="en-US"/>
            </a:p>
          </p:txBody>
        </p:sp>
        <p:sp>
          <p:nvSpPr>
            <p:cNvPr id="12" name="Shape 10"/>
            <p:cNvSpPr/>
            <p:nvPr/>
          </p:nvSpPr>
          <p:spPr>
            <a:xfrm>
              <a:off x="847649" y="2213762"/>
              <a:ext cx="4895698" cy="19202"/>
            </a:xfrm>
            <a:prstGeom prst="rect">
              <a:avLst/>
            </a:prstGeom>
            <a:solidFill>
              <a:srgbClr val="F1F5F9"/>
            </a:solidFill>
            <a:ln/>
          </p:spPr>
          <p:txBody>
            <a:bodyPr/>
            <a:lstStyle/>
            <a:p>
              <a:endParaRPr lang="ja-JP" altLang="en-US"/>
            </a:p>
          </p:txBody>
        </p:sp>
        <p:sp>
          <p:nvSpPr>
            <p:cNvPr id="13" name="Shape 11"/>
            <p:cNvSpPr/>
            <p:nvPr/>
          </p:nvSpPr>
          <p:spPr>
            <a:xfrm>
              <a:off x="847649" y="1718158"/>
              <a:ext cx="381305" cy="381305"/>
            </a:xfrm>
            <a:prstGeom prst="roundRect">
              <a:avLst>
                <a:gd name="adj" fmla="val 47962"/>
              </a:avLst>
            </a:prstGeom>
            <a:solidFill>
              <a:srgbClr val="EFF6FF"/>
            </a:solidFill>
            <a:ln/>
          </p:spPr>
          <p:txBody>
            <a:bodyPr/>
            <a:lstStyle/>
            <a:p>
              <a:endParaRPr lang="ja-JP" altLang="en-US"/>
            </a:p>
          </p:txBody>
        </p:sp>
        <p:pic>
          <p:nvPicPr>
            <p:cNvPr id="14" name="Image 0" descr="preencoded.png"/>
            <p:cNvPicPr>
              <a:picLocks noChangeAspect="1"/>
            </p:cNvPicPr>
            <p:nvPr/>
          </p:nvPicPr>
          <p:blipFill>
            <a:blip r:embed="rId3"/>
            <a:srcRect t="-842" b="-842"/>
            <a:stretch/>
          </p:blipFill>
          <p:spPr>
            <a:xfrm>
              <a:off x="942746" y="1823314"/>
              <a:ext cx="190195" cy="171907"/>
            </a:xfrm>
            <a:prstGeom prst="rect">
              <a:avLst/>
            </a:prstGeom>
          </p:spPr>
        </p:pic>
        <p:sp>
          <p:nvSpPr>
            <p:cNvPr id="15" name="Text 12"/>
            <p:cNvSpPr txBox="1"/>
            <p:nvPr/>
          </p:nvSpPr>
          <p:spPr>
            <a:xfrm>
              <a:off x="1343254" y="1780337"/>
              <a:ext cx="3024835" cy="247802"/>
            </a:xfrm>
            <a:prstGeom prst="rect">
              <a:avLst/>
            </a:prstGeom>
            <a:noFill/>
            <a:ln/>
          </p:spPr>
          <p:txBody>
            <a:bodyPr wrap="square" lIns="0" tIns="0" rIns="0" bIns="0" rtlCol="0" anchor="ctr"/>
            <a:lstStyle/>
            <a:p>
              <a:pPr marL="0" indent="0" algn="l">
                <a:buNone/>
              </a:pPr>
              <a:r>
                <a:rPr lang="en-US" sz="1300" b="1" dirty="0">
                  <a:solidFill>
                    <a:srgbClr val="1E40AF"/>
                  </a:solidFill>
                  <a:latin typeface="Noto Sans JP" pitchFamily="34" charset="0"/>
                  <a:ea typeface="Noto Sans JP" pitchFamily="34" charset="-122"/>
                  <a:cs typeface="Noto Sans JP" pitchFamily="34" charset="-120"/>
                </a:rPr>
                <a:t>推奨モデル：ハイブリッド型（CoE）</a:t>
              </a:r>
              <a:endParaRPr lang="en-US" sz="1300" dirty="0"/>
            </a:p>
          </p:txBody>
        </p:sp>
        <p:sp>
          <p:nvSpPr>
            <p:cNvPr id="16" name="Text 13"/>
            <p:cNvSpPr txBox="1"/>
            <p:nvPr/>
          </p:nvSpPr>
          <p:spPr>
            <a:xfrm>
              <a:off x="847649" y="2384755"/>
              <a:ext cx="4996282" cy="400507"/>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採用モデル： 日立製作所やパナソニックで実績のある「CoE主導のハイブリッド型」を採用し、全社統制と事業部スピードを両立。</a:t>
              </a:r>
              <a:endParaRPr lang="en-US" sz="1000" dirty="0"/>
            </a:p>
          </p:txBody>
        </p:sp>
        <p:sp>
          <p:nvSpPr>
            <p:cNvPr id="17" name="Text 14"/>
            <p:cNvSpPr txBox="1"/>
            <p:nvPr/>
          </p:nvSpPr>
          <p:spPr>
            <a:xfrm>
              <a:off x="847649" y="2880360"/>
              <a:ext cx="4996282" cy="400507"/>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推奨体制： CoEチーム（6–10名）を組成し、戦略・技術・データガバナンス・チェンジマネジメントの役割を明確化。</a:t>
              </a:r>
              <a:endParaRPr lang="en-US" sz="1000" dirty="0"/>
            </a:p>
          </p:txBody>
        </p:sp>
        <p:sp>
          <p:nvSpPr>
            <p:cNvPr id="18" name="Text 15"/>
            <p:cNvSpPr txBox="1"/>
            <p:nvPr/>
          </p:nvSpPr>
          <p:spPr>
            <a:xfrm>
              <a:off x="847649" y="3375965"/>
              <a:ext cx="4996282" cy="400507"/>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権限設計： CoEが「標準と基盤」を提供し、事業部が「活用と改善」を担う明確な役割分担。</a:t>
              </a:r>
              <a:endParaRPr lang="en-US" sz="1000" dirty="0"/>
            </a:p>
          </p:txBody>
        </p:sp>
        <p:sp>
          <p:nvSpPr>
            <p:cNvPr id="19" name="Shape 16"/>
            <p:cNvSpPr/>
            <p:nvPr/>
          </p:nvSpPr>
          <p:spPr>
            <a:xfrm>
              <a:off x="6210605" y="1480414"/>
              <a:ext cx="5372100" cy="2533802"/>
            </a:xfrm>
            <a:prstGeom prst="roundRect">
              <a:avLst>
                <a:gd name="adj" fmla="val 2171"/>
              </a:avLst>
            </a:prstGeom>
            <a:solidFill>
              <a:srgbClr val="FFFFFF"/>
            </a:solidFill>
            <a:ln w="12700">
              <a:solidFill>
                <a:srgbClr val="E2E8F0"/>
              </a:solidFill>
              <a:prstDash val="solid"/>
            </a:ln>
            <a:effectLst>
              <a:outerShdw blurRad="38100" dist="25400" dir="5400000" algn="bl" rotWithShape="0">
                <a:srgbClr val="000000">
                  <a:alpha val="5000"/>
                </a:srgbClr>
              </a:outerShdw>
            </a:effectLst>
          </p:spPr>
          <p:txBody>
            <a:bodyPr/>
            <a:lstStyle/>
            <a:p>
              <a:endParaRPr lang="ja-JP" altLang="en-US"/>
            </a:p>
          </p:txBody>
        </p:sp>
        <p:sp>
          <p:nvSpPr>
            <p:cNvPr id="20" name="Shape 17"/>
            <p:cNvSpPr/>
            <p:nvPr/>
          </p:nvSpPr>
          <p:spPr>
            <a:xfrm>
              <a:off x="6448349" y="2213762"/>
              <a:ext cx="4895698" cy="19202"/>
            </a:xfrm>
            <a:prstGeom prst="rect">
              <a:avLst/>
            </a:prstGeom>
            <a:solidFill>
              <a:srgbClr val="F1F5F9"/>
            </a:solidFill>
            <a:ln/>
          </p:spPr>
          <p:txBody>
            <a:bodyPr/>
            <a:lstStyle/>
            <a:p>
              <a:endParaRPr lang="ja-JP" altLang="en-US"/>
            </a:p>
          </p:txBody>
        </p:sp>
        <p:sp>
          <p:nvSpPr>
            <p:cNvPr id="21" name="Shape 18"/>
            <p:cNvSpPr/>
            <p:nvPr/>
          </p:nvSpPr>
          <p:spPr>
            <a:xfrm>
              <a:off x="6448349" y="1718158"/>
              <a:ext cx="381305" cy="381305"/>
            </a:xfrm>
            <a:prstGeom prst="roundRect">
              <a:avLst>
                <a:gd name="adj" fmla="val 47962"/>
              </a:avLst>
            </a:prstGeom>
            <a:solidFill>
              <a:srgbClr val="ECFDF5"/>
            </a:solidFill>
            <a:ln/>
          </p:spPr>
          <p:txBody>
            <a:bodyPr/>
            <a:lstStyle/>
            <a:p>
              <a:endParaRPr lang="ja-JP" altLang="en-US"/>
            </a:p>
          </p:txBody>
        </p:sp>
        <p:pic>
          <p:nvPicPr>
            <p:cNvPr id="22" name="Image 1" descr="preencoded.png"/>
            <p:cNvPicPr>
              <a:picLocks noChangeAspect="1"/>
            </p:cNvPicPr>
            <p:nvPr/>
          </p:nvPicPr>
          <p:blipFill>
            <a:blip r:embed="rId4"/>
            <a:srcRect/>
            <a:stretch/>
          </p:blipFill>
          <p:spPr>
            <a:xfrm>
              <a:off x="6553505" y="1823314"/>
              <a:ext cx="171907" cy="171907"/>
            </a:xfrm>
            <a:prstGeom prst="rect">
              <a:avLst/>
            </a:prstGeom>
          </p:spPr>
        </p:pic>
        <p:sp>
          <p:nvSpPr>
            <p:cNvPr id="23" name="Text 19"/>
            <p:cNvSpPr txBox="1"/>
            <p:nvPr/>
          </p:nvSpPr>
          <p:spPr>
            <a:xfrm>
              <a:off x="6943954" y="1780337"/>
              <a:ext cx="2500884" cy="247802"/>
            </a:xfrm>
            <a:prstGeom prst="rect">
              <a:avLst/>
            </a:prstGeom>
            <a:noFill/>
            <a:ln/>
          </p:spPr>
          <p:txBody>
            <a:bodyPr wrap="square" lIns="0" tIns="0" rIns="0" bIns="0" rtlCol="0" anchor="ctr"/>
            <a:lstStyle/>
            <a:p>
              <a:pPr marL="0" indent="0" algn="l">
                <a:buNone/>
              </a:pPr>
              <a:r>
                <a:rPr lang="en-US" sz="1300" b="1" dirty="0">
                  <a:solidFill>
                    <a:srgbClr val="065F46"/>
                  </a:solidFill>
                  <a:latin typeface="Noto Sans JP" pitchFamily="34" charset="0"/>
                  <a:ea typeface="Noto Sans JP" pitchFamily="34" charset="-122"/>
                  <a:cs typeface="Noto Sans JP" pitchFamily="34" charset="-120"/>
                </a:rPr>
                <a:t>成功のための重要要因（CSF）</a:t>
              </a:r>
              <a:endParaRPr lang="en-US" sz="1300" dirty="0"/>
            </a:p>
          </p:txBody>
        </p:sp>
        <p:sp>
          <p:nvSpPr>
            <p:cNvPr id="24" name="Text 20"/>
            <p:cNvSpPr txBox="1"/>
            <p:nvPr/>
          </p:nvSpPr>
          <p:spPr>
            <a:xfrm>
              <a:off x="6448349" y="2384755"/>
              <a:ext cx="4996282" cy="400507"/>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定量KPIの徹底： 「なんとなく便利」で終わらせず、月間削減時間やユースケース数などの数値目標を必達とする。</a:t>
              </a:r>
              <a:endParaRPr lang="en-US" sz="1000" dirty="0"/>
            </a:p>
          </p:txBody>
        </p:sp>
        <p:sp>
          <p:nvSpPr>
            <p:cNvPr id="25" name="Text 21"/>
            <p:cNvSpPr txBox="1"/>
            <p:nvPr/>
          </p:nvSpPr>
          <p:spPr>
            <a:xfrm>
              <a:off x="6448349" y="2880360"/>
              <a:ext cx="4996282" cy="400507"/>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段階的な展開： パイロット→部門展開→全社展開のステップを踏み、成功体験を積み重ねながらリスクを制御。</a:t>
              </a:r>
              <a:endParaRPr lang="en-US" sz="1000" dirty="0"/>
            </a:p>
          </p:txBody>
        </p:sp>
        <p:sp>
          <p:nvSpPr>
            <p:cNvPr id="26" name="Text 22"/>
            <p:cNvSpPr txBox="1"/>
            <p:nvPr/>
          </p:nvSpPr>
          <p:spPr>
            <a:xfrm>
              <a:off x="6448349" y="3375965"/>
              <a:ext cx="4996282" cy="400507"/>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コミュニティ運営： 成功事例が自然と共有される場（Teams/Viva）を作り、ボトムアップの改善活動を誘発。</a:t>
              </a:r>
              <a:endParaRPr lang="en-US" sz="1000" dirty="0"/>
            </a:p>
          </p:txBody>
        </p:sp>
        <p:sp>
          <p:nvSpPr>
            <p:cNvPr id="27" name="Shape 23"/>
            <p:cNvSpPr/>
            <p:nvPr/>
          </p:nvSpPr>
          <p:spPr>
            <a:xfrm>
              <a:off x="609905" y="4242816"/>
              <a:ext cx="10972800" cy="2943454"/>
            </a:xfrm>
            <a:prstGeom prst="roundRect">
              <a:avLst>
                <a:gd name="adj" fmla="val 1609"/>
              </a:avLst>
            </a:prstGeom>
            <a:solidFill>
              <a:srgbClr val="FFFFFF"/>
            </a:solidFill>
            <a:ln w="12700">
              <a:solidFill>
                <a:srgbClr val="E2E8F0"/>
              </a:solidFill>
              <a:prstDash val="solid"/>
            </a:ln>
            <a:effectLst>
              <a:outerShdw blurRad="38100" dist="25400" dir="5400000" algn="bl" rotWithShape="0">
                <a:srgbClr val="000000">
                  <a:alpha val="5000"/>
                </a:srgbClr>
              </a:outerShdw>
            </a:effectLst>
          </p:spPr>
          <p:txBody>
            <a:bodyPr/>
            <a:lstStyle/>
            <a:p>
              <a:endParaRPr lang="ja-JP" altLang="en-US"/>
            </a:p>
          </p:txBody>
        </p:sp>
        <p:sp>
          <p:nvSpPr>
            <p:cNvPr id="28" name="Shape 24"/>
            <p:cNvSpPr/>
            <p:nvPr/>
          </p:nvSpPr>
          <p:spPr>
            <a:xfrm>
              <a:off x="847649" y="4976165"/>
              <a:ext cx="10496398" cy="19202"/>
            </a:xfrm>
            <a:prstGeom prst="rect">
              <a:avLst/>
            </a:prstGeom>
            <a:solidFill>
              <a:srgbClr val="F1F5F9"/>
            </a:solidFill>
            <a:ln/>
          </p:spPr>
          <p:txBody>
            <a:bodyPr/>
            <a:lstStyle/>
            <a:p>
              <a:endParaRPr lang="ja-JP" altLang="en-US"/>
            </a:p>
          </p:txBody>
        </p:sp>
        <p:sp>
          <p:nvSpPr>
            <p:cNvPr id="29" name="Shape 25"/>
            <p:cNvSpPr/>
            <p:nvPr/>
          </p:nvSpPr>
          <p:spPr>
            <a:xfrm>
              <a:off x="847649" y="4480560"/>
              <a:ext cx="381305" cy="381305"/>
            </a:xfrm>
            <a:prstGeom prst="roundRect">
              <a:avLst>
                <a:gd name="adj" fmla="val 47962"/>
              </a:avLst>
            </a:prstGeom>
            <a:solidFill>
              <a:srgbClr val="FFF7ED"/>
            </a:solidFill>
            <a:ln/>
          </p:spPr>
          <p:txBody>
            <a:bodyPr/>
            <a:lstStyle/>
            <a:p>
              <a:endParaRPr lang="ja-JP" altLang="en-US"/>
            </a:p>
          </p:txBody>
        </p:sp>
        <p:pic>
          <p:nvPicPr>
            <p:cNvPr id="30" name="Image 2" descr="preencoded.png"/>
            <p:cNvPicPr>
              <a:picLocks noChangeAspect="1"/>
            </p:cNvPicPr>
            <p:nvPr/>
          </p:nvPicPr>
          <p:blipFill>
            <a:blip r:embed="rId5"/>
            <a:srcRect l="-760" r="-760"/>
            <a:stretch/>
          </p:blipFill>
          <p:spPr>
            <a:xfrm>
              <a:off x="961949" y="4585716"/>
              <a:ext cx="152705" cy="171907"/>
            </a:xfrm>
            <a:prstGeom prst="rect">
              <a:avLst/>
            </a:prstGeom>
          </p:spPr>
        </p:pic>
        <p:sp>
          <p:nvSpPr>
            <p:cNvPr id="31" name="Text 26"/>
            <p:cNvSpPr txBox="1"/>
            <p:nvPr/>
          </p:nvSpPr>
          <p:spPr>
            <a:xfrm>
              <a:off x="1343254" y="4542739"/>
              <a:ext cx="3376879" cy="247802"/>
            </a:xfrm>
            <a:prstGeom prst="rect">
              <a:avLst/>
            </a:prstGeom>
            <a:noFill/>
            <a:ln/>
          </p:spPr>
          <p:txBody>
            <a:bodyPr wrap="square" lIns="0" tIns="0" rIns="0" bIns="0" rtlCol="0" anchor="ctr"/>
            <a:lstStyle/>
            <a:p>
              <a:pPr marL="0" indent="0" algn="l">
                <a:buNone/>
              </a:pPr>
              <a:r>
                <a:rPr lang="en-US" sz="1300" b="1" dirty="0">
                  <a:solidFill>
                    <a:srgbClr val="92400E"/>
                  </a:solidFill>
                  <a:latin typeface="Noto Sans JP" pitchFamily="34" charset="0"/>
                  <a:ea typeface="Noto Sans JP" pitchFamily="34" charset="-122"/>
                  <a:cs typeface="Noto Sans JP" pitchFamily="34" charset="-120"/>
                </a:rPr>
                <a:t>目指すべき定量的ゴール（ロードマップ）</a:t>
              </a:r>
              <a:endParaRPr lang="en-US" sz="1300" dirty="0"/>
            </a:p>
          </p:txBody>
        </p:sp>
        <p:sp>
          <p:nvSpPr>
            <p:cNvPr id="32" name="Shape 27"/>
            <p:cNvSpPr/>
            <p:nvPr/>
          </p:nvSpPr>
          <p:spPr>
            <a:xfrm>
              <a:off x="847649" y="5147158"/>
              <a:ext cx="2514600" cy="1162202"/>
            </a:xfrm>
            <a:prstGeom prst="roundRect">
              <a:avLst>
                <a:gd name="adj" fmla="val 5159"/>
              </a:avLst>
            </a:prstGeom>
            <a:solidFill>
              <a:srgbClr val="FFFCF5"/>
            </a:solidFill>
            <a:ln w="12700">
              <a:solidFill>
                <a:srgbClr val="FEF3C7"/>
              </a:solidFill>
              <a:prstDash val="solid"/>
            </a:ln>
          </p:spPr>
          <p:txBody>
            <a:bodyPr/>
            <a:lstStyle/>
            <a:p>
              <a:endParaRPr lang="ja-JP" altLang="en-US"/>
            </a:p>
          </p:txBody>
        </p:sp>
        <p:sp>
          <p:nvSpPr>
            <p:cNvPr id="33" name="Shape 28"/>
            <p:cNvSpPr/>
            <p:nvPr/>
          </p:nvSpPr>
          <p:spPr>
            <a:xfrm>
              <a:off x="1682496" y="5309006"/>
              <a:ext cx="847649" cy="200254"/>
            </a:xfrm>
            <a:prstGeom prst="roundRect">
              <a:avLst>
                <a:gd name="adj" fmla="val 217438"/>
              </a:avLst>
            </a:prstGeom>
            <a:solidFill>
              <a:srgbClr val="FEF3C7"/>
            </a:solidFill>
            <a:ln/>
          </p:spPr>
          <p:txBody>
            <a:bodyPr/>
            <a:lstStyle/>
            <a:p>
              <a:endParaRPr lang="ja-JP" altLang="en-US"/>
            </a:p>
          </p:txBody>
        </p:sp>
        <p:sp>
          <p:nvSpPr>
            <p:cNvPr id="34" name="Text 29"/>
            <p:cNvSpPr txBox="1"/>
            <p:nvPr/>
          </p:nvSpPr>
          <p:spPr>
            <a:xfrm>
              <a:off x="1758391" y="5328209"/>
              <a:ext cx="774497" cy="152705"/>
            </a:xfrm>
            <a:prstGeom prst="rect">
              <a:avLst/>
            </a:prstGeom>
            <a:noFill/>
            <a:ln/>
          </p:spPr>
          <p:txBody>
            <a:bodyPr wrap="square" lIns="0" tIns="0" rIns="0" bIns="0" rtlCol="0" anchor="ctr"/>
            <a:lstStyle/>
            <a:p>
              <a:pPr marL="0" indent="0" algn="ctr">
                <a:buNone/>
              </a:pPr>
              <a:r>
                <a:rPr lang="en-US" sz="800" b="1" dirty="0">
                  <a:solidFill>
                    <a:srgbClr val="D97706"/>
                  </a:solidFill>
                  <a:latin typeface="Noto Sans JP" pitchFamily="34" charset="0"/>
                  <a:ea typeface="Noto Sans JP" pitchFamily="34" charset="-122"/>
                  <a:cs typeface="Noto Sans JP" pitchFamily="34" charset="-120"/>
                </a:rPr>
                <a:t>短期目標 (1年)</a:t>
              </a:r>
              <a:endParaRPr lang="en-US" sz="800" dirty="0"/>
            </a:p>
          </p:txBody>
        </p:sp>
        <p:sp>
          <p:nvSpPr>
            <p:cNvPr id="35" name="Text 30"/>
            <p:cNvSpPr txBox="1"/>
            <p:nvPr/>
          </p:nvSpPr>
          <p:spPr>
            <a:xfrm>
              <a:off x="1850746" y="5580583"/>
              <a:ext cx="676656" cy="333756"/>
            </a:xfrm>
            <a:prstGeom prst="rect">
              <a:avLst/>
            </a:prstGeom>
            <a:noFill/>
            <a:ln/>
          </p:spPr>
          <p:txBody>
            <a:bodyPr wrap="square" lIns="0" tIns="0" rIns="0" bIns="0" rtlCol="0" anchor="ctr"/>
            <a:lstStyle/>
            <a:p>
              <a:pPr marL="0" indent="0" algn="ctr">
                <a:buNone/>
              </a:pPr>
              <a:r>
                <a:rPr lang="en-US" sz="1800" b="1" dirty="0">
                  <a:solidFill>
                    <a:srgbClr val="92400E"/>
                  </a:solidFill>
                  <a:latin typeface="Noto Sans JP" pitchFamily="34" charset="0"/>
                  <a:ea typeface="Noto Sans JP" pitchFamily="34" charset="-122"/>
                  <a:cs typeface="Noto Sans JP" pitchFamily="34" charset="-120"/>
                </a:rPr>
                <a:t>60%</a:t>
              </a:r>
              <a:endParaRPr lang="en-US" sz="1800" dirty="0"/>
            </a:p>
          </p:txBody>
        </p:sp>
        <p:sp>
          <p:nvSpPr>
            <p:cNvPr id="36" name="Text 31"/>
            <p:cNvSpPr txBox="1"/>
            <p:nvPr/>
          </p:nvSpPr>
          <p:spPr>
            <a:xfrm>
              <a:off x="1763878" y="5969203"/>
              <a:ext cx="771754" cy="162763"/>
            </a:xfrm>
            <a:prstGeom prst="rect">
              <a:avLst/>
            </a:prstGeom>
            <a:noFill/>
            <a:ln/>
          </p:spPr>
          <p:txBody>
            <a:bodyPr wrap="square" lIns="0" tIns="0" rIns="0" bIns="0" rtlCol="0" anchor="ctr"/>
            <a:lstStyle/>
            <a:p>
              <a:pPr marL="0" indent="0" algn="ctr">
                <a:buNone/>
              </a:pPr>
              <a:r>
                <a:rPr lang="en-US" sz="900" dirty="0">
                  <a:solidFill>
                    <a:srgbClr val="78350F"/>
                  </a:solidFill>
                  <a:latin typeface="Noto Sans JP" pitchFamily="34" charset="0"/>
                  <a:ea typeface="Noto Sans JP" pitchFamily="34" charset="-122"/>
                  <a:cs typeface="Noto Sans JP" pitchFamily="34" charset="-120"/>
                </a:rPr>
                <a:t>全社AI活用率</a:t>
              </a:r>
              <a:endParaRPr lang="en-US" sz="900" dirty="0"/>
            </a:p>
          </p:txBody>
        </p:sp>
        <p:sp>
          <p:nvSpPr>
            <p:cNvPr id="37" name="Shape 32"/>
            <p:cNvSpPr/>
            <p:nvPr/>
          </p:nvSpPr>
          <p:spPr>
            <a:xfrm>
              <a:off x="3510382" y="5147158"/>
              <a:ext cx="2514600" cy="1162202"/>
            </a:xfrm>
            <a:prstGeom prst="roundRect">
              <a:avLst>
                <a:gd name="adj" fmla="val 5159"/>
              </a:avLst>
            </a:prstGeom>
            <a:solidFill>
              <a:srgbClr val="FFFCF5"/>
            </a:solidFill>
            <a:ln w="12700">
              <a:solidFill>
                <a:srgbClr val="FEF3C7"/>
              </a:solidFill>
              <a:prstDash val="solid"/>
            </a:ln>
          </p:spPr>
          <p:txBody>
            <a:bodyPr/>
            <a:lstStyle/>
            <a:p>
              <a:endParaRPr lang="ja-JP" altLang="en-US"/>
            </a:p>
          </p:txBody>
        </p:sp>
        <p:sp>
          <p:nvSpPr>
            <p:cNvPr id="38" name="Shape 33"/>
            <p:cNvSpPr/>
            <p:nvPr/>
          </p:nvSpPr>
          <p:spPr>
            <a:xfrm>
              <a:off x="4344314" y="5309006"/>
              <a:ext cx="847649" cy="200254"/>
            </a:xfrm>
            <a:prstGeom prst="roundRect">
              <a:avLst>
                <a:gd name="adj" fmla="val 217438"/>
              </a:avLst>
            </a:prstGeom>
            <a:solidFill>
              <a:srgbClr val="FEF3C7"/>
            </a:solidFill>
            <a:ln/>
          </p:spPr>
          <p:txBody>
            <a:bodyPr/>
            <a:lstStyle/>
            <a:p>
              <a:endParaRPr lang="ja-JP" altLang="en-US"/>
            </a:p>
          </p:txBody>
        </p:sp>
        <p:sp>
          <p:nvSpPr>
            <p:cNvPr id="39" name="Text 34"/>
            <p:cNvSpPr txBox="1"/>
            <p:nvPr/>
          </p:nvSpPr>
          <p:spPr>
            <a:xfrm>
              <a:off x="4420210" y="5328209"/>
              <a:ext cx="774497" cy="152705"/>
            </a:xfrm>
            <a:prstGeom prst="rect">
              <a:avLst/>
            </a:prstGeom>
            <a:noFill/>
            <a:ln/>
          </p:spPr>
          <p:txBody>
            <a:bodyPr wrap="square" lIns="0" tIns="0" rIns="0" bIns="0" rtlCol="0" anchor="ctr"/>
            <a:lstStyle/>
            <a:p>
              <a:pPr marL="0" indent="0" algn="ctr">
                <a:buNone/>
              </a:pPr>
              <a:r>
                <a:rPr lang="en-US" sz="800" b="1" dirty="0">
                  <a:solidFill>
                    <a:srgbClr val="D97706"/>
                  </a:solidFill>
                  <a:latin typeface="Noto Sans JP" pitchFamily="34" charset="0"/>
                  <a:ea typeface="Noto Sans JP" pitchFamily="34" charset="-122"/>
                  <a:cs typeface="Noto Sans JP" pitchFamily="34" charset="-120"/>
                </a:rPr>
                <a:t>短期目標 (1年)</a:t>
              </a:r>
              <a:endParaRPr lang="en-US" sz="800" dirty="0"/>
            </a:p>
          </p:txBody>
        </p:sp>
        <p:sp>
          <p:nvSpPr>
            <p:cNvPr id="40" name="Text 35"/>
            <p:cNvSpPr txBox="1"/>
            <p:nvPr/>
          </p:nvSpPr>
          <p:spPr>
            <a:xfrm>
              <a:off x="4550054" y="5580583"/>
              <a:ext cx="609905" cy="333756"/>
            </a:xfrm>
            <a:prstGeom prst="rect">
              <a:avLst/>
            </a:prstGeom>
            <a:noFill/>
            <a:ln/>
          </p:spPr>
          <p:txBody>
            <a:bodyPr wrap="square" lIns="0" tIns="0" rIns="0" bIns="0" rtlCol="0" anchor="ctr"/>
            <a:lstStyle/>
            <a:p>
              <a:pPr marL="0" indent="0" algn="ctr">
                <a:buNone/>
              </a:pPr>
              <a:r>
                <a:rPr lang="en-US" sz="1800" b="1" dirty="0">
                  <a:solidFill>
                    <a:srgbClr val="92400E"/>
                  </a:solidFill>
                  <a:latin typeface="Noto Sans JP" pitchFamily="34" charset="0"/>
                  <a:ea typeface="Noto Sans JP" pitchFamily="34" charset="-122"/>
                  <a:cs typeface="Noto Sans JP" pitchFamily="34" charset="-120"/>
                </a:rPr>
                <a:t>10h</a:t>
              </a:r>
              <a:endParaRPr lang="en-US" sz="1800" dirty="0"/>
            </a:p>
          </p:txBody>
        </p:sp>
        <p:sp>
          <p:nvSpPr>
            <p:cNvPr id="41" name="Text 36"/>
            <p:cNvSpPr txBox="1"/>
            <p:nvPr/>
          </p:nvSpPr>
          <p:spPr>
            <a:xfrm>
              <a:off x="4456786" y="5969203"/>
              <a:ext cx="705002" cy="162763"/>
            </a:xfrm>
            <a:prstGeom prst="rect">
              <a:avLst/>
            </a:prstGeom>
            <a:noFill/>
            <a:ln/>
          </p:spPr>
          <p:txBody>
            <a:bodyPr wrap="square" lIns="0" tIns="0" rIns="0" bIns="0" rtlCol="0" anchor="ctr"/>
            <a:lstStyle/>
            <a:p>
              <a:pPr marL="0" indent="0" algn="ctr">
                <a:buNone/>
              </a:pPr>
              <a:r>
                <a:rPr lang="en-US" sz="900" dirty="0">
                  <a:solidFill>
                    <a:srgbClr val="78350F"/>
                  </a:solidFill>
                  <a:latin typeface="Noto Sans JP" pitchFamily="34" charset="0"/>
                  <a:ea typeface="Noto Sans JP" pitchFamily="34" charset="-122"/>
                  <a:cs typeface="Noto Sans JP" pitchFamily="34" charset="-120"/>
                </a:rPr>
                <a:t>月間削減/人</a:t>
              </a:r>
              <a:endParaRPr lang="en-US" sz="900" dirty="0"/>
            </a:p>
          </p:txBody>
        </p:sp>
        <p:sp>
          <p:nvSpPr>
            <p:cNvPr id="42" name="Shape 37"/>
            <p:cNvSpPr/>
            <p:nvPr/>
          </p:nvSpPr>
          <p:spPr>
            <a:xfrm>
              <a:off x="6172200" y="5147158"/>
              <a:ext cx="2514600" cy="1162202"/>
            </a:xfrm>
            <a:prstGeom prst="roundRect">
              <a:avLst>
                <a:gd name="adj" fmla="val 5159"/>
              </a:avLst>
            </a:prstGeom>
            <a:solidFill>
              <a:srgbClr val="FFFCF5"/>
            </a:solidFill>
            <a:ln w="12700">
              <a:solidFill>
                <a:srgbClr val="FEF3C7"/>
              </a:solidFill>
              <a:prstDash val="solid"/>
            </a:ln>
          </p:spPr>
          <p:txBody>
            <a:bodyPr/>
            <a:lstStyle/>
            <a:p>
              <a:endParaRPr lang="ja-JP" altLang="en-US"/>
            </a:p>
          </p:txBody>
        </p:sp>
        <p:sp>
          <p:nvSpPr>
            <p:cNvPr id="43" name="Shape 38"/>
            <p:cNvSpPr/>
            <p:nvPr/>
          </p:nvSpPr>
          <p:spPr>
            <a:xfrm>
              <a:off x="7006133" y="5309006"/>
              <a:ext cx="847649" cy="200254"/>
            </a:xfrm>
            <a:prstGeom prst="roundRect">
              <a:avLst>
                <a:gd name="adj" fmla="val 217438"/>
              </a:avLst>
            </a:prstGeom>
            <a:solidFill>
              <a:srgbClr val="FEF3C7"/>
            </a:solidFill>
            <a:ln/>
          </p:spPr>
          <p:txBody>
            <a:bodyPr/>
            <a:lstStyle/>
            <a:p>
              <a:endParaRPr lang="ja-JP" altLang="en-US"/>
            </a:p>
          </p:txBody>
        </p:sp>
        <p:sp>
          <p:nvSpPr>
            <p:cNvPr id="44" name="Text 39"/>
            <p:cNvSpPr txBox="1"/>
            <p:nvPr/>
          </p:nvSpPr>
          <p:spPr>
            <a:xfrm>
              <a:off x="7082942" y="5328209"/>
              <a:ext cx="774497" cy="152705"/>
            </a:xfrm>
            <a:prstGeom prst="rect">
              <a:avLst/>
            </a:prstGeom>
            <a:noFill/>
            <a:ln/>
          </p:spPr>
          <p:txBody>
            <a:bodyPr wrap="square" lIns="0" tIns="0" rIns="0" bIns="0" rtlCol="0" anchor="ctr"/>
            <a:lstStyle/>
            <a:p>
              <a:pPr marL="0" indent="0" algn="ctr">
                <a:buNone/>
              </a:pPr>
              <a:r>
                <a:rPr lang="en-US" sz="800" b="1" dirty="0">
                  <a:solidFill>
                    <a:srgbClr val="D97706"/>
                  </a:solidFill>
                  <a:latin typeface="Noto Sans JP" pitchFamily="34" charset="0"/>
                  <a:ea typeface="Noto Sans JP" pitchFamily="34" charset="-122"/>
                  <a:cs typeface="Noto Sans JP" pitchFamily="34" charset="-120"/>
                </a:rPr>
                <a:t>短期目標 (1年)</a:t>
              </a:r>
              <a:endParaRPr lang="en-US" sz="800" dirty="0"/>
            </a:p>
          </p:txBody>
        </p:sp>
        <p:sp>
          <p:nvSpPr>
            <p:cNvPr id="45" name="Text 40"/>
            <p:cNvSpPr txBox="1"/>
            <p:nvPr/>
          </p:nvSpPr>
          <p:spPr>
            <a:xfrm>
              <a:off x="7060082" y="5580583"/>
              <a:ext cx="914400" cy="333756"/>
            </a:xfrm>
            <a:prstGeom prst="rect">
              <a:avLst/>
            </a:prstGeom>
            <a:noFill/>
            <a:ln/>
          </p:spPr>
          <p:txBody>
            <a:bodyPr wrap="square" lIns="0" tIns="0" rIns="0" bIns="0" rtlCol="0" anchor="ctr"/>
            <a:lstStyle/>
            <a:p>
              <a:pPr marL="0" indent="0" algn="ctr">
                <a:buNone/>
              </a:pPr>
              <a:r>
                <a:rPr lang="en-US" sz="1800" b="1" dirty="0">
                  <a:solidFill>
                    <a:srgbClr val="92400E"/>
                  </a:solidFill>
                  <a:latin typeface="Noto Sans JP" pitchFamily="34" charset="0"/>
                  <a:ea typeface="Noto Sans JP" pitchFamily="34" charset="-122"/>
                  <a:cs typeface="Noto Sans JP" pitchFamily="34" charset="-120"/>
                </a:rPr>
                <a:t>5-10件</a:t>
              </a:r>
              <a:endParaRPr lang="en-US" sz="1800" dirty="0"/>
            </a:p>
          </p:txBody>
        </p:sp>
        <p:sp>
          <p:nvSpPr>
            <p:cNvPr id="46" name="Text 41"/>
            <p:cNvSpPr txBox="1"/>
            <p:nvPr/>
          </p:nvSpPr>
          <p:spPr>
            <a:xfrm>
              <a:off x="6861658" y="5969203"/>
              <a:ext cx="1219810" cy="162763"/>
            </a:xfrm>
            <a:prstGeom prst="rect">
              <a:avLst/>
            </a:prstGeom>
            <a:noFill/>
            <a:ln/>
          </p:spPr>
          <p:txBody>
            <a:bodyPr wrap="square" lIns="0" tIns="0" rIns="0" bIns="0" rtlCol="0" anchor="ctr"/>
            <a:lstStyle/>
            <a:p>
              <a:pPr marL="0" indent="0" algn="ctr">
                <a:buNone/>
              </a:pPr>
              <a:r>
                <a:rPr lang="en-US" sz="900" dirty="0">
                  <a:solidFill>
                    <a:srgbClr val="78350F"/>
                  </a:solidFill>
                  <a:latin typeface="Noto Sans JP" pitchFamily="34" charset="0"/>
                  <a:ea typeface="Noto Sans JP" pitchFamily="34" charset="-122"/>
                  <a:cs typeface="Noto Sans JP" pitchFamily="34" charset="-120"/>
                </a:rPr>
                <a:t>事業部別ユースケース</a:t>
              </a:r>
              <a:endParaRPr lang="en-US" sz="900" dirty="0"/>
            </a:p>
          </p:txBody>
        </p:sp>
        <p:sp>
          <p:nvSpPr>
            <p:cNvPr id="47" name="Shape 42"/>
            <p:cNvSpPr/>
            <p:nvPr/>
          </p:nvSpPr>
          <p:spPr>
            <a:xfrm>
              <a:off x="8834018" y="5147158"/>
              <a:ext cx="2514600" cy="1162202"/>
            </a:xfrm>
            <a:prstGeom prst="roundRect">
              <a:avLst>
                <a:gd name="adj" fmla="val 5159"/>
              </a:avLst>
            </a:prstGeom>
            <a:solidFill>
              <a:srgbClr val="FFFCF5"/>
            </a:solidFill>
            <a:ln w="12700">
              <a:solidFill>
                <a:srgbClr val="FEF3C7"/>
              </a:solidFill>
              <a:prstDash val="solid"/>
            </a:ln>
          </p:spPr>
          <p:txBody>
            <a:bodyPr/>
            <a:lstStyle/>
            <a:p>
              <a:endParaRPr lang="ja-JP" altLang="en-US"/>
            </a:p>
          </p:txBody>
        </p:sp>
        <p:sp>
          <p:nvSpPr>
            <p:cNvPr id="48" name="Shape 43"/>
            <p:cNvSpPr/>
            <p:nvPr/>
          </p:nvSpPr>
          <p:spPr>
            <a:xfrm>
              <a:off x="9668866" y="5309006"/>
              <a:ext cx="847649" cy="200254"/>
            </a:xfrm>
            <a:prstGeom prst="roundRect">
              <a:avLst>
                <a:gd name="adj" fmla="val 217438"/>
              </a:avLst>
            </a:prstGeom>
            <a:solidFill>
              <a:srgbClr val="FEF3C7"/>
            </a:solidFill>
            <a:ln/>
          </p:spPr>
          <p:txBody>
            <a:bodyPr/>
            <a:lstStyle/>
            <a:p>
              <a:endParaRPr lang="ja-JP" altLang="en-US"/>
            </a:p>
          </p:txBody>
        </p:sp>
        <p:sp>
          <p:nvSpPr>
            <p:cNvPr id="49" name="Text 44"/>
            <p:cNvSpPr txBox="1"/>
            <p:nvPr/>
          </p:nvSpPr>
          <p:spPr>
            <a:xfrm>
              <a:off x="9744761" y="5328209"/>
              <a:ext cx="774497" cy="152705"/>
            </a:xfrm>
            <a:prstGeom prst="rect">
              <a:avLst/>
            </a:prstGeom>
            <a:noFill/>
            <a:ln/>
          </p:spPr>
          <p:txBody>
            <a:bodyPr wrap="square" lIns="0" tIns="0" rIns="0" bIns="0" rtlCol="0" anchor="ctr"/>
            <a:lstStyle/>
            <a:p>
              <a:pPr marL="0" indent="0" algn="ctr">
                <a:buNone/>
              </a:pPr>
              <a:r>
                <a:rPr lang="en-US" sz="800" b="1" dirty="0">
                  <a:solidFill>
                    <a:srgbClr val="D97706"/>
                  </a:solidFill>
                  <a:latin typeface="Noto Sans JP" pitchFamily="34" charset="0"/>
                  <a:ea typeface="Noto Sans JP" pitchFamily="34" charset="-122"/>
                  <a:cs typeface="Noto Sans JP" pitchFamily="34" charset="-120"/>
                </a:rPr>
                <a:t>中期目標 (3年)</a:t>
              </a:r>
              <a:endParaRPr lang="en-US" sz="800" dirty="0"/>
            </a:p>
          </p:txBody>
        </p:sp>
        <p:sp>
          <p:nvSpPr>
            <p:cNvPr id="50" name="Text 45"/>
            <p:cNvSpPr txBox="1"/>
            <p:nvPr/>
          </p:nvSpPr>
          <p:spPr>
            <a:xfrm>
              <a:off x="9837115" y="5580583"/>
              <a:ext cx="676656" cy="333756"/>
            </a:xfrm>
            <a:prstGeom prst="rect">
              <a:avLst/>
            </a:prstGeom>
            <a:noFill/>
            <a:ln/>
          </p:spPr>
          <p:txBody>
            <a:bodyPr wrap="square" lIns="0" tIns="0" rIns="0" bIns="0" rtlCol="0" anchor="ctr"/>
            <a:lstStyle/>
            <a:p>
              <a:pPr marL="0" indent="0" algn="ctr">
                <a:buNone/>
              </a:pPr>
              <a:r>
                <a:rPr lang="en-US" sz="1800" b="1" dirty="0">
                  <a:solidFill>
                    <a:srgbClr val="92400E"/>
                  </a:solidFill>
                  <a:latin typeface="Noto Sans JP" pitchFamily="34" charset="0"/>
                  <a:ea typeface="Noto Sans JP" pitchFamily="34" charset="-122"/>
                  <a:cs typeface="Noto Sans JP" pitchFamily="34" charset="-120"/>
                </a:rPr>
                <a:t>87%</a:t>
              </a:r>
              <a:endParaRPr lang="en-US" sz="1800" dirty="0"/>
            </a:p>
          </p:txBody>
        </p:sp>
        <p:sp>
          <p:nvSpPr>
            <p:cNvPr id="51" name="Text 46"/>
            <p:cNvSpPr txBox="1"/>
            <p:nvPr/>
          </p:nvSpPr>
          <p:spPr>
            <a:xfrm>
              <a:off x="9517990" y="5969203"/>
              <a:ext cx="1239012" cy="162763"/>
            </a:xfrm>
            <a:prstGeom prst="rect">
              <a:avLst/>
            </a:prstGeom>
            <a:noFill/>
            <a:ln/>
          </p:spPr>
          <p:txBody>
            <a:bodyPr wrap="square" lIns="0" tIns="0" rIns="0" bIns="0" rtlCol="0" anchor="ctr"/>
            <a:lstStyle/>
            <a:p>
              <a:pPr marL="0" indent="0" algn="ctr">
                <a:buNone/>
              </a:pPr>
              <a:r>
                <a:rPr lang="en-US" sz="900" dirty="0">
                  <a:solidFill>
                    <a:srgbClr val="78350F"/>
                  </a:solidFill>
                  <a:latin typeface="Noto Sans JP" pitchFamily="34" charset="0"/>
                  <a:ea typeface="Noto Sans JP" pitchFamily="34" charset="-122"/>
                  <a:cs typeface="Noto Sans JP" pitchFamily="34" charset="-120"/>
                </a:rPr>
                <a:t>製造業水準超の活用率</a:t>
              </a:r>
              <a:endParaRPr lang="en-US" sz="900" dirty="0"/>
            </a:p>
          </p:txBody>
        </p:sp>
        <p:sp>
          <p:nvSpPr>
            <p:cNvPr id="52" name="Shape 47"/>
            <p:cNvSpPr/>
            <p:nvPr/>
          </p:nvSpPr>
          <p:spPr>
            <a:xfrm>
              <a:off x="847649" y="6531559"/>
              <a:ext cx="10496398" cy="418795"/>
            </a:xfrm>
            <a:prstGeom prst="roundRect">
              <a:avLst>
                <a:gd name="adj" fmla="val 39698"/>
              </a:avLst>
            </a:prstGeom>
            <a:solidFill>
              <a:srgbClr val="F3F4F6"/>
            </a:solidFill>
            <a:ln/>
          </p:spPr>
          <p:txBody>
            <a:bodyPr/>
            <a:lstStyle/>
            <a:p>
              <a:endParaRPr lang="ja-JP" altLang="en-US"/>
            </a:p>
          </p:txBody>
        </p:sp>
        <p:sp>
          <p:nvSpPr>
            <p:cNvPr id="53" name="Text 48"/>
            <p:cNvSpPr txBox="1"/>
            <p:nvPr/>
          </p:nvSpPr>
          <p:spPr>
            <a:xfrm>
              <a:off x="2443782" y="6645859"/>
              <a:ext cx="7300979" cy="196574"/>
            </a:xfrm>
            <a:prstGeom prst="rect">
              <a:avLst/>
            </a:prstGeom>
            <a:noFill/>
            <a:ln/>
          </p:spPr>
          <p:txBody>
            <a:bodyPr wrap="square" lIns="0" tIns="0" rIns="0" bIns="0" rtlCol="0" anchor="ctr"/>
            <a:lstStyle/>
            <a:p>
              <a:pPr marL="0" indent="0" algn="ctr">
                <a:buNone/>
              </a:pPr>
              <a:r>
                <a:rPr lang="en-US" sz="1100" b="1" dirty="0">
                  <a:solidFill>
                    <a:srgbClr val="374151"/>
                  </a:solidFill>
                  <a:latin typeface="Noto Sans JP" pitchFamily="34" charset="0"/>
                  <a:ea typeface="Noto Sans JP" pitchFamily="34" charset="-122"/>
                  <a:cs typeface="Noto Sans JP" pitchFamily="34" charset="-120"/>
                </a:rPr>
                <a:t>既存の「物流効率2-3倍」の実績をベースに、生成AIによるさらなる生産性向上（ダブルの変革）を実現する</a:t>
              </a:r>
              <a:endParaRPr lang="en-US" sz="1100" b="1" dirty="0"/>
            </a:p>
          </p:txBody>
        </p:sp>
      </p:grpSp>
      <p:sp>
        <p:nvSpPr>
          <p:cNvPr id="54" name="Text 49"/>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29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181405"/>
          </a:xfrm>
          <a:prstGeom prst="rect">
            <a:avLst/>
          </a:prstGeom>
          <a:solidFill>
            <a:srgbClr val="FFFFFF"/>
          </a:solidFill>
          <a:ln/>
        </p:spPr>
        <p:txBody>
          <a:bodyPr/>
          <a:lstStyle/>
          <a:p>
            <a:endParaRPr lang="ja-JP" altLang="en-US"/>
          </a:p>
        </p:txBody>
      </p:sp>
      <p:sp>
        <p:nvSpPr>
          <p:cNvPr id="5" name="Shape 3"/>
          <p:cNvSpPr/>
          <p:nvPr/>
        </p:nvSpPr>
        <p:spPr>
          <a:xfrm>
            <a:off x="0" y="1172261"/>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267005"/>
            <a:ext cx="6896405" cy="438912"/>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ユースケースのベストプラクティスと横展開手順</a:t>
            </a:r>
            <a:endParaRPr lang="en-US" sz="2400" dirty="0"/>
          </a:p>
        </p:txBody>
      </p:sp>
      <p:sp>
        <p:nvSpPr>
          <p:cNvPr id="7" name="Text 5"/>
          <p:cNvSpPr txBox="1"/>
          <p:nvPr/>
        </p:nvSpPr>
        <p:spPr>
          <a:xfrm>
            <a:off x="609905" y="747065"/>
            <a:ext cx="3477463" cy="228600"/>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成功事例の創出から全社展開までの標準プロセス</a:t>
            </a:r>
            <a:endParaRPr lang="en-US" sz="1200" dirty="0"/>
          </a:p>
        </p:txBody>
      </p:sp>
      <p:sp>
        <p:nvSpPr>
          <p:cNvPr id="8" name="Shape 6"/>
          <p:cNvSpPr/>
          <p:nvPr/>
        </p:nvSpPr>
        <p:spPr>
          <a:xfrm>
            <a:off x="9890150" y="661111"/>
            <a:ext cx="1695298" cy="314554"/>
          </a:xfrm>
          <a:prstGeom prst="roundRect">
            <a:avLst>
              <a:gd name="adj" fmla="val 176180"/>
            </a:avLst>
          </a:prstGeom>
          <a:solidFill>
            <a:srgbClr val="059669"/>
          </a:solidFill>
          <a:ln/>
        </p:spPr>
        <p:txBody>
          <a:bodyPr/>
          <a:lstStyle/>
          <a:p>
            <a:endParaRPr lang="ja-JP" altLang="en-US"/>
          </a:p>
        </p:txBody>
      </p:sp>
      <p:sp>
        <p:nvSpPr>
          <p:cNvPr id="9" name="Text 7"/>
          <p:cNvSpPr txBox="1"/>
          <p:nvPr/>
        </p:nvSpPr>
        <p:spPr>
          <a:xfrm>
            <a:off x="10042855" y="717804"/>
            <a:ext cx="1491386" cy="191110"/>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JP" pitchFamily="34" charset="0"/>
                <a:ea typeface="Noto Sans JP" pitchFamily="34" charset="-122"/>
                <a:cs typeface="Noto Sans JP" pitchFamily="34" charset="-120"/>
              </a:rPr>
              <a:t>Best Practice Guide</a:t>
            </a:r>
            <a:endParaRPr lang="en-US" sz="1000" dirty="0"/>
          </a:p>
        </p:txBody>
      </p:sp>
      <p:sp>
        <p:nvSpPr>
          <p:cNvPr id="10" name="Shape 8"/>
          <p:cNvSpPr/>
          <p:nvPr/>
        </p:nvSpPr>
        <p:spPr>
          <a:xfrm>
            <a:off x="0" y="1175004"/>
            <a:ext cx="12191695" cy="6610198"/>
          </a:xfrm>
          <a:prstGeom prst="rect">
            <a:avLst/>
          </a:prstGeom>
          <a:solidFill>
            <a:srgbClr val="F8FAFC"/>
          </a:solidFill>
          <a:ln/>
        </p:spPr>
        <p:txBody>
          <a:bodyPr/>
          <a:lstStyle/>
          <a:p>
            <a:endParaRPr lang="ja-JP" altLang="en-US"/>
          </a:p>
        </p:txBody>
      </p:sp>
      <p:sp>
        <p:nvSpPr>
          <p:cNvPr id="11" name="Shape 9"/>
          <p:cNvSpPr/>
          <p:nvPr/>
        </p:nvSpPr>
        <p:spPr>
          <a:xfrm>
            <a:off x="609905" y="1813255"/>
            <a:ext cx="5048402" cy="19202"/>
          </a:xfrm>
          <a:prstGeom prst="rect">
            <a:avLst/>
          </a:prstGeom>
          <a:solidFill>
            <a:srgbClr val="A7F3D0"/>
          </a:solidFill>
          <a:ln/>
        </p:spPr>
        <p:txBody>
          <a:bodyPr/>
          <a:lstStyle/>
          <a:p>
            <a:endParaRPr lang="ja-JP" altLang="en-US"/>
          </a:p>
        </p:txBody>
      </p:sp>
      <p:pic>
        <p:nvPicPr>
          <p:cNvPr id="12" name="Image 0" descr="preencoded.png"/>
          <p:cNvPicPr>
            <a:picLocks noChangeAspect="1"/>
          </p:cNvPicPr>
          <p:nvPr/>
        </p:nvPicPr>
        <p:blipFill>
          <a:blip r:embed="rId3"/>
          <a:srcRect/>
          <a:stretch/>
        </p:blipFill>
        <p:spPr>
          <a:xfrm>
            <a:off x="609905" y="1523390"/>
            <a:ext cx="171907" cy="171907"/>
          </a:xfrm>
          <a:prstGeom prst="rect">
            <a:avLst/>
          </a:prstGeom>
        </p:spPr>
      </p:pic>
      <p:sp>
        <p:nvSpPr>
          <p:cNvPr id="13" name="Text 10"/>
          <p:cNvSpPr txBox="1"/>
          <p:nvPr/>
        </p:nvSpPr>
        <p:spPr>
          <a:xfrm>
            <a:off x="857707" y="1480414"/>
            <a:ext cx="1605686" cy="257861"/>
          </a:xfrm>
          <a:prstGeom prst="rect">
            <a:avLst/>
          </a:prstGeom>
          <a:noFill/>
          <a:ln/>
        </p:spPr>
        <p:txBody>
          <a:bodyPr wrap="square" lIns="0" tIns="0" rIns="0" bIns="0" rtlCol="0" anchor="ctr"/>
          <a:lstStyle/>
          <a:p>
            <a:pPr marL="0" indent="0" algn="l">
              <a:buNone/>
            </a:pPr>
            <a:r>
              <a:rPr lang="en-US" sz="1300" b="1" dirty="0">
                <a:solidFill>
                  <a:srgbClr val="065F46"/>
                </a:solidFill>
                <a:latin typeface="Noto Sans JP" pitchFamily="34" charset="0"/>
                <a:ea typeface="Noto Sans JP" pitchFamily="34" charset="-122"/>
                <a:cs typeface="Noto Sans JP" pitchFamily="34" charset="-120"/>
              </a:rPr>
              <a:t>横展開の5ステップ</a:t>
            </a:r>
            <a:endParaRPr lang="en-US" sz="1300" dirty="0"/>
          </a:p>
        </p:txBody>
      </p:sp>
      <p:sp>
        <p:nvSpPr>
          <p:cNvPr id="14" name="Shape 11"/>
          <p:cNvSpPr/>
          <p:nvPr/>
        </p:nvSpPr>
        <p:spPr>
          <a:xfrm>
            <a:off x="838505" y="2213762"/>
            <a:ext cx="19202" cy="3800246"/>
          </a:xfrm>
          <a:prstGeom prst="rect">
            <a:avLst/>
          </a:prstGeom>
          <a:solidFill>
            <a:srgbClr val="D1FAE5"/>
          </a:solidFill>
          <a:ln/>
        </p:spPr>
        <p:txBody>
          <a:bodyPr/>
          <a:lstStyle/>
          <a:p>
            <a:endParaRPr lang="ja-JP" altLang="en-US"/>
          </a:p>
        </p:txBody>
      </p:sp>
      <p:pic>
        <p:nvPicPr>
          <p:cNvPr id="15" name="Image 1" descr="preencoded.png"/>
          <p:cNvPicPr>
            <a:picLocks noChangeAspect="1"/>
          </p:cNvPicPr>
          <p:nvPr/>
        </p:nvPicPr>
        <p:blipFill>
          <a:blip r:embed="rId4"/>
          <a:srcRect/>
          <a:stretch/>
        </p:blipFill>
        <p:spPr>
          <a:xfrm>
            <a:off x="3065069" y="2916022"/>
            <a:ext cx="133502" cy="133502"/>
          </a:xfrm>
          <a:prstGeom prst="rect">
            <a:avLst/>
          </a:prstGeom>
        </p:spPr>
      </p:pic>
      <p:pic>
        <p:nvPicPr>
          <p:cNvPr id="16" name="Image 2" descr="preencoded.png"/>
          <p:cNvPicPr>
            <a:picLocks noChangeAspect="1"/>
          </p:cNvPicPr>
          <p:nvPr/>
        </p:nvPicPr>
        <p:blipFill>
          <a:blip r:embed="rId4"/>
          <a:srcRect/>
          <a:stretch/>
        </p:blipFill>
        <p:spPr>
          <a:xfrm>
            <a:off x="3065069" y="4049878"/>
            <a:ext cx="133502" cy="133502"/>
          </a:xfrm>
          <a:prstGeom prst="rect">
            <a:avLst/>
          </a:prstGeom>
        </p:spPr>
      </p:pic>
      <p:pic>
        <p:nvPicPr>
          <p:cNvPr id="17" name="Image 3" descr="preencoded.png"/>
          <p:cNvPicPr>
            <a:picLocks noChangeAspect="1"/>
          </p:cNvPicPr>
          <p:nvPr/>
        </p:nvPicPr>
        <p:blipFill>
          <a:blip r:embed="rId4"/>
          <a:srcRect/>
          <a:stretch/>
        </p:blipFill>
        <p:spPr>
          <a:xfrm>
            <a:off x="3065069" y="5182819"/>
            <a:ext cx="133502" cy="133502"/>
          </a:xfrm>
          <a:prstGeom prst="rect">
            <a:avLst/>
          </a:prstGeom>
        </p:spPr>
      </p:pic>
      <p:sp>
        <p:nvSpPr>
          <p:cNvPr id="18" name="Shape 12"/>
          <p:cNvSpPr/>
          <p:nvPr/>
        </p:nvSpPr>
        <p:spPr>
          <a:xfrm>
            <a:off x="6034126" y="1480414"/>
            <a:ext cx="5553151" cy="1723644"/>
          </a:xfrm>
          <a:prstGeom prst="roundRect">
            <a:avLst>
              <a:gd name="adj" fmla="val 4690"/>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19" name="Shape 13"/>
          <p:cNvSpPr/>
          <p:nvPr/>
        </p:nvSpPr>
        <p:spPr>
          <a:xfrm>
            <a:off x="6272784" y="1718158"/>
            <a:ext cx="304495" cy="304495"/>
          </a:xfrm>
          <a:prstGeom prst="roundRect">
            <a:avLst>
              <a:gd name="adj" fmla="val 56306"/>
            </a:avLst>
          </a:prstGeom>
          <a:solidFill>
            <a:srgbClr val="DBEAFE"/>
          </a:solidFill>
          <a:ln/>
        </p:spPr>
        <p:txBody>
          <a:bodyPr/>
          <a:lstStyle/>
          <a:p>
            <a:endParaRPr lang="ja-JP" altLang="en-US"/>
          </a:p>
        </p:txBody>
      </p:sp>
      <p:pic>
        <p:nvPicPr>
          <p:cNvPr id="20" name="Image 4" descr="preencoded.png"/>
          <p:cNvPicPr>
            <a:picLocks noChangeAspect="1"/>
          </p:cNvPicPr>
          <p:nvPr/>
        </p:nvPicPr>
        <p:blipFill>
          <a:blip r:embed="rId5"/>
          <a:srcRect l="-33" r="-33"/>
          <a:stretch/>
        </p:blipFill>
        <p:spPr>
          <a:xfrm>
            <a:off x="6339535" y="1794967"/>
            <a:ext cx="171907" cy="152705"/>
          </a:xfrm>
          <a:prstGeom prst="rect">
            <a:avLst/>
          </a:prstGeom>
        </p:spPr>
      </p:pic>
      <p:sp>
        <p:nvSpPr>
          <p:cNvPr id="21" name="Text 14"/>
          <p:cNvSpPr txBox="1"/>
          <p:nvPr/>
        </p:nvSpPr>
        <p:spPr>
          <a:xfrm>
            <a:off x="6672377" y="1756562"/>
            <a:ext cx="2248510"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良いベストプラクティスの条件</a:t>
            </a:r>
            <a:endParaRPr lang="en-US" sz="1200" dirty="0"/>
          </a:p>
        </p:txBody>
      </p:sp>
      <p:sp>
        <p:nvSpPr>
          <p:cNvPr id="22" name="Shape 15"/>
          <p:cNvSpPr/>
          <p:nvPr/>
        </p:nvSpPr>
        <p:spPr>
          <a:xfrm>
            <a:off x="6272784" y="2175358"/>
            <a:ext cx="2486254" cy="342900"/>
          </a:xfrm>
          <a:prstGeom prst="roundRect">
            <a:avLst>
              <a:gd name="adj" fmla="val 44444"/>
            </a:avLst>
          </a:prstGeom>
          <a:solidFill>
            <a:srgbClr val="F8FAFC"/>
          </a:solidFill>
          <a:ln/>
        </p:spPr>
        <p:txBody>
          <a:bodyPr/>
          <a:lstStyle/>
          <a:p>
            <a:endParaRPr lang="ja-JP" altLang="en-US"/>
          </a:p>
        </p:txBody>
      </p:sp>
      <p:pic>
        <p:nvPicPr>
          <p:cNvPr id="23" name="Image 5" descr="preencoded.png"/>
          <p:cNvPicPr>
            <a:picLocks noChangeAspect="1"/>
          </p:cNvPicPr>
          <p:nvPr/>
        </p:nvPicPr>
        <p:blipFill>
          <a:blip r:embed="rId6"/>
          <a:srcRect/>
          <a:stretch/>
        </p:blipFill>
        <p:spPr>
          <a:xfrm>
            <a:off x="6387084" y="2277770"/>
            <a:ext cx="133502" cy="133502"/>
          </a:xfrm>
          <a:prstGeom prst="rect">
            <a:avLst/>
          </a:prstGeom>
        </p:spPr>
      </p:pic>
      <p:sp>
        <p:nvSpPr>
          <p:cNvPr id="24" name="Text 16"/>
          <p:cNvSpPr txBox="1"/>
          <p:nvPr/>
        </p:nvSpPr>
        <p:spPr>
          <a:xfrm>
            <a:off x="6596482" y="2252167"/>
            <a:ext cx="1207922"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効果が定量的である</a:t>
            </a:r>
            <a:endParaRPr lang="en-US" sz="900" dirty="0"/>
          </a:p>
        </p:txBody>
      </p:sp>
      <p:sp>
        <p:nvSpPr>
          <p:cNvPr id="25" name="Shape 17"/>
          <p:cNvSpPr/>
          <p:nvPr/>
        </p:nvSpPr>
        <p:spPr>
          <a:xfrm>
            <a:off x="8865108" y="2175358"/>
            <a:ext cx="2486254" cy="342900"/>
          </a:xfrm>
          <a:prstGeom prst="roundRect">
            <a:avLst>
              <a:gd name="adj" fmla="val 44444"/>
            </a:avLst>
          </a:prstGeom>
          <a:solidFill>
            <a:srgbClr val="F8FAFC"/>
          </a:solidFill>
          <a:ln/>
        </p:spPr>
        <p:txBody>
          <a:bodyPr/>
          <a:lstStyle/>
          <a:p>
            <a:endParaRPr lang="ja-JP" altLang="en-US"/>
          </a:p>
        </p:txBody>
      </p:sp>
      <p:pic>
        <p:nvPicPr>
          <p:cNvPr id="26" name="Image 6" descr="preencoded.png"/>
          <p:cNvPicPr>
            <a:picLocks noChangeAspect="1"/>
          </p:cNvPicPr>
          <p:nvPr/>
        </p:nvPicPr>
        <p:blipFill>
          <a:blip r:embed="rId6"/>
          <a:srcRect/>
          <a:stretch/>
        </p:blipFill>
        <p:spPr>
          <a:xfrm>
            <a:off x="8979408" y="2277770"/>
            <a:ext cx="133502" cy="133502"/>
          </a:xfrm>
          <a:prstGeom prst="rect">
            <a:avLst/>
          </a:prstGeom>
        </p:spPr>
      </p:pic>
      <p:sp>
        <p:nvSpPr>
          <p:cNvPr id="27" name="Text 18"/>
          <p:cNvSpPr txBox="1"/>
          <p:nvPr/>
        </p:nvSpPr>
        <p:spPr>
          <a:xfrm>
            <a:off x="9189720" y="2252167"/>
            <a:ext cx="1217066"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他部署でも応用可能</a:t>
            </a:r>
            <a:endParaRPr lang="en-US" sz="900" dirty="0"/>
          </a:p>
        </p:txBody>
      </p:sp>
      <p:sp>
        <p:nvSpPr>
          <p:cNvPr id="28" name="Shape 19"/>
          <p:cNvSpPr/>
          <p:nvPr/>
        </p:nvSpPr>
        <p:spPr>
          <a:xfrm>
            <a:off x="6272784" y="2627986"/>
            <a:ext cx="2486254" cy="342900"/>
          </a:xfrm>
          <a:prstGeom prst="roundRect">
            <a:avLst>
              <a:gd name="adj" fmla="val 44444"/>
            </a:avLst>
          </a:prstGeom>
          <a:solidFill>
            <a:srgbClr val="F8FAFC"/>
          </a:solidFill>
          <a:ln/>
        </p:spPr>
        <p:txBody>
          <a:bodyPr/>
          <a:lstStyle/>
          <a:p>
            <a:endParaRPr lang="ja-JP" altLang="en-US"/>
          </a:p>
        </p:txBody>
      </p:sp>
      <p:pic>
        <p:nvPicPr>
          <p:cNvPr id="29" name="Image 7" descr="preencoded.png"/>
          <p:cNvPicPr>
            <a:picLocks noChangeAspect="1"/>
          </p:cNvPicPr>
          <p:nvPr/>
        </p:nvPicPr>
        <p:blipFill>
          <a:blip r:embed="rId6"/>
          <a:srcRect/>
          <a:stretch/>
        </p:blipFill>
        <p:spPr>
          <a:xfrm>
            <a:off x="6387084" y="2730398"/>
            <a:ext cx="133502" cy="133502"/>
          </a:xfrm>
          <a:prstGeom prst="rect">
            <a:avLst/>
          </a:prstGeom>
        </p:spPr>
      </p:pic>
      <p:sp>
        <p:nvSpPr>
          <p:cNvPr id="30" name="Text 20"/>
          <p:cNvSpPr txBox="1"/>
          <p:nvPr/>
        </p:nvSpPr>
        <p:spPr>
          <a:xfrm>
            <a:off x="6596482" y="2703881"/>
            <a:ext cx="960120"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手順がシンプル</a:t>
            </a:r>
            <a:endParaRPr lang="en-US" sz="900" dirty="0"/>
          </a:p>
        </p:txBody>
      </p:sp>
      <p:sp>
        <p:nvSpPr>
          <p:cNvPr id="31" name="Shape 21"/>
          <p:cNvSpPr/>
          <p:nvPr/>
        </p:nvSpPr>
        <p:spPr>
          <a:xfrm>
            <a:off x="8865108" y="2627986"/>
            <a:ext cx="2486254" cy="342900"/>
          </a:xfrm>
          <a:prstGeom prst="roundRect">
            <a:avLst>
              <a:gd name="adj" fmla="val 44444"/>
            </a:avLst>
          </a:prstGeom>
          <a:solidFill>
            <a:srgbClr val="F8FAFC"/>
          </a:solidFill>
          <a:ln/>
        </p:spPr>
        <p:txBody>
          <a:bodyPr/>
          <a:lstStyle/>
          <a:p>
            <a:endParaRPr lang="ja-JP" altLang="en-US"/>
          </a:p>
        </p:txBody>
      </p:sp>
      <p:pic>
        <p:nvPicPr>
          <p:cNvPr id="32" name="Image 8" descr="preencoded.png"/>
          <p:cNvPicPr>
            <a:picLocks noChangeAspect="1"/>
          </p:cNvPicPr>
          <p:nvPr/>
        </p:nvPicPr>
        <p:blipFill>
          <a:blip r:embed="rId6"/>
          <a:srcRect/>
          <a:stretch/>
        </p:blipFill>
        <p:spPr>
          <a:xfrm>
            <a:off x="8979408" y="2730398"/>
            <a:ext cx="133502" cy="133502"/>
          </a:xfrm>
          <a:prstGeom prst="rect">
            <a:avLst/>
          </a:prstGeom>
        </p:spPr>
      </p:pic>
      <p:sp>
        <p:nvSpPr>
          <p:cNvPr id="33" name="Text 22"/>
          <p:cNvSpPr txBox="1"/>
          <p:nvPr/>
        </p:nvSpPr>
        <p:spPr>
          <a:xfrm>
            <a:off x="9189720" y="2703881"/>
            <a:ext cx="1093622"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リスクが制御済み</a:t>
            </a:r>
            <a:endParaRPr lang="en-US" sz="900" dirty="0"/>
          </a:p>
        </p:txBody>
      </p:sp>
      <p:sp>
        <p:nvSpPr>
          <p:cNvPr id="34" name="Shape 23"/>
          <p:cNvSpPr/>
          <p:nvPr/>
        </p:nvSpPr>
        <p:spPr>
          <a:xfrm>
            <a:off x="6034126" y="3432658"/>
            <a:ext cx="5553151" cy="4048049"/>
          </a:xfrm>
          <a:prstGeom prst="roundRect">
            <a:avLst>
              <a:gd name="adj" fmla="val 850"/>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35" name="Shape 24"/>
          <p:cNvSpPr/>
          <p:nvPr/>
        </p:nvSpPr>
        <p:spPr>
          <a:xfrm>
            <a:off x="6272784" y="3671316"/>
            <a:ext cx="304495" cy="304495"/>
          </a:xfrm>
          <a:prstGeom prst="roundRect">
            <a:avLst>
              <a:gd name="adj" fmla="val 56306"/>
            </a:avLst>
          </a:prstGeom>
          <a:solidFill>
            <a:srgbClr val="F3E8FF"/>
          </a:solidFill>
          <a:ln/>
        </p:spPr>
        <p:txBody>
          <a:bodyPr/>
          <a:lstStyle/>
          <a:p>
            <a:endParaRPr lang="ja-JP" altLang="en-US"/>
          </a:p>
        </p:txBody>
      </p:sp>
      <p:pic>
        <p:nvPicPr>
          <p:cNvPr id="36" name="Image 9" descr="preencoded.png"/>
          <p:cNvPicPr>
            <a:picLocks noChangeAspect="1"/>
          </p:cNvPicPr>
          <p:nvPr/>
        </p:nvPicPr>
        <p:blipFill>
          <a:blip r:embed="rId7"/>
          <a:srcRect t="-100" b="-100"/>
          <a:stretch/>
        </p:blipFill>
        <p:spPr>
          <a:xfrm>
            <a:off x="6367882" y="3747211"/>
            <a:ext cx="114300" cy="152705"/>
          </a:xfrm>
          <a:prstGeom prst="rect">
            <a:avLst/>
          </a:prstGeom>
        </p:spPr>
      </p:pic>
      <p:sp>
        <p:nvSpPr>
          <p:cNvPr id="37" name="Text 25"/>
          <p:cNvSpPr txBox="1"/>
          <p:nvPr/>
        </p:nvSpPr>
        <p:spPr>
          <a:xfrm>
            <a:off x="6672377" y="3708806"/>
            <a:ext cx="2705710"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共有フォーマット（テンプレート例）</a:t>
            </a:r>
            <a:endParaRPr lang="en-US" sz="1200" dirty="0"/>
          </a:p>
        </p:txBody>
      </p:sp>
      <p:sp>
        <p:nvSpPr>
          <p:cNvPr id="38" name="Shape 26"/>
          <p:cNvSpPr/>
          <p:nvPr/>
        </p:nvSpPr>
        <p:spPr>
          <a:xfrm>
            <a:off x="6272784" y="4128516"/>
            <a:ext cx="5076749" cy="2667305"/>
          </a:xfrm>
          <a:prstGeom prst="roundRect">
            <a:avLst>
              <a:gd name="adj" fmla="val 979"/>
            </a:avLst>
          </a:prstGeom>
          <a:solidFill>
            <a:srgbClr val="F9FAFB"/>
          </a:solidFill>
          <a:ln w="12700">
            <a:solidFill>
              <a:srgbClr val="E5E7EB"/>
            </a:solidFill>
            <a:prstDash val="solid"/>
          </a:ln>
        </p:spPr>
        <p:txBody>
          <a:bodyPr/>
          <a:lstStyle/>
          <a:p>
            <a:endParaRPr lang="ja-JP" altLang="en-US"/>
          </a:p>
        </p:txBody>
      </p:sp>
      <p:sp>
        <p:nvSpPr>
          <p:cNvPr id="39" name="Text 27"/>
          <p:cNvSpPr txBox="1"/>
          <p:nvPr/>
        </p:nvSpPr>
        <p:spPr>
          <a:xfrm>
            <a:off x="6672377" y="4327855"/>
            <a:ext cx="602590" cy="152705"/>
          </a:xfrm>
          <a:prstGeom prst="rect">
            <a:avLst/>
          </a:prstGeom>
          <a:noFill/>
          <a:ln/>
        </p:spPr>
        <p:txBody>
          <a:bodyPr wrap="square" lIns="0" tIns="0" rIns="0" bIns="0" rtlCol="0" anchor="ctr"/>
          <a:lstStyle/>
          <a:p>
            <a:pPr marL="0" indent="0" algn="r">
              <a:buNone/>
            </a:pPr>
            <a:r>
              <a:rPr lang="en-US" sz="800" b="1" dirty="0">
                <a:solidFill>
                  <a:srgbClr val="6B7280"/>
                </a:solidFill>
                <a:latin typeface="Noto Sans JP" pitchFamily="34" charset="0"/>
                <a:ea typeface="Noto Sans JP" pitchFamily="34" charset="-122"/>
                <a:cs typeface="Noto Sans JP" pitchFamily="34" charset="-120"/>
              </a:rPr>
              <a:t>概要・目的</a:t>
            </a:r>
            <a:endParaRPr lang="en-US" sz="800" dirty="0"/>
          </a:p>
        </p:txBody>
      </p:sp>
      <p:sp>
        <p:nvSpPr>
          <p:cNvPr id="40" name="Shape 28"/>
          <p:cNvSpPr/>
          <p:nvPr/>
        </p:nvSpPr>
        <p:spPr>
          <a:xfrm>
            <a:off x="7310628" y="4290365"/>
            <a:ext cx="3877056" cy="342900"/>
          </a:xfrm>
          <a:prstGeom prst="roundRect">
            <a:avLst>
              <a:gd name="adj" fmla="val 29630"/>
            </a:avLst>
          </a:prstGeom>
          <a:solidFill>
            <a:srgbClr val="FFFFFF"/>
          </a:solidFill>
          <a:ln w="12700">
            <a:solidFill>
              <a:srgbClr val="D1D5DB"/>
            </a:solidFill>
            <a:prstDash val="solid"/>
          </a:ln>
        </p:spPr>
        <p:txBody>
          <a:bodyPr/>
          <a:lstStyle/>
          <a:p>
            <a:endParaRPr lang="ja-JP" altLang="en-US"/>
          </a:p>
        </p:txBody>
      </p:sp>
      <p:sp>
        <p:nvSpPr>
          <p:cNvPr id="41" name="Text 29"/>
          <p:cNvSpPr txBox="1"/>
          <p:nvPr/>
        </p:nvSpPr>
        <p:spPr>
          <a:xfrm>
            <a:off x="7396582" y="4375404"/>
            <a:ext cx="3076956" cy="162763"/>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どのような業務課題を、どう解決したか（Before / After）</a:t>
            </a:r>
            <a:endParaRPr lang="en-US" sz="900" dirty="0"/>
          </a:p>
        </p:txBody>
      </p:sp>
      <p:sp>
        <p:nvSpPr>
          <p:cNvPr id="42" name="Text 30"/>
          <p:cNvSpPr txBox="1"/>
          <p:nvPr/>
        </p:nvSpPr>
        <p:spPr>
          <a:xfrm>
            <a:off x="6672377" y="4785055"/>
            <a:ext cx="602590" cy="152705"/>
          </a:xfrm>
          <a:prstGeom prst="rect">
            <a:avLst/>
          </a:prstGeom>
          <a:noFill/>
          <a:ln/>
        </p:spPr>
        <p:txBody>
          <a:bodyPr wrap="square" lIns="0" tIns="0" rIns="0" bIns="0" rtlCol="0" anchor="ctr"/>
          <a:lstStyle/>
          <a:p>
            <a:pPr marL="0" indent="0" algn="r">
              <a:buNone/>
            </a:pPr>
            <a:r>
              <a:rPr lang="en-US" sz="800" b="1" dirty="0">
                <a:solidFill>
                  <a:srgbClr val="6B7280"/>
                </a:solidFill>
                <a:latin typeface="Noto Sans JP" pitchFamily="34" charset="0"/>
                <a:ea typeface="Noto Sans JP" pitchFamily="34" charset="-122"/>
                <a:cs typeface="Noto Sans JP" pitchFamily="34" charset="-120"/>
              </a:rPr>
              <a:t>対象ツール</a:t>
            </a:r>
            <a:endParaRPr lang="en-US" sz="800" dirty="0"/>
          </a:p>
        </p:txBody>
      </p:sp>
      <p:sp>
        <p:nvSpPr>
          <p:cNvPr id="43" name="Shape 31"/>
          <p:cNvSpPr/>
          <p:nvPr/>
        </p:nvSpPr>
        <p:spPr>
          <a:xfrm>
            <a:off x="7310628" y="4747565"/>
            <a:ext cx="3877056" cy="342900"/>
          </a:xfrm>
          <a:prstGeom prst="roundRect">
            <a:avLst>
              <a:gd name="adj" fmla="val 29630"/>
            </a:avLst>
          </a:prstGeom>
          <a:solidFill>
            <a:srgbClr val="FFFFFF"/>
          </a:solidFill>
          <a:ln w="12700">
            <a:solidFill>
              <a:srgbClr val="D1D5DB"/>
            </a:solidFill>
            <a:prstDash val="solid"/>
          </a:ln>
        </p:spPr>
        <p:txBody>
          <a:bodyPr/>
          <a:lstStyle/>
          <a:p>
            <a:endParaRPr lang="ja-JP" altLang="en-US"/>
          </a:p>
        </p:txBody>
      </p:sp>
      <p:sp>
        <p:nvSpPr>
          <p:cNvPr id="44" name="Text 32"/>
          <p:cNvSpPr txBox="1"/>
          <p:nvPr/>
        </p:nvSpPr>
        <p:spPr>
          <a:xfrm>
            <a:off x="7396582" y="4832604"/>
            <a:ext cx="1991563" cy="162763"/>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Microsoft Teams / Excel / Outlook 等</a:t>
            </a:r>
            <a:endParaRPr lang="en-US" sz="900" dirty="0"/>
          </a:p>
        </p:txBody>
      </p:sp>
      <p:sp>
        <p:nvSpPr>
          <p:cNvPr id="45" name="Text 33"/>
          <p:cNvSpPr txBox="1"/>
          <p:nvPr/>
        </p:nvSpPr>
        <p:spPr>
          <a:xfrm>
            <a:off x="6676034" y="5242255"/>
            <a:ext cx="602590" cy="152705"/>
          </a:xfrm>
          <a:prstGeom prst="rect">
            <a:avLst/>
          </a:prstGeom>
          <a:noFill/>
          <a:ln/>
        </p:spPr>
        <p:txBody>
          <a:bodyPr wrap="square" lIns="0" tIns="0" rIns="0" bIns="0" rtlCol="0" anchor="ctr"/>
          <a:lstStyle/>
          <a:p>
            <a:pPr marL="0" indent="0" algn="r">
              <a:buNone/>
            </a:pPr>
            <a:r>
              <a:rPr lang="en-US" sz="800" b="1" dirty="0">
                <a:solidFill>
                  <a:srgbClr val="6B7280"/>
                </a:solidFill>
                <a:latin typeface="Noto Sans JP" pitchFamily="34" charset="0"/>
                <a:ea typeface="Noto Sans JP" pitchFamily="34" charset="-122"/>
                <a:cs typeface="Noto Sans JP" pitchFamily="34" charset="-120"/>
              </a:rPr>
              <a:t>プロンプト</a:t>
            </a:r>
            <a:endParaRPr lang="en-US" sz="800" dirty="0"/>
          </a:p>
        </p:txBody>
      </p:sp>
      <p:sp>
        <p:nvSpPr>
          <p:cNvPr id="46" name="Shape 34"/>
          <p:cNvSpPr/>
          <p:nvPr/>
        </p:nvSpPr>
        <p:spPr>
          <a:xfrm>
            <a:off x="7310628" y="5204765"/>
            <a:ext cx="3877056" cy="514807"/>
          </a:xfrm>
          <a:prstGeom prst="roundRect">
            <a:avLst>
              <a:gd name="adj" fmla="val 13157"/>
            </a:avLst>
          </a:prstGeom>
          <a:solidFill>
            <a:srgbClr val="F5F3FF"/>
          </a:solidFill>
          <a:ln w="12700">
            <a:solidFill>
              <a:srgbClr val="8B5CF6"/>
            </a:solidFill>
            <a:prstDash val="solid"/>
          </a:ln>
        </p:spPr>
        <p:txBody>
          <a:bodyPr/>
          <a:lstStyle/>
          <a:p>
            <a:endParaRPr lang="ja-JP" altLang="en-US"/>
          </a:p>
        </p:txBody>
      </p:sp>
      <p:sp>
        <p:nvSpPr>
          <p:cNvPr id="47" name="Text 35"/>
          <p:cNvSpPr txBox="1"/>
          <p:nvPr/>
        </p:nvSpPr>
        <p:spPr>
          <a:xfrm>
            <a:off x="7396582" y="5309006"/>
            <a:ext cx="3706063" cy="305410"/>
          </a:xfrm>
          <a:prstGeom prst="rect">
            <a:avLst/>
          </a:prstGeom>
          <a:noFill/>
          <a:ln/>
        </p:spPr>
        <p:txBody>
          <a:bodyPr wrap="square" lIns="0" tIns="0" rIns="0" bIns="0" rtlCol="0" anchor="ctr"/>
          <a:lstStyle/>
          <a:p>
            <a:pPr marL="0" indent="0" algn="l">
              <a:buNone/>
            </a:pPr>
            <a:r>
              <a:rPr lang="en-US" sz="900" dirty="0">
                <a:solidFill>
                  <a:srgbClr val="5B21B6"/>
                </a:solidFill>
                <a:latin typeface="Courier New" pitchFamily="34" charset="0"/>
                <a:ea typeface="Courier New" pitchFamily="34" charset="-122"/>
                <a:cs typeface="Courier New" pitchFamily="34" charset="-120"/>
              </a:rPr>
              <a:t>「以下の会議の議事録を、決定事項とToDoに分けて箇条書きで作成してください...」</a:t>
            </a:r>
            <a:endParaRPr lang="en-US" sz="900" dirty="0"/>
          </a:p>
        </p:txBody>
      </p:sp>
      <p:sp>
        <p:nvSpPr>
          <p:cNvPr id="48" name="Text 36"/>
          <p:cNvSpPr txBox="1"/>
          <p:nvPr/>
        </p:nvSpPr>
        <p:spPr>
          <a:xfrm>
            <a:off x="6568135" y="5871362"/>
            <a:ext cx="707746" cy="152705"/>
          </a:xfrm>
          <a:prstGeom prst="rect">
            <a:avLst/>
          </a:prstGeom>
          <a:noFill/>
          <a:ln/>
        </p:spPr>
        <p:txBody>
          <a:bodyPr wrap="square" lIns="0" tIns="0" rIns="0" bIns="0" rtlCol="0" anchor="ctr"/>
          <a:lstStyle/>
          <a:p>
            <a:pPr marL="0" indent="0" algn="r">
              <a:buNone/>
            </a:pPr>
            <a:r>
              <a:rPr lang="en-US" sz="800" b="1" dirty="0">
                <a:solidFill>
                  <a:srgbClr val="6B7280"/>
                </a:solidFill>
                <a:latin typeface="Noto Sans JP" pitchFamily="34" charset="0"/>
                <a:ea typeface="Noto Sans JP" pitchFamily="34" charset="-122"/>
                <a:cs typeface="Noto Sans JP" pitchFamily="34" charset="-120"/>
              </a:rPr>
              <a:t>コツ・注意点</a:t>
            </a:r>
            <a:endParaRPr lang="en-US" sz="800" dirty="0"/>
          </a:p>
        </p:txBody>
      </p:sp>
      <p:sp>
        <p:nvSpPr>
          <p:cNvPr id="49" name="Shape 37"/>
          <p:cNvSpPr/>
          <p:nvPr/>
        </p:nvSpPr>
        <p:spPr>
          <a:xfrm>
            <a:off x="7310628" y="5832958"/>
            <a:ext cx="3877056" cy="342900"/>
          </a:xfrm>
          <a:prstGeom prst="roundRect">
            <a:avLst>
              <a:gd name="adj" fmla="val 29630"/>
            </a:avLst>
          </a:prstGeom>
          <a:solidFill>
            <a:srgbClr val="FFFFFF"/>
          </a:solidFill>
          <a:ln w="12700">
            <a:solidFill>
              <a:srgbClr val="D1D5DB"/>
            </a:solidFill>
            <a:prstDash val="solid"/>
          </a:ln>
        </p:spPr>
        <p:txBody>
          <a:bodyPr/>
          <a:lstStyle/>
          <a:p>
            <a:endParaRPr lang="ja-JP" altLang="en-US"/>
          </a:p>
        </p:txBody>
      </p:sp>
      <p:sp>
        <p:nvSpPr>
          <p:cNvPr id="50" name="Text 38"/>
          <p:cNvSpPr txBox="1"/>
          <p:nvPr/>
        </p:nvSpPr>
        <p:spPr>
          <a:xfrm>
            <a:off x="7396582" y="5918911"/>
            <a:ext cx="2943454" cy="162763"/>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前提となるデータの準備方法や、出力後の確認ポイント</a:t>
            </a:r>
            <a:endParaRPr lang="en-US" sz="900" dirty="0"/>
          </a:p>
        </p:txBody>
      </p:sp>
      <p:sp>
        <p:nvSpPr>
          <p:cNvPr id="51" name="Text 39"/>
          <p:cNvSpPr txBox="1"/>
          <p:nvPr/>
        </p:nvSpPr>
        <p:spPr>
          <a:xfrm>
            <a:off x="6568135" y="6328562"/>
            <a:ext cx="707746" cy="152705"/>
          </a:xfrm>
          <a:prstGeom prst="rect">
            <a:avLst/>
          </a:prstGeom>
          <a:noFill/>
          <a:ln/>
        </p:spPr>
        <p:txBody>
          <a:bodyPr wrap="square" lIns="0" tIns="0" rIns="0" bIns="0" rtlCol="0" anchor="ctr"/>
          <a:lstStyle/>
          <a:p>
            <a:pPr marL="0" indent="0" algn="r">
              <a:buNone/>
            </a:pPr>
            <a:r>
              <a:rPr lang="en-US" sz="800" b="1" dirty="0">
                <a:solidFill>
                  <a:srgbClr val="6B7280"/>
                </a:solidFill>
                <a:latin typeface="Noto Sans JP" pitchFamily="34" charset="0"/>
                <a:ea typeface="Noto Sans JP" pitchFamily="34" charset="-122"/>
                <a:cs typeface="Noto Sans JP" pitchFamily="34" charset="-120"/>
              </a:rPr>
              <a:t>効果（実績）</a:t>
            </a:r>
            <a:endParaRPr lang="en-US" sz="800" dirty="0"/>
          </a:p>
        </p:txBody>
      </p:sp>
      <p:sp>
        <p:nvSpPr>
          <p:cNvPr id="52" name="Shape 40"/>
          <p:cNvSpPr/>
          <p:nvPr/>
        </p:nvSpPr>
        <p:spPr>
          <a:xfrm>
            <a:off x="7310628" y="6290158"/>
            <a:ext cx="3877056" cy="342900"/>
          </a:xfrm>
          <a:prstGeom prst="roundRect">
            <a:avLst>
              <a:gd name="adj" fmla="val 29630"/>
            </a:avLst>
          </a:prstGeom>
          <a:solidFill>
            <a:srgbClr val="FFFFFF"/>
          </a:solidFill>
          <a:ln w="12700">
            <a:solidFill>
              <a:srgbClr val="D1D5DB"/>
            </a:solidFill>
            <a:prstDash val="solid"/>
          </a:ln>
        </p:spPr>
        <p:txBody>
          <a:bodyPr/>
          <a:lstStyle/>
          <a:p>
            <a:endParaRPr lang="ja-JP" altLang="en-US"/>
          </a:p>
        </p:txBody>
      </p:sp>
      <p:sp>
        <p:nvSpPr>
          <p:cNvPr id="53" name="Text 41"/>
          <p:cNvSpPr txBox="1"/>
          <p:nvPr/>
        </p:nvSpPr>
        <p:spPr>
          <a:xfrm>
            <a:off x="7396582" y="6376111"/>
            <a:ext cx="1638605" cy="162763"/>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作成時間が 30分 → 5分 に短縮</a:t>
            </a:r>
            <a:endParaRPr lang="en-US" sz="900" dirty="0"/>
          </a:p>
        </p:txBody>
      </p:sp>
      <p:sp>
        <p:nvSpPr>
          <p:cNvPr id="54" name="Shape 42"/>
          <p:cNvSpPr/>
          <p:nvPr/>
        </p:nvSpPr>
        <p:spPr>
          <a:xfrm>
            <a:off x="6272784" y="6947611"/>
            <a:ext cx="5076749" cy="9144"/>
          </a:xfrm>
          <a:prstGeom prst="rect">
            <a:avLst/>
          </a:prstGeom>
          <a:solidFill>
            <a:srgbClr val="E5E7EB"/>
          </a:solidFill>
          <a:ln/>
        </p:spPr>
        <p:txBody>
          <a:bodyPr/>
          <a:lstStyle/>
          <a:p>
            <a:endParaRPr lang="ja-JP" altLang="en-US"/>
          </a:p>
        </p:txBody>
      </p:sp>
      <p:pic>
        <p:nvPicPr>
          <p:cNvPr id="55" name="Image 10" descr="preencoded.png"/>
          <p:cNvPicPr>
            <a:picLocks noChangeAspect="1"/>
          </p:cNvPicPr>
          <p:nvPr/>
        </p:nvPicPr>
        <p:blipFill>
          <a:blip r:embed="rId8"/>
          <a:srcRect/>
          <a:stretch/>
        </p:blipFill>
        <p:spPr>
          <a:xfrm>
            <a:off x="8696858" y="7104888"/>
            <a:ext cx="114300" cy="114300"/>
          </a:xfrm>
          <a:prstGeom prst="rect">
            <a:avLst/>
          </a:prstGeom>
        </p:spPr>
      </p:pic>
      <p:sp>
        <p:nvSpPr>
          <p:cNvPr id="56" name="Text 43"/>
          <p:cNvSpPr txBox="1"/>
          <p:nvPr/>
        </p:nvSpPr>
        <p:spPr>
          <a:xfrm>
            <a:off x="8811158" y="7071055"/>
            <a:ext cx="2619756" cy="162763"/>
          </a:xfrm>
          <a:prstGeom prst="rect">
            <a:avLst/>
          </a:prstGeom>
          <a:noFill/>
          <a:ln/>
        </p:spPr>
        <p:txBody>
          <a:bodyPr wrap="square" lIns="0" tIns="0" rIns="0" bIns="0" rtlCol="0" anchor="ctr"/>
          <a:lstStyle/>
          <a:p>
            <a:pPr marL="0" indent="0" algn="r">
              <a:buNone/>
            </a:pPr>
            <a:r>
              <a:rPr lang="en-US" sz="900" dirty="0">
                <a:solidFill>
                  <a:srgbClr val="6B7280"/>
                </a:solidFill>
                <a:latin typeface="Noto Sans JP" pitchFamily="34" charset="0"/>
                <a:ea typeface="Noto Sans JP" pitchFamily="34" charset="-122"/>
                <a:cs typeface="Noto Sans JP" pitchFamily="34" charset="-120"/>
              </a:rPr>
              <a:t>SharePointの「ナレッジ共有ライブラリ」に登録</a:t>
            </a:r>
            <a:endParaRPr lang="en-US" sz="900" dirty="0"/>
          </a:p>
        </p:txBody>
      </p:sp>
      <p:sp>
        <p:nvSpPr>
          <p:cNvPr id="57" name="Text 44"/>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28</a:t>
            </a:r>
            <a:endParaRPr lang="en-US" sz="900" dirty="0"/>
          </a:p>
        </p:txBody>
      </p:sp>
      <p:sp>
        <p:nvSpPr>
          <p:cNvPr id="58" name="Shape 45"/>
          <p:cNvSpPr/>
          <p:nvPr/>
        </p:nvSpPr>
        <p:spPr>
          <a:xfrm>
            <a:off x="609905" y="2023567"/>
            <a:ext cx="5048402" cy="780898"/>
          </a:xfrm>
          <a:prstGeom prst="roundRect">
            <a:avLst>
              <a:gd name="adj" fmla="val 17136"/>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59" name="Shape 46"/>
          <p:cNvSpPr/>
          <p:nvPr/>
        </p:nvSpPr>
        <p:spPr>
          <a:xfrm>
            <a:off x="771754" y="2185416"/>
            <a:ext cx="457200" cy="457200"/>
          </a:xfrm>
          <a:prstGeom prst="ellipse">
            <a:avLst/>
          </a:prstGeom>
          <a:solidFill>
            <a:srgbClr val="10B981"/>
          </a:solidFill>
          <a:ln/>
          <a:effectLst>
            <a:outerShdw blurRad="63500" dist="38100" dir="5400000" algn="bl" rotWithShape="0">
              <a:srgbClr val="10B981">
                <a:alpha val="30000"/>
              </a:srgbClr>
            </a:outerShdw>
          </a:effectLst>
        </p:spPr>
        <p:txBody>
          <a:bodyPr/>
          <a:lstStyle/>
          <a:p>
            <a:endParaRPr lang="ja-JP" altLang="en-US"/>
          </a:p>
        </p:txBody>
      </p:sp>
      <p:sp>
        <p:nvSpPr>
          <p:cNvPr id="60" name="Text 47"/>
          <p:cNvSpPr txBox="1"/>
          <p:nvPr/>
        </p:nvSpPr>
        <p:spPr>
          <a:xfrm>
            <a:off x="943661" y="2270455"/>
            <a:ext cx="257861" cy="286207"/>
          </a:xfrm>
          <a:prstGeom prst="rect">
            <a:avLst/>
          </a:prstGeom>
          <a:noFill/>
          <a:ln/>
        </p:spPr>
        <p:txBody>
          <a:bodyPr wrap="square" lIns="0" tIns="0" rIns="0" bIns="0" rtlCol="0" anchor="ctr"/>
          <a:lstStyle/>
          <a:p>
            <a:pPr marL="0" indent="0" algn="l">
              <a:buNone/>
            </a:pPr>
            <a:r>
              <a:rPr lang="en-US" sz="1500" b="1" dirty="0">
                <a:solidFill>
                  <a:srgbClr val="FFFFFF"/>
                </a:solidFill>
                <a:latin typeface="Noto Sans JP" pitchFamily="34" charset="0"/>
                <a:ea typeface="Noto Sans JP" pitchFamily="34" charset="-122"/>
                <a:cs typeface="Noto Sans JP" pitchFamily="34" charset="-120"/>
              </a:rPr>
              <a:t>1</a:t>
            </a:r>
            <a:endParaRPr lang="en-US" sz="1500" dirty="0"/>
          </a:p>
        </p:txBody>
      </p:sp>
      <p:sp>
        <p:nvSpPr>
          <p:cNvPr id="61" name="Text 48"/>
          <p:cNvSpPr txBox="1"/>
          <p:nvPr/>
        </p:nvSpPr>
        <p:spPr>
          <a:xfrm>
            <a:off x="1380744" y="2185416"/>
            <a:ext cx="831190"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発掘・選定</a:t>
            </a:r>
            <a:endParaRPr lang="en-US" sz="1100" dirty="0"/>
          </a:p>
        </p:txBody>
      </p:sp>
      <p:sp>
        <p:nvSpPr>
          <p:cNvPr id="62" name="Text 49"/>
          <p:cNvSpPr txBox="1"/>
          <p:nvPr/>
        </p:nvSpPr>
        <p:spPr>
          <a:xfrm>
            <a:off x="1380744" y="2427732"/>
            <a:ext cx="3696005" cy="162763"/>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事業部で生まれた事例を「汎用性」「効果インパクト」で評価・選定。</a:t>
            </a:r>
            <a:endParaRPr lang="en-US" sz="900" dirty="0"/>
          </a:p>
        </p:txBody>
      </p:sp>
      <p:sp>
        <p:nvSpPr>
          <p:cNvPr id="63" name="Shape 50"/>
          <p:cNvSpPr/>
          <p:nvPr/>
        </p:nvSpPr>
        <p:spPr>
          <a:xfrm>
            <a:off x="609905" y="3156509"/>
            <a:ext cx="5048402" cy="780898"/>
          </a:xfrm>
          <a:prstGeom prst="roundRect">
            <a:avLst>
              <a:gd name="adj" fmla="val 17136"/>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64" name="Shape 51"/>
          <p:cNvSpPr/>
          <p:nvPr/>
        </p:nvSpPr>
        <p:spPr>
          <a:xfrm>
            <a:off x="771754" y="3318358"/>
            <a:ext cx="457200" cy="457200"/>
          </a:xfrm>
          <a:prstGeom prst="ellipse">
            <a:avLst/>
          </a:prstGeom>
          <a:solidFill>
            <a:srgbClr val="10B981"/>
          </a:solidFill>
          <a:ln/>
          <a:effectLst>
            <a:outerShdw blurRad="63500" dist="38100" dir="5400000" algn="bl" rotWithShape="0">
              <a:srgbClr val="10B981">
                <a:alpha val="30000"/>
              </a:srgbClr>
            </a:outerShdw>
          </a:effectLst>
        </p:spPr>
        <p:txBody>
          <a:bodyPr/>
          <a:lstStyle/>
          <a:p>
            <a:endParaRPr lang="ja-JP" altLang="en-US"/>
          </a:p>
        </p:txBody>
      </p:sp>
      <p:sp>
        <p:nvSpPr>
          <p:cNvPr id="65" name="Text 52"/>
          <p:cNvSpPr txBox="1"/>
          <p:nvPr/>
        </p:nvSpPr>
        <p:spPr>
          <a:xfrm>
            <a:off x="943661" y="3404311"/>
            <a:ext cx="257861" cy="286207"/>
          </a:xfrm>
          <a:prstGeom prst="rect">
            <a:avLst/>
          </a:prstGeom>
          <a:noFill/>
          <a:ln/>
        </p:spPr>
        <p:txBody>
          <a:bodyPr wrap="square" lIns="0" tIns="0" rIns="0" bIns="0" rtlCol="0" anchor="ctr"/>
          <a:lstStyle/>
          <a:p>
            <a:pPr marL="0" indent="0" algn="l">
              <a:buNone/>
            </a:pPr>
            <a:r>
              <a:rPr lang="en-US" sz="1500" b="1" dirty="0">
                <a:solidFill>
                  <a:srgbClr val="FFFFFF"/>
                </a:solidFill>
                <a:latin typeface="Noto Sans JP" pitchFamily="34" charset="0"/>
                <a:ea typeface="Noto Sans JP" pitchFamily="34" charset="-122"/>
                <a:cs typeface="Noto Sans JP" pitchFamily="34" charset="-120"/>
              </a:rPr>
              <a:t>2</a:t>
            </a:r>
            <a:endParaRPr lang="en-US" sz="1500" dirty="0"/>
          </a:p>
        </p:txBody>
      </p:sp>
      <p:sp>
        <p:nvSpPr>
          <p:cNvPr id="66" name="Text 53"/>
          <p:cNvSpPr txBox="1"/>
          <p:nvPr/>
        </p:nvSpPr>
        <p:spPr>
          <a:xfrm>
            <a:off x="1380744" y="3318358"/>
            <a:ext cx="1260043"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標準化・磨き込み</a:t>
            </a:r>
            <a:endParaRPr lang="en-US" sz="1100" dirty="0"/>
          </a:p>
        </p:txBody>
      </p:sp>
      <p:sp>
        <p:nvSpPr>
          <p:cNvPr id="67" name="Text 54"/>
          <p:cNvSpPr txBox="1"/>
          <p:nvPr/>
        </p:nvSpPr>
        <p:spPr>
          <a:xfrm>
            <a:off x="1380744" y="3561588"/>
            <a:ext cx="3848710" cy="162763"/>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属人性を排除。誰でも再現できるようプロンプトと手順をマニュアル化。</a:t>
            </a:r>
            <a:endParaRPr lang="en-US" sz="900" dirty="0"/>
          </a:p>
        </p:txBody>
      </p:sp>
      <p:sp>
        <p:nvSpPr>
          <p:cNvPr id="68" name="Shape 55"/>
          <p:cNvSpPr/>
          <p:nvPr/>
        </p:nvSpPr>
        <p:spPr>
          <a:xfrm>
            <a:off x="609905" y="4290365"/>
            <a:ext cx="5048402" cy="780898"/>
          </a:xfrm>
          <a:prstGeom prst="roundRect">
            <a:avLst>
              <a:gd name="adj" fmla="val 17136"/>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69" name="Shape 56"/>
          <p:cNvSpPr/>
          <p:nvPr/>
        </p:nvSpPr>
        <p:spPr>
          <a:xfrm>
            <a:off x="771754" y="4452214"/>
            <a:ext cx="457200" cy="457200"/>
          </a:xfrm>
          <a:prstGeom prst="ellipse">
            <a:avLst/>
          </a:prstGeom>
          <a:solidFill>
            <a:srgbClr val="10B981"/>
          </a:solidFill>
          <a:ln/>
          <a:effectLst>
            <a:outerShdw blurRad="63500" dist="38100" dir="5400000" algn="bl" rotWithShape="0">
              <a:srgbClr val="10B981">
                <a:alpha val="30000"/>
              </a:srgbClr>
            </a:outerShdw>
          </a:effectLst>
        </p:spPr>
        <p:txBody>
          <a:bodyPr/>
          <a:lstStyle/>
          <a:p>
            <a:endParaRPr lang="ja-JP" altLang="en-US"/>
          </a:p>
        </p:txBody>
      </p:sp>
      <p:sp>
        <p:nvSpPr>
          <p:cNvPr id="70" name="Text 57"/>
          <p:cNvSpPr txBox="1"/>
          <p:nvPr/>
        </p:nvSpPr>
        <p:spPr>
          <a:xfrm>
            <a:off x="943661" y="4538167"/>
            <a:ext cx="257861" cy="286207"/>
          </a:xfrm>
          <a:prstGeom prst="rect">
            <a:avLst/>
          </a:prstGeom>
          <a:noFill/>
          <a:ln/>
        </p:spPr>
        <p:txBody>
          <a:bodyPr wrap="square" lIns="0" tIns="0" rIns="0" bIns="0" rtlCol="0" anchor="ctr"/>
          <a:lstStyle/>
          <a:p>
            <a:pPr marL="0" indent="0" algn="l">
              <a:buNone/>
            </a:pPr>
            <a:r>
              <a:rPr lang="en-US" sz="1500" b="1" dirty="0">
                <a:solidFill>
                  <a:srgbClr val="FFFFFF"/>
                </a:solidFill>
                <a:latin typeface="Noto Sans JP" pitchFamily="34" charset="0"/>
                <a:ea typeface="Noto Sans JP" pitchFamily="34" charset="-122"/>
                <a:cs typeface="Noto Sans JP" pitchFamily="34" charset="-120"/>
              </a:rPr>
              <a:t>3</a:t>
            </a:r>
            <a:endParaRPr lang="en-US" sz="1500" dirty="0"/>
          </a:p>
        </p:txBody>
      </p:sp>
      <p:sp>
        <p:nvSpPr>
          <p:cNvPr id="71" name="Text 58"/>
          <p:cNvSpPr txBox="1"/>
          <p:nvPr/>
        </p:nvSpPr>
        <p:spPr>
          <a:xfrm>
            <a:off x="1380744" y="4452214"/>
            <a:ext cx="831190"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共有・認知</a:t>
            </a:r>
            <a:endParaRPr lang="en-US" sz="1100" dirty="0"/>
          </a:p>
        </p:txBody>
      </p:sp>
      <p:sp>
        <p:nvSpPr>
          <p:cNvPr id="72" name="Text 59"/>
          <p:cNvSpPr txBox="1"/>
          <p:nvPr/>
        </p:nvSpPr>
        <p:spPr>
          <a:xfrm>
            <a:off x="1380744" y="4694530"/>
            <a:ext cx="3400654" cy="162763"/>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全社ポータルへ掲載し、ニュースレターや表彰で認知を広げる。</a:t>
            </a:r>
            <a:endParaRPr lang="en-US" sz="900" dirty="0"/>
          </a:p>
        </p:txBody>
      </p:sp>
      <p:sp>
        <p:nvSpPr>
          <p:cNvPr id="73" name="Shape 60"/>
          <p:cNvSpPr/>
          <p:nvPr/>
        </p:nvSpPr>
        <p:spPr>
          <a:xfrm>
            <a:off x="609905" y="5423306"/>
            <a:ext cx="5048402" cy="780898"/>
          </a:xfrm>
          <a:prstGeom prst="roundRect">
            <a:avLst>
              <a:gd name="adj" fmla="val 17136"/>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74" name="Shape 61"/>
          <p:cNvSpPr/>
          <p:nvPr/>
        </p:nvSpPr>
        <p:spPr>
          <a:xfrm>
            <a:off x="771754" y="5585155"/>
            <a:ext cx="457200" cy="457200"/>
          </a:xfrm>
          <a:prstGeom prst="ellipse">
            <a:avLst/>
          </a:prstGeom>
          <a:solidFill>
            <a:srgbClr val="10B981"/>
          </a:solidFill>
          <a:ln/>
          <a:effectLst>
            <a:outerShdw blurRad="63500" dist="38100" dir="5400000" algn="bl" rotWithShape="0">
              <a:srgbClr val="10B981">
                <a:alpha val="30000"/>
              </a:srgbClr>
            </a:outerShdw>
          </a:effectLst>
        </p:spPr>
        <p:txBody>
          <a:bodyPr/>
          <a:lstStyle/>
          <a:p>
            <a:endParaRPr lang="ja-JP" altLang="en-US"/>
          </a:p>
        </p:txBody>
      </p:sp>
      <p:sp>
        <p:nvSpPr>
          <p:cNvPr id="75" name="Text 62"/>
          <p:cNvSpPr txBox="1"/>
          <p:nvPr/>
        </p:nvSpPr>
        <p:spPr>
          <a:xfrm>
            <a:off x="943661" y="5671109"/>
            <a:ext cx="257861" cy="286207"/>
          </a:xfrm>
          <a:prstGeom prst="rect">
            <a:avLst/>
          </a:prstGeom>
          <a:noFill/>
          <a:ln/>
        </p:spPr>
        <p:txBody>
          <a:bodyPr wrap="square" lIns="0" tIns="0" rIns="0" bIns="0" rtlCol="0" anchor="ctr"/>
          <a:lstStyle/>
          <a:p>
            <a:pPr marL="0" indent="0" algn="l">
              <a:buNone/>
            </a:pPr>
            <a:r>
              <a:rPr lang="en-US" sz="1500" b="1" dirty="0">
                <a:solidFill>
                  <a:srgbClr val="FFFFFF"/>
                </a:solidFill>
                <a:latin typeface="Noto Sans JP" pitchFamily="34" charset="0"/>
                <a:ea typeface="Noto Sans JP" pitchFamily="34" charset="-122"/>
                <a:cs typeface="Noto Sans JP" pitchFamily="34" charset="-120"/>
              </a:rPr>
              <a:t>4</a:t>
            </a:r>
            <a:endParaRPr lang="en-US" sz="1500" dirty="0"/>
          </a:p>
        </p:txBody>
      </p:sp>
      <p:sp>
        <p:nvSpPr>
          <p:cNvPr id="76" name="Text 63"/>
          <p:cNvSpPr txBox="1"/>
          <p:nvPr/>
        </p:nvSpPr>
        <p:spPr>
          <a:xfrm>
            <a:off x="1380744" y="5585155"/>
            <a:ext cx="688543"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導入支援</a:t>
            </a:r>
            <a:endParaRPr lang="en-US" sz="1100" dirty="0"/>
          </a:p>
        </p:txBody>
      </p:sp>
      <p:sp>
        <p:nvSpPr>
          <p:cNvPr id="77" name="Text 64"/>
          <p:cNvSpPr txBox="1"/>
          <p:nvPr/>
        </p:nvSpPr>
        <p:spPr>
          <a:xfrm>
            <a:off x="1380744" y="5828386"/>
            <a:ext cx="3514954" cy="162763"/>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他部門向けの説明会やハンズオン研修を実施し、試行をサポート。</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285646"/>
          </a:xfrm>
          <a:prstGeom prst="rect">
            <a:avLst/>
          </a:prstGeom>
          <a:solidFill>
            <a:srgbClr val="FFFFFF"/>
          </a:solidFill>
          <a:ln/>
        </p:spPr>
        <p:txBody>
          <a:bodyPr/>
          <a:lstStyle/>
          <a:p>
            <a:endParaRPr lang="ja-JP" altLang="en-US"/>
          </a:p>
        </p:txBody>
      </p:sp>
      <p:sp>
        <p:nvSpPr>
          <p:cNvPr id="5" name="Shape 3"/>
          <p:cNvSpPr/>
          <p:nvPr/>
        </p:nvSpPr>
        <p:spPr>
          <a:xfrm>
            <a:off x="0" y="1276502"/>
            <a:ext cx="12191695" cy="9144"/>
          </a:xfrm>
          <a:prstGeom prst="rect">
            <a:avLst/>
          </a:prstGeom>
          <a:solidFill>
            <a:srgbClr val="E5E7EB"/>
          </a:solidFill>
          <a:ln/>
        </p:spPr>
        <p:txBody>
          <a:bodyPr/>
          <a:lstStyle/>
          <a:p>
            <a:endParaRPr lang="ja-JP" altLang="en-US"/>
          </a:p>
        </p:txBody>
      </p:sp>
      <p:sp>
        <p:nvSpPr>
          <p:cNvPr id="6" name="Shape 4"/>
          <p:cNvSpPr/>
          <p:nvPr/>
        </p:nvSpPr>
        <p:spPr>
          <a:xfrm>
            <a:off x="609905" y="448056"/>
            <a:ext cx="457200" cy="457200"/>
          </a:xfrm>
          <a:prstGeom prst="ellipse">
            <a:avLst/>
          </a:prstGeom>
          <a:solidFill>
            <a:srgbClr val="1E40AF"/>
          </a:solidFill>
          <a:ln/>
          <a:effectLst>
            <a:outerShdw blurRad="63500" dist="38100" dir="5400000" algn="bl" rotWithShape="0">
              <a:srgbClr val="000000">
                <a:alpha val="10000"/>
              </a:srgbClr>
            </a:outerShdw>
          </a:effectLst>
        </p:spPr>
        <p:txBody>
          <a:bodyPr/>
          <a:lstStyle/>
          <a:p>
            <a:endParaRPr lang="ja-JP" altLang="en-US"/>
          </a:p>
        </p:txBody>
      </p:sp>
      <p:pic>
        <p:nvPicPr>
          <p:cNvPr id="7" name="Image 0" descr="preencoded.png"/>
          <p:cNvPicPr>
            <a:picLocks noChangeAspect="1"/>
          </p:cNvPicPr>
          <p:nvPr/>
        </p:nvPicPr>
        <p:blipFill>
          <a:blip r:embed="rId3"/>
          <a:srcRect l="-1282" r="-1282"/>
          <a:stretch/>
        </p:blipFill>
        <p:spPr>
          <a:xfrm>
            <a:off x="728777" y="580644"/>
            <a:ext cx="219456" cy="190195"/>
          </a:xfrm>
          <a:prstGeom prst="rect">
            <a:avLst/>
          </a:prstGeom>
        </p:spPr>
      </p:pic>
      <p:sp>
        <p:nvSpPr>
          <p:cNvPr id="8" name="Shape 5"/>
          <p:cNvSpPr/>
          <p:nvPr/>
        </p:nvSpPr>
        <p:spPr>
          <a:xfrm>
            <a:off x="1295705" y="321869"/>
            <a:ext cx="1380744" cy="200254"/>
          </a:xfrm>
          <a:prstGeom prst="roundRect">
            <a:avLst>
              <a:gd name="adj" fmla="val 86975"/>
            </a:avLst>
          </a:prstGeom>
          <a:solidFill>
            <a:srgbClr val="1E40AF"/>
          </a:solidFill>
          <a:ln/>
        </p:spPr>
        <p:txBody>
          <a:bodyPr/>
          <a:lstStyle/>
          <a:p>
            <a:endParaRPr lang="ja-JP" altLang="en-US"/>
          </a:p>
        </p:txBody>
      </p:sp>
      <p:sp>
        <p:nvSpPr>
          <p:cNvPr id="9" name="Text 6"/>
          <p:cNvSpPr txBox="1"/>
          <p:nvPr/>
        </p:nvSpPr>
        <p:spPr>
          <a:xfrm>
            <a:off x="1371600" y="340157"/>
            <a:ext cx="1307592"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Governance Framework</a:t>
            </a:r>
            <a:endParaRPr lang="en-US" sz="800" dirty="0"/>
          </a:p>
        </p:txBody>
      </p:sp>
      <p:sp>
        <p:nvSpPr>
          <p:cNvPr id="10" name="Text 7"/>
          <p:cNvSpPr txBox="1"/>
          <p:nvPr/>
        </p:nvSpPr>
        <p:spPr>
          <a:xfrm>
            <a:off x="2747772" y="304495"/>
            <a:ext cx="1495958" cy="228600"/>
          </a:xfrm>
          <a:prstGeom prst="rect">
            <a:avLst/>
          </a:prstGeom>
          <a:noFill/>
          <a:ln/>
        </p:spPr>
        <p:txBody>
          <a:bodyPr wrap="square" lIns="0" tIns="0" rIns="0" bIns="0" rtlCol="0" anchor="ctr"/>
          <a:lstStyle/>
          <a:p>
            <a:pPr marL="0" indent="0" algn="l">
              <a:buNone/>
            </a:pPr>
            <a:r>
              <a:rPr lang="en-US" sz="1200" dirty="0">
                <a:solidFill>
                  <a:srgbClr val="64748B"/>
                </a:solidFill>
                <a:latin typeface="Noto Sans JP" pitchFamily="34" charset="0"/>
                <a:ea typeface="Noto Sans JP" pitchFamily="34" charset="-122"/>
                <a:cs typeface="Noto Sans JP" pitchFamily="34" charset="-120"/>
              </a:rPr>
              <a:t>組織体制・役割分担</a:t>
            </a:r>
            <a:endParaRPr lang="en-US" sz="1200" dirty="0"/>
          </a:p>
        </p:txBody>
      </p:sp>
      <p:sp>
        <p:nvSpPr>
          <p:cNvPr id="11" name="Text 8"/>
          <p:cNvSpPr txBox="1"/>
          <p:nvPr/>
        </p:nvSpPr>
        <p:spPr>
          <a:xfrm>
            <a:off x="1295705" y="543154"/>
            <a:ext cx="6191402" cy="438912"/>
          </a:xfrm>
          <a:prstGeom prst="rect">
            <a:avLst/>
          </a:prstGeom>
          <a:noFill/>
          <a:ln/>
        </p:spPr>
        <p:txBody>
          <a:bodyPr wrap="square" lIns="0" tIns="0" rIns="0" bIns="0" rtlCol="0" anchor="ctr"/>
          <a:lstStyle/>
          <a:p>
            <a:pPr marL="0" indent="0" algn="l">
              <a:buNone/>
            </a:pPr>
            <a:r>
              <a:rPr lang="en-US" sz="2400" b="1" dirty="0">
                <a:solidFill>
                  <a:srgbClr val="1E3A8A"/>
                </a:solidFill>
                <a:latin typeface="Noto Sans JP" pitchFamily="34" charset="0"/>
                <a:ea typeface="Noto Sans JP" pitchFamily="34" charset="-122"/>
                <a:cs typeface="Noto Sans JP" pitchFamily="34" charset="-120"/>
              </a:rPr>
              <a:t>意思決定プロセスとエスカレーションフロー</a:t>
            </a:r>
            <a:endParaRPr lang="en-US" sz="2400" dirty="0"/>
          </a:p>
        </p:txBody>
      </p:sp>
      <p:sp>
        <p:nvSpPr>
          <p:cNvPr id="12" name="Shape 9"/>
          <p:cNvSpPr/>
          <p:nvPr/>
        </p:nvSpPr>
        <p:spPr>
          <a:xfrm>
            <a:off x="0" y="1285646"/>
            <a:ext cx="12191695" cy="5572354"/>
          </a:xfrm>
          <a:prstGeom prst="rect">
            <a:avLst/>
          </a:prstGeom>
          <a:solidFill>
            <a:srgbClr val="F8FAFC"/>
          </a:solidFill>
          <a:ln/>
        </p:spPr>
        <p:txBody>
          <a:bodyPr/>
          <a:lstStyle/>
          <a:p>
            <a:endParaRPr lang="ja-JP" altLang="en-US"/>
          </a:p>
        </p:txBody>
      </p:sp>
      <p:sp>
        <p:nvSpPr>
          <p:cNvPr id="13" name="Shape 10"/>
          <p:cNvSpPr/>
          <p:nvPr/>
        </p:nvSpPr>
        <p:spPr>
          <a:xfrm>
            <a:off x="609905" y="1923898"/>
            <a:ext cx="5781751" cy="19202"/>
          </a:xfrm>
          <a:prstGeom prst="rect">
            <a:avLst/>
          </a:prstGeom>
          <a:solidFill>
            <a:srgbClr val="BFDBFE"/>
          </a:solidFill>
          <a:ln/>
        </p:spPr>
        <p:txBody>
          <a:bodyPr/>
          <a:lstStyle/>
          <a:p>
            <a:endParaRPr lang="ja-JP" altLang="en-US"/>
          </a:p>
        </p:txBody>
      </p:sp>
      <p:pic>
        <p:nvPicPr>
          <p:cNvPr id="14" name="Image 1" descr="preencoded.png"/>
          <p:cNvPicPr>
            <a:picLocks noChangeAspect="1"/>
          </p:cNvPicPr>
          <p:nvPr/>
        </p:nvPicPr>
        <p:blipFill>
          <a:blip r:embed="rId4"/>
          <a:srcRect/>
          <a:stretch/>
        </p:blipFill>
        <p:spPr>
          <a:xfrm>
            <a:off x="609905" y="1633118"/>
            <a:ext cx="171907" cy="171907"/>
          </a:xfrm>
          <a:prstGeom prst="rect">
            <a:avLst/>
          </a:prstGeom>
        </p:spPr>
      </p:pic>
      <p:sp>
        <p:nvSpPr>
          <p:cNvPr id="15" name="Text 11"/>
          <p:cNvSpPr txBox="1"/>
          <p:nvPr/>
        </p:nvSpPr>
        <p:spPr>
          <a:xfrm>
            <a:off x="875995" y="1591056"/>
            <a:ext cx="1672438" cy="257861"/>
          </a:xfrm>
          <a:prstGeom prst="rect">
            <a:avLst/>
          </a:prstGeom>
          <a:noFill/>
          <a:ln/>
        </p:spPr>
        <p:txBody>
          <a:bodyPr wrap="square" lIns="0" tIns="0" rIns="0" bIns="0" rtlCol="0" anchor="ctr"/>
          <a:lstStyle/>
          <a:p>
            <a:pPr marL="0" indent="0" algn="l">
              <a:buNone/>
            </a:pPr>
            <a:r>
              <a:rPr lang="en-US" sz="1300" b="1" dirty="0">
                <a:solidFill>
                  <a:srgbClr val="1E3A8A"/>
                </a:solidFill>
                <a:latin typeface="Noto Sans JP" pitchFamily="34" charset="0"/>
                <a:ea typeface="Noto Sans JP" pitchFamily="34" charset="-122"/>
                <a:cs typeface="Noto Sans JP" pitchFamily="34" charset="-120"/>
              </a:rPr>
              <a:t>標準意思決定フロー</a:t>
            </a:r>
            <a:endParaRPr lang="en-US" sz="1300" dirty="0"/>
          </a:p>
        </p:txBody>
      </p:sp>
      <p:sp>
        <p:nvSpPr>
          <p:cNvPr id="16" name="Shape 12"/>
          <p:cNvSpPr/>
          <p:nvPr/>
        </p:nvSpPr>
        <p:spPr>
          <a:xfrm>
            <a:off x="609905" y="2247595"/>
            <a:ext cx="5781751" cy="4304995"/>
          </a:xfrm>
          <a:prstGeom prst="roundRect">
            <a:avLst>
              <a:gd name="adj" fmla="val 752"/>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17" name="Shape 13"/>
          <p:cNvSpPr/>
          <p:nvPr/>
        </p:nvSpPr>
        <p:spPr>
          <a:xfrm>
            <a:off x="847649" y="2486254"/>
            <a:ext cx="5305349" cy="647395"/>
          </a:xfrm>
          <a:prstGeom prst="roundRect">
            <a:avLst>
              <a:gd name="adj" fmla="val 16617"/>
            </a:avLst>
          </a:prstGeom>
          <a:solidFill>
            <a:srgbClr val="F8FAFC"/>
          </a:solidFill>
          <a:ln w="12700">
            <a:solidFill>
              <a:srgbClr val="E2E8F0"/>
            </a:solidFill>
            <a:prstDash val="solid"/>
          </a:ln>
        </p:spPr>
        <p:txBody>
          <a:bodyPr/>
          <a:lstStyle/>
          <a:p>
            <a:endParaRPr lang="ja-JP" altLang="en-US"/>
          </a:p>
        </p:txBody>
      </p:sp>
      <p:sp>
        <p:nvSpPr>
          <p:cNvPr id="18" name="Shape 14"/>
          <p:cNvSpPr/>
          <p:nvPr/>
        </p:nvSpPr>
        <p:spPr>
          <a:xfrm>
            <a:off x="1152144" y="3112618"/>
            <a:ext cx="19202" cy="152705"/>
          </a:xfrm>
          <a:prstGeom prst="rect">
            <a:avLst/>
          </a:prstGeom>
          <a:solidFill>
            <a:srgbClr val="CBD5E1"/>
          </a:solidFill>
          <a:ln/>
        </p:spPr>
        <p:txBody>
          <a:bodyPr/>
          <a:lstStyle/>
          <a:p>
            <a:endParaRPr lang="ja-JP" altLang="en-US"/>
          </a:p>
        </p:txBody>
      </p:sp>
      <p:sp>
        <p:nvSpPr>
          <p:cNvPr id="19" name="Shape 15"/>
          <p:cNvSpPr/>
          <p:nvPr/>
        </p:nvSpPr>
        <p:spPr>
          <a:xfrm>
            <a:off x="972007" y="2617927"/>
            <a:ext cx="381305" cy="381305"/>
          </a:xfrm>
          <a:prstGeom prst="ellipse">
            <a:avLst/>
          </a:prstGeom>
          <a:solidFill>
            <a:srgbClr val="EFF6FF"/>
          </a:solidFill>
          <a:ln/>
        </p:spPr>
        <p:txBody>
          <a:bodyPr/>
          <a:lstStyle/>
          <a:p>
            <a:endParaRPr lang="ja-JP" altLang="en-US"/>
          </a:p>
        </p:txBody>
      </p:sp>
      <p:pic>
        <p:nvPicPr>
          <p:cNvPr id="20" name="Image 2" descr="preencoded.png"/>
          <p:cNvPicPr>
            <a:picLocks noChangeAspect="1"/>
          </p:cNvPicPr>
          <p:nvPr/>
        </p:nvPicPr>
        <p:blipFill>
          <a:blip r:embed="rId5"/>
          <a:srcRect l="-1773" r="-1773"/>
          <a:stretch/>
        </p:blipFill>
        <p:spPr>
          <a:xfrm>
            <a:off x="1095451" y="2723083"/>
            <a:ext cx="133502" cy="171907"/>
          </a:xfrm>
          <a:prstGeom prst="rect">
            <a:avLst/>
          </a:prstGeom>
        </p:spPr>
      </p:pic>
      <p:sp>
        <p:nvSpPr>
          <p:cNvPr id="21" name="Text 16"/>
          <p:cNvSpPr txBox="1"/>
          <p:nvPr/>
        </p:nvSpPr>
        <p:spPr>
          <a:xfrm>
            <a:off x="1505102" y="2609698"/>
            <a:ext cx="1976933" cy="191110"/>
          </a:xfrm>
          <a:prstGeom prst="rect">
            <a:avLst/>
          </a:prstGeom>
          <a:noFill/>
          <a:ln/>
        </p:spPr>
        <p:txBody>
          <a:bodyPr wrap="square" lIns="0" tIns="0" rIns="0" bIns="0" rtlCol="0" anchor="ctr"/>
          <a:lstStyle/>
          <a:p>
            <a:pPr marL="0" indent="0" algn="l">
              <a:buNone/>
            </a:pPr>
            <a:r>
              <a:rPr lang="en-US" sz="1000" b="1" dirty="0">
                <a:solidFill>
                  <a:srgbClr val="1E3A8A"/>
                </a:solidFill>
                <a:latin typeface="Noto Sans JP" pitchFamily="34" charset="0"/>
                <a:ea typeface="Noto Sans JP" pitchFamily="34" charset="-122"/>
                <a:cs typeface="Noto Sans JP" pitchFamily="34" charset="-120"/>
              </a:rPr>
              <a:t>1. ユースケース発案（事業部）</a:t>
            </a:r>
            <a:endParaRPr lang="en-US" sz="1000" dirty="0"/>
          </a:p>
        </p:txBody>
      </p:sp>
      <p:sp>
        <p:nvSpPr>
          <p:cNvPr id="22" name="Text 17"/>
          <p:cNvSpPr txBox="1"/>
          <p:nvPr/>
        </p:nvSpPr>
        <p:spPr>
          <a:xfrm>
            <a:off x="1505102" y="2838298"/>
            <a:ext cx="3724351" cy="162763"/>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現場課題に基づき、事業部内でAI活用案を起案。簡易効果試算を実施。</a:t>
            </a:r>
            <a:endParaRPr lang="en-US" sz="900" dirty="0"/>
          </a:p>
        </p:txBody>
      </p:sp>
      <p:sp>
        <p:nvSpPr>
          <p:cNvPr id="23" name="Shape 18"/>
          <p:cNvSpPr/>
          <p:nvPr/>
        </p:nvSpPr>
        <p:spPr>
          <a:xfrm>
            <a:off x="847649" y="3546958"/>
            <a:ext cx="5305349" cy="647395"/>
          </a:xfrm>
          <a:prstGeom prst="roundRect">
            <a:avLst>
              <a:gd name="adj" fmla="val 16617"/>
            </a:avLst>
          </a:prstGeom>
          <a:solidFill>
            <a:srgbClr val="F8FAFC"/>
          </a:solidFill>
          <a:ln w="12700">
            <a:solidFill>
              <a:srgbClr val="E2E8F0"/>
            </a:solidFill>
            <a:prstDash val="solid"/>
          </a:ln>
        </p:spPr>
        <p:txBody>
          <a:bodyPr/>
          <a:lstStyle/>
          <a:p>
            <a:endParaRPr lang="ja-JP" altLang="en-US"/>
          </a:p>
        </p:txBody>
      </p:sp>
      <p:sp>
        <p:nvSpPr>
          <p:cNvPr id="24" name="Shape 19"/>
          <p:cNvSpPr/>
          <p:nvPr/>
        </p:nvSpPr>
        <p:spPr>
          <a:xfrm>
            <a:off x="1152144" y="4173322"/>
            <a:ext cx="19202" cy="152705"/>
          </a:xfrm>
          <a:prstGeom prst="rect">
            <a:avLst/>
          </a:prstGeom>
          <a:solidFill>
            <a:srgbClr val="CBD5E1"/>
          </a:solidFill>
          <a:ln/>
        </p:spPr>
        <p:txBody>
          <a:bodyPr/>
          <a:lstStyle/>
          <a:p>
            <a:endParaRPr lang="ja-JP" altLang="en-US"/>
          </a:p>
        </p:txBody>
      </p:sp>
      <p:sp>
        <p:nvSpPr>
          <p:cNvPr id="25" name="Shape 20"/>
          <p:cNvSpPr/>
          <p:nvPr/>
        </p:nvSpPr>
        <p:spPr>
          <a:xfrm>
            <a:off x="972007" y="3679546"/>
            <a:ext cx="381305" cy="381305"/>
          </a:xfrm>
          <a:prstGeom prst="ellipse">
            <a:avLst/>
          </a:prstGeom>
          <a:solidFill>
            <a:srgbClr val="EFF6FF"/>
          </a:solidFill>
          <a:ln/>
        </p:spPr>
        <p:txBody>
          <a:bodyPr/>
          <a:lstStyle/>
          <a:p>
            <a:endParaRPr lang="ja-JP" altLang="en-US"/>
          </a:p>
        </p:txBody>
      </p:sp>
      <p:pic>
        <p:nvPicPr>
          <p:cNvPr id="26" name="Image 3" descr="preencoded.png"/>
          <p:cNvPicPr>
            <a:picLocks noChangeAspect="1"/>
          </p:cNvPicPr>
          <p:nvPr/>
        </p:nvPicPr>
        <p:blipFill>
          <a:blip r:embed="rId6"/>
          <a:srcRect/>
          <a:stretch/>
        </p:blipFill>
        <p:spPr>
          <a:xfrm>
            <a:off x="1076249" y="3783787"/>
            <a:ext cx="171907" cy="171907"/>
          </a:xfrm>
          <a:prstGeom prst="rect">
            <a:avLst/>
          </a:prstGeom>
        </p:spPr>
      </p:pic>
      <p:sp>
        <p:nvSpPr>
          <p:cNvPr id="27" name="Text 21"/>
          <p:cNvSpPr txBox="1"/>
          <p:nvPr/>
        </p:nvSpPr>
        <p:spPr>
          <a:xfrm>
            <a:off x="1505102" y="3670402"/>
            <a:ext cx="2520086" cy="191110"/>
          </a:xfrm>
          <a:prstGeom prst="rect">
            <a:avLst/>
          </a:prstGeom>
          <a:noFill/>
          <a:ln/>
        </p:spPr>
        <p:txBody>
          <a:bodyPr wrap="square" lIns="0" tIns="0" rIns="0" bIns="0" rtlCol="0" anchor="ctr"/>
          <a:lstStyle/>
          <a:p>
            <a:pPr marL="0" indent="0" algn="l">
              <a:buNone/>
            </a:pPr>
            <a:r>
              <a:rPr lang="en-US" sz="1000" b="1" dirty="0">
                <a:solidFill>
                  <a:srgbClr val="1E3A8A"/>
                </a:solidFill>
                <a:latin typeface="Noto Sans JP" pitchFamily="34" charset="0"/>
                <a:ea typeface="Noto Sans JP" pitchFamily="34" charset="-122"/>
                <a:cs typeface="Noto Sans JP" pitchFamily="34" charset="-120"/>
              </a:rPr>
              <a:t>2. 実現性・リスク評価（CoE + 事業部）</a:t>
            </a:r>
            <a:endParaRPr lang="en-US" sz="1000" dirty="0"/>
          </a:p>
        </p:txBody>
      </p:sp>
      <p:sp>
        <p:nvSpPr>
          <p:cNvPr id="28" name="Text 22"/>
          <p:cNvSpPr txBox="1"/>
          <p:nvPr/>
        </p:nvSpPr>
        <p:spPr>
          <a:xfrm>
            <a:off x="1505102" y="3899002"/>
            <a:ext cx="3915461" cy="162763"/>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技術的実現性、セキュリティ、コストをCoEがレビュー。Go/No-Go判断。</a:t>
            </a:r>
            <a:endParaRPr lang="en-US" sz="900" dirty="0"/>
          </a:p>
        </p:txBody>
      </p:sp>
      <p:sp>
        <p:nvSpPr>
          <p:cNvPr id="29" name="Shape 23"/>
          <p:cNvSpPr/>
          <p:nvPr/>
        </p:nvSpPr>
        <p:spPr>
          <a:xfrm>
            <a:off x="847649" y="4607662"/>
            <a:ext cx="5305349" cy="647395"/>
          </a:xfrm>
          <a:prstGeom prst="roundRect">
            <a:avLst>
              <a:gd name="adj" fmla="val 16617"/>
            </a:avLst>
          </a:prstGeom>
          <a:solidFill>
            <a:srgbClr val="F8FAFC"/>
          </a:solidFill>
          <a:ln w="12700">
            <a:solidFill>
              <a:srgbClr val="E2E8F0"/>
            </a:solidFill>
            <a:prstDash val="solid"/>
          </a:ln>
        </p:spPr>
        <p:txBody>
          <a:bodyPr/>
          <a:lstStyle/>
          <a:p>
            <a:endParaRPr lang="ja-JP" altLang="en-US"/>
          </a:p>
        </p:txBody>
      </p:sp>
      <p:sp>
        <p:nvSpPr>
          <p:cNvPr id="30" name="Shape 24"/>
          <p:cNvSpPr/>
          <p:nvPr/>
        </p:nvSpPr>
        <p:spPr>
          <a:xfrm>
            <a:off x="1152144" y="5234940"/>
            <a:ext cx="19202" cy="152705"/>
          </a:xfrm>
          <a:prstGeom prst="rect">
            <a:avLst/>
          </a:prstGeom>
          <a:solidFill>
            <a:srgbClr val="CBD5E1"/>
          </a:solidFill>
          <a:ln/>
        </p:spPr>
        <p:txBody>
          <a:bodyPr/>
          <a:lstStyle/>
          <a:p>
            <a:endParaRPr lang="ja-JP" altLang="en-US"/>
          </a:p>
        </p:txBody>
      </p:sp>
      <p:sp>
        <p:nvSpPr>
          <p:cNvPr id="31" name="Shape 25"/>
          <p:cNvSpPr/>
          <p:nvPr/>
        </p:nvSpPr>
        <p:spPr>
          <a:xfrm>
            <a:off x="972007" y="4740250"/>
            <a:ext cx="381305" cy="381305"/>
          </a:xfrm>
          <a:prstGeom prst="ellipse">
            <a:avLst/>
          </a:prstGeom>
          <a:solidFill>
            <a:srgbClr val="EFF6FF"/>
          </a:solidFill>
          <a:ln/>
        </p:spPr>
        <p:txBody>
          <a:bodyPr/>
          <a:lstStyle/>
          <a:p>
            <a:endParaRPr lang="ja-JP" altLang="en-US"/>
          </a:p>
        </p:txBody>
      </p:sp>
      <p:pic>
        <p:nvPicPr>
          <p:cNvPr id="32" name="Image 4" descr="preencoded.png"/>
          <p:cNvPicPr>
            <a:picLocks noChangeAspect="1"/>
          </p:cNvPicPr>
          <p:nvPr/>
        </p:nvPicPr>
        <p:blipFill>
          <a:blip r:embed="rId7"/>
          <a:srcRect l="-760" r="-760"/>
          <a:stretch/>
        </p:blipFill>
        <p:spPr>
          <a:xfrm>
            <a:off x="1086307" y="4845406"/>
            <a:ext cx="152705" cy="171907"/>
          </a:xfrm>
          <a:prstGeom prst="rect">
            <a:avLst/>
          </a:prstGeom>
        </p:spPr>
      </p:pic>
      <p:sp>
        <p:nvSpPr>
          <p:cNvPr id="33" name="Text 26"/>
          <p:cNvSpPr txBox="1"/>
          <p:nvPr/>
        </p:nvSpPr>
        <p:spPr>
          <a:xfrm>
            <a:off x="1505102" y="4732020"/>
            <a:ext cx="2520086" cy="191110"/>
          </a:xfrm>
          <a:prstGeom prst="rect">
            <a:avLst/>
          </a:prstGeom>
          <a:noFill/>
          <a:ln/>
        </p:spPr>
        <p:txBody>
          <a:bodyPr wrap="square" lIns="0" tIns="0" rIns="0" bIns="0" rtlCol="0" anchor="ctr"/>
          <a:lstStyle/>
          <a:p>
            <a:pPr marL="0" indent="0" algn="l">
              <a:buNone/>
            </a:pPr>
            <a:r>
              <a:rPr lang="en-US" sz="1000" b="1" dirty="0">
                <a:solidFill>
                  <a:srgbClr val="1E3A8A"/>
                </a:solidFill>
                <a:latin typeface="Noto Sans JP" pitchFamily="34" charset="0"/>
                <a:ea typeface="Noto Sans JP" pitchFamily="34" charset="-122"/>
                <a:cs typeface="Noto Sans JP" pitchFamily="34" charset="-120"/>
              </a:rPr>
              <a:t>3. パイロット開発・検証（事業部主体）</a:t>
            </a:r>
            <a:endParaRPr lang="en-US" sz="1000" dirty="0"/>
          </a:p>
        </p:txBody>
      </p:sp>
      <p:sp>
        <p:nvSpPr>
          <p:cNvPr id="34" name="Text 27"/>
          <p:cNvSpPr txBox="1"/>
          <p:nvPr/>
        </p:nvSpPr>
        <p:spPr>
          <a:xfrm>
            <a:off x="1505102" y="4960620"/>
            <a:ext cx="3801161" cy="162763"/>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小規模でPoCを実施。効果測定（KPI）を行い、本格展開の可否を判断。</a:t>
            </a:r>
            <a:endParaRPr lang="en-US" sz="900" dirty="0"/>
          </a:p>
        </p:txBody>
      </p:sp>
      <p:sp>
        <p:nvSpPr>
          <p:cNvPr id="35" name="Shape 28"/>
          <p:cNvSpPr/>
          <p:nvPr/>
        </p:nvSpPr>
        <p:spPr>
          <a:xfrm>
            <a:off x="847649" y="5669280"/>
            <a:ext cx="5305349" cy="647395"/>
          </a:xfrm>
          <a:prstGeom prst="roundRect">
            <a:avLst>
              <a:gd name="adj" fmla="val 16617"/>
            </a:avLst>
          </a:prstGeom>
          <a:solidFill>
            <a:srgbClr val="F8FAFC"/>
          </a:solidFill>
          <a:ln w="12700">
            <a:solidFill>
              <a:srgbClr val="E2E8F0"/>
            </a:solidFill>
            <a:prstDash val="solid"/>
          </a:ln>
        </p:spPr>
        <p:txBody>
          <a:bodyPr/>
          <a:lstStyle/>
          <a:p>
            <a:endParaRPr lang="ja-JP" altLang="en-US"/>
          </a:p>
        </p:txBody>
      </p:sp>
      <p:sp>
        <p:nvSpPr>
          <p:cNvPr id="36" name="Shape 29"/>
          <p:cNvSpPr/>
          <p:nvPr/>
        </p:nvSpPr>
        <p:spPr>
          <a:xfrm>
            <a:off x="972007" y="5800954"/>
            <a:ext cx="381305" cy="381305"/>
          </a:xfrm>
          <a:prstGeom prst="ellipse">
            <a:avLst/>
          </a:prstGeom>
          <a:solidFill>
            <a:srgbClr val="EFF6FF"/>
          </a:solidFill>
          <a:ln/>
        </p:spPr>
        <p:txBody>
          <a:bodyPr/>
          <a:lstStyle/>
          <a:p>
            <a:endParaRPr lang="ja-JP" altLang="en-US"/>
          </a:p>
        </p:txBody>
      </p:sp>
      <p:pic>
        <p:nvPicPr>
          <p:cNvPr id="37" name="Image 5" descr="preencoded.png"/>
          <p:cNvPicPr>
            <a:picLocks noChangeAspect="1"/>
          </p:cNvPicPr>
          <p:nvPr/>
        </p:nvPicPr>
        <p:blipFill>
          <a:blip r:embed="rId8"/>
          <a:srcRect/>
          <a:stretch/>
        </p:blipFill>
        <p:spPr>
          <a:xfrm>
            <a:off x="1076249" y="5906110"/>
            <a:ext cx="171907" cy="171907"/>
          </a:xfrm>
          <a:prstGeom prst="rect">
            <a:avLst/>
          </a:prstGeom>
        </p:spPr>
      </p:pic>
      <p:sp>
        <p:nvSpPr>
          <p:cNvPr id="38" name="Text 30"/>
          <p:cNvSpPr txBox="1"/>
          <p:nvPr/>
        </p:nvSpPr>
        <p:spPr>
          <a:xfrm>
            <a:off x="1505102" y="5792724"/>
            <a:ext cx="2110435" cy="191110"/>
          </a:xfrm>
          <a:prstGeom prst="rect">
            <a:avLst/>
          </a:prstGeom>
          <a:noFill/>
          <a:ln/>
        </p:spPr>
        <p:txBody>
          <a:bodyPr wrap="square" lIns="0" tIns="0" rIns="0" bIns="0" rtlCol="0" anchor="ctr"/>
          <a:lstStyle/>
          <a:p>
            <a:pPr marL="0" indent="0" algn="l">
              <a:buNone/>
            </a:pPr>
            <a:r>
              <a:rPr lang="en-US" sz="1000" b="1" dirty="0">
                <a:solidFill>
                  <a:srgbClr val="1E3A8A"/>
                </a:solidFill>
                <a:latin typeface="Noto Sans JP" pitchFamily="34" charset="0"/>
                <a:ea typeface="Noto Sans JP" pitchFamily="34" charset="-122"/>
                <a:cs typeface="Noto Sans JP" pitchFamily="34" charset="-120"/>
              </a:rPr>
              <a:t>4. 全社展開・標準化（CoE主体）</a:t>
            </a:r>
            <a:endParaRPr lang="en-US" sz="1000" dirty="0"/>
          </a:p>
        </p:txBody>
      </p:sp>
      <p:sp>
        <p:nvSpPr>
          <p:cNvPr id="39" name="Text 31"/>
          <p:cNvSpPr txBox="1"/>
          <p:nvPr/>
        </p:nvSpPr>
        <p:spPr>
          <a:xfrm>
            <a:off x="1505102" y="6021324"/>
            <a:ext cx="3743554" cy="162763"/>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成功事例を標準テンプレート化し、他事業部へ横展開。ナレッジ登録。</a:t>
            </a:r>
            <a:endParaRPr lang="en-US" sz="900" dirty="0"/>
          </a:p>
        </p:txBody>
      </p:sp>
      <p:sp>
        <p:nvSpPr>
          <p:cNvPr id="40" name="Shape 32"/>
          <p:cNvSpPr/>
          <p:nvPr/>
        </p:nvSpPr>
        <p:spPr>
          <a:xfrm>
            <a:off x="6768389" y="1591056"/>
            <a:ext cx="4819802" cy="1419149"/>
          </a:xfrm>
          <a:prstGeom prst="roundRect">
            <a:avLst>
              <a:gd name="adj" fmla="val 5189"/>
            </a:avLst>
          </a:prstGeom>
          <a:solidFill>
            <a:srgbClr val="FFFFFF"/>
          </a:solidFill>
          <a:ln/>
          <a:effectLst>
            <a:outerShdw blurRad="38100" dist="25400" dir="5400000" algn="bl" rotWithShape="0">
              <a:srgbClr val="000000">
                <a:alpha val="3000"/>
              </a:srgbClr>
            </a:outerShdw>
          </a:effectLst>
        </p:spPr>
        <p:txBody>
          <a:bodyPr/>
          <a:lstStyle/>
          <a:p>
            <a:endParaRPr lang="ja-JP" altLang="en-US"/>
          </a:p>
        </p:txBody>
      </p:sp>
      <p:sp>
        <p:nvSpPr>
          <p:cNvPr id="41" name="Shape 33"/>
          <p:cNvSpPr/>
          <p:nvPr/>
        </p:nvSpPr>
        <p:spPr>
          <a:xfrm>
            <a:off x="6768389" y="1591056"/>
            <a:ext cx="47549" cy="1419149"/>
          </a:xfrm>
          <a:prstGeom prst="rect">
            <a:avLst/>
          </a:prstGeom>
          <a:solidFill>
            <a:srgbClr val="3B82F6"/>
          </a:solidFill>
          <a:ln/>
        </p:spPr>
        <p:txBody>
          <a:bodyPr/>
          <a:lstStyle/>
          <a:p>
            <a:endParaRPr lang="ja-JP" altLang="en-US"/>
          </a:p>
        </p:txBody>
      </p:sp>
      <p:pic>
        <p:nvPicPr>
          <p:cNvPr id="42" name="Image 6" descr="preencoded.png"/>
          <p:cNvPicPr>
            <a:picLocks noChangeAspect="1"/>
          </p:cNvPicPr>
          <p:nvPr/>
        </p:nvPicPr>
        <p:blipFill>
          <a:blip r:embed="rId9"/>
          <a:srcRect l="-769" r="-769"/>
          <a:stretch/>
        </p:blipFill>
        <p:spPr>
          <a:xfrm>
            <a:off x="7006133" y="1816913"/>
            <a:ext cx="181051" cy="142646"/>
          </a:xfrm>
          <a:prstGeom prst="rect">
            <a:avLst/>
          </a:prstGeom>
        </p:spPr>
      </p:pic>
      <p:sp>
        <p:nvSpPr>
          <p:cNvPr id="43" name="Text 34"/>
          <p:cNvSpPr txBox="1"/>
          <p:nvPr/>
        </p:nvSpPr>
        <p:spPr>
          <a:xfrm>
            <a:off x="7263079" y="1781251"/>
            <a:ext cx="2117750"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意思決定基準（Gate Review）</a:t>
            </a:r>
            <a:endParaRPr lang="en-US" sz="1100" dirty="0"/>
          </a:p>
        </p:txBody>
      </p:sp>
      <p:sp>
        <p:nvSpPr>
          <p:cNvPr id="44" name="Text 35"/>
          <p:cNvSpPr txBox="1"/>
          <p:nvPr/>
        </p:nvSpPr>
        <p:spPr>
          <a:xfrm>
            <a:off x="7006133" y="2109521"/>
            <a:ext cx="3332074"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戦略整合性： 全社AI戦略および事業目標に合致しているか</a:t>
            </a:r>
            <a:endParaRPr lang="en-US" sz="900" dirty="0"/>
          </a:p>
        </p:txBody>
      </p:sp>
      <p:sp>
        <p:nvSpPr>
          <p:cNvPr id="45" name="Text 36"/>
          <p:cNvSpPr txBox="1"/>
          <p:nvPr/>
        </p:nvSpPr>
        <p:spPr>
          <a:xfrm>
            <a:off x="7006133" y="2371954"/>
            <a:ext cx="3493922"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ROI/効果： 投資対効果が明確か（例：月10時間削減見込み）</a:t>
            </a:r>
            <a:endParaRPr lang="en-US" sz="900" dirty="0"/>
          </a:p>
        </p:txBody>
      </p:sp>
      <p:sp>
        <p:nvSpPr>
          <p:cNvPr id="46" name="Text 37"/>
          <p:cNvSpPr txBox="1"/>
          <p:nvPr/>
        </p:nvSpPr>
        <p:spPr>
          <a:xfrm>
            <a:off x="7006133" y="2633472"/>
            <a:ext cx="3694176"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ガバナンス： データセキュリティ、AI倫理規定を遵守しているか</a:t>
            </a:r>
            <a:endParaRPr lang="en-US" sz="900" dirty="0"/>
          </a:p>
        </p:txBody>
      </p:sp>
      <p:sp>
        <p:nvSpPr>
          <p:cNvPr id="47" name="Shape 38"/>
          <p:cNvSpPr/>
          <p:nvPr/>
        </p:nvSpPr>
        <p:spPr>
          <a:xfrm>
            <a:off x="6768389" y="3238805"/>
            <a:ext cx="4819802" cy="2771546"/>
          </a:xfrm>
          <a:prstGeom prst="roundRect">
            <a:avLst>
              <a:gd name="adj" fmla="val 1361"/>
            </a:avLst>
          </a:prstGeom>
          <a:solidFill>
            <a:srgbClr val="FFFFFF"/>
          </a:solidFill>
          <a:ln/>
          <a:effectLst>
            <a:outerShdw blurRad="38100" dist="25400" dir="5400000" algn="bl" rotWithShape="0">
              <a:srgbClr val="000000">
                <a:alpha val="3000"/>
              </a:srgbClr>
            </a:outerShdw>
          </a:effectLst>
        </p:spPr>
        <p:txBody>
          <a:bodyPr/>
          <a:lstStyle/>
          <a:p>
            <a:endParaRPr lang="ja-JP" altLang="en-US"/>
          </a:p>
        </p:txBody>
      </p:sp>
      <p:sp>
        <p:nvSpPr>
          <p:cNvPr id="48" name="Shape 39"/>
          <p:cNvSpPr/>
          <p:nvPr/>
        </p:nvSpPr>
        <p:spPr>
          <a:xfrm>
            <a:off x="6768389" y="3238805"/>
            <a:ext cx="47549" cy="2771546"/>
          </a:xfrm>
          <a:prstGeom prst="rect">
            <a:avLst/>
          </a:prstGeom>
          <a:solidFill>
            <a:srgbClr val="10B981"/>
          </a:solidFill>
          <a:ln/>
        </p:spPr>
        <p:txBody>
          <a:bodyPr/>
          <a:lstStyle/>
          <a:p>
            <a:endParaRPr lang="ja-JP" altLang="en-US"/>
          </a:p>
        </p:txBody>
      </p:sp>
      <p:pic>
        <p:nvPicPr>
          <p:cNvPr id="49" name="Image 7" descr="preencoded.png"/>
          <p:cNvPicPr>
            <a:picLocks noChangeAspect="1"/>
          </p:cNvPicPr>
          <p:nvPr/>
        </p:nvPicPr>
        <p:blipFill>
          <a:blip r:embed="rId10"/>
          <a:srcRect/>
          <a:stretch/>
        </p:blipFill>
        <p:spPr>
          <a:xfrm>
            <a:off x="7006133" y="3464662"/>
            <a:ext cx="142646" cy="142646"/>
          </a:xfrm>
          <a:prstGeom prst="rect">
            <a:avLst/>
          </a:prstGeom>
        </p:spPr>
      </p:pic>
      <p:sp>
        <p:nvSpPr>
          <p:cNvPr id="50" name="Text 40"/>
          <p:cNvSpPr txBox="1"/>
          <p:nvPr/>
        </p:nvSpPr>
        <p:spPr>
          <a:xfrm>
            <a:off x="7225589" y="3429000"/>
            <a:ext cx="1678838"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エスカレーションルート</a:t>
            </a:r>
            <a:endParaRPr lang="en-US" sz="1100" dirty="0"/>
          </a:p>
        </p:txBody>
      </p:sp>
      <p:sp>
        <p:nvSpPr>
          <p:cNvPr id="51" name="Shape 41"/>
          <p:cNvSpPr/>
          <p:nvPr/>
        </p:nvSpPr>
        <p:spPr>
          <a:xfrm>
            <a:off x="7006133" y="3757270"/>
            <a:ext cx="4390949" cy="609905"/>
          </a:xfrm>
          <a:prstGeom prst="roundRect">
            <a:avLst>
              <a:gd name="adj" fmla="val 18741"/>
            </a:avLst>
          </a:prstGeom>
          <a:solidFill>
            <a:srgbClr val="F8FAFC"/>
          </a:solidFill>
          <a:ln/>
        </p:spPr>
        <p:txBody>
          <a:bodyPr/>
          <a:lstStyle/>
          <a:p>
            <a:endParaRPr lang="ja-JP" altLang="en-US"/>
          </a:p>
        </p:txBody>
      </p:sp>
      <p:sp>
        <p:nvSpPr>
          <p:cNvPr id="52" name="Shape 42"/>
          <p:cNvSpPr/>
          <p:nvPr/>
        </p:nvSpPr>
        <p:spPr>
          <a:xfrm>
            <a:off x="7006133" y="3757270"/>
            <a:ext cx="28346" cy="609905"/>
          </a:xfrm>
          <a:prstGeom prst="rect">
            <a:avLst/>
          </a:prstGeom>
          <a:solidFill>
            <a:srgbClr val="10B981"/>
          </a:solidFill>
          <a:ln/>
        </p:spPr>
        <p:txBody>
          <a:bodyPr/>
          <a:lstStyle/>
          <a:p>
            <a:endParaRPr lang="ja-JP" altLang="en-US"/>
          </a:p>
        </p:txBody>
      </p:sp>
      <p:sp>
        <p:nvSpPr>
          <p:cNvPr id="53" name="Text 43"/>
          <p:cNvSpPr txBox="1"/>
          <p:nvPr/>
        </p:nvSpPr>
        <p:spPr>
          <a:xfrm>
            <a:off x="7148779" y="3871570"/>
            <a:ext cx="1279246" cy="152705"/>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LEVEL 1: 運用・技術課題</a:t>
            </a:r>
            <a:endParaRPr lang="en-US" sz="800" dirty="0"/>
          </a:p>
        </p:txBody>
      </p:sp>
      <p:sp>
        <p:nvSpPr>
          <p:cNvPr id="54" name="Text 44"/>
          <p:cNvSpPr txBox="1"/>
          <p:nvPr/>
        </p:nvSpPr>
        <p:spPr>
          <a:xfrm>
            <a:off x="7148779" y="4067251"/>
            <a:ext cx="1988820" cy="181051"/>
          </a:xfrm>
          <a:prstGeom prst="rect">
            <a:avLst/>
          </a:prstGeom>
          <a:noFill/>
          <a:ln/>
        </p:spPr>
        <p:txBody>
          <a:bodyPr wrap="square" lIns="0" tIns="0" rIns="0" bIns="0" rtlCol="0" anchor="ctr"/>
          <a:lstStyle/>
          <a:p>
            <a:pPr marL="0" indent="0" algn="l">
              <a:buNone/>
            </a:pPr>
            <a:r>
              <a:rPr lang="en-US" sz="900" dirty="0">
                <a:solidFill>
                  <a:srgbClr val="1E293B"/>
                </a:solidFill>
                <a:latin typeface="Noto Sans JP" pitchFamily="34" charset="0"/>
                <a:ea typeface="Noto Sans JP" pitchFamily="34" charset="-122"/>
                <a:cs typeface="Noto Sans JP" pitchFamily="34" charset="-120"/>
              </a:rPr>
              <a:t>事業部AIリーダー → CoE技術担当</a:t>
            </a:r>
            <a:endParaRPr lang="en-US" sz="900" dirty="0"/>
          </a:p>
        </p:txBody>
      </p:sp>
      <p:sp>
        <p:nvSpPr>
          <p:cNvPr id="55" name="Shape 45"/>
          <p:cNvSpPr/>
          <p:nvPr/>
        </p:nvSpPr>
        <p:spPr>
          <a:xfrm>
            <a:off x="7006133" y="4481474"/>
            <a:ext cx="4390949" cy="609905"/>
          </a:xfrm>
          <a:prstGeom prst="roundRect">
            <a:avLst>
              <a:gd name="adj" fmla="val 18741"/>
            </a:avLst>
          </a:prstGeom>
          <a:solidFill>
            <a:srgbClr val="F8FAFC"/>
          </a:solidFill>
          <a:ln/>
        </p:spPr>
        <p:txBody>
          <a:bodyPr/>
          <a:lstStyle/>
          <a:p>
            <a:endParaRPr lang="ja-JP" altLang="en-US"/>
          </a:p>
        </p:txBody>
      </p:sp>
      <p:sp>
        <p:nvSpPr>
          <p:cNvPr id="56" name="Shape 46"/>
          <p:cNvSpPr/>
          <p:nvPr/>
        </p:nvSpPr>
        <p:spPr>
          <a:xfrm>
            <a:off x="7006133" y="4481474"/>
            <a:ext cx="28346" cy="609905"/>
          </a:xfrm>
          <a:prstGeom prst="rect">
            <a:avLst/>
          </a:prstGeom>
          <a:solidFill>
            <a:srgbClr val="F59E0B"/>
          </a:solidFill>
          <a:ln/>
        </p:spPr>
        <p:txBody>
          <a:bodyPr/>
          <a:lstStyle/>
          <a:p>
            <a:endParaRPr lang="ja-JP" altLang="en-US"/>
          </a:p>
        </p:txBody>
      </p:sp>
      <p:sp>
        <p:nvSpPr>
          <p:cNvPr id="57" name="Text 47"/>
          <p:cNvSpPr txBox="1"/>
          <p:nvPr/>
        </p:nvSpPr>
        <p:spPr>
          <a:xfrm>
            <a:off x="7148779" y="4595774"/>
            <a:ext cx="1479499" cy="152705"/>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LEVEL 2: リソース・予算調整</a:t>
            </a:r>
            <a:endParaRPr lang="en-US" sz="800" dirty="0"/>
          </a:p>
        </p:txBody>
      </p:sp>
      <p:sp>
        <p:nvSpPr>
          <p:cNvPr id="58" name="Text 48"/>
          <p:cNvSpPr txBox="1"/>
          <p:nvPr/>
        </p:nvSpPr>
        <p:spPr>
          <a:xfrm>
            <a:off x="7148779" y="4791456"/>
            <a:ext cx="2236622" cy="181051"/>
          </a:xfrm>
          <a:prstGeom prst="rect">
            <a:avLst/>
          </a:prstGeom>
          <a:noFill/>
          <a:ln/>
        </p:spPr>
        <p:txBody>
          <a:bodyPr wrap="square" lIns="0" tIns="0" rIns="0" bIns="0" rtlCol="0" anchor="ctr"/>
          <a:lstStyle/>
          <a:p>
            <a:pPr marL="0" indent="0" algn="l">
              <a:buNone/>
            </a:pPr>
            <a:r>
              <a:rPr lang="en-US" sz="900" dirty="0">
                <a:solidFill>
                  <a:srgbClr val="1E293B"/>
                </a:solidFill>
                <a:latin typeface="Noto Sans JP" pitchFamily="34" charset="0"/>
                <a:ea typeface="Noto Sans JP" pitchFamily="34" charset="-122"/>
                <a:cs typeface="Noto Sans JP" pitchFamily="34" charset="-120"/>
              </a:rPr>
              <a:t>事業部長 → CoE責任者（AI推進室長）</a:t>
            </a:r>
            <a:endParaRPr lang="en-US" sz="900" dirty="0"/>
          </a:p>
        </p:txBody>
      </p:sp>
      <p:sp>
        <p:nvSpPr>
          <p:cNvPr id="59" name="Shape 49"/>
          <p:cNvSpPr/>
          <p:nvPr/>
        </p:nvSpPr>
        <p:spPr>
          <a:xfrm>
            <a:off x="7006133" y="5205679"/>
            <a:ext cx="4390949" cy="609905"/>
          </a:xfrm>
          <a:prstGeom prst="roundRect">
            <a:avLst>
              <a:gd name="adj" fmla="val 18741"/>
            </a:avLst>
          </a:prstGeom>
          <a:solidFill>
            <a:srgbClr val="F8FAFC"/>
          </a:solidFill>
          <a:ln/>
        </p:spPr>
        <p:txBody>
          <a:bodyPr/>
          <a:lstStyle/>
          <a:p>
            <a:endParaRPr lang="ja-JP" altLang="en-US"/>
          </a:p>
        </p:txBody>
      </p:sp>
      <p:sp>
        <p:nvSpPr>
          <p:cNvPr id="60" name="Shape 50"/>
          <p:cNvSpPr/>
          <p:nvPr/>
        </p:nvSpPr>
        <p:spPr>
          <a:xfrm>
            <a:off x="7006133" y="5205679"/>
            <a:ext cx="28346" cy="609905"/>
          </a:xfrm>
          <a:prstGeom prst="rect">
            <a:avLst/>
          </a:prstGeom>
          <a:solidFill>
            <a:srgbClr val="EF4444"/>
          </a:solidFill>
          <a:ln/>
        </p:spPr>
        <p:txBody>
          <a:bodyPr/>
          <a:lstStyle/>
          <a:p>
            <a:endParaRPr lang="ja-JP" altLang="en-US"/>
          </a:p>
        </p:txBody>
      </p:sp>
      <p:sp>
        <p:nvSpPr>
          <p:cNvPr id="61" name="Text 51"/>
          <p:cNvSpPr txBox="1"/>
          <p:nvPr/>
        </p:nvSpPr>
        <p:spPr>
          <a:xfrm>
            <a:off x="7148779" y="5319979"/>
            <a:ext cx="1583741" cy="152705"/>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LEVEL 3: 重大リスク・方針変更</a:t>
            </a:r>
            <a:endParaRPr lang="en-US" sz="800" dirty="0"/>
          </a:p>
        </p:txBody>
      </p:sp>
      <p:sp>
        <p:nvSpPr>
          <p:cNvPr id="62" name="Text 52"/>
          <p:cNvSpPr txBox="1"/>
          <p:nvPr/>
        </p:nvSpPr>
        <p:spPr>
          <a:xfrm>
            <a:off x="7148779" y="5514746"/>
            <a:ext cx="1474013" cy="181051"/>
          </a:xfrm>
          <a:prstGeom prst="rect">
            <a:avLst/>
          </a:prstGeom>
          <a:noFill/>
          <a:ln/>
        </p:spPr>
        <p:txBody>
          <a:bodyPr wrap="square" lIns="0" tIns="0" rIns="0" bIns="0" rtlCol="0" anchor="ctr"/>
          <a:lstStyle/>
          <a:p>
            <a:pPr marL="0" indent="0" algn="l">
              <a:buNone/>
            </a:pPr>
            <a:r>
              <a:rPr lang="en-US" sz="900" dirty="0">
                <a:solidFill>
                  <a:srgbClr val="1E293B"/>
                </a:solidFill>
                <a:latin typeface="Noto Sans JP" pitchFamily="34" charset="0"/>
                <a:ea typeface="Noto Sans JP" pitchFamily="34" charset="-122"/>
                <a:cs typeface="Noto Sans JP" pitchFamily="34" charset="-120"/>
              </a:rPr>
              <a:t>DX推進委員会 / 経営会議</a:t>
            </a:r>
            <a:endParaRPr lang="en-US" sz="900" dirty="0"/>
          </a:p>
        </p:txBody>
      </p:sp>
      <p:sp>
        <p:nvSpPr>
          <p:cNvPr id="63" name="Text 53"/>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181405"/>
          </a:xfrm>
          <a:prstGeom prst="rect">
            <a:avLst/>
          </a:prstGeom>
          <a:solidFill>
            <a:srgbClr val="FFFFFF"/>
          </a:solidFill>
          <a:ln/>
        </p:spPr>
        <p:txBody>
          <a:bodyPr/>
          <a:lstStyle/>
          <a:p>
            <a:endParaRPr lang="ja-JP" altLang="en-US"/>
          </a:p>
        </p:txBody>
      </p:sp>
      <p:sp>
        <p:nvSpPr>
          <p:cNvPr id="5" name="Shape 3"/>
          <p:cNvSpPr/>
          <p:nvPr/>
        </p:nvSpPr>
        <p:spPr>
          <a:xfrm>
            <a:off x="0" y="1172261"/>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267005"/>
            <a:ext cx="3581705" cy="438912"/>
          </a:xfrm>
          <a:prstGeom prst="rect">
            <a:avLst/>
          </a:prstGeom>
          <a:noFill/>
          <a:ln/>
        </p:spPr>
        <p:txBody>
          <a:bodyPr wrap="square" lIns="0" tIns="0" rIns="0" bIns="0" rtlCol="0" anchor="ctr"/>
          <a:lstStyle/>
          <a:p>
            <a:pPr marL="0" indent="0" algn="l">
              <a:buNone/>
            </a:pPr>
            <a:r>
              <a:rPr lang="en-US" sz="2400" b="1" dirty="0">
                <a:solidFill>
                  <a:srgbClr val="1E3A8A"/>
                </a:solidFill>
                <a:latin typeface="Noto Sans JP" pitchFamily="34" charset="0"/>
                <a:ea typeface="Noto Sans JP" pitchFamily="34" charset="-122"/>
                <a:cs typeface="Noto Sans JP" pitchFamily="34" charset="-120"/>
              </a:rPr>
              <a:t>役割分担フレームワーク</a:t>
            </a:r>
            <a:endParaRPr lang="en-US" sz="2400" dirty="0"/>
          </a:p>
        </p:txBody>
      </p:sp>
      <p:sp>
        <p:nvSpPr>
          <p:cNvPr id="7" name="Text 5"/>
          <p:cNvSpPr txBox="1"/>
          <p:nvPr/>
        </p:nvSpPr>
        <p:spPr>
          <a:xfrm>
            <a:off x="609905" y="747065"/>
            <a:ext cx="3600907" cy="228600"/>
          </a:xfrm>
          <a:prstGeom prst="rect">
            <a:avLst/>
          </a:prstGeom>
          <a:noFill/>
          <a:ln/>
        </p:spPr>
        <p:txBody>
          <a:bodyPr wrap="square" lIns="0" tIns="0" rIns="0" bIns="0" rtlCol="0" anchor="ctr"/>
          <a:lstStyle/>
          <a:p>
            <a:pPr marL="0" indent="0" algn="l">
              <a:buNone/>
            </a:pPr>
            <a:r>
              <a:rPr lang="en-US" sz="1200" dirty="0">
                <a:solidFill>
                  <a:srgbClr val="64748B"/>
                </a:solidFill>
                <a:latin typeface="Noto Sans JP" pitchFamily="34" charset="0"/>
                <a:ea typeface="Noto Sans JP" pitchFamily="34" charset="-122"/>
                <a:cs typeface="Noto Sans JP" pitchFamily="34" charset="-120"/>
              </a:rPr>
              <a:t>中央組織（CoE）と事業部の責任範囲と連携モデル</a:t>
            </a:r>
            <a:endParaRPr lang="en-US" sz="1200" dirty="0"/>
          </a:p>
        </p:txBody>
      </p:sp>
      <p:sp>
        <p:nvSpPr>
          <p:cNvPr id="8" name="Shape 6"/>
          <p:cNvSpPr/>
          <p:nvPr/>
        </p:nvSpPr>
        <p:spPr>
          <a:xfrm>
            <a:off x="10470794" y="661111"/>
            <a:ext cx="1114654" cy="314554"/>
          </a:xfrm>
          <a:prstGeom prst="roundRect">
            <a:avLst>
              <a:gd name="adj" fmla="val 176180"/>
            </a:avLst>
          </a:prstGeom>
          <a:solidFill>
            <a:srgbClr val="4F46E5"/>
          </a:solidFill>
          <a:ln/>
        </p:spPr>
        <p:txBody>
          <a:bodyPr/>
          <a:lstStyle/>
          <a:p>
            <a:endParaRPr lang="ja-JP" altLang="en-US"/>
          </a:p>
        </p:txBody>
      </p:sp>
      <p:sp>
        <p:nvSpPr>
          <p:cNvPr id="9" name="Text 7"/>
          <p:cNvSpPr txBox="1"/>
          <p:nvPr/>
        </p:nvSpPr>
        <p:spPr>
          <a:xfrm>
            <a:off x="10623499" y="717804"/>
            <a:ext cx="909828" cy="191110"/>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JP" pitchFamily="34" charset="0"/>
                <a:ea typeface="Noto Sans JP" pitchFamily="34" charset="-122"/>
                <a:cs typeface="Noto Sans JP" pitchFamily="34" charset="-120"/>
              </a:rPr>
              <a:t>Framework</a:t>
            </a:r>
            <a:endParaRPr lang="en-US" sz="1000" dirty="0"/>
          </a:p>
        </p:txBody>
      </p:sp>
      <p:sp>
        <p:nvSpPr>
          <p:cNvPr id="11" name="Shape 9"/>
          <p:cNvSpPr/>
          <p:nvPr/>
        </p:nvSpPr>
        <p:spPr>
          <a:xfrm>
            <a:off x="609905" y="1480414"/>
            <a:ext cx="7343546" cy="5181905"/>
          </a:xfrm>
          <a:prstGeom prst="roundRect">
            <a:avLst>
              <a:gd name="adj" fmla="val 519"/>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12" name="Shape 10"/>
          <p:cNvSpPr/>
          <p:nvPr/>
        </p:nvSpPr>
        <p:spPr>
          <a:xfrm>
            <a:off x="619049" y="1489558"/>
            <a:ext cx="7324344" cy="514807"/>
          </a:xfrm>
          <a:prstGeom prst="rect">
            <a:avLst/>
          </a:prstGeom>
          <a:solidFill>
            <a:srgbClr val="F1F5F9"/>
          </a:solidFill>
          <a:ln/>
        </p:spPr>
        <p:txBody>
          <a:bodyPr/>
          <a:lstStyle/>
          <a:p>
            <a:endParaRPr lang="ja-JP" altLang="en-US"/>
          </a:p>
        </p:txBody>
      </p:sp>
      <p:sp>
        <p:nvSpPr>
          <p:cNvPr id="13" name="Shape 11"/>
          <p:cNvSpPr/>
          <p:nvPr/>
        </p:nvSpPr>
        <p:spPr>
          <a:xfrm>
            <a:off x="619049" y="1995221"/>
            <a:ext cx="7324344" cy="9144"/>
          </a:xfrm>
          <a:prstGeom prst="rect">
            <a:avLst/>
          </a:prstGeom>
          <a:solidFill>
            <a:srgbClr val="E2E8F0"/>
          </a:solidFill>
          <a:ln/>
        </p:spPr>
        <p:txBody>
          <a:bodyPr/>
          <a:lstStyle/>
          <a:p>
            <a:endParaRPr lang="ja-JP" altLang="en-US"/>
          </a:p>
        </p:txBody>
      </p:sp>
      <p:sp>
        <p:nvSpPr>
          <p:cNvPr id="14" name="Text 12"/>
          <p:cNvSpPr txBox="1"/>
          <p:nvPr/>
        </p:nvSpPr>
        <p:spPr>
          <a:xfrm>
            <a:off x="1209751" y="1642262"/>
            <a:ext cx="633679" cy="200254"/>
          </a:xfrm>
          <a:prstGeom prst="rect">
            <a:avLst/>
          </a:prstGeom>
          <a:noFill/>
          <a:ln/>
        </p:spPr>
        <p:txBody>
          <a:bodyPr wrap="square" lIns="0" tIns="0" rIns="0" bIns="0" rtlCol="0" anchor="ctr"/>
          <a:lstStyle/>
          <a:p>
            <a:pPr marL="0" indent="0" algn="ctr">
              <a:buNone/>
            </a:pPr>
            <a:r>
              <a:rPr lang="en-US" sz="1000" b="1" dirty="0">
                <a:solidFill>
                  <a:srgbClr val="475569"/>
                </a:solidFill>
                <a:latin typeface="Noto Sans JP" pitchFamily="34" charset="0"/>
                <a:ea typeface="Noto Sans JP" pitchFamily="34" charset="-122"/>
                <a:cs typeface="Noto Sans JP" pitchFamily="34" charset="-120"/>
              </a:rPr>
              <a:t>機能領域</a:t>
            </a:r>
            <a:endParaRPr lang="en-US" sz="1000" dirty="0"/>
          </a:p>
        </p:txBody>
      </p:sp>
      <p:sp>
        <p:nvSpPr>
          <p:cNvPr id="15" name="Shape 13"/>
          <p:cNvSpPr/>
          <p:nvPr/>
        </p:nvSpPr>
        <p:spPr>
          <a:xfrm>
            <a:off x="2333549" y="1489558"/>
            <a:ext cx="2809951" cy="504749"/>
          </a:xfrm>
          <a:prstGeom prst="rect">
            <a:avLst/>
          </a:prstGeom>
          <a:solidFill>
            <a:srgbClr val="EFF6FF"/>
          </a:solidFill>
          <a:ln/>
        </p:spPr>
        <p:txBody>
          <a:bodyPr/>
          <a:lstStyle/>
          <a:p>
            <a:endParaRPr lang="ja-JP" altLang="en-US"/>
          </a:p>
        </p:txBody>
      </p:sp>
      <p:sp>
        <p:nvSpPr>
          <p:cNvPr id="16" name="Shape 14"/>
          <p:cNvSpPr/>
          <p:nvPr/>
        </p:nvSpPr>
        <p:spPr>
          <a:xfrm>
            <a:off x="2333549" y="1489558"/>
            <a:ext cx="9144" cy="504749"/>
          </a:xfrm>
          <a:prstGeom prst="rect">
            <a:avLst/>
          </a:prstGeom>
          <a:solidFill>
            <a:srgbClr val="BFDBFE"/>
          </a:solidFill>
          <a:ln/>
        </p:spPr>
        <p:txBody>
          <a:bodyPr/>
          <a:lstStyle/>
          <a:p>
            <a:endParaRPr lang="ja-JP" altLang="en-US"/>
          </a:p>
        </p:txBody>
      </p:sp>
      <p:pic>
        <p:nvPicPr>
          <p:cNvPr id="17" name="Image 0" descr="preencoded.png"/>
          <p:cNvPicPr>
            <a:picLocks noChangeAspect="1"/>
          </p:cNvPicPr>
          <p:nvPr/>
        </p:nvPicPr>
        <p:blipFill>
          <a:blip r:embed="rId3"/>
          <a:srcRect/>
          <a:stretch/>
        </p:blipFill>
        <p:spPr>
          <a:xfrm>
            <a:off x="3176626" y="1675181"/>
            <a:ext cx="133502" cy="133502"/>
          </a:xfrm>
          <a:prstGeom prst="rect">
            <a:avLst/>
          </a:prstGeom>
        </p:spPr>
      </p:pic>
      <p:sp>
        <p:nvSpPr>
          <p:cNvPr id="18" name="Text 15"/>
          <p:cNvSpPr txBox="1"/>
          <p:nvPr/>
        </p:nvSpPr>
        <p:spPr>
          <a:xfrm>
            <a:off x="3386023" y="1642262"/>
            <a:ext cx="1024128" cy="200254"/>
          </a:xfrm>
          <a:prstGeom prst="rect">
            <a:avLst/>
          </a:prstGeom>
          <a:noFill/>
          <a:ln/>
        </p:spPr>
        <p:txBody>
          <a:bodyPr wrap="square" lIns="0" tIns="0" rIns="0" bIns="0" rtlCol="0" anchor="ctr"/>
          <a:lstStyle/>
          <a:p>
            <a:pPr marL="0" indent="0" algn="ctr">
              <a:buNone/>
            </a:pPr>
            <a:r>
              <a:rPr lang="en-US" sz="1000" b="1" dirty="0">
                <a:solidFill>
                  <a:srgbClr val="1E40AF"/>
                </a:solidFill>
                <a:latin typeface="Noto Sans JP" pitchFamily="34" charset="0"/>
                <a:ea typeface="Noto Sans JP" pitchFamily="34" charset="-122"/>
                <a:cs typeface="Noto Sans JP" pitchFamily="34" charset="-120"/>
              </a:rPr>
              <a:t>中央組織 (CoE)</a:t>
            </a:r>
            <a:endParaRPr lang="en-US" sz="1000" dirty="0"/>
          </a:p>
        </p:txBody>
      </p:sp>
      <p:sp>
        <p:nvSpPr>
          <p:cNvPr id="19" name="Shape 16"/>
          <p:cNvSpPr/>
          <p:nvPr/>
        </p:nvSpPr>
        <p:spPr>
          <a:xfrm>
            <a:off x="5137099" y="1489558"/>
            <a:ext cx="2809951" cy="504749"/>
          </a:xfrm>
          <a:prstGeom prst="rect">
            <a:avLst/>
          </a:prstGeom>
          <a:solidFill>
            <a:srgbClr val="F0FDF4"/>
          </a:solidFill>
          <a:ln/>
        </p:spPr>
        <p:txBody>
          <a:bodyPr/>
          <a:lstStyle/>
          <a:p>
            <a:endParaRPr lang="ja-JP" altLang="en-US"/>
          </a:p>
        </p:txBody>
      </p:sp>
      <p:sp>
        <p:nvSpPr>
          <p:cNvPr id="20" name="Shape 17"/>
          <p:cNvSpPr/>
          <p:nvPr/>
        </p:nvSpPr>
        <p:spPr>
          <a:xfrm>
            <a:off x="5137099" y="1489558"/>
            <a:ext cx="9144" cy="504749"/>
          </a:xfrm>
          <a:prstGeom prst="rect">
            <a:avLst/>
          </a:prstGeom>
          <a:solidFill>
            <a:srgbClr val="BBF7D0"/>
          </a:solidFill>
          <a:ln/>
        </p:spPr>
        <p:txBody>
          <a:bodyPr/>
          <a:lstStyle/>
          <a:p>
            <a:endParaRPr lang="ja-JP" altLang="en-US"/>
          </a:p>
        </p:txBody>
      </p:sp>
      <p:pic>
        <p:nvPicPr>
          <p:cNvPr id="21" name="Image 1" descr="preencoded.png"/>
          <p:cNvPicPr>
            <a:picLocks noChangeAspect="1"/>
          </p:cNvPicPr>
          <p:nvPr/>
        </p:nvPicPr>
        <p:blipFill>
          <a:blip r:embed="rId4"/>
          <a:srcRect l="-837" r="-837"/>
          <a:stretch/>
        </p:blipFill>
        <p:spPr>
          <a:xfrm>
            <a:off x="6228893" y="1675181"/>
            <a:ext cx="152705" cy="133502"/>
          </a:xfrm>
          <a:prstGeom prst="rect">
            <a:avLst/>
          </a:prstGeom>
        </p:spPr>
      </p:pic>
      <p:sp>
        <p:nvSpPr>
          <p:cNvPr id="22" name="Text 18"/>
          <p:cNvSpPr txBox="1"/>
          <p:nvPr/>
        </p:nvSpPr>
        <p:spPr>
          <a:xfrm>
            <a:off x="6457493" y="1642262"/>
            <a:ext cx="500177" cy="200254"/>
          </a:xfrm>
          <a:prstGeom prst="rect">
            <a:avLst/>
          </a:prstGeom>
          <a:noFill/>
          <a:ln/>
        </p:spPr>
        <p:txBody>
          <a:bodyPr wrap="square" lIns="0" tIns="0" rIns="0" bIns="0" rtlCol="0" anchor="ctr"/>
          <a:lstStyle/>
          <a:p>
            <a:pPr marL="0" indent="0" algn="ctr">
              <a:buNone/>
            </a:pPr>
            <a:r>
              <a:rPr lang="en-US" sz="1000" b="1" dirty="0">
                <a:solidFill>
                  <a:srgbClr val="166534"/>
                </a:solidFill>
                <a:latin typeface="Noto Sans JP" pitchFamily="34" charset="0"/>
                <a:ea typeface="Noto Sans JP" pitchFamily="34" charset="-122"/>
                <a:cs typeface="Noto Sans JP" pitchFamily="34" charset="-120"/>
              </a:rPr>
              <a:t>事業部</a:t>
            </a:r>
            <a:endParaRPr lang="en-US" sz="1000" dirty="0"/>
          </a:p>
        </p:txBody>
      </p:sp>
      <p:sp>
        <p:nvSpPr>
          <p:cNvPr id="23" name="Shape 19"/>
          <p:cNvSpPr/>
          <p:nvPr/>
        </p:nvSpPr>
        <p:spPr>
          <a:xfrm>
            <a:off x="619049" y="3062326"/>
            <a:ext cx="7324344" cy="9144"/>
          </a:xfrm>
          <a:prstGeom prst="rect">
            <a:avLst/>
          </a:prstGeom>
          <a:solidFill>
            <a:srgbClr val="F1F5F9"/>
          </a:solidFill>
          <a:ln/>
        </p:spPr>
        <p:txBody>
          <a:bodyPr/>
          <a:lstStyle/>
          <a:p>
            <a:endParaRPr lang="ja-JP" altLang="en-US"/>
          </a:p>
        </p:txBody>
      </p:sp>
      <p:sp>
        <p:nvSpPr>
          <p:cNvPr id="24" name="Shape 20"/>
          <p:cNvSpPr/>
          <p:nvPr/>
        </p:nvSpPr>
        <p:spPr>
          <a:xfrm>
            <a:off x="619049" y="2004365"/>
            <a:ext cx="1714500" cy="1057046"/>
          </a:xfrm>
          <a:prstGeom prst="rect">
            <a:avLst/>
          </a:prstGeom>
          <a:solidFill>
            <a:srgbClr val="F8FAFC"/>
          </a:solidFill>
          <a:ln/>
        </p:spPr>
        <p:txBody>
          <a:bodyPr/>
          <a:lstStyle/>
          <a:p>
            <a:endParaRPr lang="ja-JP" altLang="en-US"/>
          </a:p>
        </p:txBody>
      </p:sp>
      <p:sp>
        <p:nvSpPr>
          <p:cNvPr id="25" name="Shape 21"/>
          <p:cNvSpPr/>
          <p:nvPr/>
        </p:nvSpPr>
        <p:spPr>
          <a:xfrm>
            <a:off x="2324405" y="2004365"/>
            <a:ext cx="9144" cy="1057046"/>
          </a:xfrm>
          <a:prstGeom prst="rect">
            <a:avLst/>
          </a:prstGeom>
          <a:solidFill>
            <a:srgbClr val="E2E8F0"/>
          </a:solidFill>
          <a:ln/>
        </p:spPr>
        <p:txBody>
          <a:bodyPr/>
          <a:lstStyle/>
          <a:p>
            <a:endParaRPr lang="ja-JP" altLang="en-US"/>
          </a:p>
        </p:txBody>
      </p:sp>
      <p:pic>
        <p:nvPicPr>
          <p:cNvPr id="26" name="Image 2" descr="preencoded.png"/>
          <p:cNvPicPr>
            <a:picLocks noChangeAspect="1"/>
          </p:cNvPicPr>
          <p:nvPr/>
        </p:nvPicPr>
        <p:blipFill>
          <a:blip r:embed="rId5"/>
          <a:srcRect l="-318029" r="-318029"/>
          <a:stretch/>
        </p:blipFill>
        <p:spPr>
          <a:xfrm>
            <a:off x="771754" y="2296058"/>
            <a:ext cx="1399946" cy="190195"/>
          </a:xfrm>
          <a:prstGeom prst="rect">
            <a:avLst/>
          </a:prstGeom>
        </p:spPr>
      </p:pic>
      <p:sp>
        <p:nvSpPr>
          <p:cNvPr id="27" name="Text 22"/>
          <p:cNvSpPr txBox="1"/>
          <p:nvPr/>
        </p:nvSpPr>
        <p:spPr>
          <a:xfrm>
            <a:off x="771754" y="2563063"/>
            <a:ext cx="1167689" cy="191110"/>
          </a:xfrm>
          <a:prstGeom prst="rect">
            <a:avLst/>
          </a:prstGeom>
          <a:noFill/>
          <a:ln/>
        </p:spPr>
        <p:txBody>
          <a:bodyPr wrap="square" lIns="0" tIns="0" rIns="0" bIns="0" rtlCol="0" anchor="ctr"/>
          <a:lstStyle/>
          <a:p>
            <a:pPr marL="0" indent="0" algn="l">
              <a:buNone/>
            </a:pPr>
            <a:r>
              <a:rPr lang="en-US" sz="1000" b="1" dirty="0">
                <a:solidFill>
                  <a:srgbClr val="334155"/>
                </a:solidFill>
                <a:latin typeface="Noto Sans JP" pitchFamily="34" charset="0"/>
                <a:ea typeface="Noto Sans JP" pitchFamily="34" charset="-122"/>
                <a:cs typeface="Noto Sans JP" pitchFamily="34" charset="-120"/>
              </a:rPr>
              <a:t>戦略・ガバナンス</a:t>
            </a:r>
            <a:endParaRPr lang="en-US" sz="1000" dirty="0"/>
          </a:p>
        </p:txBody>
      </p:sp>
      <p:sp>
        <p:nvSpPr>
          <p:cNvPr id="28" name="Shape 23"/>
          <p:cNvSpPr/>
          <p:nvPr/>
        </p:nvSpPr>
        <p:spPr>
          <a:xfrm>
            <a:off x="2333549" y="2004365"/>
            <a:ext cx="2809951" cy="1057046"/>
          </a:xfrm>
          <a:prstGeom prst="rect">
            <a:avLst/>
          </a:prstGeom>
          <a:solidFill>
            <a:srgbClr val="EFF6FF">
              <a:alpha val="30000"/>
            </a:srgbClr>
          </a:solidFill>
          <a:ln/>
        </p:spPr>
        <p:txBody>
          <a:bodyPr/>
          <a:lstStyle/>
          <a:p>
            <a:endParaRPr lang="ja-JP" altLang="en-US"/>
          </a:p>
        </p:txBody>
      </p:sp>
      <p:sp>
        <p:nvSpPr>
          <p:cNvPr id="29" name="Shape 24"/>
          <p:cNvSpPr/>
          <p:nvPr/>
        </p:nvSpPr>
        <p:spPr>
          <a:xfrm>
            <a:off x="5134356" y="2004365"/>
            <a:ext cx="9144" cy="1057046"/>
          </a:xfrm>
          <a:prstGeom prst="rect">
            <a:avLst/>
          </a:prstGeom>
          <a:solidFill>
            <a:srgbClr val="E2E8F0"/>
          </a:solidFill>
          <a:ln/>
        </p:spPr>
        <p:txBody>
          <a:bodyPr/>
          <a:lstStyle/>
          <a:p>
            <a:endParaRPr lang="ja-JP" altLang="en-US"/>
          </a:p>
        </p:txBody>
      </p:sp>
      <p:sp>
        <p:nvSpPr>
          <p:cNvPr id="30" name="Text 25"/>
          <p:cNvSpPr txBox="1"/>
          <p:nvPr/>
        </p:nvSpPr>
        <p:spPr>
          <a:xfrm>
            <a:off x="2486254" y="2156155"/>
            <a:ext cx="1721815"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主導 全社AIロードマップ策定</a:t>
            </a:r>
            <a:endParaRPr lang="en-US" sz="900" dirty="0"/>
          </a:p>
        </p:txBody>
      </p:sp>
      <p:sp>
        <p:nvSpPr>
          <p:cNvPr id="31" name="Text 26"/>
          <p:cNvSpPr txBox="1"/>
          <p:nvPr/>
        </p:nvSpPr>
        <p:spPr>
          <a:xfrm>
            <a:off x="2486254" y="2430475"/>
            <a:ext cx="2474366"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主導 セキュリティ・利用ガイドライン策定</a:t>
            </a:r>
            <a:endParaRPr lang="en-US" sz="900" dirty="0"/>
          </a:p>
        </p:txBody>
      </p:sp>
      <p:sp>
        <p:nvSpPr>
          <p:cNvPr id="32" name="Text 27"/>
          <p:cNvSpPr txBox="1"/>
          <p:nvPr/>
        </p:nvSpPr>
        <p:spPr>
          <a:xfrm>
            <a:off x="2486254" y="2704795"/>
            <a:ext cx="1684325"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管理 全社KPIのモニタリング</a:t>
            </a:r>
            <a:endParaRPr lang="en-US" sz="900" dirty="0"/>
          </a:p>
        </p:txBody>
      </p:sp>
      <p:sp>
        <p:nvSpPr>
          <p:cNvPr id="33" name="Shape 28"/>
          <p:cNvSpPr/>
          <p:nvPr/>
        </p:nvSpPr>
        <p:spPr>
          <a:xfrm>
            <a:off x="5137099" y="2004365"/>
            <a:ext cx="2809951" cy="1057046"/>
          </a:xfrm>
          <a:prstGeom prst="rect">
            <a:avLst/>
          </a:prstGeom>
          <a:solidFill>
            <a:srgbClr val="F0FDF4">
              <a:alpha val="30000"/>
            </a:srgbClr>
          </a:solidFill>
          <a:ln/>
        </p:spPr>
        <p:txBody>
          <a:bodyPr/>
          <a:lstStyle/>
          <a:p>
            <a:endParaRPr lang="ja-JP" altLang="en-US"/>
          </a:p>
        </p:txBody>
      </p:sp>
      <p:sp>
        <p:nvSpPr>
          <p:cNvPr id="34" name="Text 29"/>
          <p:cNvSpPr txBox="1"/>
          <p:nvPr/>
        </p:nvSpPr>
        <p:spPr>
          <a:xfrm>
            <a:off x="5289804" y="2156155"/>
            <a:ext cx="1855318"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遵守 ガイドラインに沿った運用</a:t>
            </a:r>
            <a:endParaRPr lang="en-US" sz="900" dirty="0"/>
          </a:p>
        </p:txBody>
      </p:sp>
      <p:sp>
        <p:nvSpPr>
          <p:cNvPr id="35" name="Text 30"/>
          <p:cNvSpPr txBox="1"/>
          <p:nvPr/>
        </p:nvSpPr>
        <p:spPr>
          <a:xfrm>
            <a:off x="5289804" y="2430475"/>
            <a:ext cx="1931213"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報告 事業部KPI・課題の定期報告</a:t>
            </a:r>
            <a:endParaRPr lang="en-US" sz="900" dirty="0"/>
          </a:p>
        </p:txBody>
      </p:sp>
      <p:sp>
        <p:nvSpPr>
          <p:cNvPr id="36" name="Text 31"/>
          <p:cNvSpPr txBox="1"/>
          <p:nvPr/>
        </p:nvSpPr>
        <p:spPr>
          <a:xfrm>
            <a:off x="5289804" y="2704795"/>
            <a:ext cx="2350922"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提案 現場ニーズに基づくルール改善提案</a:t>
            </a:r>
            <a:endParaRPr lang="en-US" sz="900" dirty="0"/>
          </a:p>
        </p:txBody>
      </p:sp>
      <p:sp>
        <p:nvSpPr>
          <p:cNvPr id="37" name="Shape 32"/>
          <p:cNvSpPr/>
          <p:nvPr/>
        </p:nvSpPr>
        <p:spPr>
          <a:xfrm>
            <a:off x="619049" y="4123030"/>
            <a:ext cx="7324344" cy="9144"/>
          </a:xfrm>
          <a:prstGeom prst="rect">
            <a:avLst/>
          </a:prstGeom>
          <a:solidFill>
            <a:srgbClr val="F1F5F9"/>
          </a:solidFill>
          <a:ln/>
        </p:spPr>
        <p:txBody>
          <a:bodyPr/>
          <a:lstStyle/>
          <a:p>
            <a:endParaRPr lang="ja-JP" altLang="en-US"/>
          </a:p>
        </p:txBody>
      </p:sp>
      <p:sp>
        <p:nvSpPr>
          <p:cNvPr id="38" name="Shape 33"/>
          <p:cNvSpPr/>
          <p:nvPr/>
        </p:nvSpPr>
        <p:spPr>
          <a:xfrm>
            <a:off x="619049" y="3065069"/>
            <a:ext cx="1714500" cy="1057046"/>
          </a:xfrm>
          <a:prstGeom prst="rect">
            <a:avLst/>
          </a:prstGeom>
          <a:solidFill>
            <a:srgbClr val="F8FAFC"/>
          </a:solidFill>
          <a:ln/>
        </p:spPr>
        <p:txBody>
          <a:bodyPr/>
          <a:lstStyle/>
          <a:p>
            <a:endParaRPr lang="ja-JP" altLang="en-US"/>
          </a:p>
        </p:txBody>
      </p:sp>
      <p:sp>
        <p:nvSpPr>
          <p:cNvPr id="39" name="Shape 34"/>
          <p:cNvSpPr/>
          <p:nvPr/>
        </p:nvSpPr>
        <p:spPr>
          <a:xfrm>
            <a:off x="2324405" y="3065069"/>
            <a:ext cx="9144" cy="1057046"/>
          </a:xfrm>
          <a:prstGeom prst="rect">
            <a:avLst/>
          </a:prstGeom>
          <a:solidFill>
            <a:srgbClr val="E2E8F0"/>
          </a:solidFill>
          <a:ln/>
        </p:spPr>
        <p:txBody>
          <a:bodyPr/>
          <a:lstStyle/>
          <a:p>
            <a:endParaRPr lang="ja-JP" altLang="en-US"/>
          </a:p>
        </p:txBody>
      </p:sp>
      <p:pic>
        <p:nvPicPr>
          <p:cNvPr id="40" name="Image 3" descr="preencoded.png"/>
          <p:cNvPicPr>
            <a:picLocks noChangeAspect="1"/>
          </p:cNvPicPr>
          <p:nvPr/>
        </p:nvPicPr>
        <p:blipFill>
          <a:blip r:embed="rId6"/>
          <a:srcRect l="-318029" r="-318029"/>
          <a:stretch/>
        </p:blipFill>
        <p:spPr>
          <a:xfrm>
            <a:off x="771754" y="3357677"/>
            <a:ext cx="1399946" cy="190195"/>
          </a:xfrm>
          <a:prstGeom prst="rect">
            <a:avLst/>
          </a:prstGeom>
        </p:spPr>
      </p:pic>
      <p:sp>
        <p:nvSpPr>
          <p:cNvPr id="41" name="Text 35"/>
          <p:cNvSpPr txBox="1"/>
          <p:nvPr/>
        </p:nvSpPr>
        <p:spPr>
          <a:xfrm>
            <a:off x="771754" y="3623767"/>
            <a:ext cx="1034186" cy="191110"/>
          </a:xfrm>
          <a:prstGeom prst="rect">
            <a:avLst/>
          </a:prstGeom>
          <a:noFill/>
          <a:ln/>
        </p:spPr>
        <p:txBody>
          <a:bodyPr wrap="square" lIns="0" tIns="0" rIns="0" bIns="0" rtlCol="0" anchor="ctr"/>
          <a:lstStyle/>
          <a:p>
            <a:pPr marL="0" indent="0" algn="l">
              <a:buNone/>
            </a:pPr>
            <a:r>
              <a:rPr lang="en-US" sz="1000" b="1" dirty="0">
                <a:solidFill>
                  <a:srgbClr val="334155"/>
                </a:solidFill>
                <a:latin typeface="Noto Sans JP" pitchFamily="34" charset="0"/>
                <a:ea typeface="Noto Sans JP" pitchFamily="34" charset="-122"/>
                <a:cs typeface="Noto Sans JP" pitchFamily="34" charset="-120"/>
              </a:rPr>
              <a:t>技術・インフラ</a:t>
            </a:r>
            <a:endParaRPr lang="en-US" sz="1000" dirty="0"/>
          </a:p>
        </p:txBody>
      </p:sp>
      <p:sp>
        <p:nvSpPr>
          <p:cNvPr id="42" name="Shape 36"/>
          <p:cNvSpPr/>
          <p:nvPr/>
        </p:nvSpPr>
        <p:spPr>
          <a:xfrm>
            <a:off x="2333549" y="3065069"/>
            <a:ext cx="2809951" cy="1057046"/>
          </a:xfrm>
          <a:prstGeom prst="rect">
            <a:avLst/>
          </a:prstGeom>
          <a:solidFill>
            <a:srgbClr val="EFF6FF">
              <a:alpha val="30000"/>
            </a:srgbClr>
          </a:solidFill>
          <a:ln/>
        </p:spPr>
        <p:txBody>
          <a:bodyPr/>
          <a:lstStyle/>
          <a:p>
            <a:endParaRPr lang="ja-JP" altLang="en-US"/>
          </a:p>
        </p:txBody>
      </p:sp>
      <p:sp>
        <p:nvSpPr>
          <p:cNvPr id="43" name="Shape 37"/>
          <p:cNvSpPr/>
          <p:nvPr/>
        </p:nvSpPr>
        <p:spPr>
          <a:xfrm>
            <a:off x="5134356" y="3065069"/>
            <a:ext cx="9144" cy="1057046"/>
          </a:xfrm>
          <a:prstGeom prst="rect">
            <a:avLst/>
          </a:prstGeom>
          <a:solidFill>
            <a:srgbClr val="E2E8F0"/>
          </a:solidFill>
          <a:ln/>
        </p:spPr>
        <p:txBody>
          <a:bodyPr/>
          <a:lstStyle/>
          <a:p>
            <a:endParaRPr lang="ja-JP" altLang="en-US"/>
          </a:p>
        </p:txBody>
      </p:sp>
      <p:sp>
        <p:nvSpPr>
          <p:cNvPr id="44" name="Text 38"/>
          <p:cNvSpPr txBox="1"/>
          <p:nvPr/>
        </p:nvSpPr>
        <p:spPr>
          <a:xfrm>
            <a:off x="2486254" y="3217774"/>
            <a:ext cx="1997964"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提供 共通基盤(Azure/M365)の整備</a:t>
            </a:r>
            <a:endParaRPr lang="en-US" sz="900" dirty="0"/>
          </a:p>
        </p:txBody>
      </p:sp>
      <p:sp>
        <p:nvSpPr>
          <p:cNvPr id="45" name="Text 39"/>
          <p:cNvSpPr txBox="1"/>
          <p:nvPr/>
        </p:nvSpPr>
        <p:spPr>
          <a:xfrm>
            <a:off x="2486254" y="3492094"/>
            <a:ext cx="1607515"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選定 技術標準・ツール選定</a:t>
            </a:r>
            <a:endParaRPr lang="en-US" sz="900" dirty="0"/>
          </a:p>
        </p:txBody>
      </p:sp>
      <p:sp>
        <p:nvSpPr>
          <p:cNvPr id="46" name="Text 40"/>
          <p:cNvSpPr txBox="1"/>
          <p:nvPr/>
        </p:nvSpPr>
        <p:spPr>
          <a:xfrm>
            <a:off x="2486254" y="3766414"/>
            <a:ext cx="2226564"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支援 技術的な相談窓口・トラブル対応</a:t>
            </a:r>
            <a:endParaRPr lang="en-US" sz="900" dirty="0"/>
          </a:p>
        </p:txBody>
      </p:sp>
      <p:sp>
        <p:nvSpPr>
          <p:cNvPr id="47" name="Shape 41"/>
          <p:cNvSpPr/>
          <p:nvPr/>
        </p:nvSpPr>
        <p:spPr>
          <a:xfrm>
            <a:off x="5137099" y="3065069"/>
            <a:ext cx="2809951" cy="1057046"/>
          </a:xfrm>
          <a:prstGeom prst="rect">
            <a:avLst/>
          </a:prstGeom>
          <a:solidFill>
            <a:srgbClr val="F0FDF4">
              <a:alpha val="30000"/>
            </a:srgbClr>
          </a:solidFill>
          <a:ln/>
        </p:spPr>
        <p:txBody>
          <a:bodyPr/>
          <a:lstStyle/>
          <a:p>
            <a:endParaRPr lang="ja-JP" altLang="en-US"/>
          </a:p>
        </p:txBody>
      </p:sp>
      <p:sp>
        <p:nvSpPr>
          <p:cNvPr id="48" name="Text 42"/>
          <p:cNvSpPr txBox="1"/>
          <p:nvPr/>
        </p:nvSpPr>
        <p:spPr>
          <a:xfrm>
            <a:off x="5289804" y="3217774"/>
            <a:ext cx="1236269"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利用 共通基盤の活用</a:t>
            </a:r>
            <a:endParaRPr lang="en-US" sz="900" dirty="0"/>
          </a:p>
        </p:txBody>
      </p:sp>
      <p:sp>
        <p:nvSpPr>
          <p:cNvPr id="49" name="Text 43"/>
          <p:cNvSpPr txBox="1"/>
          <p:nvPr/>
        </p:nvSpPr>
        <p:spPr>
          <a:xfrm>
            <a:off x="5289804" y="3492094"/>
            <a:ext cx="2226564"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整備 事業部固有データ(DWH等)の整備</a:t>
            </a:r>
            <a:endParaRPr lang="en-US" sz="900" dirty="0"/>
          </a:p>
        </p:txBody>
      </p:sp>
      <p:sp>
        <p:nvSpPr>
          <p:cNvPr id="50" name="Text 44"/>
          <p:cNvSpPr txBox="1"/>
          <p:nvPr/>
        </p:nvSpPr>
        <p:spPr>
          <a:xfrm>
            <a:off x="5289804" y="3766414"/>
            <a:ext cx="2226564"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連携 独自ツール導入時の技術審査依頼</a:t>
            </a:r>
            <a:endParaRPr lang="en-US" sz="900" dirty="0"/>
          </a:p>
        </p:txBody>
      </p:sp>
      <p:sp>
        <p:nvSpPr>
          <p:cNvPr id="51" name="Shape 45"/>
          <p:cNvSpPr/>
          <p:nvPr/>
        </p:nvSpPr>
        <p:spPr>
          <a:xfrm>
            <a:off x="619049" y="5183734"/>
            <a:ext cx="7324344" cy="9144"/>
          </a:xfrm>
          <a:prstGeom prst="rect">
            <a:avLst/>
          </a:prstGeom>
          <a:solidFill>
            <a:srgbClr val="F1F5F9"/>
          </a:solidFill>
          <a:ln/>
        </p:spPr>
        <p:txBody>
          <a:bodyPr/>
          <a:lstStyle/>
          <a:p>
            <a:endParaRPr lang="ja-JP" altLang="en-US"/>
          </a:p>
        </p:txBody>
      </p:sp>
      <p:sp>
        <p:nvSpPr>
          <p:cNvPr id="52" name="Shape 46"/>
          <p:cNvSpPr/>
          <p:nvPr/>
        </p:nvSpPr>
        <p:spPr>
          <a:xfrm>
            <a:off x="619049" y="4125773"/>
            <a:ext cx="1714500" cy="1057046"/>
          </a:xfrm>
          <a:prstGeom prst="rect">
            <a:avLst/>
          </a:prstGeom>
          <a:solidFill>
            <a:srgbClr val="F8FAFC"/>
          </a:solidFill>
          <a:ln/>
        </p:spPr>
        <p:txBody>
          <a:bodyPr/>
          <a:lstStyle/>
          <a:p>
            <a:endParaRPr lang="ja-JP" altLang="en-US"/>
          </a:p>
        </p:txBody>
      </p:sp>
      <p:sp>
        <p:nvSpPr>
          <p:cNvPr id="53" name="Shape 47"/>
          <p:cNvSpPr/>
          <p:nvPr/>
        </p:nvSpPr>
        <p:spPr>
          <a:xfrm>
            <a:off x="2324405" y="4125773"/>
            <a:ext cx="9144" cy="1057046"/>
          </a:xfrm>
          <a:prstGeom prst="rect">
            <a:avLst/>
          </a:prstGeom>
          <a:solidFill>
            <a:srgbClr val="E2E8F0"/>
          </a:solidFill>
          <a:ln/>
        </p:spPr>
        <p:txBody>
          <a:bodyPr/>
          <a:lstStyle/>
          <a:p>
            <a:endParaRPr lang="ja-JP" altLang="en-US"/>
          </a:p>
        </p:txBody>
      </p:sp>
      <p:pic>
        <p:nvPicPr>
          <p:cNvPr id="54" name="Image 4" descr="preencoded.png"/>
          <p:cNvPicPr>
            <a:picLocks noChangeAspect="1"/>
          </p:cNvPicPr>
          <p:nvPr/>
        </p:nvPicPr>
        <p:blipFill>
          <a:blip r:embed="rId7"/>
          <a:srcRect l="-318029" r="-318029"/>
          <a:stretch/>
        </p:blipFill>
        <p:spPr>
          <a:xfrm>
            <a:off x="771754" y="4418381"/>
            <a:ext cx="1399946" cy="190195"/>
          </a:xfrm>
          <a:prstGeom prst="rect">
            <a:avLst/>
          </a:prstGeom>
        </p:spPr>
      </p:pic>
      <p:sp>
        <p:nvSpPr>
          <p:cNvPr id="55" name="Text 48"/>
          <p:cNvSpPr txBox="1"/>
          <p:nvPr/>
        </p:nvSpPr>
        <p:spPr>
          <a:xfrm>
            <a:off x="771754" y="4685386"/>
            <a:ext cx="767182" cy="191110"/>
          </a:xfrm>
          <a:prstGeom prst="rect">
            <a:avLst/>
          </a:prstGeom>
          <a:noFill/>
          <a:ln/>
        </p:spPr>
        <p:txBody>
          <a:bodyPr wrap="square" lIns="0" tIns="0" rIns="0" bIns="0" rtlCol="0" anchor="ctr"/>
          <a:lstStyle/>
          <a:p>
            <a:pPr marL="0" indent="0" algn="l">
              <a:buNone/>
            </a:pPr>
            <a:r>
              <a:rPr lang="en-US" sz="1000" b="1" dirty="0">
                <a:solidFill>
                  <a:srgbClr val="334155"/>
                </a:solidFill>
                <a:latin typeface="Noto Sans JP" pitchFamily="34" charset="0"/>
                <a:ea typeface="Noto Sans JP" pitchFamily="34" charset="-122"/>
                <a:cs typeface="Noto Sans JP" pitchFamily="34" charset="-120"/>
              </a:rPr>
              <a:t>実装・推進</a:t>
            </a:r>
            <a:endParaRPr lang="en-US" sz="1000" dirty="0"/>
          </a:p>
        </p:txBody>
      </p:sp>
      <p:sp>
        <p:nvSpPr>
          <p:cNvPr id="56" name="Shape 49"/>
          <p:cNvSpPr/>
          <p:nvPr/>
        </p:nvSpPr>
        <p:spPr>
          <a:xfrm>
            <a:off x="2333549" y="4125773"/>
            <a:ext cx="2809951" cy="1057046"/>
          </a:xfrm>
          <a:prstGeom prst="rect">
            <a:avLst/>
          </a:prstGeom>
          <a:solidFill>
            <a:srgbClr val="EFF6FF">
              <a:alpha val="30000"/>
            </a:srgbClr>
          </a:solidFill>
          <a:ln/>
        </p:spPr>
        <p:txBody>
          <a:bodyPr/>
          <a:lstStyle/>
          <a:p>
            <a:endParaRPr lang="ja-JP" altLang="en-US"/>
          </a:p>
        </p:txBody>
      </p:sp>
      <p:sp>
        <p:nvSpPr>
          <p:cNvPr id="57" name="Shape 50"/>
          <p:cNvSpPr/>
          <p:nvPr/>
        </p:nvSpPr>
        <p:spPr>
          <a:xfrm>
            <a:off x="5134356" y="4125773"/>
            <a:ext cx="9144" cy="1057046"/>
          </a:xfrm>
          <a:prstGeom prst="rect">
            <a:avLst/>
          </a:prstGeom>
          <a:solidFill>
            <a:srgbClr val="E2E8F0"/>
          </a:solidFill>
          <a:ln/>
        </p:spPr>
        <p:txBody>
          <a:bodyPr/>
          <a:lstStyle/>
          <a:p>
            <a:endParaRPr lang="ja-JP" altLang="en-US"/>
          </a:p>
        </p:txBody>
      </p:sp>
      <p:sp>
        <p:nvSpPr>
          <p:cNvPr id="58" name="Text 51"/>
          <p:cNvSpPr txBox="1"/>
          <p:nvPr/>
        </p:nvSpPr>
        <p:spPr>
          <a:xfrm>
            <a:off x="2486254" y="4278478"/>
            <a:ext cx="1960474"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支援 高難易度PoCの技術サポート</a:t>
            </a:r>
            <a:endParaRPr lang="en-US" sz="900" dirty="0"/>
          </a:p>
        </p:txBody>
      </p:sp>
      <p:sp>
        <p:nvSpPr>
          <p:cNvPr id="59" name="Text 52"/>
          <p:cNvSpPr txBox="1"/>
          <p:nvPr/>
        </p:nvSpPr>
        <p:spPr>
          <a:xfrm>
            <a:off x="2486254" y="4552798"/>
            <a:ext cx="2350922"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共有 ベストプラクティスの収集・横展開</a:t>
            </a:r>
            <a:endParaRPr lang="en-US" sz="900" dirty="0"/>
          </a:p>
        </p:txBody>
      </p:sp>
      <p:sp>
        <p:nvSpPr>
          <p:cNvPr id="60" name="Shape 53"/>
          <p:cNvSpPr/>
          <p:nvPr/>
        </p:nvSpPr>
        <p:spPr>
          <a:xfrm>
            <a:off x="5137099" y="4125773"/>
            <a:ext cx="2809951" cy="1057046"/>
          </a:xfrm>
          <a:prstGeom prst="rect">
            <a:avLst/>
          </a:prstGeom>
          <a:solidFill>
            <a:srgbClr val="F0FDF4">
              <a:alpha val="30000"/>
            </a:srgbClr>
          </a:solidFill>
          <a:ln/>
        </p:spPr>
        <p:txBody>
          <a:bodyPr/>
          <a:lstStyle/>
          <a:p>
            <a:endParaRPr lang="ja-JP" altLang="en-US"/>
          </a:p>
        </p:txBody>
      </p:sp>
      <p:sp>
        <p:nvSpPr>
          <p:cNvPr id="61" name="Text 54"/>
          <p:cNvSpPr txBox="1"/>
          <p:nvPr/>
        </p:nvSpPr>
        <p:spPr>
          <a:xfrm>
            <a:off x="5289804" y="4278478"/>
            <a:ext cx="2074774"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実行 ユースケースの発掘・PoC実施</a:t>
            </a:r>
            <a:endParaRPr lang="en-US" sz="900" dirty="0"/>
          </a:p>
        </p:txBody>
      </p:sp>
      <p:sp>
        <p:nvSpPr>
          <p:cNvPr id="62" name="Text 55"/>
          <p:cNvSpPr txBox="1"/>
          <p:nvPr/>
        </p:nvSpPr>
        <p:spPr>
          <a:xfrm>
            <a:off x="5289804" y="4552798"/>
            <a:ext cx="1855318"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展開 現場への導入・定着化活動</a:t>
            </a:r>
            <a:endParaRPr lang="en-US" sz="900" dirty="0"/>
          </a:p>
        </p:txBody>
      </p:sp>
      <p:sp>
        <p:nvSpPr>
          <p:cNvPr id="63" name="Text 56"/>
          <p:cNvSpPr txBox="1"/>
          <p:nvPr/>
        </p:nvSpPr>
        <p:spPr>
          <a:xfrm>
            <a:off x="5289804" y="4827118"/>
            <a:ext cx="1531620"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測定 導入効果(ROI)の測定</a:t>
            </a:r>
            <a:endParaRPr lang="en-US" sz="900" dirty="0"/>
          </a:p>
        </p:txBody>
      </p:sp>
      <p:sp>
        <p:nvSpPr>
          <p:cNvPr id="64" name="Shape 57"/>
          <p:cNvSpPr/>
          <p:nvPr/>
        </p:nvSpPr>
        <p:spPr>
          <a:xfrm>
            <a:off x="619049" y="5187391"/>
            <a:ext cx="1714500" cy="952805"/>
          </a:xfrm>
          <a:prstGeom prst="rect">
            <a:avLst/>
          </a:prstGeom>
          <a:solidFill>
            <a:srgbClr val="F8FAFC"/>
          </a:solidFill>
          <a:ln/>
        </p:spPr>
        <p:txBody>
          <a:bodyPr/>
          <a:lstStyle/>
          <a:p>
            <a:endParaRPr lang="ja-JP" altLang="en-US"/>
          </a:p>
        </p:txBody>
      </p:sp>
      <p:sp>
        <p:nvSpPr>
          <p:cNvPr id="65" name="Shape 58"/>
          <p:cNvSpPr/>
          <p:nvPr/>
        </p:nvSpPr>
        <p:spPr>
          <a:xfrm>
            <a:off x="2324405" y="5187391"/>
            <a:ext cx="9144" cy="952805"/>
          </a:xfrm>
          <a:prstGeom prst="rect">
            <a:avLst/>
          </a:prstGeom>
          <a:solidFill>
            <a:srgbClr val="E2E8F0"/>
          </a:solidFill>
          <a:ln/>
        </p:spPr>
        <p:txBody>
          <a:bodyPr/>
          <a:lstStyle/>
          <a:p>
            <a:endParaRPr lang="ja-JP" altLang="en-US"/>
          </a:p>
        </p:txBody>
      </p:sp>
      <p:pic>
        <p:nvPicPr>
          <p:cNvPr id="66" name="Image 5" descr="preencoded.png"/>
          <p:cNvPicPr>
            <a:picLocks noChangeAspect="1"/>
          </p:cNvPicPr>
          <p:nvPr/>
        </p:nvPicPr>
        <p:blipFill>
          <a:blip r:embed="rId8"/>
          <a:srcRect l="-244423" r="-244423"/>
          <a:stretch/>
        </p:blipFill>
        <p:spPr>
          <a:xfrm>
            <a:off x="771754" y="5429707"/>
            <a:ext cx="1399946" cy="190195"/>
          </a:xfrm>
          <a:prstGeom prst="rect">
            <a:avLst/>
          </a:prstGeom>
        </p:spPr>
      </p:pic>
      <p:sp>
        <p:nvSpPr>
          <p:cNvPr id="67" name="Text 59"/>
          <p:cNvSpPr txBox="1"/>
          <p:nvPr/>
        </p:nvSpPr>
        <p:spPr>
          <a:xfrm>
            <a:off x="771754" y="5696712"/>
            <a:ext cx="767182" cy="191110"/>
          </a:xfrm>
          <a:prstGeom prst="rect">
            <a:avLst/>
          </a:prstGeom>
          <a:noFill/>
          <a:ln/>
        </p:spPr>
        <p:txBody>
          <a:bodyPr wrap="square" lIns="0" tIns="0" rIns="0" bIns="0" rtlCol="0" anchor="ctr"/>
          <a:lstStyle/>
          <a:p>
            <a:pPr marL="0" indent="0" algn="l">
              <a:buNone/>
            </a:pPr>
            <a:r>
              <a:rPr lang="en-US" sz="1000" b="1" dirty="0">
                <a:solidFill>
                  <a:srgbClr val="334155"/>
                </a:solidFill>
                <a:latin typeface="Noto Sans JP" pitchFamily="34" charset="0"/>
                <a:ea typeface="Noto Sans JP" pitchFamily="34" charset="-122"/>
                <a:cs typeface="Noto Sans JP" pitchFamily="34" charset="-120"/>
              </a:rPr>
              <a:t>組織・人材</a:t>
            </a:r>
            <a:endParaRPr lang="en-US" sz="1000" dirty="0"/>
          </a:p>
        </p:txBody>
      </p:sp>
      <p:sp>
        <p:nvSpPr>
          <p:cNvPr id="68" name="Shape 60"/>
          <p:cNvSpPr/>
          <p:nvPr/>
        </p:nvSpPr>
        <p:spPr>
          <a:xfrm>
            <a:off x="2333549" y="5187391"/>
            <a:ext cx="2809951" cy="952805"/>
          </a:xfrm>
          <a:prstGeom prst="rect">
            <a:avLst/>
          </a:prstGeom>
          <a:solidFill>
            <a:srgbClr val="EFF6FF">
              <a:alpha val="30000"/>
            </a:srgbClr>
          </a:solidFill>
          <a:ln/>
        </p:spPr>
        <p:txBody>
          <a:bodyPr/>
          <a:lstStyle/>
          <a:p>
            <a:endParaRPr lang="ja-JP" altLang="en-US"/>
          </a:p>
        </p:txBody>
      </p:sp>
      <p:sp>
        <p:nvSpPr>
          <p:cNvPr id="69" name="Shape 61"/>
          <p:cNvSpPr/>
          <p:nvPr/>
        </p:nvSpPr>
        <p:spPr>
          <a:xfrm>
            <a:off x="5134356" y="5187391"/>
            <a:ext cx="9144" cy="952805"/>
          </a:xfrm>
          <a:prstGeom prst="rect">
            <a:avLst/>
          </a:prstGeom>
          <a:solidFill>
            <a:srgbClr val="E2E8F0"/>
          </a:solidFill>
          <a:ln/>
        </p:spPr>
        <p:txBody>
          <a:bodyPr/>
          <a:lstStyle/>
          <a:p>
            <a:endParaRPr lang="ja-JP" altLang="en-US"/>
          </a:p>
        </p:txBody>
      </p:sp>
      <p:sp>
        <p:nvSpPr>
          <p:cNvPr id="70" name="Text 62"/>
          <p:cNvSpPr txBox="1"/>
          <p:nvPr/>
        </p:nvSpPr>
        <p:spPr>
          <a:xfrm>
            <a:off x="2486254" y="5339182"/>
            <a:ext cx="2226564"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企画 全社トレーニングプログラム提供</a:t>
            </a:r>
            <a:endParaRPr lang="en-US" sz="900" dirty="0"/>
          </a:p>
        </p:txBody>
      </p:sp>
      <p:sp>
        <p:nvSpPr>
          <p:cNvPr id="71" name="Text 63"/>
          <p:cNvSpPr txBox="1"/>
          <p:nvPr/>
        </p:nvSpPr>
        <p:spPr>
          <a:xfrm>
            <a:off x="2486254" y="5613502"/>
            <a:ext cx="1979676"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運営 コミュニティ運営・情報発信</a:t>
            </a:r>
            <a:endParaRPr lang="en-US" sz="900" dirty="0"/>
          </a:p>
        </p:txBody>
      </p:sp>
      <p:sp>
        <p:nvSpPr>
          <p:cNvPr id="72" name="Shape 64"/>
          <p:cNvSpPr/>
          <p:nvPr/>
        </p:nvSpPr>
        <p:spPr>
          <a:xfrm>
            <a:off x="5137099" y="5187391"/>
            <a:ext cx="2809951" cy="952805"/>
          </a:xfrm>
          <a:prstGeom prst="rect">
            <a:avLst/>
          </a:prstGeom>
          <a:solidFill>
            <a:srgbClr val="F0FDF4">
              <a:alpha val="30000"/>
            </a:srgbClr>
          </a:solidFill>
          <a:ln/>
        </p:spPr>
        <p:txBody>
          <a:bodyPr/>
          <a:lstStyle/>
          <a:p>
            <a:endParaRPr lang="ja-JP" altLang="en-US"/>
          </a:p>
        </p:txBody>
      </p:sp>
      <p:sp>
        <p:nvSpPr>
          <p:cNvPr id="73" name="Text 65"/>
          <p:cNvSpPr txBox="1"/>
          <p:nvPr/>
        </p:nvSpPr>
        <p:spPr>
          <a:xfrm>
            <a:off x="5289804" y="5339182"/>
            <a:ext cx="2350922"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参加 教育プログラムへの参加・受講推奨</a:t>
            </a:r>
            <a:endParaRPr lang="en-US" sz="900" dirty="0"/>
          </a:p>
        </p:txBody>
      </p:sp>
      <p:sp>
        <p:nvSpPr>
          <p:cNvPr id="74" name="Text 66"/>
          <p:cNvSpPr txBox="1"/>
          <p:nvPr/>
        </p:nvSpPr>
        <p:spPr>
          <a:xfrm>
            <a:off x="5289804" y="5613502"/>
            <a:ext cx="2560320"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育成 現場推進リーダー(チャンピオン)の任命</a:t>
            </a:r>
            <a:endParaRPr lang="en-US" sz="900" dirty="0"/>
          </a:p>
        </p:txBody>
      </p:sp>
      <p:sp>
        <p:nvSpPr>
          <p:cNvPr id="75" name="Shape 67"/>
          <p:cNvSpPr/>
          <p:nvPr/>
        </p:nvSpPr>
        <p:spPr>
          <a:xfrm>
            <a:off x="8254289" y="1480414"/>
            <a:ext cx="3333902" cy="2686507"/>
          </a:xfrm>
          <a:prstGeom prst="roundRect">
            <a:avLst>
              <a:gd name="adj" fmla="val 1448"/>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76" name="Shape 68"/>
          <p:cNvSpPr/>
          <p:nvPr/>
        </p:nvSpPr>
        <p:spPr>
          <a:xfrm>
            <a:off x="8454542" y="1976018"/>
            <a:ext cx="2933395" cy="19202"/>
          </a:xfrm>
          <a:prstGeom prst="rect">
            <a:avLst/>
          </a:prstGeom>
          <a:solidFill>
            <a:srgbClr val="F3F4F6"/>
          </a:solidFill>
          <a:ln/>
        </p:spPr>
        <p:txBody>
          <a:bodyPr/>
          <a:lstStyle/>
          <a:p>
            <a:endParaRPr lang="ja-JP" altLang="en-US"/>
          </a:p>
        </p:txBody>
      </p:sp>
      <p:pic>
        <p:nvPicPr>
          <p:cNvPr id="77" name="Image 6" descr="preencoded.png"/>
          <p:cNvPicPr>
            <a:picLocks noChangeAspect="1"/>
          </p:cNvPicPr>
          <p:nvPr/>
        </p:nvPicPr>
        <p:blipFill>
          <a:blip r:embed="rId9"/>
          <a:srcRect l="-428" r="-428"/>
          <a:stretch/>
        </p:blipFill>
        <p:spPr>
          <a:xfrm>
            <a:off x="8454542" y="1716329"/>
            <a:ext cx="161849" cy="142646"/>
          </a:xfrm>
          <a:prstGeom prst="rect">
            <a:avLst/>
          </a:prstGeom>
        </p:spPr>
      </p:pic>
      <p:sp>
        <p:nvSpPr>
          <p:cNvPr id="78" name="Text 69"/>
          <p:cNvSpPr txBox="1"/>
          <p:nvPr/>
        </p:nvSpPr>
        <p:spPr>
          <a:xfrm>
            <a:off x="8693201" y="1680667"/>
            <a:ext cx="1270102"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CoE 体制イメージ</a:t>
            </a:r>
            <a:endParaRPr lang="en-US" sz="1100" dirty="0"/>
          </a:p>
        </p:txBody>
      </p:sp>
      <p:sp>
        <p:nvSpPr>
          <p:cNvPr id="79" name="Shape 70"/>
          <p:cNvSpPr/>
          <p:nvPr/>
        </p:nvSpPr>
        <p:spPr>
          <a:xfrm>
            <a:off x="8454542" y="2409444"/>
            <a:ext cx="2933395" cy="9144"/>
          </a:xfrm>
          <a:prstGeom prst="rect">
            <a:avLst/>
          </a:prstGeom>
          <a:solidFill>
            <a:srgbClr val="E5E7EB"/>
          </a:solidFill>
          <a:ln/>
        </p:spPr>
        <p:txBody>
          <a:bodyPr/>
          <a:lstStyle/>
          <a:p>
            <a:endParaRPr lang="ja-JP" altLang="en-US"/>
          </a:p>
        </p:txBody>
      </p:sp>
      <p:sp>
        <p:nvSpPr>
          <p:cNvPr id="80" name="Text 71"/>
          <p:cNvSpPr txBox="1"/>
          <p:nvPr/>
        </p:nvSpPr>
        <p:spPr>
          <a:xfrm>
            <a:off x="8454542" y="2161642"/>
            <a:ext cx="740664"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戦略・PMO</a:t>
            </a:r>
            <a:endParaRPr lang="en-US" sz="900" dirty="0"/>
          </a:p>
        </p:txBody>
      </p:sp>
      <p:sp>
        <p:nvSpPr>
          <p:cNvPr id="81" name="Text 72"/>
          <p:cNvSpPr txBox="1"/>
          <p:nvPr/>
        </p:nvSpPr>
        <p:spPr>
          <a:xfrm>
            <a:off x="11066983" y="2161642"/>
            <a:ext cx="416966" cy="181051"/>
          </a:xfrm>
          <a:prstGeom prst="rect">
            <a:avLst/>
          </a:prstGeom>
          <a:noFill/>
          <a:ln/>
        </p:spPr>
        <p:txBody>
          <a:bodyPr wrap="square" lIns="0" tIns="0" rIns="0" bIns="0" rtlCol="0" anchor="ctr"/>
          <a:lstStyle/>
          <a:p>
            <a:pPr marL="0" indent="0" algn="l">
              <a:buNone/>
            </a:pPr>
            <a:r>
              <a:rPr lang="en-US" sz="900" b="1" dirty="0">
                <a:solidFill>
                  <a:srgbClr val="1E40AF"/>
                </a:solidFill>
                <a:latin typeface="Noto Sans JP" pitchFamily="34" charset="0"/>
                <a:ea typeface="Noto Sans JP" pitchFamily="34" charset="-122"/>
                <a:cs typeface="Noto Sans JP" pitchFamily="34" charset="-120"/>
              </a:rPr>
              <a:t>1-2名</a:t>
            </a:r>
            <a:endParaRPr lang="en-US" sz="900" dirty="0"/>
          </a:p>
        </p:txBody>
      </p:sp>
      <p:sp>
        <p:nvSpPr>
          <p:cNvPr id="82" name="Shape 73"/>
          <p:cNvSpPr/>
          <p:nvPr/>
        </p:nvSpPr>
        <p:spPr>
          <a:xfrm>
            <a:off x="8454542" y="2795321"/>
            <a:ext cx="2933395" cy="9144"/>
          </a:xfrm>
          <a:prstGeom prst="rect">
            <a:avLst/>
          </a:prstGeom>
          <a:solidFill>
            <a:srgbClr val="E5E7EB"/>
          </a:solidFill>
          <a:ln/>
        </p:spPr>
        <p:txBody>
          <a:bodyPr/>
          <a:lstStyle/>
          <a:p>
            <a:endParaRPr lang="ja-JP" altLang="en-US"/>
          </a:p>
        </p:txBody>
      </p:sp>
      <p:sp>
        <p:nvSpPr>
          <p:cNvPr id="83" name="Text 74"/>
          <p:cNvSpPr txBox="1"/>
          <p:nvPr/>
        </p:nvSpPr>
        <p:spPr>
          <a:xfrm>
            <a:off x="8454542" y="2546604"/>
            <a:ext cx="1083564"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技術アーキテクト</a:t>
            </a:r>
            <a:endParaRPr lang="en-US" sz="900" dirty="0"/>
          </a:p>
        </p:txBody>
      </p:sp>
      <p:sp>
        <p:nvSpPr>
          <p:cNvPr id="84" name="Text 75"/>
          <p:cNvSpPr txBox="1"/>
          <p:nvPr/>
        </p:nvSpPr>
        <p:spPr>
          <a:xfrm>
            <a:off x="11066983" y="2546604"/>
            <a:ext cx="416966" cy="181051"/>
          </a:xfrm>
          <a:prstGeom prst="rect">
            <a:avLst/>
          </a:prstGeom>
          <a:noFill/>
          <a:ln/>
        </p:spPr>
        <p:txBody>
          <a:bodyPr wrap="square" lIns="0" tIns="0" rIns="0" bIns="0" rtlCol="0" anchor="ctr"/>
          <a:lstStyle/>
          <a:p>
            <a:pPr marL="0" indent="0" algn="l">
              <a:buNone/>
            </a:pPr>
            <a:r>
              <a:rPr lang="en-US" sz="900" b="1" dirty="0">
                <a:solidFill>
                  <a:srgbClr val="1E40AF"/>
                </a:solidFill>
                <a:latin typeface="Noto Sans JP" pitchFamily="34" charset="0"/>
                <a:ea typeface="Noto Sans JP" pitchFamily="34" charset="-122"/>
                <a:cs typeface="Noto Sans JP" pitchFamily="34" charset="-120"/>
              </a:rPr>
              <a:t>2-3名</a:t>
            </a:r>
            <a:endParaRPr lang="en-US" sz="900" dirty="0"/>
          </a:p>
        </p:txBody>
      </p:sp>
      <p:sp>
        <p:nvSpPr>
          <p:cNvPr id="85" name="Shape 76"/>
          <p:cNvSpPr/>
          <p:nvPr/>
        </p:nvSpPr>
        <p:spPr>
          <a:xfrm>
            <a:off x="8454542" y="3181198"/>
            <a:ext cx="2933395" cy="9144"/>
          </a:xfrm>
          <a:prstGeom prst="rect">
            <a:avLst/>
          </a:prstGeom>
          <a:solidFill>
            <a:srgbClr val="E5E7EB"/>
          </a:solidFill>
          <a:ln/>
        </p:spPr>
        <p:txBody>
          <a:bodyPr/>
          <a:lstStyle/>
          <a:p>
            <a:endParaRPr lang="ja-JP" altLang="en-US"/>
          </a:p>
        </p:txBody>
      </p:sp>
      <p:sp>
        <p:nvSpPr>
          <p:cNvPr id="86" name="Text 77"/>
          <p:cNvSpPr txBox="1"/>
          <p:nvPr/>
        </p:nvSpPr>
        <p:spPr>
          <a:xfrm>
            <a:off x="8454542" y="2932481"/>
            <a:ext cx="1341425"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チェンジマネジメント</a:t>
            </a:r>
            <a:endParaRPr lang="en-US" sz="900" dirty="0"/>
          </a:p>
        </p:txBody>
      </p:sp>
      <p:sp>
        <p:nvSpPr>
          <p:cNvPr id="87" name="Text 78"/>
          <p:cNvSpPr txBox="1"/>
          <p:nvPr/>
        </p:nvSpPr>
        <p:spPr>
          <a:xfrm>
            <a:off x="11066983" y="2932481"/>
            <a:ext cx="416966" cy="181051"/>
          </a:xfrm>
          <a:prstGeom prst="rect">
            <a:avLst/>
          </a:prstGeom>
          <a:noFill/>
          <a:ln/>
        </p:spPr>
        <p:txBody>
          <a:bodyPr wrap="square" lIns="0" tIns="0" rIns="0" bIns="0" rtlCol="0" anchor="ctr"/>
          <a:lstStyle/>
          <a:p>
            <a:pPr marL="0" indent="0" algn="l">
              <a:buNone/>
            </a:pPr>
            <a:r>
              <a:rPr lang="en-US" sz="900" b="1" dirty="0">
                <a:solidFill>
                  <a:srgbClr val="1E40AF"/>
                </a:solidFill>
                <a:latin typeface="Noto Sans JP" pitchFamily="34" charset="0"/>
                <a:ea typeface="Noto Sans JP" pitchFamily="34" charset="-122"/>
                <a:cs typeface="Noto Sans JP" pitchFamily="34" charset="-120"/>
              </a:rPr>
              <a:t>1-2名</a:t>
            </a:r>
            <a:endParaRPr lang="en-US" sz="900" dirty="0"/>
          </a:p>
        </p:txBody>
      </p:sp>
      <p:sp>
        <p:nvSpPr>
          <p:cNvPr id="88" name="Shape 79"/>
          <p:cNvSpPr/>
          <p:nvPr/>
        </p:nvSpPr>
        <p:spPr>
          <a:xfrm>
            <a:off x="8454542" y="3567074"/>
            <a:ext cx="2933395" cy="9144"/>
          </a:xfrm>
          <a:prstGeom prst="rect">
            <a:avLst/>
          </a:prstGeom>
          <a:solidFill>
            <a:srgbClr val="E5E7EB"/>
          </a:solidFill>
          <a:ln/>
        </p:spPr>
        <p:txBody>
          <a:bodyPr/>
          <a:lstStyle/>
          <a:p>
            <a:endParaRPr lang="ja-JP" altLang="en-US"/>
          </a:p>
        </p:txBody>
      </p:sp>
      <p:sp>
        <p:nvSpPr>
          <p:cNvPr id="89" name="Text 80"/>
          <p:cNvSpPr txBox="1"/>
          <p:nvPr/>
        </p:nvSpPr>
        <p:spPr>
          <a:xfrm>
            <a:off x="8454542" y="3318358"/>
            <a:ext cx="1083564"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データガバナンス</a:t>
            </a:r>
            <a:endParaRPr lang="en-US" sz="900" dirty="0"/>
          </a:p>
        </p:txBody>
      </p:sp>
      <p:sp>
        <p:nvSpPr>
          <p:cNvPr id="90" name="Text 81"/>
          <p:cNvSpPr txBox="1"/>
          <p:nvPr/>
        </p:nvSpPr>
        <p:spPr>
          <a:xfrm>
            <a:off x="11185855" y="3318358"/>
            <a:ext cx="293522" cy="181051"/>
          </a:xfrm>
          <a:prstGeom prst="rect">
            <a:avLst/>
          </a:prstGeom>
          <a:noFill/>
          <a:ln/>
        </p:spPr>
        <p:txBody>
          <a:bodyPr wrap="square" lIns="0" tIns="0" rIns="0" bIns="0" rtlCol="0" anchor="ctr"/>
          <a:lstStyle/>
          <a:p>
            <a:pPr marL="0" indent="0" algn="l">
              <a:buNone/>
            </a:pPr>
            <a:r>
              <a:rPr lang="en-US" sz="900" b="1" dirty="0">
                <a:solidFill>
                  <a:srgbClr val="1E40AF"/>
                </a:solidFill>
                <a:latin typeface="Noto Sans JP" pitchFamily="34" charset="0"/>
                <a:ea typeface="Noto Sans JP" pitchFamily="34" charset="-122"/>
                <a:cs typeface="Noto Sans JP" pitchFamily="34" charset="-120"/>
              </a:rPr>
              <a:t>1名</a:t>
            </a:r>
            <a:endParaRPr lang="en-US" sz="900" dirty="0"/>
          </a:p>
        </p:txBody>
      </p:sp>
      <p:sp>
        <p:nvSpPr>
          <p:cNvPr id="91" name="Shape 82"/>
          <p:cNvSpPr/>
          <p:nvPr/>
        </p:nvSpPr>
        <p:spPr>
          <a:xfrm>
            <a:off x="8454542" y="3723437"/>
            <a:ext cx="2933395" cy="9144"/>
          </a:xfrm>
          <a:prstGeom prst="rect">
            <a:avLst/>
          </a:prstGeom>
          <a:solidFill>
            <a:srgbClr val="F3F4F6"/>
          </a:solidFill>
          <a:ln/>
        </p:spPr>
        <p:txBody>
          <a:bodyPr/>
          <a:lstStyle/>
          <a:p>
            <a:endParaRPr lang="ja-JP" altLang="en-US"/>
          </a:p>
        </p:txBody>
      </p:sp>
      <p:sp>
        <p:nvSpPr>
          <p:cNvPr id="92" name="Text 83"/>
          <p:cNvSpPr txBox="1"/>
          <p:nvPr/>
        </p:nvSpPr>
        <p:spPr>
          <a:xfrm>
            <a:off x="10326319" y="3799332"/>
            <a:ext cx="1143000" cy="162763"/>
          </a:xfrm>
          <a:prstGeom prst="rect">
            <a:avLst/>
          </a:prstGeom>
          <a:noFill/>
          <a:ln/>
        </p:spPr>
        <p:txBody>
          <a:bodyPr wrap="square" lIns="0" tIns="0" rIns="0" bIns="0" rtlCol="0" anchor="ctr"/>
          <a:lstStyle/>
          <a:p>
            <a:pPr marL="0" indent="0" algn="r">
              <a:buNone/>
            </a:pPr>
            <a:r>
              <a:rPr lang="en-US" sz="900" dirty="0">
                <a:solidFill>
                  <a:srgbClr val="6B7280"/>
                </a:solidFill>
                <a:latin typeface="Noto Sans JP" pitchFamily="34" charset="0"/>
                <a:ea typeface="Noto Sans JP" pitchFamily="34" charset="-122"/>
                <a:cs typeface="Noto Sans JP" pitchFamily="34" charset="-120"/>
              </a:rPr>
              <a:t>推奨：計 6-10名規模</a:t>
            </a:r>
            <a:endParaRPr lang="en-US" sz="900" dirty="0"/>
          </a:p>
        </p:txBody>
      </p:sp>
      <p:sp>
        <p:nvSpPr>
          <p:cNvPr id="93" name="Shape 84"/>
          <p:cNvSpPr/>
          <p:nvPr/>
        </p:nvSpPr>
        <p:spPr>
          <a:xfrm>
            <a:off x="8254289" y="4351630"/>
            <a:ext cx="3333902" cy="2314346"/>
          </a:xfrm>
          <a:prstGeom prst="roundRect">
            <a:avLst>
              <a:gd name="adj" fmla="val 1951"/>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94" name="Shape 85"/>
          <p:cNvSpPr/>
          <p:nvPr/>
        </p:nvSpPr>
        <p:spPr>
          <a:xfrm>
            <a:off x="8454542" y="4847234"/>
            <a:ext cx="2933395" cy="19202"/>
          </a:xfrm>
          <a:prstGeom prst="rect">
            <a:avLst/>
          </a:prstGeom>
          <a:solidFill>
            <a:srgbClr val="F3F4F6"/>
          </a:solidFill>
          <a:ln/>
        </p:spPr>
        <p:txBody>
          <a:bodyPr/>
          <a:lstStyle/>
          <a:p>
            <a:endParaRPr lang="ja-JP" altLang="en-US"/>
          </a:p>
        </p:txBody>
      </p:sp>
      <p:pic>
        <p:nvPicPr>
          <p:cNvPr id="95" name="Image 7" descr="preencoded.png"/>
          <p:cNvPicPr>
            <a:picLocks noChangeAspect="1"/>
          </p:cNvPicPr>
          <p:nvPr/>
        </p:nvPicPr>
        <p:blipFill>
          <a:blip r:embed="rId10"/>
          <a:srcRect/>
          <a:stretch/>
        </p:blipFill>
        <p:spPr>
          <a:xfrm>
            <a:off x="8454542" y="4587545"/>
            <a:ext cx="142646" cy="142646"/>
          </a:xfrm>
          <a:prstGeom prst="rect">
            <a:avLst/>
          </a:prstGeom>
        </p:spPr>
      </p:pic>
      <p:sp>
        <p:nvSpPr>
          <p:cNvPr id="96" name="Text 86"/>
          <p:cNvSpPr txBox="1"/>
          <p:nvPr/>
        </p:nvSpPr>
        <p:spPr>
          <a:xfrm>
            <a:off x="8673998" y="4551883"/>
            <a:ext cx="1059790"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目標KPI (参考)</a:t>
            </a:r>
            <a:endParaRPr lang="en-US" sz="1100" dirty="0"/>
          </a:p>
        </p:txBody>
      </p:sp>
      <p:sp>
        <p:nvSpPr>
          <p:cNvPr id="97" name="Text 87"/>
          <p:cNvSpPr txBox="1"/>
          <p:nvPr/>
        </p:nvSpPr>
        <p:spPr>
          <a:xfrm>
            <a:off x="8454542" y="4976165"/>
            <a:ext cx="2962656" cy="457200"/>
          </a:xfrm>
          <a:prstGeom prst="rect">
            <a:avLst/>
          </a:prstGeom>
          <a:noFill/>
          <a:ln/>
        </p:spPr>
        <p:txBody>
          <a:bodyPr wrap="square" lIns="0" tIns="0" rIns="0" bIns="0" rtlCol="0" anchor="ctr"/>
          <a:lstStyle/>
          <a:p>
            <a:pPr marL="0" indent="0" algn="l">
              <a:buNone/>
            </a:pPr>
            <a:r>
              <a:rPr lang="en-US" sz="1200" dirty="0">
                <a:solidFill>
                  <a:srgbClr val="000000"/>
                </a:solidFill>
                <a:latin typeface="Noto Sans JP" pitchFamily="34" charset="0"/>
                <a:ea typeface="Noto Sans JP" pitchFamily="34" charset="-122"/>
                <a:cs typeface="Noto Sans JP" pitchFamily="34" charset="-120"/>
              </a:rPr>
              <a:t>ユースケース横展開 1,000件 / 全社 日立製作所 事例</a:t>
            </a:r>
            <a:endParaRPr lang="en-US" sz="1200" dirty="0"/>
          </a:p>
        </p:txBody>
      </p:sp>
      <p:sp>
        <p:nvSpPr>
          <p:cNvPr id="98" name="Text 88"/>
          <p:cNvSpPr txBox="1"/>
          <p:nvPr/>
        </p:nvSpPr>
        <p:spPr>
          <a:xfrm>
            <a:off x="8454542" y="5547665"/>
            <a:ext cx="2953512" cy="457200"/>
          </a:xfrm>
          <a:prstGeom prst="rect">
            <a:avLst/>
          </a:prstGeom>
          <a:noFill/>
          <a:ln/>
        </p:spPr>
        <p:txBody>
          <a:bodyPr wrap="square" lIns="0" tIns="0" rIns="0" bIns="0" rtlCol="0" anchor="ctr"/>
          <a:lstStyle/>
          <a:p>
            <a:pPr marL="0" indent="0" algn="l">
              <a:buNone/>
            </a:pPr>
            <a:r>
              <a:rPr lang="en-US" sz="1200" dirty="0">
                <a:solidFill>
                  <a:srgbClr val="000000"/>
                </a:solidFill>
                <a:latin typeface="Noto Sans JP" pitchFamily="34" charset="0"/>
                <a:ea typeface="Noto Sans JP" pitchFamily="34" charset="-122"/>
                <a:cs typeface="Noto Sans JP" pitchFamily="34" charset="-120"/>
              </a:rPr>
              <a:t>業務時間削減 12時間 / 人・月 デンソー 事例</a:t>
            </a:r>
            <a:endParaRPr lang="en-US" sz="1200" dirty="0"/>
          </a:p>
        </p:txBody>
      </p:sp>
      <p:sp>
        <p:nvSpPr>
          <p:cNvPr id="99" name="Text 89"/>
          <p:cNvSpPr txBox="1"/>
          <p:nvPr/>
        </p:nvSpPr>
        <p:spPr>
          <a:xfrm>
            <a:off x="8454542" y="6119165"/>
            <a:ext cx="2686507" cy="228600"/>
          </a:xfrm>
          <a:prstGeom prst="rect">
            <a:avLst/>
          </a:prstGeom>
          <a:noFill/>
          <a:ln/>
        </p:spPr>
        <p:txBody>
          <a:bodyPr wrap="square" lIns="0" tIns="0" rIns="0" bIns="0" rtlCol="0" anchor="ctr"/>
          <a:lstStyle/>
          <a:p>
            <a:pPr marL="0" indent="0" algn="l">
              <a:buNone/>
            </a:pPr>
            <a:r>
              <a:rPr lang="en-US" sz="1200" dirty="0">
                <a:solidFill>
                  <a:srgbClr val="000000"/>
                </a:solidFill>
                <a:latin typeface="Noto Sans JP" pitchFamily="34" charset="0"/>
                <a:ea typeface="Noto Sans JP" pitchFamily="34" charset="-122"/>
                <a:cs typeface="Noto Sans JP" pitchFamily="34" charset="-120"/>
              </a:rPr>
              <a:t>AI活用率 60% 以上 パナソニック 事例</a:t>
            </a:r>
            <a:endParaRPr lang="en-US" sz="1200" dirty="0"/>
          </a:p>
        </p:txBody>
      </p:sp>
      <p:sp>
        <p:nvSpPr>
          <p:cNvPr id="100" name="Text 90"/>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25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181405"/>
          </a:xfrm>
          <a:prstGeom prst="rect">
            <a:avLst/>
          </a:prstGeom>
          <a:solidFill>
            <a:srgbClr val="FFFFFF"/>
          </a:solidFill>
          <a:ln/>
        </p:spPr>
        <p:txBody>
          <a:bodyPr/>
          <a:lstStyle/>
          <a:p>
            <a:endParaRPr lang="ja-JP" altLang="en-US"/>
          </a:p>
        </p:txBody>
      </p:sp>
      <p:sp>
        <p:nvSpPr>
          <p:cNvPr id="5" name="Shape 3"/>
          <p:cNvSpPr/>
          <p:nvPr/>
        </p:nvSpPr>
        <p:spPr>
          <a:xfrm>
            <a:off x="0" y="1172261"/>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267005"/>
            <a:ext cx="5705856" cy="438912"/>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アイリスオーヤマの現状課題と調査目的</a:t>
            </a:r>
            <a:endParaRPr lang="en-US" sz="2400" dirty="0"/>
          </a:p>
        </p:txBody>
      </p:sp>
      <p:sp>
        <p:nvSpPr>
          <p:cNvPr id="7" name="Text 5"/>
          <p:cNvSpPr txBox="1"/>
          <p:nvPr/>
        </p:nvSpPr>
        <p:spPr>
          <a:xfrm>
            <a:off x="609905" y="747065"/>
            <a:ext cx="5296205" cy="228600"/>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ライセンス導入後の現状分析と、利用率向上に向けた本プロジェクトの目的</a:t>
            </a:r>
            <a:endParaRPr lang="en-US" sz="1200" dirty="0"/>
          </a:p>
        </p:txBody>
      </p:sp>
      <p:sp>
        <p:nvSpPr>
          <p:cNvPr id="8" name="Shape 6"/>
          <p:cNvSpPr/>
          <p:nvPr/>
        </p:nvSpPr>
        <p:spPr>
          <a:xfrm>
            <a:off x="10095890" y="661111"/>
            <a:ext cx="1495044" cy="314554"/>
          </a:xfrm>
          <a:prstGeom prst="roundRect">
            <a:avLst>
              <a:gd name="adj" fmla="val 176180"/>
            </a:avLst>
          </a:prstGeom>
          <a:solidFill>
            <a:srgbClr val="C02626"/>
          </a:solidFill>
          <a:ln/>
        </p:spPr>
        <p:txBody>
          <a:bodyPr/>
          <a:lstStyle/>
          <a:p>
            <a:endParaRPr lang="ja-JP" altLang="en-US"/>
          </a:p>
        </p:txBody>
      </p:sp>
      <p:sp>
        <p:nvSpPr>
          <p:cNvPr id="9" name="Text 7"/>
          <p:cNvSpPr txBox="1"/>
          <p:nvPr/>
        </p:nvSpPr>
        <p:spPr>
          <a:xfrm>
            <a:off x="10248595" y="717804"/>
            <a:ext cx="1291133" cy="191110"/>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JP" pitchFamily="34" charset="0"/>
                <a:ea typeface="Noto Sans JP" pitchFamily="34" charset="-122"/>
                <a:cs typeface="Noto Sans JP" pitchFamily="34" charset="-120"/>
              </a:rPr>
              <a:t>Current Analysis</a:t>
            </a:r>
            <a:endParaRPr lang="en-US" sz="1000" dirty="0"/>
          </a:p>
        </p:txBody>
      </p:sp>
      <p:sp>
        <p:nvSpPr>
          <p:cNvPr id="10" name="Shape 8"/>
          <p:cNvSpPr/>
          <p:nvPr/>
        </p:nvSpPr>
        <p:spPr>
          <a:xfrm>
            <a:off x="0" y="1175004"/>
            <a:ext cx="12191695" cy="5686654"/>
          </a:xfrm>
          <a:prstGeom prst="rect">
            <a:avLst/>
          </a:prstGeom>
          <a:solidFill>
            <a:srgbClr val="F8FAFC"/>
          </a:solidFill>
          <a:ln/>
        </p:spPr>
        <p:txBody>
          <a:bodyPr/>
          <a:lstStyle/>
          <a:p>
            <a:endParaRPr lang="ja-JP" altLang="en-US"/>
          </a:p>
        </p:txBody>
      </p:sp>
      <p:sp>
        <p:nvSpPr>
          <p:cNvPr id="11" name="Shape 9"/>
          <p:cNvSpPr/>
          <p:nvPr/>
        </p:nvSpPr>
        <p:spPr>
          <a:xfrm>
            <a:off x="609905" y="1556309"/>
            <a:ext cx="5333695" cy="4924044"/>
          </a:xfrm>
          <a:prstGeom prst="roundRect">
            <a:avLst>
              <a:gd name="adj" fmla="val 575"/>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12" name="Shape 10"/>
          <p:cNvSpPr/>
          <p:nvPr/>
        </p:nvSpPr>
        <p:spPr>
          <a:xfrm>
            <a:off x="923544" y="2480767"/>
            <a:ext cx="4705502" cy="19202"/>
          </a:xfrm>
          <a:prstGeom prst="rect">
            <a:avLst/>
          </a:prstGeom>
          <a:solidFill>
            <a:srgbClr val="F1F5F9"/>
          </a:solidFill>
          <a:ln/>
        </p:spPr>
        <p:txBody>
          <a:bodyPr/>
          <a:lstStyle/>
          <a:p>
            <a:endParaRPr lang="ja-JP" altLang="en-US"/>
          </a:p>
        </p:txBody>
      </p:sp>
      <p:sp>
        <p:nvSpPr>
          <p:cNvPr id="13" name="Shape 11"/>
          <p:cNvSpPr/>
          <p:nvPr/>
        </p:nvSpPr>
        <p:spPr>
          <a:xfrm>
            <a:off x="923544" y="1870862"/>
            <a:ext cx="457200" cy="457200"/>
          </a:xfrm>
          <a:prstGeom prst="roundRect">
            <a:avLst>
              <a:gd name="adj" fmla="val 50000"/>
            </a:avLst>
          </a:prstGeom>
          <a:solidFill>
            <a:srgbClr val="FEF2F2"/>
          </a:solidFill>
          <a:ln/>
        </p:spPr>
        <p:txBody>
          <a:bodyPr/>
          <a:lstStyle/>
          <a:p>
            <a:endParaRPr lang="ja-JP" altLang="en-US"/>
          </a:p>
        </p:txBody>
      </p:sp>
      <p:pic>
        <p:nvPicPr>
          <p:cNvPr id="14" name="Image 0" descr="preencoded.png"/>
          <p:cNvPicPr>
            <a:picLocks noChangeAspect="1"/>
          </p:cNvPicPr>
          <p:nvPr/>
        </p:nvPicPr>
        <p:blipFill>
          <a:blip r:embed="rId3"/>
          <a:srcRect/>
          <a:stretch/>
        </p:blipFill>
        <p:spPr>
          <a:xfrm>
            <a:off x="1037844" y="1985162"/>
            <a:ext cx="228600" cy="228600"/>
          </a:xfrm>
          <a:prstGeom prst="rect">
            <a:avLst/>
          </a:prstGeom>
        </p:spPr>
      </p:pic>
      <p:sp>
        <p:nvSpPr>
          <p:cNvPr id="15" name="Text 12"/>
          <p:cNvSpPr txBox="1"/>
          <p:nvPr/>
        </p:nvSpPr>
        <p:spPr>
          <a:xfrm>
            <a:off x="1533449" y="1927555"/>
            <a:ext cx="1772107" cy="333756"/>
          </a:xfrm>
          <a:prstGeom prst="rect">
            <a:avLst/>
          </a:prstGeom>
          <a:noFill/>
          <a:ln/>
        </p:spPr>
        <p:txBody>
          <a:bodyPr wrap="square" lIns="0" tIns="0" rIns="0" bIns="0" rtlCol="0" anchor="ctr"/>
          <a:lstStyle/>
          <a:p>
            <a:pPr marL="0" indent="0" algn="l">
              <a:buNone/>
            </a:pPr>
            <a:r>
              <a:rPr lang="en-US" sz="1800" b="1" dirty="0">
                <a:solidFill>
                  <a:srgbClr val="991B1B"/>
                </a:solidFill>
                <a:latin typeface="Noto Sans JP" pitchFamily="34" charset="0"/>
                <a:ea typeface="Noto Sans JP" pitchFamily="34" charset="-122"/>
                <a:cs typeface="Noto Sans JP" pitchFamily="34" charset="-120"/>
              </a:rPr>
              <a:t>現状の課題認識</a:t>
            </a:r>
            <a:endParaRPr lang="en-US" sz="1800" dirty="0"/>
          </a:p>
        </p:txBody>
      </p:sp>
      <p:sp>
        <p:nvSpPr>
          <p:cNvPr id="16" name="Shape 13"/>
          <p:cNvSpPr/>
          <p:nvPr/>
        </p:nvSpPr>
        <p:spPr>
          <a:xfrm>
            <a:off x="923544" y="2727655"/>
            <a:ext cx="4705502" cy="714146"/>
          </a:xfrm>
          <a:prstGeom prst="roundRect">
            <a:avLst>
              <a:gd name="adj" fmla="val 13658"/>
            </a:avLst>
          </a:prstGeom>
          <a:solidFill>
            <a:srgbClr val="FFF1F2"/>
          </a:solidFill>
          <a:ln/>
        </p:spPr>
        <p:txBody>
          <a:bodyPr/>
          <a:lstStyle/>
          <a:p>
            <a:endParaRPr lang="ja-JP" altLang="en-US"/>
          </a:p>
        </p:txBody>
      </p:sp>
      <p:sp>
        <p:nvSpPr>
          <p:cNvPr id="17" name="Shape 14"/>
          <p:cNvSpPr/>
          <p:nvPr/>
        </p:nvSpPr>
        <p:spPr>
          <a:xfrm>
            <a:off x="923544" y="2727655"/>
            <a:ext cx="38405" cy="714146"/>
          </a:xfrm>
          <a:prstGeom prst="rect">
            <a:avLst/>
          </a:prstGeom>
          <a:solidFill>
            <a:srgbClr val="E11D48"/>
          </a:solidFill>
          <a:ln/>
        </p:spPr>
        <p:txBody>
          <a:bodyPr/>
          <a:lstStyle/>
          <a:p>
            <a:endParaRPr lang="ja-JP" altLang="en-US"/>
          </a:p>
        </p:txBody>
      </p:sp>
      <p:sp>
        <p:nvSpPr>
          <p:cNvPr id="18" name="Text 15"/>
          <p:cNvSpPr txBox="1"/>
          <p:nvPr/>
        </p:nvSpPr>
        <p:spPr>
          <a:xfrm>
            <a:off x="1114654" y="2880360"/>
            <a:ext cx="1034186" cy="191110"/>
          </a:xfrm>
          <a:prstGeom prst="rect">
            <a:avLst/>
          </a:prstGeom>
          <a:noFill/>
          <a:ln/>
        </p:spPr>
        <p:txBody>
          <a:bodyPr wrap="square" lIns="0" tIns="0" rIns="0" bIns="0" rtlCol="0" anchor="ctr"/>
          <a:lstStyle/>
          <a:p>
            <a:pPr marL="0" indent="0" algn="l">
              <a:buNone/>
            </a:pPr>
            <a:r>
              <a:rPr lang="en-US" sz="1000" b="1" dirty="0">
                <a:solidFill>
                  <a:srgbClr val="9F1239"/>
                </a:solidFill>
                <a:latin typeface="Noto Sans JP" pitchFamily="34" charset="0"/>
                <a:ea typeface="Noto Sans JP" pitchFamily="34" charset="-122"/>
                <a:cs typeface="Noto Sans JP" pitchFamily="34" charset="-120"/>
              </a:rPr>
              <a:t>現在の利用者率</a:t>
            </a:r>
            <a:endParaRPr lang="en-US" sz="1000" dirty="0"/>
          </a:p>
        </p:txBody>
      </p:sp>
      <p:sp>
        <p:nvSpPr>
          <p:cNvPr id="19" name="Text 16"/>
          <p:cNvSpPr txBox="1"/>
          <p:nvPr/>
        </p:nvSpPr>
        <p:spPr>
          <a:xfrm>
            <a:off x="1114654" y="3118104"/>
            <a:ext cx="1228954" cy="162763"/>
          </a:xfrm>
          <a:prstGeom prst="rect">
            <a:avLst/>
          </a:prstGeom>
          <a:noFill/>
          <a:ln/>
        </p:spPr>
        <p:txBody>
          <a:bodyPr wrap="square" lIns="0" tIns="0" rIns="0" bIns="0" rtlCol="0" anchor="ctr"/>
          <a:lstStyle/>
          <a:p>
            <a:pPr marL="0" indent="0" algn="l">
              <a:buNone/>
            </a:pPr>
            <a:r>
              <a:rPr lang="en-US" sz="900" dirty="0">
                <a:solidFill>
                  <a:srgbClr val="881337"/>
                </a:solidFill>
                <a:latin typeface="Noto Sans JP" pitchFamily="34" charset="0"/>
                <a:ea typeface="Noto Sans JP" pitchFamily="34" charset="-122"/>
                <a:cs typeface="Noto Sans JP" pitchFamily="34" charset="-120"/>
              </a:rPr>
              <a:t>（ライセンス配布済）</a:t>
            </a:r>
            <a:endParaRPr lang="en-US" sz="900" dirty="0"/>
          </a:p>
        </p:txBody>
      </p:sp>
      <p:sp>
        <p:nvSpPr>
          <p:cNvPr id="20" name="Text 17"/>
          <p:cNvSpPr txBox="1"/>
          <p:nvPr/>
        </p:nvSpPr>
        <p:spPr>
          <a:xfrm>
            <a:off x="4849978" y="2837383"/>
            <a:ext cx="676656" cy="495605"/>
          </a:xfrm>
          <a:prstGeom prst="rect">
            <a:avLst/>
          </a:prstGeom>
          <a:noFill/>
          <a:ln/>
        </p:spPr>
        <p:txBody>
          <a:bodyPr wrap="square" lIns="0" tIns="0" rIns="0" bIns="0" rtlCol="0" anchor="ctr"/>
          <a:lstStyle/>
          <a:p>
            <a:pPr marL="0" indent="0" algn="l">
              <a:buNone/>
            </a:pPr>
            <a:r>
              <a:rPr lang="en-US" sz="2700" b="1" dirty="0">
                <a:solidFill>
                  <a:srgbClr val="BE123C"/>
                </a:solidFill>
                <a:latin typeface="Noto Sans JP" pitchFamily="34" charset="0"/>
                <a:ea typeface="Noto Sans JP" pitchFamily="34" charset="-122"/>
                <a:cs typeface="Noto Sans JP" pitchFamily="34" charset="-120"/>
              </a:rPr>
              <a:t>20</a:t>
            </a:r>
            <a:endParaRPr lang="en-US" sz="2700" dirty="0"/>
          </a:p>
        </p:txBody>
      </p:sp>
      <p:sp>
        <p:nvSpPr>
          <p:cNvPr id="21" name="Text 18"/>
          <p:cNvSpPr txBox="1"/>
          <p:nvPr/>
        </p:nvSpPr>
        <p:spPr>
          <a:xfrm>
            <a:off x="5305349" y="3037637"/>
            <a:ext cx="300838" cy="247802"/>
          </a:xfrm>
          <a:prstGeom prst="rect">
            <a:avLst/>
          </a:prstGeom>
          <a:noFill/>
          <a:ln/>
        </p:spPr>
        <p:txBody>
          <a:bodyPr wrap="square" lIns="0" tIns="0" rIns="0" bIns="0" rtlCol="0" anchor="ctr"/>
          <a:lstStyle/>
          <a:p>
            <a:pPr marL="0" indent="0" algn="l">
              <a:buNone/>
            </a:pPr>
            <a:r>
              <a:rPr lang="en-US" sz="1300" b="1" dirty="0">
                <a:solidFill>
                  <a:srgbClr val="BE123C"/>
                </a:solidFill>
                <a:latin typeface="Noto Sans JP" pitchFamily="34" charset="0"/>
                <a:ea typeface="Noto Sans JP" pitchFamily="34" charset="-122"/>
                <a:cs typeface="Noto Sans JP" pitchFamily="34" charset="-120"/>
              </a:rPr>
              <a:t>％</a:t>
            </a:r>
            <a:endParaRPr lang="en-US" sz="1300" dirty="0"/>
          </a:p>
        </p:txBody>
      </p:sp>
      <p:sp>
        <p:nvSpPr>
          <p:cNvPr id="22" name="Text 19"/>
          <p:cNvSpPr txBox="1"/>
          <p:nvPr/>
        </p:nvSpPr>
        <p:spPr>
          <a:xfrm>
            <a:off x="923544" y="3823106"/>
            <a:ext cx="4819802" cy="495605"/>
          </a:xfrm>
          <a:prstGeom prst="rect">
            <a:avLst/>
          </a:prstGeom>
          <a:noFill/>
          <a:ln/>
        </p:spPr>
        <p:txBody>
          <a:bodyPr wrap="square" lIns="0" tIns="0" rIns="0" bIns="0" rtlCol="0" anchor="ctr"/>
          <a:lstStyle/>
          <a:p>
            <a:pPr marL="0" indent="0" algn="l">
              <a:buNone/>
            </a:pPr>
            <a:r>
              <a:rPr lang="en-US" sz="1200" dirty="0">
                <a:solidFill>
                  <a:srgbClr val="4B5563"/>
                </a:solidFill>
                <a:latin typeface="Noto Sans JP" pitchFamily="34" charset="0"/>
                <a:ea typeface="Noto Sans JP" pitchFamily="34" charset="-122"/>
                <a:cs typeface="Noto Sans JP" pitchFamily="34" charset="-120"/>
              </a:rPr>
              <a:t>現場の戸惑い： 「具体的な使い方がわからない」「どの業務に使えるかイメージできない」という声が多数。</a:t>
            </a:r>
            <a:endParaRPr lang="en-US" sz="1200" dirty="0"/>
          </a:p>
        </p:txBody>
      </p:sp>
      <p:sp>
        <p:nvSpPr>
          <p:cNvPr id="23" name="Text 20"/>
          <p:cNvSpPr txBox="1"/>
          <p:nvPr/>
        </p:nvSpPr>
        <p:spPr>
          <a:xfrm>
            <a:off x="923544" y="4463186"/>
            <a:ext cx="4819802" cy="495605"/>
          </a:xfrm>
          <a:prstGeom prst="rect">
            <a:avLst/>
          </a:prstGeom>
          <a:noFill/>
          <a:ln/>
        </p:spPr>
        <p:txBody>
          <a:bodyPr wrap="square" lIns="0" tIns="0" rIns="0" bIns="0" rtlCol="0" anchor="ctr"/>
          <a:lstStyle/>
          <a:p>
            <a:pPr marL="0" indent="0" algn="l">
              <a:buNone/>
            </a:pPr>
            <a:r>
              <a:rPr lang="en-US" sz="1200" dirty="0">
                <a:solidFill>
                  <a:srgbClr val="4B5563"/>
                </a:solidFill>
                <a:latin typeface="Noto Sans JP" pitchFamily="34" charset="0"/>
                <a:ea typeface="Noto Sans JP" pitchFamily="34" charset="-122"/>
                <a:cs typeface="Noto Sans JP" pitchFamily="34" charset="-120"/>
              </a:rPr>
              <a:t>経営層の懸念： ライセンス投資に対する具体的な成果やROIが見えにくく、効果検証が求められている。</a:t>
            </a:r>
            <a:endParaRPr lang="en-US" sz="1200" dirty="0"/>
          </a:p>
        </p:txBody>
      </p:sp>
      <p:sp>
        <p:nvSpPr>
          <p:cNvPr id="24" name="Text 21"/>
          <p:cNvSpPr txBox="1"/>
          <p:nvPr/>
        </p:nvSpPr>
        <p:spPr>
          <a:xfrm>
            <a:off x="923544" y="5103266"/>
            <a:ext cx="4819802" cy="495605"/>
          </a:xfrm>
          <a:prstGeom prst="rect">
            <a:avLst/>
          </a:prstGeom>
          <a:noFill/>
          <a:ln/>
        </p:spPr>
        <p:txBody>
          <a:bodyPr wrap="square" lIns="0" tIns="0" rIns="0" bIns="0" rtlCol="0" anchor="ctr"/>
          <a:lstStyle/>
          <a:p>
            <a:pPr marL="0" indent="0" algn="l">
              <a:buNone/>
            </a:pPr>
            <a:r>
              <a:rPr lang="en-US" sz="1200" dirty="0">
                <a:solidFill>
                  <a:srgbClr val="4B5563"/>
                </a:solidFill>
                <a:latin typeface="Noto Sans JP" pitchFamily="34" charset="0"/>
                <a:ea typeface="Noto Sans JP" pitchFamily="34" charset="-122"/>
                <a:cs typeface="Noto Sans JP" pitchFamily="34" charset="-120"/>
              </a:rPr>
              <a:t>活用のばらつき： 一部のITリテラシーが高い社員のみが利用しており、部門間での横展開が進んでいない。</a:t>
            </a:r>
            <a:endParaRPr lang="en-US" sz="1200" dirty="0"/>
          </a:p>
        </p:txBody>
      </p:sp>
      <p:sp>
        <p:nvSpPr>
          <p:cNvPr id="25" name="Shape 22"/>
          <p:cNvSpPr/>
          <p:nvPr/>
        </p:nvSpPr>
        <p:spPr>
          <a:xfrm>
            <a:off x="6248095" y="1556309"/>
            <a:ext cx="5333695" cy="4924044"/>
          </a:xfrm>
          <a:prstGeom prst="roundRect">
            <a:avLst>
              <a:gd name="adj" fmla="val 575"/>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26" name="Shape 23"/>
          <p:cNvSpPr/>
          <p:nvPr/>
        </p:nvSpPr>
        <p:spPr>
          <a:xfrm>
            <a:off x="6562649" y="2480767"/>
            <a:ext cx="4705502" cy="19202"/>
          </a:xfrm>
          <a:prstGeom prst="rect">
            <a:avLst/>
          </a:prstGeom>
          <a:solidFill>
            <a:srgbClr val="F1F5F9"/>
          </a:solidFill>
          <a:ln/>
        </p:spPr>
        <p:txBody>
          <a:bodyPr/>
          <a:lstStyle/>
          <a:p>
            <a:endParaRPr lang="ja-JP" altLang="en-US"/>
          </a:p>
        </p:txBody>
      </p:sp>
      <p:sp>
        <p:nvSpPr>
          <p:cNvPr id="27" name="Shape 24"/>
          <p:cNvSpPr/>
          <p:nvPr/>
        </p:nvSpPr>
        <p:spPr>
          <a:xfrm>
            <a:off x="6562649" y="1870862"/>
            <a:ext cx="457200" cy="457200"/>
          </a:xfrm>
          <a:prstGeom prst="roundRect">
            <a:avLst>
              <a:gd name="adj" fmla="val 50000"/>
            </a:avLst>
          </a:prstGeom>
          <a:solidFill>
            <a:srgbClr val="EFF6FF"/>
          </a:solidFill>
          <a:ln/>
        </p:spPr>
        <p:txBody>
          <a:bodyPr/>
          <a:lstStyle/>
          <a:p>
            <a:endParaRPr lang="ja-JP" altLang="en-US"/>
          </a:p>
        </p:txBody>
      </p:sp>
      <p:pic>
        <p:nvPicPr>
          <p:cNvPr id="28" name="Image 1" descr="preencoded.png"/>
          <p:cNvPicPr>
            <a:picLocks noChangeAspect="1"/>
          </p:cNvPicPr>
          <p:nvPr/>
        </p:nvPicPr>
        <p:blipFill>
          <a:blip r:embed="rId4"/>
          <a:srcRect/>
          <a:stretch/>
        </p:blipFill>
        <p:spPr>
          <a:xfrm>
            <a:off x="6676949" y="1985162"/>
            <a:ext cx="228600" cy="228600"/>
          </a:xfrm>
          <a:prstGeom prst="rect">
            <a:avLst/>
          </a:prstGeom>
        </p:spPr>
      </p:pic>
      <p:sp>
        <p:nvSpPr>
          <p:cNvPr id="29" name="Text 25"/>
          <p:cNvSpPr txBox="1"/>
          <p:nvPr/>
        </p:nvSpPr>
        <p:spPr>
          <a:xfrm>
            <a:off x="7172554" y="1927555"/>
            <a:ext cx="2457907" cy="333756"/>
          </a:xfrm>
          <a:prstGeom prst="rect">
            <a:avLst/>
          </a:prstGeom>
          <a:noFill/>
          <a:ln/>
        </p:spPr>
        <p:txBody>
          <a:bodyPr wrap="square" lIns="0" tIns="0" rIns="0" bIns="0" rtlCol="0" anchor="ctr"/>
          <a:lstStyle/>
          <a:p>
            <a:pPr marL="0" indent="0" algn="l">
              <a:buNone/>
            </a:pPr>
            <a:r>
              <a:rPr lang="en-US" sz="1800" b="1" dirty="0">
                <a:solidFill>
                  <a:srgbClr val="1E40AF"/>
                </a:solidFill>
                <a:latin typeface="Noto Sans JP" pitchFamily="34" charset="0"/>
                <a:ea typeface="Noto Sans JP" pitchFamily="34" charset="-122"/>
                <a:cs typeface="Noto Sans JP" pitchFamily="34" charset="-120"/>
              </a:rPr>
              <a:t>本プロジェクトの目的</a:t>
            </a:r>
            <a:endParaRPr lang="en-US" sz="1800" dirty="0"/>
          </a:p>
        </p:txBody>
      </p:sp>
      <p:sp>
        <p:nvSpPr>
          <p:cNvPr id="30" name="Text 26"/>
          <p:cNvSpPr txBox="1"/>
          <p:nvPr/>
        </p:nvSpPr>
        <p:spPr>
          <a:xfrm>
            <a:off x="6562649" y="2727655"/>
            <a:ext cx="4819802" cy="495605"/>
          </a:xfrm>
          <a:prstGeom prst="rect">
            <a:avLst/>
          </a:prstGeom>
          <a:noFill/>
          <a:ln/>
        </p:spPr>
        <p:txBody>
          <a:bodyPr wrap="square" lIns="0" tIns="0" rIns="0" bIns="0" rtlCol="0" anchor="ctr"/>
          <a:lstStyle/>
          <a:p>
            <a:pPr marL="0" indent="0" algn="l">
              <a:buNone/>
            </a:pPr>
            <a:r>
              <a:rPr lang="en-US" sz="1200" dirty="0">
                <a:solidFill>
                  <a:srgbClr val="4B5563"/>
                </a:solidFill>
                <a:latin typeface="Noto Sans JP" pitchFamily="34" charset="0"/>
                <a:ea typeface="Noto Sans JP" pitchFamily="34" charset="-122"/>
                <a:cs typeface="Noto Sans JP" pitchFamily="34" charset="-120"/>
              </a:rPr>
              <a:t>現場主導型体制の構築： トップダウンだけでなく、現場の「Copilot Champion」を中心とした自律的な活用促進体制を作る。</a:t>
            </a:r>
            <a:endParaRPr lang="en-US" sz="1200" dirty="0"/>
          </a:p>
        </p:txBody>
      </p:sp>
      <p:sp>
        <p:nvSpPr>
          <p:cNvPr id="31" name="Text 27"/>
          <p:cNvSpPr txBox="1"/>
          <p:nvPr/>
        </p:nvSpPr>
        <p:spPr>
          <a:xfrm>
            <a:off x="6562649" y="3367735"/>
            <a:ext cx="4819802" cy="495605"/>
          </a:xfrm>
          <a:prstGeom prst="rect">
            <a:avLst/>
          </a:prstGeom>
          <a:noFill/>
          <a:ln/>
        </p:spPr>
        <p:txBody>
          <a:bodyPr wrap="square" lIns="0" tIns="0" rIns="0" bIns="0" rtlCol="0" anchor="ctr"/>
          <a:lstStyle/>
          <a:p>
            <a:pPr marL="0" indent="0" algn="l">
              <a:buNone/>
            </a:pPr>
            <a:r>
              <a:rPr lang="en-US" sz="1200" dirty="0">
                <a:solidFill>
                  <a:srgbClr val="4B5563"/>
                </a:solidFill>
                <a:latin typeface="Noto Sans JP" pitchFamily="34" charset="0"/>
                <a:ea typeface="Noto Sans JP" pitchFamily="34" charset="-122"/>
                <a:cs typeface="Noto Sans JP" pitchFamily="34" charset="-120"/>
              </a:rPr>
              <a:t>ROIの可視化と最大化： 定量的なKPI（時間削減率など）を設定し、投資対効果を明確に測定・改善する仕組みを導入。</a:t>
            </a:r>
            <a:endParaRPr lang="en-US" sz="1200" dirty="0"/>
          </a:p>
        </p:txBody>
      </p:sp>
      <p:sp>
        <p:nvSpPr>
          <p:cNvPr id="32" name="Text 28"/>
          <p:cNvSpPr txBox="1"/>
          <p:nvPr/>
        </p:nvSpPr>
        <p:spPr>
          <a:xfrm>
            <a:off x="6562649" y="4007815"/>
            <a:ext cx="4819802" cy="495605"/>
          </a:xfrm>
          <a:prstGeom prst="rect">
            <a:avLst/>
          </a:prstGeom>
          <a:noFill/>
          <a:ln/>
        </p:spPr>
        <p:txBody>
          <a:bodyPr wrap="square" lIns="0" tIns="0" rIns="0" bIns="0" rtlCol="0" anchor="ctr"/>
          <a:lstStyle/>
          <a:p>
            <a:pPr marL="0" indent="0" algn="l">
              <a:buNone/>
            </a:pPr>
            <a:r>
              <a:rPr lang="en-US" sz="1200" dirty="0">
                <a:solidFill>
                  <a:srgbClr val="4B5563"/>
                </a:solidFill>
                <a:latin typeface="Noto Sans JP" pitchFamily="34" charset="0"/>
                <a:ea typeface="Noto Sans JP" pitchFamily="34" charset="-122"/>
                <a:cs typeface="Noto Sans JP" pitchFamily="34" charset="-120"/>
              </a:rPr>
              <a:t>持続可能なAI活用文化： 一過性のブームに終わらせず、「業務の相棒」として定着させる文化を醸成する。</a:t>
            </a:r>
            <a:endParaRPr lang="en-US" sz="1200" dirty="0"/>
          </a:p>
        </p:txBody>
      </p:sp>
      <p:sp>
        <p:nvSpPr>
          <p:cNvPr id="33" name="Shape 29"/>
          <p:cNvSpPr/>
          <p:nvPr/>
        </p:nvSpPr>
        <p:spPr>
          <a:xfrm>
            <a:off x="6562649" y="4876495"/>
            <a:ext cx="4705502" cy="1285646"/>
          </a:xfrm>
          <a:prstGeom prst="roundRect">
            <a:avLst>
              <a:gd name="adj" fmla="val 6322"/>
            </a:avLst>
          </a:prstGeom>
          <a:solidFill>
            <a:srgbClr val="F0F9FF"/>
          </a:solidFill>
          <a:ln w="12700">
            <a:solidFill>
              <a:srgbClr val="BAE6FD"/>
            </a:solidFill>
            <a:prstDash val="solid"/>
          </a:ln>
        </p:spPr>
        <p:txBody>
          <a:bodyPr/>
          <a:lstStyle/>
          <a:p>
            <a:endParaRPr lang="ja-JP" altLang="en-US"/>
          </a:p>
        </p:txBody>
      </p:sp>
      <p:sp>
        <p:nvSpPr>
          <p:cNvPr id="34" name="Text 30"/>
          <p:cNvSpPr txBox="1"/>
          <p:nvPr/>
        </p:nvSpPr>
        <p:spPr>
          <a:xfrm>
            <a:off x="6762902" y="5076749"/>
            <a:ext cx="2100377" cy="191110"/>
          </a:xfrm>
          <a:prstGeom prst="rect">
            <a:avLst/>
          </a:prstGeom>
          <a:noFill/>
          <a:ln/>
        </p:spPr>
        <p:txBody>
          <a:bodyPr wrap="square" lIns="0" tIns="0" rIns="0" bIns="0" rtlCol="0" anchor="ctr"/>
          <a:lstStyle/>
          <a:p>
            <a:pPr marL="0" indent="0" algn="l">
              <a:buNone/>
            </a:pPr>
            <a:r>
              <a:rPr lang="en-US" sz="1000" b="1" dirty="0">
                <a:solidFill>
                  <a:srgbClr val="0369A1"/>
                </a:solidFill>
                <a:latin typeface="Noto Sans JP" pitchFamily="34" charset="0"/>
                <a:ea typeface="Noto Sans JP" pitchFamily="34" charset="-122"/>
                <a:cs typeface="Noto Sans JP" pitchFamily="34" charset="-120"/>
              </a:rPr>
              <a:t>PROJECT GOAL: 利用者率の拡大</a:t>
            </a:r>
            <a:endParaRPr lang="en-US" sz="1000" dirty="0"/>
          </a:p>
        </p:txBody>
      </p:sp>
      <p:sp>
        <p:nvSpPr>
          <p:cNvPr id="35" name="Text 31"/>
          <p:cNvSpPr txBox="1"/>
          <p:nvPr/>
        </p:nvSpPr>
        <p:spPr>
          <a:xfrm>
            <a:off x="6858000" y="5505602"/>
            <a:ext cx="1657807" cy="333756"/>
          </a:xfrm>
          <a:prstGeom prst="rect">
            <a:avLst/>
          </a:prstGeom>
          <a:noFill/>
          <a:ln/>
        </p:spPr>
        <p:txBody>
          <a:bodyPr wrap="square" lIns="0" tIns="0" rIns="0" bIns="0" rtlCol="0" anchor="ctr"/>
          <a:lstStyle/>
          <a:p>
            <a:pPr marL="0" indent="0" algn="l">
              <a:buNone/>
            </a:pPr>
            <a:r>
              <a:rPr lang="en-US" sz="1800" b="1" dirty="0">
                <a:solidFill>
                  <a:srgbClr val="64748B"/>
                </a:solidFill>
                <a:latin typeface="Noto Sans JP" pitchFamily="34" charset="0"/>
                <a:ea typeface="Noto Sans JP" pitchFamily="34" charset="-122"/>
                <a:cs typeface="Noto Sans JP" pitchFamily="34" charset="-120"/>
              </a:rPr>
              <a:t>Current: 20%</a:t>
            </a:r>
            <a:endParaRPr lang="en-US" sz="1800" dirty="0"/>
          </a:p>
        </p:txBody>
      </p:sp>
      <p:pic>
        <p:nvPicPr>
          <p:cNvPr id="36" name="Image 2" descr="preencoded.png"/>
          <p:cNvPicPr>
            <a:picLocks noChangeAspect="1"/>
          </p:cNvPicPr>
          <p:nvPr/>
        </p:nvPicPr>
        <p:blipFill>
          <a:blip r:embed="rId5"/>
          <a:srcRect/>
          <a:stretch/>
        </p:blipFill>
        <p:spPr>
          <a:xfrm>
            <a:off x="8416138" y="5586070"/>
            <a:ext cx="190195" cy="190195"/>
          </a:xfrm>
          <a:prstGeom prst="rect">
            <a:avLst/>
          </a:prstGeom>
        </p:spPr>
      </p:pic>
      <p:sp>
        <p:nvSpPr>
          <p:cNvPr id="37" name="Text 32"/>
          <p:cNvSpPr txBox="1"/>
          <p:nvPr/>
        </p:nvSpPr>
        <p:spPr>
          <a:xfrm>
            <a:off x="8685886" y="5400446"/>
            <a:ext cx="2581351" cy="553212"/>
          </a:xfrm>
          <a:prstGeom prst="rect">
            <a:avLst/>
          </a:prstGeom>
          <a:noFill/>
          <a:ln/>
        </p:spPr>
        <p:txBody>
          <a:bodyPr wrap="square" lIns="0" tIns="0" rIns="0" bIns="0" rtlCol="0" anchor="ctr"/>
          <a:lstStyle/>
          <a:p>
            <a:pPr marL="0" indent="0" algn="l">
              <a:buNone/>
            </a:pPr>
            <a:r>
              <a:rPr lang="en-US" sz="3000" b="1" dirty="0">
                <a:solidFill>
                  <a:srgbClr val="0284C7"/>
                </a:solidFill>
                <a:latin typeface="Noto Sans JP" pitchFamily="34" charset="0"/>
                <a:ea typeface="Noto Sans JP" pitchFamily="34" charset="-122"/>
                <a:cs typeface="Noto Sans JP" pitchFamily="34" charset="-120"/>
              </a:rPr>
              <a:t>Target: 80%</a:t>
            </a:r>
            <a:endParaRPr lang="en-US" sz="3000" dirty="0"/>
          </a:p>
        </p:txBody>
      </p:sp>
      <p:sp>
        <p:nvSpPr>
          <p:cNvPr id="38" name="Text 33"/>
          <p:cNvSpPr txBox="1"/>
          <p:nvPr/>
        </p:nvSpPr>
        <p:spPr>
          <a:xfrm>
            <a:off x="11726266" y="6448349"/>
            <a:ext cx="262433" cy="152705"/>
          </a:xfrm>
          <a:prstGeom prst="rect">
            <a:avLst/>
          </a:prstGeom>
          <a:noFill/>
          <a:ln/>
        </p:spPr>
        <p:txBody>
          <a:bodyPr wrap="square" lIns="0" tIns="0" rIns="0" bIns="0" rtlCol="0" anchor="ctr"/>
          <a:lstStyle/>
          <a:p>
            <a:pPr marL="0" indent="0" algn="l">
              <a:buNone/>
            </a:pPr>
            <a:r>
              <a:rPr lang="en-US" sz="1000" dirty="0">
                <a:solidFill>
                  <a:srgbClr val="9CA3AF"/>
                </a:solidFill>
                <a:latin typeface="Courier New" pitchFamily="34" charset="0"/>
                <a:ea typeface="Courier New" pitchFamily="34" charset="-122"/>
                <a:cs typeface="Courier New" pitchFamily="34" charset="-120"/>
              </a:rPr>
              <a:t>05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181405"/>
          </a:xfrm>
          <a:prstGeom prst="rect">
            <a:avLst/>
          </a:prstGeom>
          <a:solidFill>
            <a:srgbClr val="FFFFFF"/>
          </a:solidFill>
          <a:ln/>
        </p:spPr>
        <p:txBody>
          <a:bodyPr/>
          <a:lstStyle/>
          <a:p>
            <a:endParaRPr lang="ja-JP" altLang="en-US"/>
          </a:p>
        </p:txBody>
      </p:sp>
      <p:sp>
        <p:nvSpPr>
          <p:cNvPr id="5" name="Shape 3"/>
          <p:cNvSpPr/>
          <p:nvPr/>
        </p:nvSpPr>
        <p:spPr>
          <a:xfrm>
            <a:off x="0" y="1172261"/>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267005"/>
            <a:ext cx="3943807" cy="438912"/>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年間予算と12ヶ月実施計画</a:t>
            </a:r>
            <a:endParaRPr lang="en-US" sz="2400" dirty="0"/>
          </a:p>
        </p:txBody>
      </p:sp>
      <p:sp>
        <p:nvSpPr>
          <p:cNvPr id="7" name="Text 5"/>
          <p:cNvSpPr txBox="1"/>
          <p:nvPr/>
        </p:nvSpPr>
        <p:spPr>
          <a:xfrm>
            <a:off x="609905" y="747065"/>
            <a:ext cx="3801161" cy="228600"/>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年間1億460万円の投資計画と四半期別マイルストーン</a:t>
            </a:r>
            <a:endParaRPr lang="en-US" sz="1200" dirty="0"/>
          </a:p>
        </p:txBody>
      </p:sp>
      <p:sp>
        <p:nvSpPr>
          <p:cNvPr id="8" name="Shape 6"/>
          <p:cNvSpPr/>
          <p:nvPr/>
        </p:nvSpPr>
        <p:spPr>
          <a:xfrm>
            <a:off x="9914839" y="661111"/>
            <a:ext cx="1676095" cy="314554"/>
          </a:xfrm>
          <a:prstGeom prst="roundRect">
            <a:avLst>
              <a:gd name="adj" fmla="val 176180"/>
            </a:avLst>
          </a:prstGeom>
          <a:solidFill>
            <a:srgbClr val="059669"/>
          </a:solidFill>
          <a:ln/>
        </p:spPr>
        <p:txBody>
          <a:bodyPr/>
          <a:lstStyle/>
          <a:p>
            <a:endParaRPr lang="ja-JP" altLang="en-US"/>
          </a:p>
        </p:txBody>
      </p:sp>
      <p:sp>
        <p:nvSpPr>
          <p:cNvPr id="9" name="Text 7"/>
          <p:cNvSpPr txBox="1"/>
          <p:nvPr/>
        </p:nvSpPr>
        <p:spPr>
          <a:xfrm>
            <a:off x="10067544" y="717804"/>
            <a:ext cx="1472184" cy="191110"/>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JP" pitchFamily="34" charset="0"/>
                <a:ea typeface="Noto Sans JP" pitchFamily="34" charset="-122"/>
                <a:cs typeface="Noto Sans JP" pitchFamily="34" charset="-120"/>
              </a:rPr>
              <a:t>Budget &amp; Roadmap</a:t>
            </a:r>
            <a:endParaRPr lang="en-US" sz="1000" dirty="0"/>
          </a:p>
        </p:txBody>
      </p:sp>
      <p:sp>
        <p:nvSpPr>
          <p:cNvPr id="10" name="Shape 8"/>
          <p:cNvSpPr/>
          <p:nvPr/>
        </p:nvSpPr>
        <p:spPr>
          <a:xfrm>
            <a:off x="0" y="1175004"/>
            <a:ext cx="12191695" cy="6238951"/>
          </a:xfrm>
          <a:prstGeom prst="rect">
            <a:avLst/>
          </a:prstGeom>
          <a:solidFill>
            <a:srgbClr val="F8FAFC"/>
          </a:solidFill>
          <a:ln/>
        </p:spPr>
        <p:txBody>
          <a:bodyPr/>
          <a:lstStyle/>
          <a:p>
            <a:endParaRPr lang="ja-JP" altLang="en-US"/>
          </a:p>
        </p:txBody>
      </p:sp>
      <p:sp>
        <p:nvSpPr>
          <p:cNvPr id="11" name="Text 9"/>
          <p:cNvSpPr txBox="1"/>
          <p:nvPr/>
        </p:nvSpPr>
        <p:spPr>
          <a:xfrm>
            <a:off x="838505" y="1934870"/>
            <a:ext cx="1167689" cy="191110"/>
          </a:xfrm>
          <a:prstGeom prst="rect">
            <a:avLst/>
          </a:prstGeom>
          <a:noFill/>
          <a:ln/>
        </p:spPr>
        <p:txBody>
          <a:bodyPr wrap="square" lIns="0" tIns="0" rIns="0" bIns="0" rtlCol="0" anchor="ctr"/>
          <a:lstStyle/>
          <a:p>
            <a:pPr marL="0" indent="0" algn="l">
              <a:buNone/>
            </a:pPr>
            <a:r>
              <a:rPr lang="en-US" sz="1000" dirty="0">
                <a:solidFill>
                  <a:srgbClr val="FFFFFF">
                    <a:alpha val="90000"/>
                  </a:srgbClr>
                </a:solidFill>
                <a:latin typeface="Noto Sans JP" pitchFamily="34" charset="0"/>
                <a:ea typeface="Noto Sans JP" pitchFamily="34" charset="-122"/>
                <a:cs typeface="Noto Sans JP" pitchFamily="34" charset="-120"/>
              </a:rPr>
              <a:t>年間総予算 (税抜)</a:t>
            </a:r>
            <a:endParaRPr lang="en-US" sz="1000" dirty="0"/>
          </a:p>
        </p:txBody>
      </p:sp>
      <p:sp>
        <p:nvSpPr>
          <p:cNvPr id="12" name="Text 10"/>
          <p:cNvSpPr txBox="1"/>
          <p:nvPr/>
        </p:nvSpPr>
        <p:spPr>
          <a:xfrm>
            <a:off x="838505" y="2115922"/>
            <a:ext cx="1662379" cy="581558"/>
          </a:xfrm>
          <a:prstGeom prst="rect">
            <a:avLst/>
          </a:prstGeom>
          <a:noFill/>
          <a:ln/>
        </p:spPr>
        <p:txBody>
          <a:bodyPr wrap="square" lIns="0" tIns="0" rIns="0" bIns="0" rtlCol="0" anchor="ctr"/>
          <a:lstStyle/>
          <a:p>
            <a:pPr marL="0" indent="0" algn="l">
              <a:buNone/>
            </a:pPr>
            <a:r>
              <a:rPr lang="en-US" sz="3100" b="1" dirty="0">
                <a:solidFill>
                  <a:srgbClr val="FFFFFF"/>
                </a:solidFill>
                <a:latin typeface="Noto Sans JP" pitchFamily="34" charset="0"/>
                <a:ea typeface="Noto Sans JP" pitchFamily="34" charset="-122"/>
                <a:cs typeface="Noto Sans JP" pitchFamily="34" charset="-120"/>
              </a:rPr>
              <a:t>10,460</a:t>
            </a:r>
            <a:endParaRPr lang="en-US" sz="3100" dirty="0"/>
          </a:p>
        </p:txBody>
      </p:sp>
      <p:sp>
        <p:nvSpPr>
          <p:cNvPr id="13" name="Text 11"/>
          <p:cNvSpPr txBox="1"/>
          <p:nvPr/>
        </p:nvSpPr>
        <p:spPr>
          <a:xfrm>
            <a:off x="2197303" y="2363724"/>
            <a:ext cx="523951" cy="277063"/>
          </a:xfrm>
          <a:prstGeom prst="rect">
            <a:avLst/>
          </a:prstGeom>
          <a:noFill/>
          <a:ln/>
        </p:spPr>
        <p:txBody>
          <a:bodyPr wrap="square" lIns="0" tIns="0" rIns="0" bIns="0" rtlCol="0" anchor="ctr"/>
          <a:lstStyle/>
          <a:p>
            <a:pPr marL="0" indent="0" algn="l">
              <a:buNone/>
            </a:pPr>
            <a:r>
              <a:rPr lang="en-US" sz="1500" dirty="0">
                <a:solidFill>
                  <a:srgbClr val="FFFFFF"/>
                </a:solidFill>
                <a:latin typeface="Noto Sans JP" pitchFamily="34" charset="0"/>
                <a:ea typeface="Noto Sans JP" pitchFamily="34" charset="-122"/>
                <a:cs typeface="Noto Sans JP" pitchFamily="34" charset="-120"/>
              </a:rPr>
              <a:t>万円</a:t>
            </a:r>
            <a:endParaRPr lang="en-US" sz="1500" dirty="0"/>
          </a:p>
        </p:txBody>
      </p:sp>
      <p:sp>
        <p:nvSpPr>
          <p:cNvPr id="14" name="Shape 12"/>
          <p:cNvSpPr/>
          <p:nvPr/>
        </p:nvSpPr>
        <p:spPr>
          <a:xfrm>
            <a:off x="838505" y="2801722"/>
            <a:ext cx="2210105" cy="228600"/>
          </a:xfrm>
          <a:prstGeom prst="roundRect">
            <a:avLst>
              <a:gd name="adj" fmla="val 400000"/>
            </a:avLst>
          </a:prstGeom>
          <a:solidFill>
            <a:srgbClr val="FFFFFF">
              <a:alpha val="20000"/>
            </a:srgbClr>
          </a:solidFill>
          <a:ln/>
        </p:spPr>
        <p:txBody>
          <a:bodyPr/>
          <a:lstStyle/>
          <a:p>
            <a:endParaRPr lang="ja-JP" altLang="en-US"/>
          </a:p>
        </p:txBody>
      </p:sp>
      <p:sp>
        <p:nvSpPr>
          <p:cNvPr id="15" name="Text 13"/>
          <p:cNvSpPr txBox="1"/>
          <p:nvPr/>
        </p:nvSpPr>
        <p:spPr>
          <a:xfrm>
            <a:off x="952805" y="2830068"/>
            <a:ext cx="1571854" cy="162763"/>
          </a:xfrm>
          <a:prstGeom prst="rect">
            <a:avLst/>
          </a:prstGeom>
          <a:noFill/>
          <a:ln/>
        </p:spPr>
        <p:txBody>
          <a:bodyPr wrap="square" lIns="0" tIns="0" rIns="0" bIns="0" rtlCol="0" anchor="ctr"/>
          <a:lstStyle/>
          <a:p>
            <a:pPr marL="0" indent="0" algn="l">
              <a:buNone/>
            </a:pPr>
            <a:r>
              <a:rPr lang="en-US" sz="900" dirty="0">
                <a:solidFill>
                  <a:srgbClr val="FFFFFF"/>
                </a:solidFill>
                <a:latin typeface="Noto Sans JP" pitchFamily="34" charset="0"/>
                <a:ea typeface="Noto Sans JP" pitchFamily="34" charset="-122"/>
                <a:cs typeface="Noto Sans JP" pitchFamily="34" charset="-120"/>
              </a:rPr>
              <a:t>ROI 905% / 回収期間 1.2ヶ月</a:t>
            </a:r>
            <a:endParaRPr lang="en-US" sz="900" dirty="0"/>
          </a:p>
        </p:txBody>
      </p:sp>
      <p:sp>
        <p:nvSpPr>
          <p:cNvPr id="16" name="Shape 14"/>
          <p:cNvSpPr/>
          <p:nvPr/>
        </p:nvSpPr>
        <p:spPr>
          <a:xfrm>
            <a:off x="3504895" y="1480414"/>
            <a:ext cx="2572207" cy="2009851"/>
          </a:xfrm>
          <a:prstGeom prst="roundRect">
            <a:avLst>
              <a:gd name="adj" fmla="val 2587"/>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17" name="Shape 15"/>
          <p:cNvSpPr/>
          <p:nvPr/>
        </p:nvSpPr>
        <p:spPr>
          <a:xfrm>
            <a:off x="3705149" y="2176272"/>
            <a:ext cx="2171700" cy="19202"/>
          </a:xfrm>
          <a:prstGeom prst="rect">
            <a:avLst/>
          </a:prstGeom>
          <a:solidFill>
            <a:srgbClr val="F1F5F9"/>
          </a:solidFill>
          <a:ln/>
        </p:spPr>
        <p:txBody>
          <a:bodyPr/>
          <a:lstStyle/>
          <a:p>
            <a:endParaRPr lang="ja-JP" altLang="en-US"/>
          </a:p>
        </p:txBody>
      </p:sp>
      <p:sp>
        <p:nvSpPr>
          <p:cNvPr id="18" name="Shape 16"/>
          <p:cNvSpPr/>
          <p:nvPr/>
        </p:nvSpPr>
        <p:spPr>
          <a:xfrm>
            <a:off x="3705149" y="1680667"/>
            <a:ext cx="381305" cy="381305"/>
          </a:xfrm>
          <a:prstGeom prst="roundRect">
            <a:avLst>
              <a:gd name="adj" fmla="val 47962"/>
            </a:avLst>
          </a:prstGeom>
          <a:solidFill>
            <a:srgbClr val="EFF6FF"/>
          </a:solidFill>
          <a:ln/>
        </p:spPr>
        <p:txBody>
          <a:bodyPr/>
          <a:lstStyle/>
          <a:p>
            <a:endParaRPr lang="ja-JP" altLang="en-US"/>
          </a:p>
        </p:txBody>
      </p:sp>
      <p:pic>
        <p:nvPicPr>
          <p:cNvPr id="19" name="Image 0" descr="preencoded.png"/>
          <p:cNvPicPr>
            <a:picLocks noChangeAspect="1"/>
          </p:cNvPicPr>
          <p:nvPr/>
        </p:nvPicPr>
        <p:blipFill>
          <a:blip r:embed="rId3"/>
          <a:srcRect l="-1064" r="-1064"/>
          <a:stretch/>
        </p:blipFill>
        <p:spPr>
          <a:xfrm>
            <a:off x="3786530" y="1784909"/>
            <a:ext cx="219456" cy="171907"/>
          </a:xfrm>
          <a:prstGeom prst="rect">
            <a:avLst/>
          </a:prstGeom>
        </p:spPr>
      </p:pic>
      <p:sp>
        <p:nvSpPr>
          <p:cNvPr id="20" name="Text 17"/>
          <p:cNvSpPr txBox="1"/>
          <p:nvPr/>
        </p:nvSpPr>
        <p:spPr>
          <a:xfrm>
            <a:off x="4200754" y="1680667"/>
            <a:ext cx="581558"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人件費</a:t>
            </a:r>
            <a:endParaRPr lang="en-US" sz="1200" dirty="0"/>
          </a:p>
        </p:txBody>
      </p:sp>
      <p:sp>
        <p:nvSpPr>
          <p:cNvPr id="21" name="Text 18"/>
          <p:cNvSpPr txBox="1"/>
          <p:nvPr/>
        </p:nvSpPr>
        <p:spPr>
          <a:xfrm>
            <a:off x="4200754" y="1899209"/>
            <a:ext cx="781812"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推進体制維持</a:t>
            </a:r>
            <a:endParaRPr lang="en-US" sz="900" dirty="0"/>
          </a:p>
        </p:txBody>
      </p:sp>
      <p:sp>
        <p:nvSpPr>
          <p:cNvPr id="22" name="Text 19"/>
          <p:cNvSpPr txBox="1"/>
          <p:nvPr/>
        </p:nvSpPr>
        <p:spPr>
          <a:xfrm>
            <a:off x="5206594" y="1728216"/>
            <a:ext cx="676656" cy="277063"/>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JP" pitchFamily="34" charset="0"/>
                <a:ea typeface="Noto Sans JP" pitchFamily="34" charset="-122"/>
                <a:cs typeface="Noto Sans JP" pitchFamily="34" charset="-120"/>
              </a:rPr>
              <a:t>6,960</a:t>
            </a:r>
            <a:endParaRPr lang="en-US" sz="1500" dirty="0"/>
          </a:p>
        </p:txBody>
      </p:sp>
      <p:sp>
        <p:nvSpPr>
          <p:cNvPr id="23" name="Text 20"/>
          <p:cNvSpPr txBox="1"/>
          <p:nvPr/>
        </p:nvSpPr>
        <p:spPr>
          <a:xfrm>
            <a:off x="5736946" y="1794967"/>
            <a:ext cx="234086" cy="191110"/>
          </a:xfrm>
          <a:prstGeom prst="rect">
            <a:avLst/>
          </a:prstGeom>
          <a:noFill/>
          <a:ln/>
        </p:spPr>
        <p:txBody>
          <a:bodyPr wrap="square" lIns="0" tIns="0" rIns="0" bIns="0" rtlCol="0" anchor="ctr"/>
          <a:lstStyle/>
          <a:p>
            <a:pPr marL="0" indent="0" algn="l">
              <a:buNone/>
            </a:pPr>
            <a:r>
              <a:rPr lang="en-US" sz="1000" dirty="0">
                <a:solidFill>
                  <a:srgbClr val="6B7280"/>
                </a:solidFill>
                <a:latin typeface="Noto Sans JP" pitchFamily="34" charset="0"/>
                <a:ea typeface="Noto Sans JP" pitchFamily="34" charset="-122"/>
                <a:cs typeface="Noto Sans JP" pitchFamily="34" charset="-120"/>
              </a:rPr>
              <a:t>万</a:t>
            </a:r>
            <a:endParaRPr lang="en-US" sz="1000" dirty="0"/>
          </a:p>
        </p:txBody>
      </p:sp>
      <p:sp>
        <p:nvSpPr>
          <p:cNvPr id="24" name="Text 21"/>
          <p:cNvSpPr txBox="1"/>
          <p:nvPr/>
        </p:nvSpPr>
        <p:spPr>
          <a:xfrm>
            <a:off x="3705149" y="2347265"/>
            <a:ext cx="1359713"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事務局 (6名) 5,760万円</a:t>
            </a:r>
            <a:endParaRPr lang="en-US" sz="900" dirty="0"/>
          </a:p>
        </p:txBody>
      </p:sp>
      <p:sp>
        <p:nvSpPr>
          <p:cNvPr id="25" name="Text 22"/>
          <p:cNvSpPr txBox="1"/>
          <p:nvPr/>
        </p:nvSpPr>
        <p:spPr>
          <a:xfrm>
            <a:off x="3705149" y="2608783"/>
            <a:ext cx="1531620"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Champion手当 1,200万円</a:t>
            </a:r>
            <a:endParaRPr lang="en-US" sz="900" dirty="0"/>
          </a:p>
        </p:txBody>
      </p:sp>
      <p:sp>
        <p:nvSpPr>
          <p:cNvPr id="26" name="Shape 23"/>
          <p:cNvSpPr/>
          <p:nvPr/>
        </p:nvSpPr>
        <p:spPr>
          <a:xfrm>
            <a:off x="3705149" y="2908706"/>
            <a:ext cx="2171700" cy="9144"/>
          </a:xfrm>
          <a:prstGeom prst="rect">
            <a:avLst/>
          </a:prstGeom>
          <a:solidFill>
            <a:srgbClr val="E5E7EB"/>
          </a:solidFill>
          <a:ln/>
        </p:spPr>
        <p:txBody>
          <a:bodyPr/>
          <a:lstStyle/>
          <a:p>
            <a:endParaRPr lang="ja-JP" altLang="en-US"/>
          </a:p>
        </p:txBody>
      </p:sp>
      <p:sp>
        <p:nvSpPr>
          <p:cNvPr id="27" name="Text 24"/>
          <p:cNvSpPr txBox="1"/>
          <p:nvPr/>
        </p:nvSpPr>
        <p:spPr>
          <a:xfrm>
            <a:off x="3705149" y="2994660"/>
            <a:ext cx="1312164" cy="152705"/>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※50名×2万×12ヶ月</a:t>
            </a:r>
            <a:endParaRPr lang="en-US" sz="900" dirty="0"/>
          </a:p>
        </p:txBody>
      </p:sp>
      <p:sp>
        <p:nvSpPr>
          <p:cNvPr id="28" name="Shape 25"/>
          <p:cNvSpPr/>
          <p:nvPr/>
        </p:nvSpPr>
        <p:spPr>
          <a:xfrm>
            <a:off x="6260897" y="1480414"/>
            <a:ext cx="2572207" cy="2009851"/>
          </a:xfrm>
          <a:prstGeom prst="roundRect">
            <a:avLst>
              <a:gd name="adj" fmla="val 2587"/>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29" name="Shape 26"/>
          <p:cNvSpPr/>
          <p:nvPr/>
        </p:nvSpPr>
        <p:spPr>
          <a:xfrm>
            <a:off x="6461150" y="2176272"/>
            <a:ext cx="2171700" cy="19202"/>
          </a:xfrm>
          <a:prstGeom prst="rect">
            <a:avLst/>
          </a:prstGeom>
          <a:solidFill>
            <a:srgbClr val="F1F5F9"/>
          </a:solidFill>
          <a:ln/>
        </p:spPr>
        <p:txBody>
          <a:bodyPr/>
          <a:lstStyle/>
          <a:p>
            <a:endParaRPr lang="ja-JP" altLang="en-US"/>
          </a:p>
        </p:txBody>
      </p:sp>
      <p:sp>
        <p:nvSpPr>
          <p:cNvPr id="30" name="Shape 27"/>
          <p:cNvSpPr/>
          <p:nvPr/>
        </p:nvSpPr>
        <p:spPr>
          <a:xfrm>
            <a:off x="6461150" y="1680667"/>
            <a:ext cx="381305" cy="381305"/>
          </a:xfrm>
          <a:prstGeom prst="roundRect">
            <a:avLst>
              <a:gd name="adj" fmla="val 47962"/>
            </a:avLst>
          </a:prstGeom>
          <a:solidFill>
            <a:srgbClr val="ECFDF5"/>
          </a:solidFill>
          <a:ln/>
        </p:spPr>
        <p:txBody>
          <a:bodyPr/>
          <a:lstStyle/>
          <a:p>
            <a:endParaRPr lang="ja-JP" altLang="en-US"/>
          </a:p>
        </p:txBody>
      </p:sp>
      <p:pic>
        <p:nvPicPr>
          <p:cNvPr id="31" name="Image 1" descr="preencoded.png"/>
          <p:cNvPicPr>
            <a:picLocks noChangeAspect="1"/>
          </p:cNvPicPr>
          <p:nvPr/>
        </p:nvPicPr>
        <p:blipFill>
          <a:blip r:embed="rId4"/>
          <a:srcRect l="-1064" r="-1064"/>
          <a:stretch/>
        </p:blipFill>
        <p:spPr>
          <a:xfrm>
            <a:off x="6541618" y="1784909"/>
            <a:ext cx="219456" cy="171907"/>
          </a:xfrm>
          <a:prstGeom prst="rect">
            <a:avLst/>
          </a:prstGeom>
        </p:spPr>
      </p:pic>
      <p:sp>
        <p:nvSpPr>
          <p:cNvPr id="32" name="Text 28"/>
          <p:cNvSpPr txBox="1"/>
          <p:nvPr/>
        </p:nvSpPr>
        <p:spPr>
          <a:xfrm>
            <a:off x="6956755" y="1680667"/>
            <a:ext cx="581558"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教育費</a:t>
            </a:r>
            <a:endParaRPr lang="en-US" sz="1200" dirty="0"/>
          </a:p>
        </p:txBody>
      </p:sp>
      <p:sp>
        <p:nvSpPr>
          <p:cNvPr id="33" name="Text 29"/>
          <p:cNvSpPr txBox="1"/>
          <p:nvPr/>
        </p:nvSpPr>
        <p:spPr>
          <a:xfrm>
            <a:off x="6956755" y="1899209"/>
            <a:ext cx="667512"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スキル習得</a:t>
            </a:r>
            <a:endParaRPr lang="en-US" sz="900" dirty="0"/>
          </a:p>
        </p:txBody>
      </p:sp>
      <p:sp>
        <p:nvSpPr>
          <p:cNvPr id="34" name="Text 30"/>
          <p:cNvSpPr txBox="1"/>
          <p:nvPr/>
        </p:nvSpPr>
        <p:spPr>
          <a:xfrm>
            <a:off x="7961681" y="1728216"/>
            <a:ext cx="676656" cy="277063"/>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JP" pitchFamily="34" charset="0"/>
                <a:ea typeface="Noto Sans JP" pitchFamily="34" charset="-122"/>
                <a:cs typeface="Noto Sans JP" pitchFamily="34" charset="-120"/>
              </a:rPr>
              <a:t>2,500</a:t>
            </a:r>
            <a:endParaRPr lang="en-US" sz="1500" dirty="0"/>
          </a:p>
        </p:txBody>
      </p:sp>
      <p:sp>
        <p:nvSpPr>
          <p:cNvPr id="35" name="Text 31"/>
          <p:cNvSpPr txBox="1"/>
          <p:nvPr/>
        </p:nvSpPr>
        <p:spPr>
          <a:xfrm>
            <a:off x="8492947" y="1794967"/>
            <a:ext cx="234086" cy="191110"/>
          </a:xfrm>
          <a:prstGeom prst="rect">
            <a:avLst/>
          </a:prstGeom>
          <a:noFill/>
          <a:ln/>
        </p:spPr>
        <p:txBody>
          <a:bodyPr wrap="square" lIns="0" tIns="0" rIns="0" bIns="0" rtlCol="0" anchor="ctr"/>
          <a:lstStyle/>
          <a:p>
            <a:pPr marL="0" indent="0" algn="l">
              <a:buNone/>
            </a:pPr>
            <a:r>
              <a:rPr lang="en-US" sz="1000" dirty="0">
                <a:solidFill>
                  <a:srgbClr val="6B7280"/>
                </a:solidFill>
                <a:latin typeface="Noto Sans JP" pitchFamily="34" charset="0"/>
                <a:ea typeface="Noto Sans JP" pitchFamily="34" charset="-122"/>
                <a:cs typeface="Noto Sans JP" pitchFamily="34" charset="-120"/>
              </a:rPr>
              <a:t>万</a:t>
            </a:r>
            <a:endParaRPr lang="en-US" sz="1000" dirty="0"/>
          </a:p>
        </p:txBody>
      </p:sp>
      <p:sp>
        <p:nvSpPr>
          <p:cNvPr id="36" name="Text 32"/>
          <p:cNvSpPr txBox="1"/>
          <p:nvPr/>
        </p:nvSpPr>
        <p:spPr>
          <a:xfrm>
            <a:off x="6461150" y="2347265"/>
            <a:ext cx="1550822"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ワークショップ 1,200万円</a:t>
            </a:r>
            <a:endParaRPr lang="en-US" sz="900" dirty="0"/>
          </a:p>
        </p:txBody>
      </p:sp>
      <p:sp>
        <p:nvSpPr>
          <p:cNvPr id="37" name="Text 33"/>
          <p:cNvSpPr txBox="1"/>
          <p:nvPr/>
        </p:nvSpPr>
        <p:spPr>
          <a:xfrm>
            <a:off x="6461150" y="2608783"/>
            <a:ext cx="1074420"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外部研修 800万円</a:t>
            </a:r>
            <a:endParaRPr lang="en-US" sz="900" dirty="0"/>
          </a:p>
        </p:txBody>
      </p:sp>
      <p:sp>
        <p:nvSpPr>
          <p:cNvPr id="38" name="Text 34"/>
          <p:cNvSpPr txBox="1"/>
          <p:nvPr/>
        </p:nvSpPr>
        <p:spPr>
          <a:xfrm>
            <a:off x="6461150" y="2871216"/>
            <a:ext cx="1512418"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eラーニング開発 500万円</a:t>
            </a:r>
            <a:endParaRPr lang="en-US" sz="900" dirty="0"/>
          </a:p>
        </p:txBody>
      </p:sp>
      <p:sp>
        <p:nvSpPr>
          <p:cNvPr id="39" name="Shape 35"/>
          <p:cNvSpPr/>
          <p:nvPr/>
        </p:nvSpPr>
        <p:spPr>
          <a:xfrm>
            <a:off x="9016898" y="1480414"/>
            <a:ext cx="2572207" cy="2009851"/>
          </a:xfrm>
          <a:prstGeom prst="roundRect">
            <a:avLst>
              <a:gd name="adj" fmla="val 2587"/>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40" name="Shape 36"/>
          <p:cNvSpPr/>
          <p:nvPr/>
        </p:nvSpPr>
        <p:spPr>
          <a:xfrm>
            <a:off x="9217152" y="2404872"/>
            <a:ext cx="2171700" cy="19202"/>
          </a:xfrm>
          <a:prstGeom prst="rect">
            <a:avLst/>
          </a:prstGeom>
          <a:solidFill>
            <a:srgbClr val="F1F5F9"/>
          </a:solidFill>
          <a:ln/>
        </p:spPr>
        <p:txBody>
          <a:bodyPr/>
          <a:lstStyle/>
          <a:p>
            <a:endParaRPr lang="ja-JP" altLang="en-US"/>
          </a:p>
        </p:txBody>
      </p:sp>
      <p:sp>
        <p:nvSpPr>
          <p:cNvPr id="41" name="Shape 37"/>
          <p:cNvSpPr/>
          <p:nvPr/>
        </p:nvSpPr>
        <p:spPr>
          <a:xfrm>
            <a:off x="9217152" y="1794967"/>
            <a:ext cx="381305" cy="381305"/>
          </a:xfrm>
          <a:prstGeom prst="roundRect">
            <a:avLst>
              <a:gd name="adj" fmla="val 47962"/>
            </a:avLst>
          </a:prstGeom>
          <a:solidFill>
            <a:srgbClr val="F5F3FF"/>
          </a:solidFill>
          <a:ln/>
        </p:spPr>
        <p:txBody>
          <a:bodyPr/>
          <a:lstStyle/>
          <a:p>
            <a:endParaRPr lang="ja-JP" altLang="en-US"/>
          </a:p>
        </p:txBody>
      </p:sp>
      <p:pic>
        <p:nvPicPr>
          <p:cNvPr id="42" name="Image 2" descr="preencoded.png"/>
          <p:cNvPicPr>
            <a:picLocks noChangeAspect="1"/>
          </p:cNvPicPr>
          <p:nvPr/>
        </p:nvPicPr>
        <p:blipFill>
          <a:blip r:embed="rId5"/>
          <a:srcRect/>
          <a:stretch/>
        </p:blipFill>
        <p:spPr>
          <a:xfrm>
            <a:off x="9319565" y="1899209"/>
            <a:ext cx="171907" cy="171907"/>
          </a:xfrm>
          <a:prstGeom prst="rect">
            <a:avLst/>
          </a:prstGeom>
        </p:spPr>
      </p:pic>
      <p:sp>
        <p:nvSpPr>
          <p:cNvPr id="43" name="Text 38"/>
          <p:cNvSpPr txBox="1"/>
          <p:nvPr/>
        </p:nvSpPr>
        <p:spPr>
          <a:xfrm>
            <a:off x="9708185" y="1680667"/>
            <a:ext cx="886054" cy="4572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ツール・基盤</a:t>
            </a:r>
            <a:endParaRPr lang="en-US" sz="1200" dirty="0"/>
          </a:p>
        </p:txBody>
      </p:sp>
      <p:sp>
        <p:nvSpPr>
          <p:cNvPr id="44" name="Text 39"/>
          <p:cNvSpPr txBox="1"/>
          <p:nvPr/>
        </p:nvSpPr>
        <p:spPr>
          <a:xfrm>
            <a:off x="9708185" y="2127809"/>
            <a:ext cx="553212"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環境整備</a:t>
            </a:r>
            <a:endParaRPr lang="en-US" sz="900" dirty="0"/>
          </a:p>
        </p:txBody>
      </p:sp>
      <p:sp>
        <p:nvSpPr>
          <p:cNvPr id="45" name="Text 40"/>
          <p:cNvSpPr txBox="1"/>
          <p:nvPr/>
        </p:nvSpPr>
        <p:spPr>
          <a:xfrm>
            <a:off x="10725912" y="1698955"/>
            <a:ext cx="676656" cy="277063"/>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JP" pitchFamily="34" charset="0"/>
                <a:ea typeface="Noto Sans JP" pitchFamily="34" charset="-122"/>
                <a:cs typeface="Noto Sans JP" pitchFamily="34" charset="-120"/>
              </a:rPr>
              <a:t>1,000</a:t>
            </a:r>
            <a:endParaRPr lang="en-US" sz="1500" dirty="0"/>
          </a:p>
        </p:txBody>
      </p:sp>
      <p:sp>
        <p:nvSpPr>
          <p:cNvPr id="46" name="Text 41"/>
          <p:cNvSpPr txBox="1"/>
          <p:nvPr/>
        </p:nvSpPr>
        <p:spPr>
          <a:xfrm>
            <a:off x="10725912" y="2051914"/>
            <a:ext cx="234086" cy="191110"/>
          </a:xfrm>
          <a:prstGeom prst="rect">
            <a:avLst/>
          </a:prstGeom>
          <a:noFill/>
          <a:ln/>
        </p:spPr>
        <p:txBody>
          <a:bodyPr wrap="square" lIns="0" tIns="0" rIns="0" bIns="0" rtlCol="0" anchor="ctr"/>
          <a:lstStyle/>
          <a:p>
            <a:pPr marL="0" indent="0" algn="l">
              <a:buNone/>
            </a:pPr>
            <a:r>
              <a:rPr lang="en-US" sz="1000" dirty="0">
                <a:solidFill>
                  <a:srgbClr val="6B7280"/>
                </a:solidFill>
                <a:latin typeface="Noto Sans JP" pitchFamily="34" charset="0"/>
                <a:ea typeface="Noto Sans JP" pitchFamily="34" charset="-122"/>
                <a:cs typeface="Noto Sans JP" pitchFamily="34" charset="-120"/>
              </a:rPr>
              <a:t>万</a:t>
            </a:r>
            <a:endParaRPr lang="en-US" sz="1000" dirty="0"/>
          </a:p>
        </p:txBody>
      </p:sp>
      <p:sp>
        <p:nvSpPr>
          <p:cNvPr id="47" name="Text 42"/>
          <p:cNvSpPr txBox="1"/>
          <p:nvPr/>
        </p:nvSpPr>
        <p:spPr>
          <a:xfrm>
            <a:off x="9217152" y="2575865"/>
            <a:ext cx="1197864"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管理ツール 500万円</a:t>
            </a:r>
            <a:endParaRPr lang="en-US" sz="900" dirty="0"/>
          </a:p>
        </p:txBody>
      </p:sp>
      <p:sp>
        <p:nvSpPr>
          <p:cNvPr id="48" name="Text 43"/>
          <p:cNvSpPr txBox="1"/>
          <p:nvPr/>
        </p:nvSpPr>
        <p:spPr>
          <a:xfrm>
            <a:off x="9217152" y="2837383"/>
            <a:ext cx="1197864"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測定ツール 300万円</a:t>
            </a:r>
            <a:endParaRPr lang="en-US" sz="900" dirty="0"/>
          </a:p>
        </p:txBody>
      </p:sp>
      <p:sp>
        <p:nvSpPr>
          <p:cNvPr id="49" name="Text 44"/>
          <p:cNvSpPr txBox="1"/>
          <p:nvPr/>
        </p:nvSpPr>
        <p:spPr>
          <a:xfrm>
            <a:off x="9217152" y="3099816"/>
            <a:ext cx="1445666"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サポートツール 200万円</a:t>
            </a:r>
            <a:endParaRPr lang="en-US" sz="900" dirty="0"/>
          </a:p>
        </p:txBody>
      </p:sp>
      <p:sp>
        <p:nvSpPr>
          <p:cNvPr id="50" name="Shape 45"/>
          <p:cNvSpPr/>
          <p:nvPr/>
        </p:nvSpPr>
        <p:spPr>
          <a:xfrm>
            <a:off x="609905" y="3790188"/>
            <a:ext cx="10972800" cy="3314700"/>
          </a:xfrm>
          <a:prstGeom prst="roundRect">
            <a:avLst>
              <a:gd name="adj" fmla="val 1268"/>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pic>
        <p:nvPicPr>
          <p:cNvPr id="51" name="Image 3" descr="preencoded.png"/>
          <p:cNvPicPr>
            <a:picLocks noChangeAspect="1"/>
          </p:cNvPicPr>
          <p:nvPr/>
        </p:nvPicPr>
        <p:blipFill>
          <a:blip r:embed="rId6"/>
          <a:srcRect l="-760" r="-760"/>
          <a:stretch/>
        </p:blipFill>
        <p:spPr>
          <a:xfrm>
            <a:off x="923544" y="4070909"/>
            <a:ext cx="152705" cy="171907"/>
          </a:xfrm>
          <a:prstGeom prst="rect">
            <a:avLst/>
          </a:prstGeom>
        </p:spPr>
      </p:pic>
      <p:sp>
        <p:nvSpPr>
          <p:cNvPr id="52" name="Text 46"/>
          <p:cNvSpPr txBox="1"/>
          <p:nvPr/>
        </p:nvSpPr>
        <p:spPr>
          <a:xfrm>
            <a:off x="1171346" y="4027932"/>
            <a:ext cx="2434133" cy="247802"/>
          </a:xfrm>
          <a:prstGeom prst="rect">
            <a:avLst/>
          </a:prstGeom>
          <a:noFill/>
          <a:ln/>
        </p:spPr>
        <p:txBody>
          <a:bodyPr wrap="square" lIns="0" tIns="0" rIns="0" bIns="0" rtlCol="0" anchor="ctr"/>
          <a:lstStyle/>
          <a:p>
            <a:pPr marL="0" indent="0" algn="l">
              <a:buNone/>
            </a:pPr>
            <a:r>
              <a:rPr lang="en-US" sz="1300" b="1" dirty="0">
                <a:solidFill>
                  <a:srgbClr val="374151"/>
                </a:solidFill>
                <a:latin typeface="Noto Sans JP" pitchFamily="34" charset="0"/>
                <a:ea typeface="Noto Sans JP" pitchFamily="34" charset="-122"/>
                <a:cs typeface="Noto Sans JP" pitchFamily="34" charset="-120"/>
              </a:rPr>
              <a:t>12ヶ月 実施計画ロードマップ</a:t>
            </a:r>
            <a:endParaRPr lang="en-US" sz="1300" dirty="0"/>
          </a:p>
        </p:txBody>
      </p:sp>
      <p:sp>
        <p:nvSpPr>
          <p:cNvPr id="53" name="Shape 47"/>
          <p:cNvSpPr/>
          <p:nvPr/>
        </p:nvSpPr>
        <p:spPr>
          <a:xfrm>
            <a:off x="1399946" y="4742993"/>
            <a:ext cx="9391802" cy="38405"/>
          </a:xfrm>
          <a:prstGeom prst="rect">
            <a:avLst/>
          </a:prstGeom>
          <a:solidFill>
            <a:srgbClr val="E5E7EB"/>
          </a:solidFill>
          <a:ln/>
        </p:spPr>
        <p:txBody>
          <a:bodyPr/>
          <a:lstStyle/>
          <a:p>
            <a:endParaRPr lang="ja-JP" altLang="en-US"/>
          </a:p>
        </p:txBody>
      </p:sp>
      <p:sp>
        <p:nvSpPr>
          <p:cNvPr id="54" name="Text 48"/>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10</a:t>
            </a:r>
            <a:endParaRPr lang="en-US" sz="900" dirty="0"/>
          </a:p>
        </p:txBody>
      </p:sp>
      <p:sp>
        <p:nvSpPr>
          <p:cNvPr id="55" name="Shape 49"/>
          <p:cNvSpPr/>
          <p:nvPr/>
        </p:nvSpPr>
        <p:spPr>
          <a:xfrm>
            <a:off x="923544" y="4514393"/>
            <a:ext cx="1314907" cy="457200"/>
          </a:xfrm>
          <a:prstGeom prst="rect">
            <a:avLst/>
          </a:prstGeom>
          <a:solidFill>
            <a:srgbClr val="FFFFFF"/>
          </a:solidFill>
          <a:ln/>
        </p:spPr>
        <p:txBody>
          <a:bodyPr/>
          <a:lstStyle/>
          <a:p>
            <a:endParaRPr lang="ja-JP" altLang="en-US"/>
          </a:p>
        </p:txBody>
      </p:sp>
      <p:sp>
        <p:nvSpPr>
          <p:cNvPr id="56" name="Shape 50"/>
          <p:cNvSpPr/>
          <p:nvPr/>
        </p:nvSpPr>
        <p:spPr>
          <a:xfrm>
            <a:off x="923544" y="4514393"/>
            <a:ext cx="457200" cy="457200"/>
          </a:xfrm>
          <a:prstGeom prst="ellipse">
            <a:avLst/>
          </a:prstGeom>
          <a:solidFill>
            <a:srgbClr val="FFFFFF"/>
          </a:solidFill>
          <a:ln w="50800">
            <a:solidFill>
              <a:srgbClr val="3B82F6"/>
            </a:solidFill>
            <a:prstDash val="solid"/>
          </a:ln>
          <a:effectLst>
            <a:outerShdw blurRad="63500" dist="38100" dir="5400000" algn="bl" rotWithShape="0">
              <a:srgbClr val="000000">
                <a:alpha val="10000"/>
              </a:srgbClr>
            </a:outerShdw>
          </a:effectLst>
        </p:spPr>
        <p:txBody>
          <a:bodyPr/>
          <a:lstStyle/>
          <a:p>
            <a:endParaRPr lang="ja-JP" altLang="en-US"/>
          </a:p>
        </p:txBody>
      </p:sp>
      <p:sp>
        <p:nvSpPr>
          <p:cNvPr id="57" name="Text 51"/>
          <p:cNvSpPr txBox="1"/>
          <p:nvPr/>
        </p:nvSpPr>
        <p:spPr>
          <a:xfrm>
            <a:off x="1100023" y="4614062"/>
            <a:ext cx="234086" cy="257861"/>
          </a:xfrm>
          <a:prstGeom prst="rect">
            <a:avLst/>
          </a:prstGeom>
          <a:noFill/>
          <a:ln/>
        </p:spPr>
        <p:txBody>
          <a:bodyPr wrap="square" lIns="0" tIns="0" rIns="0" bIns="0" rtlCol="0" anchor="ctr"/>
          <a:lstStyle/>
          <a:p>
            <a:pPr marL="0" indent="0" algn="l">
              <a:buNone/>
            </a:pPr>
            <a:r>
              <a:rPr lang="en-US" sz="1300" b="1" dirty="0">
                <a:solidFill>
                  <a:srgbClr val="3B82F6"/>
                </a:solidFill>
                <a:latin typeface="Noto Sans JP" pitchFamily="34" charset="0"/>
                <a:ea typeface="Noto Sans JP" pitchFamily="34" charset="-122"/>
                <a:cs typeface="Noto Sans JP" pitchFamily="34" charset="-120"/>
              </a:rPr>
              <a:t>1</a:t>
            </a:r>
            <a:endParaRPr lang="en-US" sz="1300" dirty="0"/>
          </a:p>
        </p:txBody>
      </p:sp>
      <p:sp>
        <p:nvSpPr>
          <p:cNvPr id="58" name="Shape 52"/>
          <p:cNvSpPr/>
          <p:nvPr/>
        </p:nvSpPr>
        <p:spPr>
          <a:xfrm>
            <a:off x="923544" y="5085893"/>
            <a:ext cx="2419502" cy="1781251"/>
          </a:xfrm>
          <a:prstGeom prst="roundRect">
            <a:avLst>
              <a:gd name="adj" fmla="val 2196"/>
            </a:avLst>
          </a:prstGeom>
          <a:solidFill>
            <a:srgbClr val="F8FAFC"/>
          </a:solidFill>
          <a:ln w="12700">
            <a:solidFill>
              <a:srgbClr val="E2E8F0"/>
            </a:solidFill>
            <a:prstDash val="solid"/>
          </a:ln>
        </p:spPr>
        <p:txBody>
          <a:bodyPr/>
          <a:lstStyle/>
          <a:p>
            <a:endParaRPr lang="ja-JP" altLang="en-US"/>
          </a:p>
        </p:txBody>
      </p:sp>
      <p:pic>
        <p:nvPicPr>
          <p:cNvPr id="59" name="Image 4" descr="preencoded.png"/>
          <p:cNvPicPr>
            <a:picLocks noChangeAspect="1"/>
          </p:cNvPicPr>
          <p:nvPr/>
        </p:nvPicPr>
        <p:blipFill>
          <a:blip r:embed="rId7"/>
          <a:srcRect l="-1648" r="-1648"/>
          <a:stretch/>
        </p:blipFill>
        <p:spPr>
          <a:xfrm>
            <a:off x="1086307" y="5276088"/>
            <a:ext cx="85954" cy="95098"/>
          </a:xfrm>
          <a:prstGeom prst="rect">
            <a:avLst/>
          </a:prstGeom>
        </p:spPr>
      </p:pic>
      <p:pic>
        <p:nvPicPr>
          <p:cNvPr id="60" name="Image 5" descr="preencoded.png"/>
          <p:cNvPicPr>
            <a:picLocks noChangeAspect="1"/>
          </p:cNvPicPr>
          <p:nvPr/>
        </p:nvPicPr>
        <p:blipFill>
          <a:blip r:embed="rId7"/>
          <a:srcRect l="-1648" r="-1648"/>
          <a:stretch/>
        </p:blipFill>
        <p:spPr>
          <a:xfrm>
            <a:off x="1086307" y="5512003"/>
            <a:ext cx="85954" cy="95098"/>
          </a:xfrm>
          <a:prstGeom prst="rect">
            <a:avLst/>
          </a:prstGeom>
        </p:spPr>
      </p:pic>
      <p:pic>
        <p:nvPicPr>
          <p:cNvPr id="61" name="Image 6" descr="preencoded.png"/>
          <p:cNvPicPr>
            <a:picLocks noChangeAspect="1"/>
          </p:cNvPicPr>
          <p:nvPr/>
        </p:nvPicPr>
        <p:blipFill>
          <a:blip r:embed="rId7"/>
          <a:srcRect l="-1648" r="-1648"/>
          <a:stretch/>
        </p:blipFill>
        <p:spPr>
          <a:xfrm>
            <a:off x="1086307" y="5747918"/>
            <a:ext cx="85954" cy="95098"/>
          </a:xfrm>
          <a:prstGeom prst="rect">
            <a:avLst/>
          </a:prstGeom>
        </p:spPr>
      </p:pic>
      <p:pic>
        <p:nvPicPr>
          <p:cNvPr id="62" name="Image 7" descr="preencoded.png"/>
          <p:cNvPicPr>
            <a:picLocks noChangeAspect="1"/>
          </p:cNvPicPr>
          <p:nvPr/>
        </p:nvPicPr>
        <p:blipFill>
          <a:blip r:embed="rId7"/>
          <a:srcRect l="-1648" r="-1648"/>
          <a:stretch/>
        </p:blipFill>
        <p:spPr>
          <a:xfrm>
            <a:off x="1086307" y="5984748"/>
            <a:ext cx="85954" cy="95098"/>
          </a:xfrm>
          <a:prstGeom prst="rect">
            <a:avLst/>
          </a:prstGeom>
        </p:spPr>
      </p:pic>
      <p:sp>
        <p:nvSpPr>
          <p:cNvPr id="63" name="Shape 53"/>
          <p:cNvSpPr/>
          <p:nvPr/>
        </p:nvSpPr>
        <p:spPr>
          <a:xfrm>
            <a:off x="1086307" y="6115507"/>
            <a:ext cx="2095805" cy="9144"/>
          </a:xfrm>
          <a:prstGeom prst="rect">
            <a:avLst/>
          </a:prstGeom>
          <a:solidFill>
            <a:srgbClr val="CBD5E1"/>
          </a:solidFill>
          <a:ln/>
        </p:spPr>
        <p:txBody>
          <a:bodyPr/>
          <a:lstStyle/>
          <a:p>
            <a:endParaRPr lang="ja-JP" altLang="en-US"/>
          </a:p>
        </p:txBody>
      </p:sp>
      <p:sp>
        <p:nvSpPr>
          <p:cNvPr id="64" name="Text 54"/>
          <p:cNvSpPr txBox="1"/>
          <p:nvPr/>
        </p:nvSpPr>
        <p:spPr>
          <a:xfrm>
            <a:off x="1495044" y="4563770"/>
            <a:ext cx="767182" cy="191110"/>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基盤構築期</a:t>
            </a:r>
            <a:endParaRPr lang="en-US" sz="1000" dirty="0"/>
          </a:p>
        </p:txBody>
      </p:sp>
      <p:sp>
        <p:nvSpPr>
          <p:cNvPr id="65" name="Text 55"/>
          <p:cNvSpPr txBox="1"/>
          <p:nvPr/>
        </p:nvSpPr>
        <p:spPr>
          <a:xfrm>
            <a:off x="1495044" y="4764024"/>
            <a:ext cx="584302" cy="152705"/>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Q1 (1-3月)</a:t>
            </a:r>
            <a:endParaRPr lang="en-US" sz="800" dirty="0"/>
          </a:p>
        </p:txBody>
      </p:sp>
      <p:sp>
        <p:nvSpPr>
          <p:cNvPr id="66" name="Text 56"/>
          <p:cNvSpPr txBox="1"/>
          <p:nvPr/>
        </p:nvSpPr>
        <p:spPr>
          <a:xfrm>
            <a:off x="1228954" y="5237683"/>
            <a:ext cx="11247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現状分析・課題抽出</a:t>
            </a:r>
            <a:endParaRPr lang="en-US" sz="900" dirty="0"/>
          </a:p>
        </p:txBody>
      </p:sp>
      <p:sp>
        <p:nvSpPr>
          <p:cNvPr id="67" name="Text 57"/>
          <p:cNvSpPr txBox="1"/>
          <p:nvPr/>
        </p:nvSpPr>
        <p:spPr>
          <a:xfrm>
            <a:off x="1228954" y="5473598"/>
            <a:ext cx="1248156"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推進体制 (事務局) 構築</a:t>
            </a:r>
            <a:endParaRPr lang="en-US" sz="900" dirty="0"/>
          </a:p>
        </p:txBody>
      </p:sp>
      <p:sp>
        <p:nvSpPr>
          <p:cNvPr id="68" name="Text 58"/>
          <p:cNvSpPr txBox="1"/>
          <p:nvPr/>
        </p:nvSpPr>
        <p:spPr>
          <a:xfrm>
            <a:off x="1228954" y="5710428"/>
            <a:ext cx="695858"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教育PG設計</a:t>
            </a:r>
            <a:endParaRPr lang="en-US" sz="900" dirty="0"/>
          </a:p>
        </p:txBody>
      </p:sp>
      <p:sp>
        <p:nvSpPr>
          <p:cNvPr id="69" name="Text 59"/>
          <p:cNvSpPr txBox="1"/>
          <p:nvPr/>
        </p:nvSpPr>
        <p:spPr>
          <a:xfrm>
            <a:off x="1228954" y="5946343"/>
            <a:ext cx="10104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ガイドライン策定</a:t>
            </a:r>
            <a:endParaRPr lang="en-US" sz="900" dirty="0"/>
          </a:p>
        </p:txBody>
      </p:sp>
      <p:sp>
        <p:nvSpPr>
          <p:cNvPr id="70" name="Text 60"/>
          <p:cNvSpPr txBox="1"/>
          <p:nvPr/>
        </p:nvSpPr>
        <p:spPr>
          <a:xfrm>
            <a:off x="1086307" y="6239866"/>
            <a:ext cx="333756"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GOAL</a:t>
            </a:r>
            <a:endParaRPr lang="en-US" sz="800" dirty="0"/>
          </a:p>
        </p:txBody>
      </p:sp>
      <p:sp>
        <p:nvSpPr>
          <p:cNvPr id="71" name="Shape 61"/>
          <p:cNvSpPr/>
          <p:nvPr/>
        </p:nvSpPr>
        <p:spPr>
          <a:xfrm>
            <a:off x="1086307" y="6420917"/>
            <a:ext cx="1295705" cy="286207"/>
          </a:xfrm>
          <a:prstGeom prst="roundRect">
            <a:avLst>
              <a:gd name="adj" fmla="val 42599"/>
            </a:avLst>
          </a:prstGeom>
          <a:solidFill>
            <a:srgbClr val="FFFFFF"/>
          </a:solidFill>
          <a:ln w="12700">
            <a:solidFill>
              <a:srgbClr val="E2E8F0"/>
            </a:solidFill>
            <a:prstDash val="solid"/>
          </a:ln>
          <a:effectLst>
            <a:outerShdw blurRad="25400" dist="12700" dir="5400000" algn="bl" rotWithShape="0">
              <a:srgbClr val="000000">
                <a:alpha val="5000"/>
              </a:srgbClr>
            </a:outerShdw>
          </a:effectLst>
        </p:spPr>
        <p:txBody>
          <a:bodyPr/>
          <a:lstStyle/>
          <a:p>
            <a:endParaRPr lang="ja-JP" altLang="en-US"/>
          </a:p>
        </p:txBody>
      </p:sp>
      <p:sp>
        <p:nvSpPr>
          <p:cNvPr id="72" name="Text 62"/>
          <p:cNvSpPr txBox="1"/>
          <p:nvPr/>
        </p:nvSpPr>
        <p:spPr>
          <a:xfrm>
            <a:off x="1171346" y="6468466"/>
            <a:ext cx="1217066" cy="181051"/>
          </a:xfrm>
          <a:prstGeom prst="rect">
            <a:avLst/>
          </a:prstGeom>
          <a:noFill/>
          <a:ln/>
        </p:spPr>
        <p:txBody>
          <a:bodyPr wrap="square" lIns="0" tIns="0" rIns="0" bIns="0" rtlCol="0" anchor="ctr"/>
          <a:lstStyle/>
          <a:p>
            <a:pPr marL="0" indent="0" algn="l">
              <a:buNone/>
            </a:pPr>
            <a:r>
              <a:rPr lang="en-US" sz="900" b="1" dirty="0">
                <a:solidFill>
                  <a:srgbClr val="1F2937"/>
                </a:solidFill>
                <a:latin typeface="Noto Sans JP" pitchFamily="34" charset="0"/>
                <a:ea typeface="Noto Sans JP" pitchFamily="34" charset="-122"/>
                <a:cs typeface="Noto Sans JP" pitchFamily="34" charset="-120"/>
              </a:rPr>
              <a:t>体制・ルールの確立</a:t>
            </a:r>
            <a:endParaRPr lang="en-US" sz="900" dirty="0"/>
          </a:p>
        </p:txBody>
      </p:sp>
      <p:sp>
        <p:nvSpPr>
          <p:cNvPr id="73" name="Shape 63"/>
          <p:cNvSpPr/>
          <p:nvPr/>
        </p:nvSpPr>
        <p:spPr>
          <a:xfrm>
            <a:off x="3567074" y="4514393"/>
            <a:ext cx="1447495" cy="457200"/>
          </a:xfrm>
          <a:prstGeom prst="rect">
            <a:avLst/>
          </a:prstGeom>
          <a:solidFill>
            <a:srgbClr val="FFFFFF"/>
          </a:solidFill>
          <a:ln/>
        </p:spPr>
        <p:txBody>
          <a:bodyPr/>
          <a:lstStyle/>
          <a:p>
            <a:endParaRPr lang="ja-JP" altLang="en-US"/>
          </a:p>
        </p:txBody>
      </p:sp>
      <p:sp>
        <p:nvSpPr>
          <p:cNvPr id="74" name="Shape 64"/>
          <p:cNvSpPr/>
          <p:nvPr/>
        </p:nvSpPr>
        <p:spPr>
          <a:xfrm>
            <a:off x="3567074" y="4514393"/>
            <a:ext cx="457200" cy="457200"/>
          </a:xfrm>
          <a:prstGeom prst="ellipse">
            <a:avLst/>
          </a:prstGeom>
          <a:solidFill>
            <a:srgbClr val="FFFFFF"/>
          </a:solidFill>
          <a:ln w="50800">
            <a:solidFill>
              <a:srgbClr val="8B5CF6"/>
            </a:solidFill>
            <a:prstDash val="solid"/>
          </a:ln>
          <a:effectLst>
            <a:outerShdw blurRad="63500" dist="38100" dir="5400000" algn="bl" rotWithShape="0">
              <a:srgbClr val="000000">
                <a:alpha val="10000"/>
              </a:srgbClr>
            </a:outerShdw>
          </a:effectLst>
        </p:spPr>
        <p:txBody>
          <a:bodyPr/>
          <a:lstStyle/>
          <a:p>
            <a:endParaRPr lang="ja-JP" altLang="en-US"/>
          </a:p>
        </p:txBody>
      </p:sp>
      <p:sp>
        <p:nvSpPr>
          <p:cNvPr id="75" name="Text 65"/>
          <p:cNvSpPr txBox="1"/>
          <p:nvPr/>
        </p:nvSpPr>
        <p:spPr>
          <a:xfrm>
            <a:off x="3743554" y="4614062"/>
            <a:ext cx="234086" cy="257861"/>
          </a:xfrm>
          <a:prstGeom prst="rect">
            <a:avLst/>
          </a:prstGeom>
          <a:noFill/>
          <a:ln/>
        </p:spPr>
        <p:txBody>
          <a:bodyPr wrap="square" lIns="0" tIns="0" rIns="0" bIns="0" rtlCol="0" anchor="ctr"/>
          <a:lstStyle/>
          <a:p>
            <a:pPr marL="0" indent="0" algn="l">
              <a:buNone/>
            </a:pPr>
            <a:r>
              <a:rPr lang="en-US" sz="1300" b="1" dirty="0">
                <a:solidFill>
                  <a:srgbClr val="8B5CF6"/>
                </a:solidFill>
                <a:latin typeface="Noto Sans JP" pitchFamily="34" charset="0"/>
                <a:ea typeface="Noto Sans JP" pitchFamily="34" charset="-122"/>
                <a:cs typeface="Noto Sans JP" pitchFamily="34" charset="-120"/>
              </a:rPr>
              <a:t>2</a:t>
            </a:r>
            <a:endParaRPr lang="en-US" sz="1300" dirty="0"/>
          </a:p>
        </p:txBody>
      </p:sp>
      <p:sp>
        <p:nvSpPr>
          <p:cNvPr id="76" name="Shape 66"/>
          <p:cNvSpPr/>
          <p:nvPr/>
        </p:nvSpPr>
        <p:spPr>
          <a:xfrm>
            <a:off x="3567074" y="5085893"/>
            <a:ext cx="2419502" cy="1781251"/>
          </a:xfrm>
          <a:prstGeom prst="roundRect">
            <a:avLst>
              <a:gd name="adj" fmla="val 2196"/>
            </a:avLst>
          </a:prstGeom>
          <a:solidFill>
            <a:srgbClr val="F8FAFC"/>
          </a:solidFill>
          <a:ln w="12700">
            <a:solidFill>
              <a:srgbClr val="E2E8F0"/>
            </a:solidFill>
            <a:prstDash val="solid"/>
          </a:ln>
        </p:spPr>
        <p:txBody>
          <a:bodyPr/>
          <a:lstStyle/>
          <a:p>
            <a:endParaRPr lang="ja-JP" altLang="en-US"/>
          </a:p>
        </p:txBody>
      </p:sp>
      <p:pic>
        <p:nvPicPr>
          <p:cNvPr id="77" name="Image 8" descr="preencoded.png"/>
          <p:cNvPicPr>
            <a:picLocks noChangeAspect="1"/>
          </p:cNvPicPr>
          <p:nvPr/>
        </p:nvPicPr>
        <p:blipFill>
          <a:blip r:embed="rId7"/>
          <a:srcRect l="-1648" r="-1648"/>
          <a:stretch/>
        </p:blipFill>
        <p:spPr>
          <a:xfrm>
            <a:off x="3728923" y="5276088"/>
            <a:ext cx="85954" cy="95098"/>
          </a:xfrm>
          <a:prstGeom prst="rect">
            <a:avLst/>
          </a:prstGeom>
        </p:spPr>
      </p:pic>
      <p:pic>
        <p:nvPicPr>
          <p:cNvPr id="78" name="Image 9" descr="preencoded.png"/>
          <p:cNvPicPr>
            <a:picLocks noChangeAspect="1"/>
          </p:cNvPicPr>
          <p:nvPr/>
        </p:nvPicPr>
        <p:blipFill>
          <a:blip r:embed="rId7"/>
          <a:srcRect l="-1648" r="-1648"/>
          <a:stretch/>
        </p:blipFill>
        <p:spPr>
          <a:xfrm>
            <a:off x="3728923" y="5512003"/>
            <a:ext cx="85954" cy="95098"/>
          </a:xfrm>
          <a:prstGeom prst="rect">
            <a:avLst/>
          </a:prstGeom>
        </p:spPr>
      </p:pic>
      <p:pic>
        <p:nvPicPr>
          <p:cNvPr id="79" name="Image 10" descr="preencoded.png"/>
          <p:cNvPicPr>
            <a:picLocks noChangeAspect="1"/>
          </p:cNvPicPr>
          <p:nvPr/>
        </p:nvPicPr>
        <p:blipFill>
          <a:blip r:embed="rId7"/>
          <a:srcRect l="-1648" r="-1648"/>
          <a:stretch/>
        </p:blipFill>
        <p:spPr>
          <a:xfrm>
            <a:off x="3728923" y="5747918"/>
            <a:ext cx="85954" cy="95098"/>
          </a:xfrm>
          <a:prstGeom prst="rect">
            <a:avLst/>
          </a:prstGeom>
        </p:spPr>
      </p:pic>
      <p:pic>
        <p:nvPicPr>
          <p:cNvPr id="80" name="Image 11" descr="preencoded.png"/>
          <p:cNvPicPr>
            <a:picLocks noChangeAspect="1"/>
          </p:cNvPicPr>
          <p:nvPr/>
        </p:nvPicPr>
        <p:blipFill>
          <a:blip r:embed="rId7"/>
          <a:srcRect l="-1648" r="-1648"/>
          <a:stretch/>
        </p:blipFill>
        <p:spPr>
          <a:xfrm>
            <a:off x="3728923" y="5984748"/>
            <a:ext cx="85954" cy="95098"/>
          </a:xfrm>
          <a:prstGeom prst="rect">
            <a:avLst/>
          </a:prstGeom>
        </p:spPr>
      </p:pic>
      <p:sp>
        <p:nvSpPr>
          <p:cNvPr id="81" name="Shape 67"/>
          <p:cNvSpPr/>
          <p:nvPr/>
        </p:nvSpPr>
        <p:spPr>
          <a:xfrm>
            <a:off x="3728923" y="6115507"/>
            <a:ext cx="2095805" cy="9144"/>
          </a:xfrm>
          <a:prstGeom prst="rect">
            <a:avLst/>
          </a:prstGeom>
          <a:solidFill>
            <a:srgbClr val="CBD5E1"/>
          </a:solidFill>
          <a:ln/>
        </p:spPr>
        <p:txBody>
          <a:bodyPr/>
          <a:lstStyle/>
          <a:p>
            <a:endParaRPr lang="ja-JP" altLang="en-US"/>
          </a:p>
        </p:txBody>
      </p:sp>
      <p:sp>
        <p:nvSpPr>
          <p:cNvPr id="82" name="Text 68"/>
          <p:cNvSpPr txBox="1"/>
          <p:nvPr/>
        </p:nvSpPr>
        <p:spPr>
          <a:xfrm>
            <a:off x="4138574" y="4563770"/>
            <a:ext cx="900684" cy="191110"/>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トライアル期</a:t>
            </a:r>
            <a:endParaRPr lang="en-US" sz="1000" dirty="0"/>
          </a:p>
        </p:txBody>
      </p:sp>
      <p:sp>
        <p:nvSpPr>
          <p:cNvPr id="83" name="Text 69"/>
          <p:cNvSpPr txBox="1"/>
          <p:nvPr/>
        </p:nvSpPr>
        <p:spPr>
          <a:xfrm>
            <a:off x="4138574" y="4764024"/>
            <a:ext cx="584302" cy="152705"/>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Q2 (4-6月)</a:t>
            </a:r>
            <a:endParaRPr lang="en-US" sz="800" dirty="0"/>
          </a:p>
        </p:txBody>
      </p:sp>
      <p:sp>
        <p:nvSpPr>
          <p:cNvPr id="84" name="Text 70"/>
          <p:cNvSpPr txBox="1"/>
          <p:nvPr/>
        </p:nvSpPr>
        <p:spPr>
          <a:xfrm>
            <a:off x="3871570" y="5237683"/>
            <a:ext cx="1057961"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3-5部門で実証実験</a:t>
            </a:r>
            <a:endParaRPr lang="en-US" sz="900" dirty="0"/>
          </a:p>
        </p:txBody>
      </p:sp>
      <p:sp>
        <p:nvSpPr>
          <p:cNvPr id="85" name="Text 71"/>
          <p:cNvSpPr txBox="1"/>
          <p:nvPr/>
        </p:nvSpPr>
        <p:spPr>
          <a:xfrm>
            <a:off x="3871570" y="5473598"/>
            <a:ext cx="1228954"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効果測定システム稼働</a:t>
            </a:r>
            <a:endParaRPr lang="en-US" sz="900" dirty="0"/>
          </a:p>
        </p:txBody>
      </p:sp>
      <p:sp>
        <p:nvSpPr>
          <p:cNvPr id="86" name="Text 72"/>
          <p:cNvSpPr txBox="1"/>
          <p:nvPr/>
        </p:nvSpPr>
        <p:spPr>
          <a:xfrm>
            <a:off x="3871570" y="5710428"/>
            <a:ext cx="1181405"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PDCAサイクルの確立</a:t>
            </a:r>
            <a:endParaRPr lang="en-US" sz="900" dirty="0"/>
          </a:p>
        </p:txBody>
      </p:sp>
      <p:sp>
        <p:nvSpPr>
          <p:cNvPr id="87" name="Text 73"/>
          <p:cNvSpPr txBox="1"/>
          <p:nvPr/>
        </p:nvSpPr>
        <p:spPr>
          <a:xfrm>
            <a:off x="3871570" y="5946343"/>
            <a:ext cx="8961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成功事例の収集</a:t>
            </a:r>
            <a:endParaRPr lang="en-US" sz="900" dirty="0"/>
          </a:p>
        </p:txBody>
      </p:sp>
      <p:sp>
        <p:nvSpPr>
          <p:cNvPr id="88" name="Text 74"/>
          <p:cNvSpPr txBox="1"/>
          <p:nvPr/>
        </p:nvSpPr>
        <p:spPr>
          <a:xfrm>
            <a:off x="3728923" y="6239866"/>
            <a:ext cx="619963"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MILESTONE</a:t>
            </a:r>
            <a:endParaRPr lang="en-US" sz="800" dirty="0"/>
          </a:p>
        </p:txBody>
      </p:sp>
      <p:sp>
        <p:nvSpPr>
          <p:cNvPr id="89" name="Shape 75"/>
          <p:cNvSpPr/>
          <p:nvPr/>
        </p:nvSpPr>
        <p:spPr>
          <a:xfrm>
            <a:off x="3728923" y="6420917"/>
            <a:ext cx="1057046" cy="286207"/>
          </a:xfrm>
          <a:prstGeom prst="roundRect">
            <a:avLst>
              <a:gd name="adj" fmla="val 42599"/>
            </a:avLst>
          </a:prstGeom>
          <a:solidFill>
            <a:srgbClr val="FFFFFF"/>
          </a:solidFill>
          <a:ln w="12700">
            <a:solidFill>
              <a:srgbClr val="E2E8F0"/>
            </a:solidFill>
            <a:prstDash val="solid"/>
          </a:ln>
          <a:effectLst>
            <a:outerShdw blurRad="25400" dist="12700" dir="5400000" algn="bl" rotWithShape="0">
              <a:srgbClr val="000000">
                <a:alpha val="5000"/>
              </a:srgbClr>
            </a:outerShdw>
          </a:effectLst>
        </p:spPr>
        <p:txBody>
          <a:bodyPr/>
          <a:lstStyle/>
          <a:p>
            <a:endParaRPr lang="ja-JP" altLang="en-US"/>
          </a:p>
        </p:txBody>
      </p:sp>
      <p:sp>
        <p:nvSpPr>
          <p:cNvPr id="90" name="Text 76"/>
          <p:cNvSpPr txBox="1"/>
          <p:nvPr/>
        </p:nvSpPr>
        <p:spPr>
          <a:xfrm>
            <a:off x="3814877" y="6468466"/>
            <a:ext cx="474574" cy="181051"/>
          </a:xfrm>
          <a:prstGeom prst="rect">
            <a:avLst/>
          </a:prstGeom>
          <a:noFill/>
          <a:ln/>
        </p:spPr>
        <p:txBody>
          <a:bodyPr wrap="square" lIns="0" tIns="0" rIns="0" bIns="0" rtlCol="0" anchor="ctr"/>
          <a:lstStyle/>
          <a:p>
            <a:pPr marL="0" indent="0" algn="l">
              <a:buNone/>
            </a:pPr>
            <a:r>
              <a:rPr lang="en-US" sz="900" b="1" dirty="0">
                <a:solidFill>
                  <a:srgbClr val="1F2937"/>
                </a:solidFill>
                <a:latin typeface="Noto Sans JP" pitchFamily="34" charset="0"/>
                <a:ea typeface="Noto Sans JP" pitchFamily="34" charset="-122"/>
                <a:cs typeface="Noto Sans JP" pitchFamily="34" charset="-120"/>
              </a:rPr>
              <a:t>利用率</a:t>
            </a:r>
            <a:endParaRPr lang="en-US" sz="900" dirty="0"/>
          </a:p>
        </p:txBody>
      </p:sp>
      <p:sp>
        <p:nvSpPr>
          <p:cNvPr id="91" name="Text 77"/>
          <p:cNvSpPr txBox="1"/>
          <p:nvPr/>
        </p:nvSpPr>
        <p:spPr>
          <a:xfrm>
            <a:off x="4186123" y="6468466"/>
            <a:ext cx="360274" cy="181051"/>
          </a:xfrm>
          <a:prstGeom prst="rect">
            <a:avLst/>
          </a:prstGeom>
          <a:noFill/>
          <a:ln/>
        </p:spPr>
        <p:txBody>
          <a:bodyPr wrap="square" lIns="0" tIns="0" rIns="0" bIns="0" rtlCol="0" anchor="ctr"/>
          <a:lstStyle/>
          <a:p>
            <a:pPr marL="0" indent="0" algn="l">
              <a:buNone/>
            </a:pPr>
            <a:r>
              <a:rPr lang="en-US" sz="900" b="1" dirty="0">
                <a:solidFill>
                  <a:srgbClr val="059669"/>
                </a:solidFill>
                <a:latin typeface="Noto Sans JP" pitchFamily="34" charset="0"/>
                <a:ea typeface="Noto Sans JP" pitchFamily="34" charset="-122"/>
                <a:cs typeface="Noto Sans JP" pitchFamily="34" charset="-120"/>
              </a:rPr>
              <a:t>50%</a:t>
            </a:r>
            <a:endParaRPr lang="en-US" sz="900" dirty="0"/>
          </a:p>
        </p:txBody>
      </p:sp>
      <p:sp>
        <p:nvSpPr>
          <p:cNvPr id="92" name="Text 78"/>
          <p:cNvSpPr txBox="1"/>
          <p:nvPr/>
        </p:nvSpPr>
        <p:spPr>
          <a:xfrm>
            <a:off x="4451299" y="6468466"/>
            <a:ext cx="350215" cy="181051"/>
          </a:xfrm>
          <a:prstGeom prst="rect">
            <a:avLst/>
          </a:prstGeom>
          <a:noFill/>
          <a:ln/>
        </p:spPr>
        <p:txBody>
          <a:bodyPr wrap="square" lIns="0" tIns="0" rIns="0" bIns="0" rtlCol="0" anchor="ctr"/>
          <a:lstStyle/>
          <a:p>
            <a:pPr marL="0" indent="0" algn="l">
              <a:buNone/>
            </a:pPr>
            <a:r>
              <a:rPr lang="en-US" sz="900" b="1" dirty="0">
                <a:solidFill>
                  <a:srgbClr val="1F2937"/>
                </a:solidFill>
                <a:latin typeface="Noto Sans JP" pitchFamily="34" charset="0"/>
                <a:ea typeface="Noto Sans JP" pitchFamily="34" charset="-122"/>
                <a:cs typeface="Noto Sans JP" pitchFamily="34" charset="-120"/>
              </a:rPr>
              <a:t>達成</a:t>
            </a:r>
            <a:endParaRPr lang="en-US" sz="900" dirty="0"/>
          </a:p>
        </p:txBody>
      </p:sp>
      <p:sp>
        <p:nvSpPr>
          <p:cNvPr id="93" name="Shape 79"/>
          <p:cNvSpPr/>
          <p:nvPr/>
        </p:nvSpPr>
        <p:spPr>
          <a:xfrm>
            <a:off x="6210605" y="4514393"/>
            <a:ext cx="1152144" cy="457200"/>
          </a:xfrm>
          <a:prstGeom prst="rect">
            <a:avLst/>
          </a:prstGeom>
          <a:solidFill>
            <a:srgbClr val="FFFFFF"/>
          </a:solidFill>
          <a:ln/>
        </p:spPr>
        <p:txBody>
          <a:bodyPr/>
          <a:lstStyle/>
          <a:p>
            <a:endParaRPr lang="ja-JP" altLang="en-US"/>
          </a:p>
        </p:txBody>
      </p:sp>
      <p:sp>
        <p:nvSpPr>
          <p:cNvPr id="94" name="Shape 80"/>
          <p:cNvSpPr/>
          <p:nvPr/>
        </p:nvSpPr>
        <p:spPr>
          <a:xfrm>
            <a:off x="6210605" y="4514393"/>
            <a:ext cx="457200" cy="457200"/>
          </a:xfrm>
          <a:prstGeom prst="ellipse">
            <a:avLst/>
          </a:prstGeom>
          <a:solidFill>
            <a:srgbClr val="FFFFFF"/>
          </a:solidFill>
          <a:ln w="50800">
            <a:solidFill>
              <a:srgbClr val="F59E0B"/>
            </a:solidFill>
            <a:prstDash val="solid"/>
          </a:ln>
          <a:effectLst>
            <a:outerShdw blurRad="63500" dist="38100" dir="5400000" algn="bl" rotWithShape="0">
              <a:srgbClr val="000000">
                <a:alpha val="10000"/>
              </a:srgbClr>
            </a:outerShdw>
          </a:effectLst>
        </p:spPr>
        <p:txBody>
          <a:bodyPr/>
          <a:lstStyle/>
          <a:p>
            <a:endParaRPr lang="ja-JP" altLang="en-US"/>
          </a:p>
        </p:txBody>
      </p:sp>
      <p:sp>
        <p:nvSpPr>
          <p:cNvPr id="95" name="Text 81"/>
          <p:cNvSpPr txBox="1"/>
          <p:nvPr/>
        </p:nvSpPr>
        <p:spPr>
          <a:xfrm>
            <a:off x="6387084" y="4614062"/>
            <a:ext cx="234086" cy="257861"/>
          </a:xfrm>
          <a:prstGeom prst="rect">
            <a:avLst/>
          </a:prstGeom>
          <a:noFill/>
          <a:ln/>
        </p:spPr>
        <p:txBody>
          <a:bodyPr wrap="square" lIns="0" tIns="0" rIns="0" bIns="0" rtlCol="0" anchor="ctr"/>
          <a:lstStyle/>
          <a:p>
            <a:pPr marL="0" indent="0" algn="l">
              <a:buNone/>
            </a:pPr>
            <a:r>
              <a:rPr lang="en-US" sz="1300" b="1" dirty="0">
                <a:solidFill>
                  <a:srgbClr val="F59E0B"/>
                </a:solidFill>
                <a:latin typeface="Noto Sans JP" pitchFamily="34" charset="0"/>
                <a:ea typeface="Noto Sans JP" pitchFamily="34" charset="-122"/>
                <a:cs typeface="Noto Sans JP" pitchFamily="34" charset="-120"/>
              </a:rPr>
              <a:t>3</a:t>
            </a:r>
            <a:endParaRPr lang="en-US" sz="1300" dirty="0"/>
          </a:p>
        </p:txBody>
      </p:sp>
      <p:sp>
        <p:nvSpPr>
          <p:cNvPr id="96" name="Shape 82"/>
          <p:cNvSpPr/>
          <p:nvPr/>
        </p:nvSpPr>
        <p:spPr>
          <a:xfrm>
            <a:off x="6210605" y="5085893"/>
            <a:ext cx="2419502" cy="1781251"/>
          </a:xfrm>
          <a:prstGeom prst="roundRect">
            <a:avLst>
              <a:gd name="adj" fmla="val 2196"/>
            </a:avLst>
          </a:prstGeom>
          <a:solidFill>
            <a:srgbClr val="F8FAFC"/>
          </a:solidFill>
          <a:ln w="12700">
            <a:solidFill>
              <a:srgbClr val="E2E8F0"/>
            </a:solidFill>
            <a:prstDash val="solid"/>
          </a:ln>
        </p:spPr>
        <p:txBody>
          <a:bodyPr/>
          <a:lstStyle/>
          <a:p>
            <a:endParaRPr lang="ja-JP" altLang="en-US"/>
          </a:p>
        </p:txBody>
      </p:sp>
      <p:pic>
        <p:nvPicPr>
          <p:cNvPr id="97" name="Image 12" descr="preencoded.png"/>
          <p:cNvPicPr>
            <a:picLocks noChangeAspect="1"/>
          </p:cNvPicPr>
          <p:nvPr/>
        </p:nvPicPr>
        <p:blipFill>
          <a:blip r:embed="rId7"/>
          <a:srcRect l="-1648" r="-1648"/>
          <a:stretch/>
        </p:blipFill>
        <p:spPr>
          <a:xfrm>
            <a:off x="6372454" y="5276088"/>
            <a:ext cx="85954" cy="95098"/>
          </a:xfrm>
          <a:prstGeom prst="rect">
            <a:avLst/>
          </a:prstGeom>
        </p:spPr>
      </p:pic>
      <p:pic>
        <p:nvPicPr>
          <p:cNvPr id="98" name="Image 13" descr="preencoded.png"/>
          <p:cNvPicPr>
            <a:picLocks noChangeAspect="1"/>
          </p:cNvPicPr>
          <p:nvPr/>
        </p:nvPicPr>
        <p:blipFill>
          <a:blip r:embed="rId7"/>
          <a:srcRect l="-1648" r="-1648"/>
          <a:stretch/>
        </p:blipFill>
        <p:spPr>
          <a:xfrm>
            <a:off x="6372454" y="5512003"/>
            <a:ext cx="85954" cy="95098"/>
          </a:xfrm>
          <a:prstGeom prst="rect">
            <a:avLst/>
          </a:prstGeom>
        </p:spPr>
      </p:pic>
      <p:pic>
        <p:nvPicPr>
          <p:cNvPr id="99" name="Image 14" descr="preencoded.png"/>
          <p:cNvPicPr>
            <a:picLocks noChangeAspect="1"/>
          </p:cNvPicPr>
          <p:nvPr/>
        </p:nvPicPr>
        <p:blipFill>
          <a:blip r:embed="rId7"/>
          <a:srcRect l="-1648" r="-1648"/>
          <a:stretch/>
        </p:blipFill>
        <p:spPr>
          <a:xfrm>
            <a:off x="6372454" y="5747918"/>
            <a:ext cx="85954" cy="95098"/>
          </a:xfrm>
          <a:prstGeom prst="rect">
            <a:avLst/>
          </a:prstGeom>
        </p:spPr>
      </p:pic>
      <p:pic>
        <p:nvPicPr>
          <p:cNvPr id="100" name="Image 15" descr="preencoded.png"/>
          <p:cNvPicPr>
            <a:picLocks noChangeAspect="1"/>
          </p:cNvPicPr>
          <p:nvPr/>
        </p:nvPicPr>
        <p:blipFill>
          <a:blip r:embed="rId7"/>
          <a:srcRect l="-1648" r="-1648"/>
          <a:stretch/>
        </p:blipFill>
        <p:spPr>
          <a:xfrm>
            <a:off x="6372454" y="5984748"/>
            <a:ext cx="85954" cy="95098"/>
          </a:xfrm>
          <a:prstGeom prst="rect">
            <a:avLst/>
          </a:prstGeom>
        </p:spPr>
      </p:pic>
      <p:sp>
        <p:nvSpPr>
          <p:cNvPr id="101" name="Shape 83"/>
          <p:cNvSpPr/>
          <p:nvPr/>
        </p:nvSpPr>
        <p:spPr>
          <a:xfrm>
            <a:off x="6372454" y="6115507"/>
            <a:ext cx="2095805" cy="9144"/>
          </a:xfrm>
          <a:prstGeom prst="rect">
            <a:avLst/>
          </a:prstGeom>
          <a:solidFill>
            <a:srgbClr val="CBD5E1"/>
          </a:solidFill>
          <a:ln/>
        </p:spPr>
        <p:txBody>
          <a:bodyPr/>
          <a:lstStyle/>
          <a:p>
            <a:endParaRPr lang="ja-JP" altLang="en-US"/>
          </a:p>
        </p:txBody>
      </p:sp>
      <p:sp>
        <p:nvSpPr>
          <p:cNvPr id="102" name="Text 84"/>
          <p:cNvSpPr txBox="1"/>
          <p:nvPr/>
        </p:nvSpPr>
        <p:spPr>
          <a:xfrm>
            <a:off x="6782105" y="4563770"/>
            <a:ext cx="500177" cy="191110"/>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拡大期</a:t>
            </a:r>
            <a:endParaRPr lang="en-US" sz="1000" dirty="0"/>
          </a:p>
        </p:txBody>
      </p:sp>
      <p:sp>
        <p:nvSpPr>
          <p:cNvPr id="103" name="Text 85"/>
          <p:cNvSpPr txBox="1"/>
          <p:nvPr/>
        </p:nvSpPr>
        <p:spPr>
          <a:xfrm>
            <a:off x="6782105" y="4764024"/>
            <a:ext cx="584302" cy="152705"/>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Q3 (7-9月)</a:t>
            </a:r>
            <a:endParaRPr lang="en-US" sz="800" dirty="0"/>
          </a:p>
        </p:txBody>
      </p:sp>
      <p:sp>
        <p:nvSpPr>
          <p:cNvPr id="104" name="Text 86"/>
          <p:cNvSpPr txBox="1"/>
          <p:nvPr/>
        </p:nvSpPr>
        <p:spPr>
          <a:xfrm>
            <a:off x="6515100" y="5237683"/>
            <a:ext cx="12390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成功部門から波状展開</a:t>
            </a:r>
            <a:endParaRPr lang="en-US" sz="900" dirty="0"/>
          </a:p>
        </p:txBody>
      </p:sp>
      <p:sp>
        <p:nvSpPr>
          <p:cNvPr id="105" name="Text 87"/>
          <p:cNvSpPr txBox="1"/>
          <p:nvPr/>
        </p:nvSpPr>
        <p:spPr>
          <a:xfrm>
            <a:off x="6515100" y="5473598"/>
            <a:ext cx="8961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教育体制の強化</a:t>
            </a:r>
            <a:endParaRPr lang="en-US" sz="900" dirty="0"/>
          </a:p>
        </p:txBody>
      </p:sp>
      <p:sp>
        <p:nvSpPr>
          <p:cNvPr id="106" name="Text 88"/>
          <p:cNvSpPr txBox="1"/>
          <p:nvPr/>
        </p:nvSpPr>
        <p:spPr>
          <a:xfrm>
            <a:off x="6515100" y="5710428"/>
            <a:ext cx="1114654"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支援体制 (FAQ) 拡充</a:t>
            </a:r>
            <a:endParaRPr lang="en-US" sz="900" dirty="0"/>
          </a:p>
        </p:txBody>
      </p:sp>
      <p:sp>
        <p:nvSpPr>
          <p:cNvPr id="107" name="Text 89"/>
          <p:cNvSpPr txBox="1"/>
          <p:nvPr/>
        </p:nvSpPr>
        <p:spPr>
          <a:xfrm>
            <a:off x="6515100" y="5946343"/>
            <a:ext cx="10104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定着化施策の実施</a:t>
            </a:r>
            <a:endParaRPr lang="en-US" sz="900" dirty="0"/>
          </a:p>
        </p:txBody>
      </p:sp>
      <p:sp>
        <p:nvSpPr>
          <p:cNvPr id="108" name="Text 90"/>
          <p:cNvSpPr txBox="1"/>
          <p:nvPr/>
        </p:nvSpPr>
        <p:spPr>
          <a:xfrm>
            <a:off x="6372454" y="6239866"/>
            <a:ext cx="619963"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MILESTONE</a:t>
            </a:r>
            <a:endParaRPr lang="en-US" sz="800" dirty="0"/>
          </a:p>
        </p:txBody>
      </p:sp>
      <p:sp>
        <p:nvSpPr>
          <p:cNvPr id="109" name="Shape 91"/>
          <p:cNvSpPr/>
          <p:nvPr/>
        </p:nvSpPr>
        <p:spPr>
          <a:xfrm>
            <a:off x="6372454" y="6420917"/>
            <a:ext cx="1057046" cy="286207"/>
          </a:xfrm>
          <a:prstGeom prst="roundRect">
            <a:avLst>
              <a:gd name="adj" fmla="val 42599"/>
            </a:avLst>
          </a:prstGeom>
          <a:solidFill>
            <a:srgbClr val="FFFFFF"/>
          </a:solidFill>
          <a:ln w="12700">
            <a:solidFill>
              <a:srgbClr val="E2E8F0"/>
            </a:solidFill>
            <a:prstDash val="solid"/>
          </a:ln>
          <a:effectLst>
            <a:outerShdw blurRad="25400" dist="12700" dir="5400000" algn="bl" rotWithShape="0">
              <a:srgbClr val="000000">
                <a:alpha val="5000"/>
              </a:srgbClr>
            </a:outerShdw>
          </a:effectLst>
        </p:spPr>
        <p:txBody>
          <a:bodyPr/>
          <a:lstStyle/>
          <a:p>
            <a:endParaRPr lang="ja-JP" altLang="en-US"/>
          </a:p>
        </p:txBody>
      </p:sp>
      <p:sp>
        <p:nvSpPr>
          <p:cNvPr id="110" name="Text 92"/>
          <p:cNvSpPr txBox="1"/>
          <p:nvPr/>
        </p:nvSpPr>
        <p:spPr>
          <a:xfrm>
            <a:off x="6458407" y="6468466"/>
            <a:ext cx="474574" cy="181051"/>
          </a:xfrm>
          <a:prstGeom prst="rect">
            <a:avLst/>
          </a:prstGeom>
          <a:noFill/>
          <a:ln/>
        </p:spPr>
        <p:txBody>
          <a:bodyPr wrap="square" lIns="0" tIns="0" rIns="0" bIns="0" rtlCol="0" anchor="ctr"/>
          <a:lstStyle/>
          <a:p>
            <a:pPr marL="0" indent="0" algn="l">
              <a:buNone/>
            </a:pPr>
            <a:r>
              <a:rPr lang="en-US" sz="900" b="1" dirty="0">
                <a:solidFill>
                  <a:srgbClr val="1F2937"/>
                </a:solidFill>
                <a:latin typeface="Noto Sans JP" pitchFamily="34" charset="0"/>
                <a:ea typeface="Noto Sans JP" pitchFamily="34" charset="-122"/>
                <a:cs typeface="Noto Sans JP" pitchFamily="34" charset="-120"/>
              </a:rPr>
              <a:t>利用率</a:t>
            </a:r>
            <a:endParaRPr lang="en-US" sz="900" dirty="0"/>
          </a:p>
        </p:txBody>
      </p:sp>
      <p:sp>
        <p:nvSpPr>
          <p:cNvPr id="111" name="Text 93"/>
          <p:cNvSpPr txBox="1"/>
          <p:nvPr/>
        </p:nvSpPr>
        <p:spPr>
          <a:xfrm>
            <a:off x="6829654" y="6468466"/>
            <a:ext cx="360274" cy="181051"/>
          </a:xfrm>
          <a:prstGeom prst="rect">
            <a:avLst/>
          </a:prstGeom>
          <a:noFill/>
          <a:ln/>
        </p:spPr>
        <p:txBody>
          <a:bodyPr wrap="square" lIns="0" tIns="0" rIns="0" bIns="0" rtlCol="0" anchor="ctr"/>
          <a:lstStyle/>
          <a:p>
            <a:pPr marL="0" indent="0" algn="l">
              <a:buNone/>
            </a:pPr>
            <a:r>
              <a:rPr lang="en-US" sz="900" b="1" dirty="0">
                <a:solidFill>
                  <a:srgbClr val="059669"/>
                </a:solidFill>
                <a:latin typeface="Noto Sans JP" pitchFamily="34" charset="0"/>
                <a:ea typeface="Noto Sans JP" pitchFamily="34" charset="-122"/>
                <a:cs typeface="Noto Sans JP" pitchFamily="34" charset="-120"/>
              </a:rPr>
              <a:t>70%</a:t>
            </a:r>
            <a:endParaRPr lang="en-US" sz="900" dirty="0"/>
          </a:p>
        </p:txBody>
      </p:sp>
      <p:sp>
        <p:nvSpPr>
          <p:cNvPr id="112" name="Text 94"/>
          <p:cNvSpPr txBox="1"/>
          <p:nvPr/>
        </p:nvSpPr>
        <p:spPr>
          <a:xfrm>
            <a:off x="7094830" y="6468466"/>
            <a:ext cx="350215" cy="181051"/>
          </a:xfrm>
          <a:prstGeom prst="rect">
            <a:avLst/>
          </a:prstGeom>
          <a:noFill/>
          <a:ln/>
        </p:spPr>
        <p:txBody>
          <a:bodyPr wrap="square" lIns="0" tIns="0" rIns="0" bIns="0" rtlCol="0" anchor="ctr"/>
          <a:lstStyle/>
          <a:p>
            <a:pPr marL="0" indent="0" algn="l">
              <a:buNone/>
            </a:pPr>
            <a:r>
              <a:rPr lang="en-US" sz="900" b="1" dirty="0">
                <a:solidFill>
                  <a:srgbClr val="1F2937"/>
                </a:solidFill>
                <a:latin typeface="Noto Sans JP" pitchFamily="34" charset="0"/>
                <a:ea typeface="Noto Sans JP" pitchFamily="34" charset="-122"/>
                <a:cs typeface="Noto Sans JP" pitchFamily="34" charset="-120"/>
              </a:rPr>
              <a:t>達成</a:t>
            </a:r>
            <a:endParaRPr lang="en-US" sz="900" dirty="0"/>
          </a:p>
        </p:txBody>
      </p:sp>
      <p:sp>
        <p:nvSpPr>
          <p:cNvPr id="113" name="Shape 95"/>
          <p:cNvSpPr/>
          <p:nvPr/>
        </p:nvSpPr>
        <p:spPr>
          <a:xfrm>
            <a:off x="8853221" y="4514393"/>
            <a:ext cx="1266444" cy="457200"/>
          </a:xfrm>
          <a:prstGeom prst="rect">
            <a:avLst/>
          </a:prstGeom>
          <a:solidFill>
            <a:srgbClr val="FFFFFF"/>
          </a:solidFill>
          <a:ln/>
        </p:spPr>
        <p:txBody>
          <a:bodyPr/>
          <a:lstStyle/>
          <a:p>
            <a:endParaRPr lang="ja-JP" altLang="en-US"/>
          </a:p>
        </p:txBody>
      </p:sp>
      <p:sp>
        <p:nvSpPr>
          <p:cNvPr id="114" name="Shape 96"/>
          <p:cNvSpPr/>
          <p:nvPr/>
        </p:nvSpPr>
        <p:spPr>
          <a:xfrm>
            <a:off x="8853221" y="4514393"/>
            <a:ext cx="457200" cy="457200"/>
          </a:xfrm>
          <a:prstGeom prst="ellipse">
            <a:avLst/>
          </a:prstGeom>
          <a:solidFill>
            <a:srgbClr val="FFFFFF"/>
          </a:solidFill>
          <a:ln w="50800">
            <a:solidFill>
              <a:srgbClr val="10B981"/>
            </a:solidFill>
            <a:prstDash val="solid"/>
          </a:ln>
          <a:effectLst>
            <a:outerShdw blurRad="63500" dist="38100" dir="5400000" algn="bl" rotWithShape="0">
              <a:srgbClr val="000000">
                <a:alpha val="10000"/>
              </a:srgbClr>
            </a:outerShdw>
          </a:effectLst>
        </p:spPr>
        <p:txBody>
          <a:bodyPr/>
          <a:lstStyle/>
          <a:p>
            <a:endParaRPr lang="ja-JP" altLang="en-US"/>
          </a:p>
        </p:txBody>
      </p:sp>
      <p:sp>
        <p:nvSpPr>
          <p:cNvPr id="115" name="Text 97"/>
          <p:cNvSpPr txBox="1"/>
          <p:nvPr/>
        </p:nvSpPr>
        <p:spPr>
          <a:xfrm>
            <a:off x="9029700" y="4614062"/>
            <a:ext cx="234086" cy="257861"/>
          </a:xfrm>
          <a:prstGeom prst="rect">
            <a:avLst/>
          </a:prstGeom>
          <a:noFill/>
          <a:ln/>
        </p:spPr>
        <p:txBody>
          <a:bodyPr wrap="square" lIns="0" tIns="0" rIns="0" bIns="0" rtlCol="0" anchor="ctr"/>
          <a:lstStyle/>
          <a:p>
            <a:pPr marL="0" indent="0" algn="l">
              <a:buNone/>
            </a:pPr>
            <a:r>
              <a:rPr lang="en-US" sz="1300" b="1" dirty="0">
                <a:solidFill>
                  <a:srgbClr val="10B981"/>
                </a:solidFill>
                <a:latin typeface="Noto Sans JP" pitchFamily="34" charset="0"/>
                <a:ea typeface="Noto Sans JP" pitchFamily="34" charset="-122"/>
                <a:cs typeface="Noto Sans JP" pitchFamily="34" charset="-120"/>
              </a:rPr>
              <a:t>4</a:t>
            </a:r>
            <a:endParaRPr lang="en-US" sz="1300" dirty="0"/>
          </a:p>
        </p:txBody>
      </p:sp>
      <p:sp>
        <p:nvSpPr>
          <p:cNvPr id="116" name="Shape 98"/>
          <p:cNvSpPr/>
          <p:nvPr/>
        </p:nvSpPr>
        <p:spPr>
          <a:xfrm>
            <a:off x="8853221" y="5085893"/>
            <a:ext cx="2419502" cy="1781251"/>
          </a:xfrm>
          <a:prstGeom prst="roundRect">
            <a:avLst>
              <a:gd name="adj" fmla="val 2196"/>
            </a:avLst>
          </a:prstGeom>
          <a:solidFill>
            <a:srgbClr val="F8FAFC"/>
          </a:solidFill>
          <a:ln w="12700">
            <a:solidFill>
              <a:srgbClr val="E2E8F0"/>
            </a:solidFill>
            <a:prstDash val="solid"/>
          </a:ln>
        </p:spPr>
        <p:txBody>
          <a:bodyPr/>
          <a:lstStyle/>
          <a:p>
            <a:endParaRPr lang="ja-JP" altLang="en-US"/>
          </a:p>
        </p:txBody>
      </p:sp>
      <p:pic>
        <p:nvPicPr>
          <p:cNvPr id="117" name="Image 16" descr="preencoded.png"/>
          <p:cNvPicPr>
            <a:picLocks noChangeAspect="1"/>
          </p:cNvPicPr>
          <p:nvPr/>
        </p:nvPicPr>
        <p:blipFill>
          <a:blip r:embed="rId7"/>
          <a:srcRect l="-1648" r="-1648"/>
          <a:stretch/>
        </p:blipFill>
        <p:spPr>
          <a:xfrm>
            <a:off x="9015070" y="5276088"/>
            <a:ext cx="85954" cy="95098"/>
          </a:xfrm>
          <a:prstGeom prst="rect">
            <a:avLst/>
          </a:prstGeom>
        </p:spPr>
      </p:pic>
      <p:pic>
        <p:nvPicPr>
          <p:cNvPr id="118" name="Image 17" descr="preencoded.png"/>
          <p:cNvPicPr>
            <a:picLocks noChangeAspect="1"/>
          </p:cNvPicPr>
          <p:nvPr/>
        </p:nvPicPr>
        <p:blipFill>
          <a:blip r:embed="rId7"/>
          <a:srcRect l="-1648" r="-1648"/>
          <a:stretch/>
        </p:blipFill>
        <p:spPr>
          <a:xfrm>
            <a:off x="9015070" y="5512003"/>
            <a:ext cx="85954" cy="95098"/>
          </a:xfrm>
          <a:prstGeom prst="rect">
            <a:avLst/>
          </a:prstGeom>
        </p:spPr>
      </p:pic>
      <p:pic>
        <p:nvPicPr>
          <p:cNvPr id="119" name="Image 18" descr="preencoded.png"/>
          <p:cNvPicPr>
            <a:picLocks noChangeAspect="1"/>
          </p:cNvPicPr>
          <p:nvPr/>
        </p:nvPicPr>
        <p:blipFill>
          <a:blip r:embed="rId7"/>
          <a:srcRect l="-1648" r="-1648"/>
          <a:stretch/>
        </p:blipFill>
        <p:spPr>
          <a:xfrm>
            <a:off x="9015070" y="5747918"/>
            <a:ext cx="85954" cy="95098"/>
          </a:xfrm>
          <a:prstGeom prst="rect">
            <a:avLst/>
          </a:prstGeom>
        </p:spPr>
      </p:pic>
      <p:pic>
        <p:nvPicPr>
          <p:cNvPr id="120" name="Image 19" descr="preencoded.png"/>
          <p:cNvPicPr>
            <a:picLocks noChangeAspect="1"/>
          </p:cNvPicPr>
          <p:nvPr/>
        </p:nvPicPr>
        <p:blipFill>
          <a:blip r:embed="rId7"/>
          <a:srcRect l="-1648" r="-1648"/>
          <a:stretch/>
        </p:blipFill>
        <p:spPr>
          <a:xfrm>
            <a:off x="9015070" y="5984748"/>
            <a:ext cx="85954" cy="95098"/>
          </a:xfrm>
          <a:prstGeom prst="rect">
            <a:avLst/>
          </a:prstGeom>
        </p:spPr>
      </p:pic>
      <p:sp>
        <p:nvSpPr>
          <p:cNvPr id="121" name="Shape 99"/>
          <p:cNvSpPr/>
          <p:nvPr/>
        </p:nvSpPr>
        <p:spPr>
          <a:xfrm>
            <a:off x="9015070" y="6115507"/>
            <a:ext cx="2095805" cy="9144"/>
          </a:xfrm>
          <a:prstGeom prst="rect">
            <a:avLst/>
          </a:prstGeom>
          <a:solidFill>
            <a:srgbClr val="CBD5E1"/>
          </a:solidFill>
          <a:ln/>
        </p:spPr>
        <p:txBody>
          <a:bodyPr/>
          <a:lstStyle/>
          <a:p>
            <a:endParaRPr lang="ja-JP" altLang="en-US"/>
          </a:p>
        </p:txBody>
      </p:sp>
      <p:sp>
        <p:nvSpPr>
          <p:cNvPr id="122" name="Text 100"/>
          <p:cNvSpPr txBox="1"/>
          <p:nvPr/>
        </p:nvSpPr>
        <p:spPr>
          <a:xfrm>
            <a:off x="9424721" y="4563770"/>
            <a:ext cx="500177" cy="191110"/>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定着期</a:t>
            </a:r>
            <a:endParaRPr lang="en-US" sz="1000" dirty="0"/>
          </a:p>
        </p:txBody>
      </p:sp>
      <p:sp>
        <p:nvSpPr>
          <p:cNvPr id="123" name="Text 101"/>
          <p:cNvSpPr txBox="1"/>
          <p:nvPr/>
        </p:nvSpPr>
        <p:spPr>
          <a:xfrm>
            <a:off x="9424721" y="4764024"/>
            <a:ext cx="698602" cy="152705"/>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Q4 (10-12月)</a:t>
            </a:r>
            <a:endParaRPr lang="en-US" sz="800" dirty="0"/>
          </a:p>
        </p:txBody>
      </p:sp>
      <p:sp>
        <p:nvSpPr>
          <p:cNvPr id="124" name="Text 102"/>
          <p:cNvSpPr txBox="1"/>
          <p:nvPr/>
        </p:nvSpPr>
        <p:spPr>
          <a:xfrm>
            <a:off x="9158630" y="5237683"/>
            <a:ext cx="7818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全社展開完了</a:t>
            </a:r>
            <a:endParaRPr lang="en-US" sz="900" dirty="0"/>
          </a:p>
        </p:txBody>
      </p:sp>
      <p:sp>
        <p:nvSpPr>
          <p:cNvPr id="125" name="Text 103"/>
          <p:cNvSpPr txBox="1"/>
          <p:nvPr/>
        </p:nvSpPr>
        <p:spPr>
          <a:xfrm>
            <a:off x="9158630" y="5473598"/>
            <a:ext cx="10104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成果の総括と評価</a:t>
            </a:r>
            <a:endParaRPr lang="en-US" sz="900" dirty="0"/>
          </a:p>
        </p:txBody>
      </p:sp>
      <p:sp>
        <p:nvSpPr>
          <p:cNvPr id="126" name="Text 104"/>
          <p:cNvSpPr txBox="1"/>
          <p:nvPr/>
        </p:nvSpPr>
        <p:spPr>
          <a:xfrm>
            <a:off x="9158630" y="5710428"/>
            <a:ext cx="11247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継続改善プラン策定</a:t>
            </a:r>
            <a:endParaRPr lang="en-US" sz="900" dirty="0"/>
          </a:p>
        </p:txBody>
      </p:sp>
      <p:sp>
        <p:nvSpPr>
          <p:cNvPr id="127" name="Text 105"/>
          <p:cNvSpPr txBox="1"/>
          <p:nvPr/>
        </p:nvSpPr>
        <p:spPr>
          <a:xfrm>
            <a:off x="9158630" y="5946343"/>
            <a:ext cx="10104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次年度計画の立案</a:t>
            </a:r>
            <a:endParaRPr lang="en-US" sz="900" dirty="0"/>
          </a:p>
        </p:txBody>
      </p:sp>
      <p:sp>
        <p:nvSpPr>
          <p:cNvPr id="128" name="Text 106"/>
          <p:cNvSpPr txBox="1"/>
          <p:nvPr/>
        </p:nvSpPr>
        <p:spPr>
          <a:xfrm>
            <a:off x="9015070" y="6239866"/>
            <a:ext cx="629107" cy="143561"/>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FINAL GOAL</a:t>
            </a:r>
            <a:endParaRPr lang="en-US" sz="800" dirty="0"/>
          </a:p>
        </p:txBody>
      </p:sp>
      <p:sp>
        <p:nvSpPr>
          <p:cNvPr id="129" name="Shape 107"/>
          <p:cNvSpPr/>
          <p:nvPr/>
        </p:nvSpPr>
        <p:spPr>
          <a:xfrm>
            <a:off x="9015070" y="6420917"/>
            <a:ext cx="1399946" cy="286207"/>
          </a:xfrm>
          <a:prstGeom prst="roundRect">
            <a:avLst>
              <a:gd name="adj" fmla="val 42599"/>
            </a:avLst>
          </a:prstGeom>
          <a:solidFill>
            <a:srgbClr val="FFFFFF"/>
          </a:solidFill>
          <a:ln w="12700">
            <a:solidFill>
              <a:srgbClr val="E2E8F0"/>
            </a:solidFill>
            <a:prstDash val="solid"/>
          </a:ln>
          <a:effectLst>
            <a:outerShdw blurRad="25400" dist="12700" dir="5400000" algn="bl" rotWithShape="0">
              <a:srgbClr val="000000">
                <a:alpha val="5000"/>
              </a:srgbClr>
            </a:outerShdw>
          </a:effectLst>
        </p:spPr>
        <p:txBody>
          <a:bodyPr/>
          <a:lstStyle/>
          <a:p>
            <a:endParaRPr lang="ja-JP" altLang="en-US"/>
          </a:p>
        </p:txBody>
      </p:sp>
      <p:sp>
        <p:nvSpPr>
          <p:cNvPr id="130" name="Text 108"/>
          <p:cNvSpPr txBox="1"/>
          <p:nvPr/>
        </p:nvSpPr>
        <p:spPr>
          <a:xfrm>
            <a:off x="9101023" y="6468466"/>
            <a:ext cx="474574" cy="181051"/>
          </a:xfrm>
          <a:prstGeom prst="rect">
            <a:avLst/>
          </a:prstGeom>
          <a:noFill/>
          <a:ln/>
        </p:spPr>
        <p:txBody>
          <a:bodyPr wrap="square" lIns="0" tIns="0" rIns="0" bIns="0" rtlCol="0" anchor="ctr"/>
          <a:lstStyle/>
          <a:p>
            <a:pPr marL="0" indent="0" algn="l">
              <a:buNone/>
            </a:pPr>
            <a:r>
              <a:rPr lang="en-US" sz="900" b="1" dirty="0">
                <a:solidFill>
                  <a:srgbClr val="1F2937"/>
                </a:solidFill>
                <a:latin typeface="Noto Sans JP" pitchFamily="34" charset="0"/>
                <a:ea typeface="Noto Sans JP" pitchFamily="34" charset="-122"/>
                <a:cs typeface="Noto Sans JP" pitchFamily="34" charset="-120"/>
              </a:rPr>
              <a:t>利用率</a:t>
            </a:r>
            <a:endParaRPr lang="en-US" sz="900" dirty="0"/>
          </a:p>
        </p:txBody>
      </p:sp>
      <p:sp>
        <p:nvSpPr>
          <p:cNvPr id="131" name="Text 109"/>
          <p:cNvSpPr txBox="1"/>
          <p:nvPr/>
        </p:nvSpPr>
        <p:spPr>
          <a:xfrm>
            <a:off x="9473184" y="6468466"/>
            <a:ext cx="360274" cy="181051"/>
          </a:xfrm>
          <a:prstGeom prst="rect">
            <a:avLst/>
          </a:prstGeom>
          <a:noFill/>
          <a:ln/>
        </p:spPr>
        <p:txBody>
          <a:bodyPr wrap="square" lIns="0" tIns="0" rIns="0" bIns="0" rtlCol="0" anchor="ctr"/>
          <a:lstStyle/>
          <a:p>
            <a:pPr marL="0" indent="0" algn="l">
              <a:buNone/>
            </a:pPr>
            <a:r>
              <a:rPr lang="en-US" sz="900" b="1" dirty="0">
                <a:solidFill>
                  <a:srgbClr val="059669"/>
                </a:solidFill>
                <a:latin typeface="Noto Sans JP" pitchFamily="34" charset="0"/>
                <a:ea typeface="Noto Sans JP" pitchFamily="34" charset="-122"/>
                <a:cs typeface="Noto Sans JP" pitchFamily="34" charset="-120"/>
              </a:rPr>
              <a:t>80%</a:t>
            </a:r>
            <a:endParaRPr lang="en-US" sz="900" dirty="0"/>
          </a:p>
        </p:txBody>
      </p:sp>
      <p:sp>
        <p:nvSpPr>
          <p:cNvPr id="132" name="Text 110"/>
          <p:cNvSpPr txBox="1"/>
          <p:nvPr/>
        </p:nvSpPr>
        <p:spPr>
          <a:xfrm>
            <a:off x="9738360" y="6468466"/>
            <a:ext cx="416966" cy="181051"/>
          </a:xfrm>
          <a:prstGeom prst="rect">
            <a:avLst/>
          </a:prstGeom>
          <a:noFill/>
          <a:ln/>
        </p:spPr>
        <p:txBody>
          <a:bodyPr wrap="square" lIns="0" tIns="0" rIns="0" bIns="0" rtlCol="0" anchor="ctr"/>
          <a:lstStyle/>
          <a:p>
            <a:pPr marL="0" indent="0" algn="l">
              <a:buNone/>
            </a:pPr>
            <a:r>
              <a:rPr lang="en-US" sz="900" b="1" dirty="0">
                <a:solidFill>
                  <a:srgbClr val="1F2937"/>
                </a:solidFill>
                <a:latin typeface="Noto Sans JP" pitchFamily="34" charset="0"/>
                <a:ea typeface="Noto Sans JP" pitchFamily="34" charset="-122"/>
                <a:cs typeface="Noto Sans JP" pitchFamily="34" charset="-120"/>
              </a:rPr>
              <a:t>/ 時短</a:t>
            </a:r>
            <a:endParaRPr lang="en-US" sz="900" dirty="0"/>
          </a:p>
        </p:txBody>
      </p:sp>
      <p:sp>
        <p:nvSpPr>
          <p:cNvPr id="133" name="Text 111"/>
          <p:cNvSpPr txBox="1"/>
          <p:nvPr/>
        </p:nvSpPr>
        <p:spPr>
          <a:xfrm>
            <a:off x="10062058" y="6468466"/>
            <a:ext cx="360274" cy="181051"/>
          </a:xfrm>
          <a:prstGeom prst="rect">
            <a:avLst/>
          </a:prstGeom>
          <a:noFill/>
          <a:ln/>
        </p:spPr>
        <p:txBody>
          <a:bodyPr wrap="square" lIns="0" tIns="0" rIns="0" bIns="0" rtlCol="0" anchor="ctr"/>
          <a:lstStyle/>
          <a:p>
            <a:pPr marL="0" indent="0" algn="l">
              <a:buNone/>
            </a:pPr>
            <a:r>
              <a:rPr lang="en-US" sz="900" b="1" dirty="0">
                <a:solidFill>
                  <a:srgbClr val="059669"/>
                </a:solidFill>
                <a:latin typeface="Noto Sans JP" pitchFamily="34" charset="0"/>
                <a:ea typeface="Noto Sans JP" pitchFamily="34" charset="-122"/>
                <a:cs typeface="Noto Sans JP" pitchFamily="34" charset="-120"/>
              </a:rPr>
              <a:t>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181405"/>
          </a:xfrm>
          <a:prstGeom prst="rect">
            <a:avLst/>
          </a:prstGeom>
          <a:solidFill>
            <a:srgbClr val="FFFFFF"/>
          </a:solidFill>
          <a:ln/>
        </p:spPr>
        <p:txBody>
          <a:bodyPr/>
          <a:lstStyle/>
          <a:p>
            <a:endParaRPr lang="ja-JP" altLang="en-US"/>
          </a:p>
        </p:txBody>
      </p:sp>
      <p:sp>
        <p:nvSpPr>
          <p:cNvPr id="5" name="Shape 3"/>
          <p:cNvSpPr/>
          <p:nvPr/>
        </p:nvSpPr>
        <p:spPr>
          <a:xfrm>
            <a:off x="0" y="1172261"/>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267005"/>
            <a:ext cx="5715000" cy="438912"/>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変革推進体制とコミュニケーション設計</a:t>
            </a:r>
            <a:endParaRPr lang="en-US" sz="2400" dirty="0"/>
          </a:p>
        </p:txBody>
      </p:sp>
      <p:sp>
        <p:nvSpPr>
          <p:cNvPr id="7" name="Text 5"/>
          <p:cNvSpPr txBox="1"/>
          <p:nvPr/>
        </p:nvSpPr>
        <p:spPr>
          <a:xfrm>
            <a:off x="609905" y="747065"/>
            <a:ext cx="4210812" cy="228600"/>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CoEと事業部の連携を加速させる会議体・情報共有の仕組み</a:t>
            </a:r>
            <a:endParaRPr lang="en-US" sz="1200" dirty="0"/>
          </a:p>
        </p:txBody>
      </p:sp>
      <p:sp>
        <p:nvSpPr>
          <p:cNvPr id="8" name="Shape 6"/>
          <p:cNvSpPr/>
          <p:nvPr/>
        </p:nvSpPr>
        <p:spPr>
          <a:xfrm>
            <a:off x="9282989" y="661111"/>
            <a:ext cx="2305202" cy="314554"/>
          </a:xfrm>
          <a:prstGeom prst="roundRect">
            <a:avLst>
              <a:gd name="adj" fmla="val 176180"/>
            </a:avLst>
          </a:prstGeom>
          <a:solidFill>
            <a:srgbClr val="1E40AF"/>
          </a:solidFill>
          <a:ln/>
        </p:spPr>
        <p:txBody>
          <a:bodyPr/>
          <a:lstStyle/>
          <a:p>
            <a:endParaRPr lang="ja-JP" altLang="en-US"/>
          </a:p>
        </p:txBody>
      </p:sp>
      <p:sp>
        <p:nvSpPr>
          <p:cNvPr id="9" name="Text 7"/>
          <p:cNvSpPr txBox="1"/>
          <p:nvPr/>
        </p:nvSpPr>
        <p:spPr>
          <a:xfrm>
            <a:off x="9435694" y="717804"/>
            <a:ext cx="2100377" cy="191110"/>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JP" pitchFamily="34" charset="0"/>
                <a:ea typeface="Noto Sans JP" pitchFamily="34" charset="-122"/>
                <a:cs typeface="Noto Sans JP" pitchFamily="34" charset="-120"/>
              </a:rPr>
              <a:t>Structure &amp; Communication</a:t>
            </a:r>
            <a:endParaRPr lang="en-US" sz="1000" dirty="0"/>
          </a:p>
        </p:txBody>
      </p:sp>
      <p:sp>
        <p:nvSpPr>
          <p:cNvPr id="10" name="Shape 8"/>
          <p:cNvSpPr/>
          <p:nvPr/>
        </p:nvSpPr>
        <p:spPr>
          <a:xfrm>
            <a:off x="0" y="1175004"/>
            <a:ext cx="12191695" cy="6115507"/>
          </a:xfrm>
          <a:prstGeom prst="rect">
            <a:avLst/>
          </a:prstGeom>
          <a:solidFill>
            <a:srgbClr val="F8FAFC"/>
          </a:solidFill>
          <a:ln/>
        </p:spPr>
        <p:txBody>
          <a:bodyPr/>
          <a:lstStyle/>
          <a:p>
            <a:endParaRPr lang="ja-JP" altLang="en-US"/>
          </a:p>
        </p:txBody>
      </p:sp>
      <p:sp>
        <p:nvSpPr>
          <p:cNvPr id="11" name="Shape 9"/>
          <p:cNvSpPr/>
          <p:nvPr/>
        </p:nvSpPr>
        <p:spPr>
          <a:xfrm>
            <a:off x="609905" y="1480414"/>
            <a:ext cx="5372100" cy="2638044"/>
          </a:xfrm>
          <a:prstGeom prst="roundRect">
            <a:avLst>
              <a:gd name="adj" fmla="val 2002"/>
            </a:avLst>
          </a:prstGeom>
          <a:solidFill>
            <a:srgbClr val="FFFFFF"/>
          </a:solidFill>
          <a:ln w="12700">
            <a:solidFill>
              <a:srgbClr val="E2E8F0"/>
            </a:solidFill>
            <a:prstDash val="solid"/>
          </a:ln>
          <a:effectLst>
            <a:outerShdw blurRad="38100" dist="25400" dir="5400000" algn="bl" rotWithShape="0">
              <a:srgbClr val="000000">
                <a:alpha val="5000"/>
              </a:srgbClr>
            </a:outerShdw>
          </a:effectLst>
        </p:spPr>
        <p:txBody>
          <a:bodyPr/>
          <a:lstStyle/>
          <a:p>
            <a:endParaRPr lang="ja-JP" altLang="en-US"/>
          </a:p>
        </p:txBody>
      </p:sp>
      <p:sp>
        <p:nvSpPr>
          <p:cNvPr id="12" name="Shape 10"/>
          <p:cNvSpPr/>
          <p:nvPr/>
        </p:nvSpPr>
        <p:spPr>
          <a:xfrm>
            <a:off x="847649" y="2213762"/>
            <a:ext cx="4895698" cy="19202"/>
          </a:xfrm>
          <a:prstGeom prst="rect">
            <a:avLst/>
          </a:prstGeom>
          <a:solidFill>
            <a:srgbClr val="F1F5F9"/>
          </a:solidFill>
          <a:ln/>
        </p:spPr>
        <p:txBody>
          <a:bodyPr/>
          <a:lstStyle/>
          <a:p>
            <a:endParaRPr lang="ja-JP" altLang="en-US"/>
          </a:p>
        </p:txBody>
      </p:sp>
      <p:sp>
        <p:nvSpPr>
          <p:cNvPr id="13" name="Shape 11"/>
          <p:cNvSpPr/>
          <p:nvPr/>
        </p:nvSpPr>
        <p:spPr>
          <a:xfrm>
            <a:off x="847649" y="1718158"/>
            <a:ext cx="381305" cy="381305"/>
          </a:xfrm>
          <a:prstGeom prst="roundRect">
            <a:avLst>
              <a:gd name="adj" fmla="val 47962"/>
            </a:avLst>
          </a:prstGeom>
          <a:solidFill>
            <a:srgbClr val="EFF6FF"/>
          </a:solidFill>
          <a:ln/>
        </p:spPr>
        <p:txBody>
          <a:bodyPr/>
          <a:lstStyle/>
          <a:p>
            <a:endParaRPr lang="ja-JP" altLang="en-US"/>
          </a:p>
        </p:txBody>
      </p:sp>
      <p:pic>
        <p:nvPicPr>
          <p:cNvPr id="14" name="Image 0" descr="preencoded.png"/>
          <p:cNvPicPr>
            <a:picLocks noChangeAspect="1"/>
          </p:cNvPicPr>
          <p:nvPr/>
        </p:nvPicPr>
        <p:blipFill>
          <a:blip r:embed="rId3"/>
          <a:srcRect t="-842" b="-842"/>
          <a:stretch/>
        </p:blipFill>
        <p:spPr>
          <a:xfrm>
            <a:off x="942746" y="1823314"/>
            <a:ext cx="190195" cy="171907"/>
          </a:xfrm>
          <a:prstGeom prst="rect">
            <a:avLst/>
          </a:prstGeom>
        </p:spPr>
      </p:pic>
      <p:sp>
        <p:nvSpPr>
          <p:cNvPr id="15" name="Text 12"/>
          <p:cNvSpPr txBox="1"/>
          <p:nvPr/>
        </p:nvSpPr>
        <p:spPr>
          <a:xfrm>
            <a:off x="1343254" y="1780337"/>
            <a:ext cx="2005279" cy="247802"/>
          </a:xfrm>
          <a:prstGeom prst="rect">
            <a:avLst/>
          </a:prstGeom>
          <a:noFill/>
          <a:ln/>
        </p:spPr>
        <p:txBody>
          <a:bodyPr wrap="square" lIns="0" tIns="0" rIns="0" bIns="0" rtlCol="0" anchor="ctr"/>
          <a:lstStyle/>
          <a:p>
            <a:pPr marL="0" indent="0" algn="l">
              <a:buNone/>
            </a:pPr>
            <a:r>
              <a:rPr lang="en-US" sz="1300" b="1" dirty="0">
                <a:solidFill>
                  <a:srgbClr val="1E40AF"/>
                </a:solidFill>
                <a:latin typeface="Noto Sans JP" pitchFamily="34" charset="0"/>
                <a:ea typeface="Noto Sans JP" pitchFamily="34" charset="-122"/>
                <a:cs typeface="Noto Sans JP" pitchFamily="34" charset="-120"/>
              </a:rPr>
              <a:t>中央組織（CoE）の体制</a:t>
            </a:r>
            <a:endParaRPr lang="en-US" sz="1300" dirty="0"/>
          </a:p>
        </p:txBody>
      </p:sp>
      <p:sp>
        <p:nvSpPr>
          <p:cNvPr id="16" name="Text 13"/>
          <p:cNvSpPr txBox="1"/>
          <p:nvPr/>
        </p:nvSpPr>
        <p:spPr>
          <a:xfrm>
            <a:off x="847649" y="2384755"/>
            <a:ext cx="4996282" cy="400507"/>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推奨構成： 専任・兼務合わせ6-10名（日立製作所事例参考）。戦略、技術アーキテクト、チェンジマネジメント、データガバナンスの各機能リーダーを配置。</a:t>
            </a:r>
            <a:endParaRPr lang="en-US" sz="1000" dirty="0"/>
          </a:p>
        </p:txBody>
      </p:sp>
      <p:sp>
        <p:nvSpPr>
          <p:cNvPr id="17" name="Text 14"/>
          <p:cNvSpPr txBox="1"/>
          <p:nvPr/>
        </p:nvSpPr>
        <p:spPr>
          <a:xfrm>
            <a:off x="847649" y="2880360"/>
            <a:ext cx="4996282" cy="400507"/>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ミッション： 「全社的なAI戦略策定」「1,000件超のユースケース横展開」「技術標準化とセキュリティ担保」を一元的に推進。</a:t>
            </a:r>
            <a:endParaRPr lang="en-US" sz="1000" dirty="0"/>
          </a:p>
        </p:txBody>
      </p:sp>
      <p:sp>
        <p:nvSpPr>
          <p:cNvPr id="18" name="Shape 15"/>
          <p:cNvSpPr/>
          <p:nvPr/>
        </p:nvSpPr>
        <p:spPr>
          <a:xfrm>
            <a:off x="847649" y="3699662"/>
            <a:ext cx="761695" cy="181051"/>
          </a:xfrm>
          <a:prstGeom prst="roundRect">
            <a:avLst>
              <a:gd name="adj" fmla="val 106327"/>
            </a:avLst>
          </a:prstGeom>
          <a:solidFill>
            <a:srgbClr val="DBEAFE"/>
          </a:solidFill>
          <a:ln/>
        </p:spPr>
        <p:txBody>
          <a:bodyPr/>
          <a:lstStyle/>
          <a:p>
            <a:endParaRPr lang="ja-JP" altLang="en-US"/>
          </a:p>
        </p:txBody>
      </p:sp>
      <p:sp>
        <p:nvSpPr>
          <p:cNvPr id="19" name="Text 16"/>
          <p:cNvSpPr txBox="1"/>
          <p:nvPr/>
        </p:nvSpPr>
        <p:spPr>
          <a:xfrm>
            <a:off x="905256" y="3718865"/>
            <a:ext cx="724205" cy="143561"/>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JP" pitchFamily="34" charset="0"/>
                <a:ea typeface="Noto Sans JP" pitchFamily="34" charset="-122"/>
                <a:cs typeface="Noto Sans JP" pitchFamily="34" charset="-120"/>
              </a:rPr>
              <a:t>戦略担当 1-2名</a:t>
            </a:r>
            <a:endParaRPr lang="en-US" sz="800" dirty="0"/>
          </a:p>
        </p:txBody>
      </p:sp>
      <p:sp>
        <p:nvSpPr>
          <p:cNvPr id="20" name="Shape 17"/>
          <p:cNvSpPr/>
          <p:nvPr/>
        </p:nvSpPr>
        <p:spPr>
          <a:xfrm>
            <a:off x="1741018" y="3699662"/>
            <a:ext cx="761695" cy="181051"/>
          </a:xfrm>
          <a:prstGeom prst="roundRect">
            <a:avLst>
              <a:gd name="adj" fmla="val 106327"/>
            </a:avLst>
          </a:prstGeom>
          <a:solidFill>
            <a:srgbClr val="DBEAFE"/>
          </a:solidFill>
          <a:ln/>
        </p:spPr>
        <p:txBody>
          <a:bodyPr/>
          <a:lstStyle/>
          <a:p>
            <a:endParaRPr lang="ja-JP" altLang="en-US"/>
          </a:p>
        </p:txBody>
      </p:sp>
      <p:sp>
        <p:nvSpPr>
          <p:cNvPr id="21" name="Text 18"/>
          <p:cNvSpPr txBox="1"/>
          <p:nvPr/>
        </p:nvSpPr>
        <p:spPr>
          <a:xfrm>
            <a:off x="1797710" y="3718865"/>
            <a:ext cx="724205" cy="143561"/>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JP" pitchFamily="34" charset="0"/>
                <a:ea typeface="Noto Sans JP" pitchFamily="34" charset="-122"/>
                <a:cs typeface="Noto Sans JP" pitchFamily="34" charset="-120"/>
              </a:rPr>
              <a:t>技術担当 2-3名</a:t>
            </a:r>
            <a:endParaRPr lang="en-US" sz="800" dirty="0"/>
          </a:p>
        </p:txBody>
      </p:sp>
      <p:sp>
        <p:nvSpPr>
          <p:cNvPr id="22" name="Shape 19"/>
          <p:cNvSpPr/>
          <p:nvPr/>
        </p:nvSpPr>
        <p:spPr>
          <a:xfrm>
            <a:off x="2634386" y="3699662"/>
            <a:ext cx="714146" cy="181051"/>
          </a:xfrm>
          <a:prstGeom prst="roundRect">
            <a:avLst>
              <a:gd name="adj" fmla="val 106327"/>
            </a:avLst>
          </a:prstGeom>
          <a:solidFill>
            <a:srgbClr val="DBEAFE"/>
          </a:solidFill>
          <a:ln/>
        </p:spPr>
        <p:txBody>
          <a:bodyPr/>
          <a:lstStyle/>
          <a:p>
            <a:endParaRPr lang="ja-JP" altLang="en-US"/>
          </a:p>
        </p:txBody>
      </p:sp>
      <p:sp>
        <p:nvSpPr>
          <p:cNvPr id="23" name="Text 20"/>
          <p:cNvSpPr txBox="1"/>
          <p:nvPr/>
        </p:nvSpPr>
        <p:spPr>
          <a:xfrm>
            <a:off x="2691079" y="3718865"/>
            <a:ext cx="676656" cy="143561"/>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JP" pitchFamily="34" charset="0"/>
                <a:ea typeface="Noto Sans JP" pitchFamily="34" charset="-122"/>
                <a:cs typeface="Noto Sans JP" pitchFamily="34" charset="-120"/>
              </a:rPr>
              <a:t>CM担当 1-2名</a:t>
            </a:r>
            <a:endParaRPr lang="en-US" sz="800" dirty="0"/>
          </a:p>
        </p:txBody>
      </p:sp>
      <p:sp>
        <p:nvSpPr>
          <p:cNvPr id="24" name="Shape 21"/>
          <p:cNvSpPr/>
          <p:nvPr/>
        </p:nvSpPr>
        <p:spPr>
          <a:xfrm>
            <a:off x="6210605" y="1480414"/>
            <a:ext cx="5372100" cy="2638044"/>
          </a:xfrm>
          <a:prstGeom prst="roundRect">
            <a:avLst>
              <a:gd name="adj" fmla="val 2002"/>
            </a:avLst>
          </a:prstGeom>
          <a:solidFill>
            <a:srgbClr val="FFFFFF"/>
          </a:solidFill>
          <a:ln w="12700">
            <a:solidFill>
              <a:srgbClr val="E2E8F0"/>
            </a:solidFill>
            <a:prstDash val="solid"/>
          </a:ln>
          <a:effectLst>
            <a:outerShdw blurRad="38100" dist="25400" dir="5400000" algn="bl" rotWithShape="0">
              <a:srgbClr val="000000">
                <a:alpha val="5000"/>
              </a:srgbClr>
            </a:outerShdw>
          </a:effectLst>
        </p:spPr>
        <p:txBody>
          <a:bodyPr/>
          <a:lstStyle/>
          <a:p>
            <a:endParaRPr lang="ja-JP" altLang="en-US"/>
          </a:p>
        </p:txBody>
      </p:sp>
      <p:sp>
        <p:nvSpPr>
          <p:cNvPr id="25" name="Shape 22"/>
          <p:cNvSpPr/>
          <p:nvPr/>
        </p:nvSpPr>
        <p:spPr>
          <a:xfrm>
            <a:off x="6448349" y="2213762"/>
            <a:ext cx="4895698" cy="19202"/>
          </a:xfrm>
          <a:prstGeom prst="rect">
            <a:avLst/>
          </a:prstGeom>
          <a:solidFill>
            <a:srgbClr val="F1F5F9"/>
          </a:solidFill>
          <a:ln/>
        </p:spPr>
        <p:txBody>
          <a:bodyPr/>
          <a:lstStyle/>
          <a:p>
            <a:endParaRPr lang="ja-JP" altLang="en-US"/>
          </a:p>
        </p:txBody>
      </p:sp>
      <p:sp>
        <p:nvSpPr>
          <p:cNvPr id="26" name="Shape 23"/>
          <p:cNvSpPr/>
          <p:nvPr/>
        </p:nvSpPr>
        <p:spPr>
          <a:xfrm>
            <a:off x="6448349" y="1718158"/>
            <a:ext cx="381305" cy="381305"/>
          </a:xfrm>
          <a:prstGeom prst="roundRect">
            <a:avLst>
              <a:gd name="adj" fmla="val 47962"/>
            </a:avLst>
          </a:prstGeom>
          <a:solidFill>
            <a:srgbClr val="ECFDF5"/>
          </a:solidFill>
          <a:ln/>
        </p:spPr>
        <p:txBody>
          <a:bodyPr/>
          <a:lstStyle/>
          <a:p>
            <a:endParaRPr lang="ja-JP" altLang="en-US"/>
          </a:p>
        </p:txBody>
      </p:sp>
      <p:pic>
        <p:nvPicPr>
          <p:cNvPr id="27" name="Image 1" descr="preencoded.png"/>
          <p:cNvPicPr>
            <a:picLocks noChangeAspect="1"/>
          </p:cNvPicPr>
          <p:nvPr/>
        </p:nvPicPr>
        <p:blipFill>
          <a:blip r:embed="rId4"/>
          <a:srcRect l="-1064" r="-1064"/>
          <a:stretch/>
        </p:blipFill>
        <p:spPr>
          <a:xfrm>
            <a:off x="6529730" y="1823314"/>
            <a:ext cx="219456" cy="171907"/>
          </a:xfrm>
          <a:prstGeom prst="rect">
            <a:avLst/>
          </a:prstGeom>
        </p:spPr>
      </p:pic>
      <p:sp>
        <p:nvSpPr>
          <p:cNvPr id="28" name="Text 24"/>
          <p:cNvSpPr txBox="1"/>
          <p:nvPr/>
        </p:nvSpPr>
        <p:spPr>
          <a:xfrm>
            <a:off x="6943954" y="1780337"/>
            <a:ext cx="1843430" cy="247802"/>
          </a:xfrm>
          <a:prstGeom prst="rect">
            <a:avLst/>
          </a:prstGeom>
          <a:noFill/>
          <a:ln/>
        </p:spPr>
        <p:txBody>
          <a:bodyPr wrap="square" lIns="0" tIns="0" rIns="0" bIns="0" rtlCol="0" anchor="ctr"/>
          <a:lstStyle/>
          <a:p>
            <a:pPr marL="0" indent="0" algn="l">
              <a:buNone/>
            </a:pPr>
            <a:r>
              <a:rPr lang="en-US" sz="1300" b="1" dirty="0">
                <a:solidFill>
                  <a:srgbClr val="065F46"/>
                </a:solidFill>
                <a:latin typeface="Noto Sans JP" pitchFamily="34" charset="0"/>
                <a:ea typeface="Noto Sans JP" pitchFamily="34" charset="-122"/>
                <a:cs typeface="Noto Sans JP" pitchFamily="34" charset="-120"/>
              </a:rPr>
              <a:t>事業部AI推進リーダー</a:t>
            </a:r>
            <a:endParaRPr lang="en-US" sz="1300" dirty="0"/>
          </a:p>
        </p:txBody>
      </p:sp>
      <p:sp>
        <p:nvSpPr>
          <p:cNvPr id="29" name="Text 25"/>
          <p:cNvSpPr txBox="1"/>
          <p:nvPr/>
        </p:nvSpPr>
        <p:spPr>
          <a:xfrm>
            <a:off x="6448349" y="2384755"/>
            <a:ext cx="4996282" cy="400507"/>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配置： 各主要事業部から1-2名を選出（兼務可）。現場業務に精通し、デジタルツールへの抵抗感が少ない人材を任命。</a:t>
            </a:r>
            <a:endParaRPr lang="en-US" sz="1000" dirty="0"/>
          </a:p>
        </p:txBody>
      </p:sp>
      <p:sp>
        <p:nvSpPr>
          <p:cNvPr id="30" name="Text 26"/>
          <p:cNvSpPr txBox="1"/>
          <p:nvPr/>
        </p:nvSpPr>
        <p:spPr>
          <a:xfrm>
            <a:off x="6448349" y="2880360"/>
            <a:ext cx="4996282" cy="400507"/>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役割： 現場起点のユースケース発掘（各事業部年5-10件目標）、部内への展開・定着支援、CoEへの課題フィードバック。</a:t>
            </a:r>
            <a:endParaRPr lang="en-US" sz="1000" dirty="0"/>
          </a:p>
        </p:txBody>
      </p:sp>
      <p:sp>
        <p:nvSpPr>
          <p:cNvPr id="31" name="Shape 27"/>
          <p:cNvSpPr/>
          <p:nvPr/>
        </p:nvSpPr>
        <p:spPr>
          <a:xfrm>
            <a:off x="6448349" y="3699662"/>
            <a:ext cx="466344" cy="181051"/>
          </a:xfrm>
          <a:prstGeom prst="roundRect">
            <a:avLst>
              <a:gd name="adj" fmla="val 106327"/>
            </a:avLst>
          </a:prstGeom>
          <a:solidFill>
            <a:srgbClr val="D1FAE5"/>
          </a:solidFill>
          <a:ln/>
        </p:spPr>
        <p:txBody>
          <a:bodyPr/>
          <a:lstStyle/>
          <a:p>
            <a:endParaRPr lang="ja-JP" altLang="en-US"/>
          </a:p>
        </p:txBody>
      </p:sp>
      <p:sp>
        <p:nvSpPr>
          <p:cNvPr id="32" name="Text 28"/>
          <p:cNvSpPr txBox="1"/>
          <p:nvPr/>
        </p:nvSpPr>
        <p:spPr>
          <a:xfrm>
            <a:off x="6505956" y="3718865"/>
            <a:ext cx="428854" cy="143561"/>
          </a:xfrm>
          <a:prstGeom prst="rect">
            <a:avLst/>
          </a:prstGeom>
          <a:noFill/>
          <a:ln/>
        </p:spPr>
        <p:txBody>
          <a:bodyPr wrap="square" lIns="0" tIns="0" rIns="0" bIns="0" rtlCol="0" anchor="ctr"/>
          <a:lstStyle/>
          <a:p>
            <a:pPr marL="0" indent="0" algn="l">
              <a:buNone/>
            </a:pPr>
            <a:r>
              <a:rPr lang="en-US" sz="800" b="1" dirty="0">
                <a:solidFill>
                  <a:srgbClr val="065F46"/>
                </a:solidFill>
                <a:latin typeface="Noto Sans JP" pitchFamily="34" charset="0"/>
                <a:ea typeface="Noto Sans JP" pitchFamily="34" charset="-122"/>
                <a:cs typeface="Noto Sans JP" pitchFamily="34" charset="-120"/>
              </a:rPr>
              <a:t>事業部A</a:t>
            </a:r>
            <a:endParaRPr lang="en-US" sz="800" dirty="0"/>
          </a:p>
        </p:txBody>
      </p:sp>
      <p:sp>
        <p:nvSpPr>
          <p:cNvPr id="33" name="Shape 29"/>
          <p:cNvSpPr/>
          <p:nvPr/>
        </p:nvSpPr>
        <p:spPr>
          <a:xfrm>
            <a:off x="7042709" y="3699662"/>
            <a:ext cx="466344" cy="181051"/>
          </a:xfrm>
          <a:prstGeom prst="roundRect">
            <a:avLst>
              <a:gd name="adj" fmla="val 106327"/>
            </a:avLst>
          </a:prstGeom>
          <a:solidFill>
            <a:srgbClr val="D1FAE5"/>
          </a:solidFill>
          <a:ln/>
        </p:spPr>
        <p:txBody>
          <a:bodyPr/>
          <a:lstStyle/>
          <a:p>
            <a:endParaRPr lang="ja-JP" altLang="en-US"/>
          </a:p>
        </p:txBody>
      </p:sp>
      <p:sp>
        <p:nvSpPr>
          <p:cNvPr id="34" name="Text 30"/>
          <p:cNvSpPr txBox="1"/>
          <p:nvPr/>
        </p:nvSpPr>
        <p:spPr>
          <a:xfrm>
            <a:off x="7100316" y="3718865"/>
            <a:ext cx="428854" cy="143561"/>
          </a:xfrm>
          <a:prstGeom prst="rect">
            <a:avLst/>
          </a:prstGeom>
          <a:noFill/>
          <a:ln/>
        </p:spPr>
        <p:txBody>
          <a:bodyPr wrap="square" lIns="0" tIns="0" rIns="0" bIns="0" rtlCol="0" anchor="ctr"/>
          <a:lstStyle/>
          <a:p>
            <a:pPr marL="0" indent="0" algn="l">
              <a:buNone/>
            </a:pPr>
            <a:r>
              <a:rPr lang="en-US" sz="800" b="1" dirty="0">
                <a:solidFill>
                  <a:srgbClr val="065F46"/>
                </a:solidFill>
                <a:latin typeface="Noto Sans JP" pitchFamily="34" charset="0"/>
                <a:ea typeface="Noto Sans JP" pitchFamily="34" charset="-122"/>
                <a:cs typeface="Noto Sans JP" pitchFamily="34" charset="-120"/>
              </a:rPr>
              <a:t>事業部B</a:t>
            </a:r>
            <a:endParaRPr lang="en-US" sz="800" dirty="0"/>
          </a:p>
        </p:txBody>
      </p:sp>
      <p:sp>
        <p:nvSpPr>
          <p:cNvPr id="35" name="Shape 31"/>
          <p:cNvSpPr/>
          <p:nvPr/>
        </p:nvSpPr>
        <p:spPr>
          <a:xfrm>
            <a:off x="7641641" y="3699662"/>
            <a:ext cx="466344" cy="181051"/>
          </a:xfrm>
          <a:prstGeom prst="roundRect">
            <a:avLst>
              <a:gd name="adj" fmla="val 106327"/>
            </a:avLst>
          </a:prstGeom>
          <a:solidFill>
            <a:srgbClr val="D1FAE5"/>
          </a:solidFill>
          <a:ln/>
        </p:spPr>
        <p:txBody>
          <a:bodyPr/>
          <a:lstStyle/>
          <a:p>
            <a:endParaRPr lang="ja-JP" altLang="en-US"/>
          </a:p>
        </p:txBody>
      </p:sp>
      <p:sp>
        <p:nvSpPr>
          <p:cNvPr id="36" name="Text 32"/>
          <p:cNvSpPr txBox="1"/>
          <p:nvPr/>
        </p:nvSpPr>
        <p:spPr>
          <a:xfrm>
            <a:off x="7698334" y="3718865"/>
            <a:ext cx="428854" cy="143561"/>
          </a:xfrm>
          <a:prstGeom prst="rect">
            <a:avLst/>
          </a:prstGeom>
          <a:noFill/>
          <a:ln/>
        </p:spPr>
        <p:txBody>
          <a:bodyPr wrap="square" lIns="0" tIns="0" rIns="0" bIns="0" rtlCol="0" anchor="ctr"/>
          <a:lstStyle/>
          <a:p>
            <a:pPr marL="0" indent="0" algn="l">
              <a:buNone/>
            </a:pPr>
            <a:r>
              <a:rPr lang="en-US" sz="800" b="1" dirty="0">
                <a:solidFill>
                  <a:srgbClr val="065F46"/>
                </a:solidFill>
                <a:latin typeface="Noto Sans JP" pitchFamily="34" charset="0"/>
                <a:ea typeface="Noto Sans JP" pitchFamily="34" charset="-122"/>
                <a:cs typeface="Noto Sans JP" pitchFamily="34" charset="-120"/>
              </a:rPr>
              <a:t>事業部C</a:t>
            </a:r>
            <a:endParaRPr lang="en-US" sz="800" dirty="0"/>
          </a:p>
        </p:txBody>
      </p:sp>
      <p:sp>
        <p:nvSpPr>
          <p:cNvPr id="37" name="Shape 33"/>
          <p:cNvSpPr/>
          <p:nvPr/>
        </p:nvSpPr>
        <p:spPr>
          <a:xfrm>
            <a:off x="8236915" y="3699662"/>
            <a:ext cx="495605" cy="181051"/>
          </a:xfrm>
          <a:prstGeom prst="roundRect">
            <a:avLst>
              <a:gd name="adj" fmla="val 106327"/>
            </a:avLst>
          </a:prstGeom>
          <a:solidFill>
            <a:srgbClr val="D1FAE5"/>
          </a:solidFill>
          <a:ln/>
        </p:spPr>
        <p:txBody>
          <a:bodyPr/>
          <a:lstStyle/>
          <a:p>
            <a:endParaRPr lang="ja-JP" altLang="en-US"/>
          </a:p>
        </p:txBody>
      </p:sp>
      <p:sp>
        <p:nvSpPr>
          <p:cNvPr id="38" name="Text 34"/>
          <p:cNvSpPr txBox="1"/>
          <p:nvPr/>
        </p:nvSpPr>
        <p:spPr>
          <a:xfrm>
            <a:off x="8294522" y="3718865"/>
            <a:ext cx="457200" cy="143561"/>
          </a:xfrm>
          <a:prstGeom prst="rect">
            <a:avLst/>
          </a:prstGeom>
          <a:noFill/>
          <a:ln/>
        </p:spPr>
        <p:txBody>
          <a:bodyPr wrap="square" lIns="0" tIns="0" rIns="0" bIns="0" rtlCol="0" anchor="ctr"/>
          <a:lstStyle/>
          <a:p>
            <a:pPr marL="0" indent="0" algn="l">
              <a:buNone/>
            </a:pPr>
            <a:r>
              <a:rPr lang="en-US" sz="800" b="1" dirty="0">
                <a:solidFill>
                  <a:srgbClr val="065F46"/>
                </a:solidFill>
                <a:latin typeface="Noto Sans JP" pitchFamily="34" charset="0"/>
                <a:ea typeface="Noto Sans JP" pitchFamily="34" charset="-122"/>
                <a:cs typeface="Noto Sans JP" pitchFamily="34" charset="-120"/>
              </a:rPr>
              <a:t>管理部門</a:t>
            </a:r>
            <a:endParaRPr lang="en-US" sz="800" dirty="0"/>
          </a:p>
        </p:txBody>
      </p:sp>
      <p:sp>
        <p:nvSpPr>
          <p:cNvPr id="39" name="Shape 35"/>
          <p:cNvSpPr/>
          <p:nvPr/>
        </p:nvSpPr>
        <p:spPr>
          <a:xfrm>
            <a:off x="609905" y="4347058"/>
            <a:ext cx="5372100" cy="2638044"/>
          </a:xfrm>
          <a:prstGeom prst="roundRect">
            <a:avLst>
              <a:gd name="adj" fmla="val 2002"/>
            </a:avLst>
          </a:prstGeom>
          <a:solidFill>
            <a:srgbClr val="FFFFFF"/>
          </a:solidFill>
          <a:ln w="12700">
            <a:solidFill>
              <a:srgbClr val="E2E8F0"/>
            </a:solidFill>
            <a:prstDash val="solid"/>
          </a:ln>
          <a:effectLst>
            <a:outerShdw blurRad="38100" dist="25400" dir="5400000" algn="bl" rotWithShape="0">
              <a:srgbClr val="000000">
                <a:alpha val="5000"/>
              </a:srgbClr>
            </a:outerShdw>
          </a:effectLst>
        </p:spPr>
        <p:txBody>
          <a:bodyPr/>
          <a:lstStyle/>
          <a:p>
            <a:endParaRPr lang="ja-JP" altLang="en-US"/>
          </a:p>
        </p:txBody>
      </p:sp>
      <p:sp>
        <p:nvSpPr>
          <p:cNvPr id="40" name="Shape 36"/>
          <p:cNvSpPr/>
          <p:nvPr/>
        </p:nvSpPr>
        <p:spPr>
          <a:xfrm>
            <a:off x="847649" y="5081321"/>
            <a:ext cx="4895698" cy="19202"/>
          </a:xfrm>
          <a:prstGeom prst="rect">
            <a:avLst/>
          </a:prstGeom>
          <a:solidFill>
            <a:srgbClr val="F1F5F9"/>
          </a:solidFill>
          <a:ln/>
        </p:spPr>
        <p:txBody>
          <a:bodyPr/>
          <a:lstStyle/>
          <a:p>
            <a:endParaRPr lang="ja-JP" altLang="en-US"/>
          </a:p>
        </p:txBody>
      </p:sp>
      <p:sp>
        <p:nvSpPr>
          <p:cNvPr id="41" name="Shape 37"/>
          <p:cNvSpPr/>
          <p:nvPr/>
        </p:nvSpPr>
        <p:spPr>
          <a:xfrm>
            <a:off x="847649" y="4585716"/>
            <a:ext cx="381305" cy="381305"/>
          </a:xfrm>
          <a:prstGeom prst="roundRect">
            <a:avLst>
              <a:gd name="adj" fmla="val 47962"/>
            </a:avLst>
          </a:prstGeom>
          <a:solidFill>
            <a:srgbClr val="FFF7ED"/>
          </a:solidFill>
          <a:ln/>
        </p:spPr>
        <p:txBody>
          <a:bodyPr/>
          <a:lstStyle/>
          <a:p>
            <a:endParaRPr lang="ja-JP" altLang="en-US"/>
          </a:p>
        </p:txBody>
      </p:sp>
      <p:pic>
        <p:nvPicPr>
          <p:cNvPr id="42" name="Image 2" descr="preencoded.png"/>
          <p:cNvPicPr>
            <a:picLocks noChangeAspect="1"/>
          </p:cNvPicPr>
          <p:nvPr/>
        </p:nvPicPr>
        <p:blipFill>
          <a:blip r:embed="rId5"/>
          <a:srcRect l="-1064" r="-1064"/>
          <a:stretch/>
        </p:blipFill>
        <p:spPr>
          <a:xfrm>
            <a:off x="929030" y="4689958"/>
            <a:ext cx="219456" cy="171907"/>
          </a:xfrm>
          <a:prstGeom prst="rect">
            <a:avLst/>
          </a:prstGeom>
        </p:spPr>
      </p:pic>
      <p:sp>
        <p:nvSpPr>
          <p:cNvPr id="43" name="Text 38"/>
          <p:cNvSpPr txBox="1"/>
          <p:nvPr/>
        </p:nvSpPr>
        <p:spPr>
          <a:xfrm>
            <a:off x="1343254" y="4646981"/>
            <a:ext cx="2424989" cy="247802"/>
          </a:xfrm>
          <a:prstGeom prst="rect">
            <a:avLst/>
          </a:prstGeom>
          <a:noFill/>
          <a:ln/>
        </p:spPr>
        <p:txBody>
          <a:bodyPr wrap="square" lIns="0" tIns="0" rIns="0" bIns="0" rtlCol="0" anchor="ctr"/>
          <a:lstStyle/>
          <a:p>
            <a:pPr marL="0" indent="0" algn="l">
              <a:buNone/>
            </a:pPr>
            <a:r>
              <a:rPr lang="en-US" sz="1300" b="1" dirty="0">
                <a:solidFill>
                  <a:srgbClr val="92400E"/>
                </a:solidFill>
                <a:latin typeface="Noto Sans JP" pitchFamily="34" charset="0"/>
                <a:ea typeface="Noto Sans JP" pitchFamily="34" charset="-122"/>
                <a:cs typeface="Noto Sans JP" pitchFamily="34" charset="-120"/>
              </a:rPr>
              <a:t>定例会議体（CoE × 事業部）</a:t>
            </a:r>
            <a:endParaRPr lang="en-US" sz="1300" dirty="0"/>
          </a:p>
        </p:txBody>
      </p:sp>
      <p:sp>
        <p:nvSpPr>
          <p:cNvPr id="44" name="Text 39"/>
          <p:cNvSpPr txBox="1"/>
          <p:nvPr/>
        </p:nvSpPr>
        <p:spPr>
          <a:xfrm>
            <a:off x="847649" y="5252314"/>
            <a:ext cx="4996282" cy="400507"/>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目的： KPI進捗確認（削減時間・活用率）、成功事例の共有、共通課題の解決策検討、最新技術情報のキャッチアップ。</a:t>
            </a:r>
            <a:endParaRPr lang="en-US" sz="1000" dirty="0"/>
          </a:p>
        </p:txBody>
      </p:sp>
      <p:sp>
        <p:nvSpPr>
          <p:cNvPr id="45" name="Shape 40"/>
          <p:cNvSpPr/>
          <p:nvPr/>
        </p:nvSpPr>
        <p:spPr>
          <a:xfrm>
            <a:off x="847649" y="5766206"/>
            <a:ext cx="4895698" cy="400507"/>
          </a:xfrm>
          <a:prstGeom prst="roundRect">
            <a:avLst>
              <a:gd name="adj" fmla="val 32616"/>
            </a:avLst>
          </a:prstGeom>
          <a:solidFill>
            <a:srgbClr val="FFFCF5"/>
          </a:solidFill>
          <a:ln w="12700">
            <a:solidFill>
              <a:srgbClr val="FEF3C7"/>
            </a:solidFill>
            <a:prstDash val="solid"/>
          </a:ln>
        </p:spPr>
        <p:txBody>
          <a:bodyPr/>
          <a:lstStyle/>
          <a:p>
            <a:endParaRPr lang="ja-JP" altLang="en-US"/>
          </a:p>
        </p:txBody>
      </p:sp>
      <p:pic>
        <p:nvPicPr>
          <p:cNvPr id="46" name="Image 3" descr="preencoded.png"/>
          <p:cNvPicPr>
            <a:picLocks noChangeAspect="1"/>
          </p:cNvPicPr>
          <p:nvPr/>
        </p:nvPicPr>
        <p:blipFill>
          <a:blip r:embed="rId6"/>
          <a:srcRect t="-43" b="-43"/>
          <a:stretch/>
        </p:blipFill>
        <p:spPr>
          <a:xfrm>
            <a:off x="952805" y="5887822"/>
            <a:ext cx="133502" cy="152705"/>
          </a:xfrm>
          <a:prstGeom prst="rect">
            <a:avLst/>
          </a:prstGeom>
        </p:spPr>
      </p:pic>
      <p:sp>
        <p:nvSpPr>
          <p:cNvPr id="47" name="Text 41"/>
          <p:cNvSpPr txBox="1"/>
          <p:nvPr/>
        </p:nvSpPr>
        <p:spPr>
          <a:xfrm>
            <a:off x="1200607" y="5871362"/>
            <a:ext cx="2217420" cy="181051"/>
          </a:xfrm>
          <a:prstGeom prst="rect">
            <a:avLst/>
          </a:prstGeom>
          <a:noFill/>
          <a:ln/>
        </p:spPr>
        <p:txBody>
          <a:bodyPr wrap="square" lIns="0" tIns="0" rIns="0" bIns="0" rtlCol="0" anchor="ctr"/>
          <a:lstStyle/>
          <a:p>
            <a:pPr marL="0" indent="0" algn="l">
              <a:buNone/>
            </a:pPr>
            <a:r>
              <a:rPr lang="en-US" sz="900" dirty="0">
                <a:solidFill>
                  <a:srgbClr val="92400E"/>
                </a:solidFill>
                <a:latin typeface="Noto Sans JP" pitchFamily="34" charset="0"/>
                <a:ea typeface="Noto Sans JP" pitchFamily="34" charset="-122"/>
                <a:cs typeface="Noto Sans JP" pitchFamily="34" charset="-120"/>
              </a:rPr>
              <a:t>月1回（導入初期は週1回推奨） / 60分</a:t>
            </a:r>
            <a:endParaRPr lang="en-US" sz="900" dirty="0"/>
          </a:p>
        </p:txBody>
      </p:sp>
      <p:sp>
        <p:nvSpPr>
          <p:cNvPr id="48" name="Shape 42"/>
          <p:cNvSpPr/>
          <p:nvPr/>
        </p:nvSpPr>
        <p:spPr>
          <a:xfrm>
            <a:off x="847649" y="6352337"/>
            <a:ext cx="4895698" cy="400507"/>
          </a:xfrm>
          <a:prstGeom prst="roundRect">
            <a:avLst>
              <a:gd name="adj" fmla="val 32616"/>
            </a:avLst>
          </a:prstGeom>
          <a:solidFill>
            <a:srgbClr val="FFFCF5"/>
          </a:solidFill>
          <a:ln w="12700">
            <a:solidFill>
              <a:srgbClr val="FEF3C7"/>
            </a:solidFill>
            <a:prstDash val="solid"/>
          </a:ln>
        </p:spPr>
        <p:txBody>
          <a:bodyPr/>
          <a:lstStyle/>
          <a:p>
            <a:endParaRPr lang="ja-JP" altLang="en-US"/>
          </a:p>
        </p:txBody>
      </p:sp>
      <p:pic>
        <p:nvPicPr>
          <p:cNvPr id="49" name="Image 4" descr="preencoded.png"/>
          <p:cNvPicPr>
            <a:picLocks noChangeAspect="1"/>
          </p:cNvPicPr>
          <p:nvPr/>
        </p:nvPicPr>
        <p:blipFill>
          <a:blip r:embed="rId7"/>
          <a:srcRect/>
          <a:stretch/>
        </p:blipFill>
        <p:spPr>
          <a:xfrm>
            <a:off x="952805" y="6473952"/>
            <a:ext cx="152705" cy="152705"/>
          </a:xfrm>
          <a:prstGeom prst="rect">
            <a:avLst/>
          </a:prstGeom>
        </p:spPr>
      </p:pic>
      <p:sp>
        <p:nvSpPr>
          <p:cNvPr id="50" name="Text 43"/>
          <p:cNvSpPr txBox="1"/>
          <p:nvPr/>
        </p:nvSpPr>
        <p:spPr>
          <a:xfrm>
            <a:off x="1218895" y="6457493"/>
            <a:ext cx="2665476" cy="181051"/>
          </a:xfrm>
          <a:prstGeom prst="rect">
            <a:avLst/>
          </a:prstGeom>
          <a:noFill/>
          <a:ln/>
        </p:spPr>
        <p:txBody>
          <a:bodyPr wrap="square" lIns="0" tIns="0" rIns="0" bIns="0" rtlCol="0" anchor="ctr"/>
          <a:lstStyle/>
          <a:p>
            <a:pPr marL="0" indent="0" algn="l">
              <a:buNone/>
            </a:pPr>
            <a:r>
              <a:rPr lang="en-US" sz="900" dirty="0">
                <a:solidFill>
                  <a:srgbClr val="92400E"/>
                </a:solidFill>
                <a:latin typeface="Noto Sans JP" pitchFamily="34" charset="0"/>
                <a:ea typeface="Noto Sans JP" pitchFamily="34" charset="-122"/>
                <a:cs typeface="Noto Sans JP" pitchFamily="34" charset="-120"/>
              </a:rPr>
              <a:t>議題：KPI進捗、Best Practice共有、課題相談</a:t>
            </a:r>
            <a:endParaRPr lang="en-US" sz="900" dirty="0"/>
          </a:p>
        </p:txBody>
      </p:sp>
      <p:sp>
        <p:nvSpPr>
          <p:cNvPr id="51" name="Shape 44"/>
          <p:cNvSpPr/>
          <p:nvPr/>
        </p:nvSpPr>
        <p:spPr>
          <a:xfrm>
            <a:off x="6210605" y="4347058"/>
            <a:ext cx="5372100" cy="2638044"/>
          </a:xfrm>
          <a:prstGeom prst="roundRect">
            <a:avLst>
              <a:gd name="adj" fmla="val 2002"/>
            </a:avLst>
          </a:prstGeom>
          <a:solidFill>
            <a:srgbClr val="FFFFFF"/>
          </a:solidFill>
          <a:ln w="12700">
            <a:solidFill>
              <a:srgbClr val="E2E8F0"/>
            </a:solidFill>
            <a:prstDash val="solid"/>
          </a:ln>
          <a:effectLst>
            <a:outerShdw blurRad="38100" dist="25400" dir="5400000" algn="bl" rotWithShape="0">
              <a:srgbClr val="000000">
                <a:alpha val="5000"/>
              </a:srgbClr>
            </a:outerShdw>
          </a:effectLst>
        </p:spPr>
        <p:txBody>
          <a:bodyPr/>
          <a:lstStyle/>
          <a:p>
            <a:endParaRPr lang="ja-JP" altLang="en-US"/>
          </a:p>
        </p:txBody>
      </p:sp>
      <p:sp>
        <p:nvSpPr>
          <p:cNvPr id="52" name="Shape 45"/>
          <p:cNvSpPr/>
          <p:nvPr/>
        </p:nvSpPr>
        <p:spPr>
          <a:xfrm>
            <a:off x="6448349" y="5081321"/>
            <a:ext cx="4895698" cy="19202"/>
          </a:xfrm>
          <a:prstGeom prst="rect">
            <a:avLst/>
          </a:prstGeom>
          <a:solidFill>
            <a:srgbClr val="F1F5F9"/>
          </a:solidFill>
          <a:ln/>
        </p:spPr>
        <p:txBody>
          <a:bodyPr/>
          <a:lstStyle/>
          <a:p>
            <a:endParaRPr lang="ja-JP" altLang="en-US"/>
          </a:p>
        </p:txBody>
      </p:sp>
      <p:sp>
        <p:nvSpPr>
          <p:cNvPr id="53" name="Shape 46"/>
          <p:cNvSpPr/>
          <p:nvPr/>
        </p:nvSpPr>
        <p:spPr>
          <a:xfrm>
            <a:off x="6448349" y="4585716"/>
            <a:ext cx="381305" cy="381305"/>
          </a:xfrm>
          <a:prstGeom prst="roundRect">
            <a:avLst>
              <a:gd name="adj" fmla="val 47962"/>
            </a:avLst>
          </a:prstGeom>
          <a:solidFill>
            <a:srgbClr val="F3E8FF"/>
          </a:solidFill>
          <a:ln/>
        </p:spPr>
        <p:txBody>
          <a:bodyPr/>
          <a:lstStyle/>
          <a:p>
            <a:endParaRPr lang="ja-JP" altLang="en-US"/>
          </a:p>
        </p:txBody>
      </p:sp>
      <p:pic>
        <p:nvPicPr>
          <p:cNvPr id="54" name="Image 5" descr="preencoded.png"/>
          <p:cNvPicPr>
            <a:picLocks noChangeAspect="1"/>
          </p:cNvPicPr>
          <p:nvPr/>
        </p:nvPicPr>
        <p:blipFill>
          <a:blip r:embed="rId8"/>
          <a:srcRect/>
          <a:stretch/>
        </p:blipFill>
        <p:spPr>
          <a:xfrm>
            <a:off x="6553505" y="4689958"/>
            <a:ext cx="171907" cy="171907"/>
          </a:xfrm>
          <a:prstGeom prst="rect">
            <a:avLst/>
          </a:prstGeom>
        </p:spPr>
      </p:pic>
      <p:sp>
        <p:nvSpPr>
          <p:cNvPr id="55" name="Text 47"/>
          <p:cNvSpPr txBox="1"/>
          <p:nvPr/>
        </p:nvSpPr>
        <p:spPr>
          <a:xfrm>
            <a:off x="6943954" y="4646981"/>
            <a:ext cx="2691079" cy="247802"/>
          </a:xfrm>
          <a:prstGeom prst="rect">
            <a:avLst/>
          </a:prstGeom>
          <a:noFill/>
          <a:ln/>
        </p:spPr>
        <p:txBody>
          <a:bodyPr wrap="square" lIns="0" tIns="0" rIns="0" bIns="0" rtlCol="0" anchor="ctr"/>
          <a:lstStyle/>
          <a:p>
            <a:pPr marL="0" indent="0" algn="l">
              <a:buNone/>
            </a:pPr>
            <a:r>
              <a:rPr lang="en-US" sz="1300" b="1" dirty="0">
                <a:solidFill>
                  <a:srgbClr val="5B21B6"/>
                </a:solidFill>
                <a:latin typeface="Noto Sans JP" pitchFamily="34" charset="0"/>
                <a:ea typeface="Noto Sans JP" pitchFamily="34" charset="-122"/>
                <a:cs typeface="Noto Sans JP" pitchFamily="34" charset="-120"/>
              </a:rPr>
              <a:t>コミュニティ・プラットフォーム</a:t>
            </a:r>
            <a:endParaRPr lang="en-US" sz="1300" dirty="0"/>
          </a:p>
        </p:txBody>
      </p:sp>
      <p:sp>
        <p:nvSpPr>
          <p:cNvPr id="56" name="Text 48"/>
          <p:cNvSpPr txBox="1"/>
          <p:nvPr/>
        </p:nvSpPr>
        <p:spPr>
          <a:xfrm>
            <a:off x="6448349" y="5252314"/>
            <a:ext cx="4996282" cy="400507"/>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目的： 組織を超えたナレッジ共有、Q&amp;Aの自己解決促進、モチベーション向上。大企業事例（日立・デンソー）でも成功の鍵。</a:t>
            </a:r>
            <a:endParaRPr lang="en-US" sz="1000" dirty="0"/>
          </a:p>
        </p:txBody>
      </p:sp>
      <p:sp>
        <p:nvSpPr>
          <p:cNvPr id="57" name="Shape 49"/>
          <p:cNvSpPr/>
          <p:nvPr/>
        </p:nvSpPr>
        <p:spPr>
          <a:xfrm>
            <a:off x="6448349" y="5766206"/>
            <a:ext cx="4895698" cy="552298"/>
          </a:xfrm>
          <a:prstGeom prst="roundRect">
            <a:avLst>
              <a:gd name="adj" fmla="val 17127"/>
            </a:avLst>
          </a:prstGeom>
          <a:solidFill>
            <a:srgbClr val="F5F3FF"/>
          </a:solidFill>
          <a:ln w="12700">
            <a:solidFill>
              <a:srgbClr val="E9D5FF"/>
            </a:solidFill>
            <a:prstDash val="solid"/>
          </a:ln>
        </p:spPr>
        <p:txBody>
          <a:bodyPr/>
          <a:lstStyle/>
          <a:p>
            <a:endParaRPr lang="ja-JP" altLang="en-US"/>
          </a:p>
        </p:txBody>
      </p:sp>
      <p:pic>
        <p:nvPicPr>
          <p:cNvPr id="58" name="Image 6" descr="preencoded.png"/>
          <p:cNvPicPr>
            <a:picLocks noChangeAspect="1"/>
          </p:cNvPicPr>
          <p:nvPr/>
        </p:nvPicPr>
        <p:blipFill>
          <a:blip r:embed="rId9"/>
          <a:srcRect l="-760" r="-760"/>
          <a:stretch/>
        </p:blipFill>
        <p:spPr>
          <a:xfrm>
            <a:off x="6553505" y="5957316"/>
            <a:ext cx="152705" cy="171907"/>
          </a:xfrm>
          <a:prstGeom prst="rect">
            <a:avLst/>
          </a:prstGeom>
        </p:spPr>
      </p:pic>
      <p:sp>
        <p:nvSpPr>
          <p:cNvPr id="59" name="Text 50"/>
          <p:cNvSpPr txBox="1"/>
          <p:nvPr/>
        </p:nvSpPr>
        <p:spPr>
          <a:xfrm>
            <a:off x="6819595" y="5871362"/>
            <a:ext cx="1922069" cy="181051"/>
          </a:xfrm>
          <a:prstGeom prst="rect">
            <a:avLst/>
          </a:prstGeom>
          <a:noFill/>
          <a:ln/>
        </p:spPr>
        <p:txBody>
          <a:bodyPr wrap="square" lIns="0" tIns="0" rIns="0" bIns="0" rtlCol="0" anchor="ctr"/>
          <a:lstStyle/>
          <a:p>
            <a:pPr marL="0" indent="0" algn="l">
              <a:buNone/>
            </a:pPr>
            <a:r>
              <a:rPr lang="en-US" sz="900" b="1" dirty="0">
                <a:solidFill>
                  <a:srgbClr val="5B21B6"/>
                </a:solidFill>
                <a:latin typeface="Noto Sans JP" pitchFamily="34" charset="0"/>
                <a:ea typeface="Noto Sans JP" pitchFamily="34" charset="-122"/>
                <a:cs typeface="Noto Sans JP" pitchFamily="34" charset="-120"/>
              </a:rPr>
              <a:t>Microsoft Teams / Viva Engage</a:t>
            </a:r>
            <a:endParaRPr lang="en-US" sz="900" dirty="0"/>
          </a:p>
        </p:txBody>
      </p:sp>
      <p:sp>
        <p:nvSpPr>
          <p:cNvPr id="60" name="Text 51"/>
          <p:cNvSpPr txBox="1"/>
          <p:nvPr/>
        </p:nvSpPr>
        <p:spPr>
          <a:xfrm>
            <a:off x="6819595" y="6056986"/>
            <a:ext cx="1859890" cy="152705"/>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全社員参加型コミュニティとして運用</a:t>
            </a:r>
            <a:endParaRPr lang="en-US" sz="800" dirty="0"/>
          </a:p>
        </p:txBody>
      </p:sp>
      <p:sp>
        <p:nvSpPr>
          <p:cNvPr id="61" name="Text 52"/>
          <p:cNvSpPr txBox="1"/>
          <p:nvPr/>
        </p:nvSpPr>
        <p:spPr>
          <a:xfrm>
            <a:off x="6448349" y="6509614"/>
            <a:ext cx="2581351"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運営：CoEが主導し、事業部リーダーが回答協力</a:t>
            </a:r>
            <a:endParaRPr lang="en-US" sz="900" dirty="0"/>
          </a:p>
        </p:txBody>
      </p:sp>
      <p:sp>
        <p:nvSpPr>
          <p:cNvPr id="62" name="Text 53"/>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27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181405"/>
          </a:xfrm>
          <a:prstGeom prst="rect">
            <a:avLst/>
          </a:prstGeom>
          <a:solidFill>
            <a:srgbClr val="FFFFFF"/>
          </a:solidFill>
          <a:ln/>
        </p:spPr>
        <p:txBody>
          <a:bodyPr/>
          <a:lstStyle/>
          <a:p>
            <a:endParaRPr lang="ja-JP" altLang="en-US"/>
          </a:p>
        </p:txBody>
      </p:sp>
      <p:sp>
        <p:nvSpPr>
          <p:cNvPr id="5" name="Shape 3"/>
          <p:cNvSpPr/>
          <p:nvPr/>
        </p:nvSpPr>
        <p:spPr>
          <a:xfrm>
            <a:off x="0" y="1172261"/>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267005"/>
            <a:ext cx="5725058" cy="438912"/>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調査概要：中央組織と事業部の役割分担</a:t>
            </a:r>
            <a:endParaRPr lang="en-US" sz="2400" dirty="0"/>
          </a:p>
        </p:txBody>
      </p:sp>
      <p:sp>
        <p:nvSpPr>
          <p:cNvPr id="7" name="Text 5"/>
          <p:cNvSpPr txBox="1"/>
          <p:nvPr/>
        </p:nvSpPr>
        <p:spPr>
          <a:xfrm>
            <a:off x="609905" y="747065"/>
            <a:ext cx="3924605" cy="228600"/>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他社ベストプラクティスに基づく最適な組織体制の検討</a:t>
            </a:r>
            <a:endParaRPr lang="en-US" sz="1200" dirty="0"/>
          </a:p>
        </p:txBody>
      </p:sp>
      <p:sp>
        <p:nvSpPr>
          <p:cNvPr id="8" name="Shape 6"/>
          <p:cNvSpPr/>
          <p:nvPr/>
        </p:nvSpPr>
        <p:spPr>
          <a:xfrm>
            <a:off x="10068458" y="661111"/>
            <a:ext cx="1514246" cy="314554"/>
          </a:xfrm>
          <a:prstGeom prst="roundRect">
            <a:avLst>
              <a:gd name="adj" fmla="val 176180"/>
            </a:avLst>
          </a:prstGeom>
          <a:solidFill>
            <a:srgbClr val="1E40AF"/>
          </a:solidFill>
          <a:ln/>
        </p:spPr>
        <p:txBody>
          <a:bodyPr/>
          <a:lstStyle/>
          <a:p>
            <a:endParaRPr lang="ja-JP" altLang="en-US"/>
          </a:p>
        </p:txBody>
      </p:sp>
      <p:sp>
        <p:nvSpPr>
          <p:cNvPr id="9" name="Text 7"/>
          <p:cNvSpPr txBox="1"/>
          <p:nvPr/>
        </p:nvSpPr>
        <p:spPr>
          <a:xfrm>
            <a:off x="10221163" y="717804"/>
            <a:ext cx="1310335" cy="191110"/>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JP" pitchFamily="34" charset="0"/>
                <a:ea typeface="Noto Sans JP" pitchFamily="34" charset="-122"/>
                <a:cs typeface="Noto Sans JP" pitchFamily="34" charset="-120"/>
              </a:rPr>
              <a:t>Survey Overview</a:t>
            </a:r>
            <a:endParaRPr lang="en-US" sz="1000" dirty="0"/>
          </a:p>
        </p:txBody>
      </p:sp>
      <p:sp>
        <p:nvSpPr>
          <p:cNvPr id="10" name="Shape 8"/>
          <p:cNvSpPr/>
          <p:nvPr/>
        </p:nvSpPr>
        <p:spPr>
          <a:xfrm>
            <a:off x="0" y="1175004"/>
            <a:ext cx="12191695" cy="5829300"/>
          </a:xfrm>
          <a:prstGeom prst="rect">
            <a:avLst/>
          </a:prstGeom>
          <a:solidFill>
            <a:srgbClr val="F8FAFC"/>
          </a:solidFill>
          <a:ln/>
        </p:spPr>
        <p:txBody>
          <a:bodyPr/>
          <a:lstStyle/>
          <a:p>
            <a:endParaRPr lang="ja-JP" altLang="en-US"/>
          </a:p>
        </p:txBody>
      </p:sp>
      <p:sp>
        <p:nvSpPr>
          <p:cNvPr id="11" name="Shape 9"/>
          <p:cNvSpPr/>
          <p:nvPr/>
        </p:nvSpPr>
        <p:spPr>
          <a:xfrm>
            <a:off x="609905" y="1480414"/>
            <a:ext cx="5372100" cy="2971800"/>
          </a:xfrm>
          <a:prstGeom prst="roundRect">
            <a:avLst>
              <a:gd name="adj" fmla="val 1578"/>
            </a:avLst>
          </a:prstGeom>
          <a:solidFill>
            <a:srgbClr val="FFFFFF"/>
          </a:solidFill>
          <a:ln w="12700">
            <a:solidFill>
              <a:srgbClr val="E2E8F0"/>
            </a:solidFill>
            <a:prstDash val="solid"/>
          </a:ln>
          <a:effectLst>
            <a:outerShdw blurRad="38100" dist="25400" dir="5400000" algn="bl" rotWithShape="0">
              <a:srgbClr val="000000">
                <a:alpha val="5000"/>
              </a:srgbClr>
            </a:outerShdw>
          </a:effectLst>
        </p:spPr>
        <p:txBody>
          <a:bodyPr/>
          <a:lstStyle/>
          <a:p>
            <a:endParaRPr lang="ja-JP" altLang="en-US"/>
          </a:p>
        </p:txBody>
      </p:sp>
      <p:sp>
        <p:nvSpPr>
          <p:cNvPr id="12" name="Shape 10"/>
          <p:cNvSpPr/>
          <p:nvPr/>
        </p:nvSpPr>
        <p:spPr>
          <a:xfrm>
            <a:off x="847649" y="2213762"/>
            <a:ext cx="4895698" cy="19202"/>
          </a:xfrm>
          <a:prstGeom prst="rect">
            <a:avLst/>
          </a:prstGeom>
          <a:solidFill>
            <a:srgbClr val="F1F5F9"/>
          </a:solidFill>
          <a:ln/>
        </p:spPr>
        <p:txBody>
          <a:bodyPr/>
          <a:lstStyle/>
          <a:p>
            <a:endParaRPr lang="ja-JP" altLang="en-US"/>
          </a:p>
        </p:txBody>
      </p:sp>
      <p:sp>
        <p:nvSpPr>
          <p:cNvPr id="13" name="Shape 11"/>
          <p:cNvSpPr/>
          <p:nvPr/>
        </p:nvSpPr>
        <p:spPr>
          <a:xfrm>
            <a:off x="847649" y="1718158"/>
            <a:ext cx="381305" cy="381305"/>
          </a:xfrm>
          <a:prstGeom prst="roundRect">
            <a:avLst>
              <a:gd name="adj" fmla="val 47962"/>
            </a:avLst>
          </a:prstGeom>
          <a:solidFill>
            <a:srgbClr val="EFF6FF"/>
          </a:solidFill>
          <a:ln/>
        </p:spPr>
        <p:txBody>
          <a:bodyPr/>
          <a:lstStyle/>
          <a:p>
            <a:endParaRPr lang="ja-JP" altLang="en-US"/>
          </a:p>
        </p:txBody>
      </p:sp>
      <p:pic>
        <p:nvPicPr>
          <p:cNvPr id="14" name="Image 0" descr="preencoded.png"/>
          <p:cNvPicPr>
            <a:picLocks noChangeAspect="1"/>
          </p:cNvPicPr>
          <p:nvPr/>
        </p:nvPicPr>
        <p:blipFill>
          <a:blip r:embed="rId3"/>
          <a:srcRect/>
          <a:stretch/>
        </p:blipFill>
        <p:spPr>
          <a:xfrm>
            <a:off x="952805" y="1823314"/>
            <a:ext cx="171907" cy="171907"/>
          </a:xfrm>
          <a:prstGeom prst="rect">
            <a:avLst/>
          </a:prstGeom>
        </p:spPr>
      </p:pic>
      <p:sp>
        <p:nvSpPr>
          <p:cNvPr id="15" name="Text 12"/>
          <p:cNvSpPr txBox="1"/>
          <p:nvPr/>
        </p:nvSpPr>
        <p:spPr>
          <a:xfrm>
            <a:off x="1343254" y="1780337"/>
            <a:ext cx="814730" cy="247802"/>
          </a:xfrm>
          <a:prstGeom prst="rect">
            <a:avLst/>
          </a:prstGeom>
          <a:noFill/>
          <a:ln/>
        </p:spPr>
        <p:txBody>
          <a:bodyPr wrap="square" lIns="0" tIns="0" rIns="0" bIns="0" rtlCol="0" anchor="ctr"/>
          <a:lstStyle/>
          <a:p>
            <a:pPr marL="0" indent="0" algn="l">
              <a:buNone/>
            </a:pPr>
            <a:r>
              <a:rPr lang="en-US" sz="1300" b="1" dirty="0">
                <a:solidFill>
                  <a:srgbClr val="1E40AF"/>
                </a:solidFill>
                <a:latin typeface="Noto Sans JP" pitchFamily="34" charset="0"/>
                <a:ea typeface="Noto Sans JP" pitchFamily="34" charset="-122"/>
                <a:cs typeface="Noto Sans JP" pitchFamily="34" charset="-120"/>
              </a:rPr>
              <a:t>調査目的</a:t>
            </a:r>
            <a:endParaRPr lang="en-US" sz="1300" dirty="0"/>
          </a:p>
        </p:txBody>
      </p:sp>
      <p:sp>
        <p:nvSpPr>
          <p:cNvPr id="16" name="Text 13"/>
          <p:cNvSpPr txBox="1"/>
          <p:nvPr/>
        </p:nvSpPr>
        <p:spPr>
          <a:xfrm>
            <a:off x="847649" y="2384755"/>
            <a:ext cx="5003597" cy="685800"/>
          </a:xfrm>
          <a:prstGeom prst="rect">
            <a:avLst/>
          </a:prstGeom>
          <a:noFill/>
          <a:ln/>
        </p:spPr>
        <p:txBody>
          <a:bodyPr wrap="square" lIns="0" tIns="0" rIns="0" bIns="0" rtlCol="0" anchor="ctr"/>
          <a:lstStyle/>
          <a:p>
            <a:pPr marL="0" indent="0" algn="l">
              <a:buNone/>
            </a:pPr>
            <a:r>
              <a:rPr lang="en-US" sz="1100" dirty="0">
                <a:solidFill>
                  <a:srgbClr val="4B5563"/>
                </a:solidFill>
                <a:latin typeface="Noto Sans JP" pitchFamily="34" charset="0"/>
                <a:ea typeface="Noto Sans JP" pitchFamily="34" charset="-122"/>
                <a:cs typeface="Noto Sans JP" pitchFamily="34" charset="-120"/>
              </a:rPr>
              <a:t>役割分担の最適化： 中央組織（CoE）と事業部の役割分担に関する具体的企業事例を収集・分析し、アイリスオーヤマに適したフレームワークを作成する。</a:t>
            </a:r>
            <a:endParaRPr lang="en-US" sz="1100" dirty="0"/>
          </a:p>
        </p:txBody>
      </p:sp>
      <p:sp>
        <p:nvSpPr>
          <p:cNvPr id="17" name="Text 14"/>
          <p:cNvSpPr txBox="1"/>
          <p:nvPr/>
        </p:nvSpPr>
        <p:spPr>
          <a:xfrm>
            <a:off x="847649" y="3184855"/>
            <a:ext cx="5003597" cy="457200"/>
          </a:xfrm>
          <a:prstGeom prst="rect">
            <a:avLst/>
          </a:prstGeom>
          <a:noFill/>
          <a:ln/>
        </p:spPr>
        <p:txBody>
          <a:bodyPr wrap="square" lIns="0" tIns="0" rIns="0" bIns="0" rtlCol="0" anchor="ctr"/>
          <a:lstStyle/>
          <a:p>
            <a:pPr marL="0" indent="0" algn="l">
              <a:buNone/>
            </a:pPr>
            <a:r>
              <a:rPr lang="en-US" sz="1100" dirty="0">
                <a:solidFill>
                  <a:srgbClr val="4B5563"/>
                </a:solidFill>
                <a:latin typeface="Noto Sans JP" pitchFamily="34" charset="0"/>
                <a:ea typeface="Noto Sans JP" pitchFamily="34" charset="-122"/>
                <a:cs typeface="Noto Sans JP" pitchFamily="34" charset="-120"/>
              </a:rPr>
              <a:t>定量効果の把握： 組織体制の違いがもたらす定量的な効果数値（時間削減、ユースケース数など）を含むベストプラクティスを整理する。</a:t>
            </a:r>
            <a:endParaRPr lang="en-US" sz="1100" dirty="0"/>
          </a:p>
        </p:txBody>
      </p:sp>
      <p:sp>
        <p:nvSpPr>
          <p:cNvPr id="18" name="Text 15"/>
          <p:cNvSpPr txBox="1"/>
          <p:nvPr/>
        </p:nvSpPr>
        <p:spPr>
          <a:xfrm>
            <a:off x="847649" y="3756355"/>
            <a:ext cx="5003597" cy="457200"/>
          </a:xfrm>
          <a:prstGeom prst="rect">
            <a:avLst/>
          </a:prstGeom>
          <a:noFill/>
          <a:ln/>
        </p:spPr>
        <p:txBody>
          <a:bodyPr wrap="square" lIns="0" tIns="0" rIns="0" bIns="0" rtlCol="0" anchor="ctr"/>
          <a:lstStyle/>
          <a:p>
            <a:pPr marL="0" indent="0" algn="l">
              <a:buNone/>
            </a:pPr>
            <a:r>
              <a:rPr lang="en-US" sz="1100" dirty="0">
                <a:solidFill>
                  <a:srgbClr val="4B5563"/>
                </a:solidFill>
                <a:latin typeface="Noto Sans JP" pitchFamily="34" charset="0"/>
                <a:ea typeface="Noto Sans JP" pitchFamily="34" charset="-122"/>
                <a:cs typeface="Noto Sans JP" pitchFamily="34" charset="-120"/>
              </a:rPr>
              <a:t>推奨モデルの提示： 収集した事例に基づき、全社的な一貫性と事業部の主体性を両立させる最適な組織構造パターンを提示する。</a:t>
            </a:r>
            <a:endParaRPr lang="en-US" sz="1100" dirty="0"/>
          </a:p>
        </p:txBody>
      </p:sp>
      <p:sp>
        <p:nvSpPr>
          <p:cNvPr id="28" name="Shape 24"/>
          <p:cNvSpPr/>
          <p:nvPr/>
        </p:nvSpPr>
        <p:spPr>
          <a:xfrm>
            <a:off x="6210605" y="1480414"/>
            <a:ext cx="5372100" cy="3768919"/>
          </a:xfrm>
          <a:prstGeom prst="roundRect">
            <a:avLst>
              <a:gd name="adj" fmla="val 512"/>
            </a:avLst>
          </a:prstGeom>
          <a:solidFill>
            <a:srgbClr val="FFFFFF"/>
          </a:solidFill>
          <a:ln w="12700">
            <a:solidFill>
              <a:srgbClr val="E2E8F0"/>
            </a:solidFill>
            <a:prstDash val="solid"/>
          </a:ln>
          <a:effectLst>
            <a:outerShdw blurRad="38100" dist="25400" dir="5400000" algn="bl" rotWithShape="0">
              <a:srgbClr val="000000">
                <a:alpha val="5000"/>
              </a:srgbClr>
            </a:outerShdw>
          </a:effectLst>
        </p:spPr>
        <p:txBody>
          <a:bodyPr/>
          <a:lstStyle/>
          <a:p>
            <a:endParaRPr lang="ja-JP" altLang="en-US"/>
          </a:p>
        </p:txBody>
      </p:sp>
      <p:sp>
        <p:nvSpPr>
          <p:cNvPr id="29" name="Shape 25"/>
          <p:cNvSpPr/>
          <p:nvPr/>
        </p:nvSpPr>
        <p:spPr>
          <a:xfrm>
            <a:off x="6448349" y="2213762"/>
            <a:ext cx="4895698" cy="19202"/>
          </a:xfrm>
          <a:prstGeom prst="rect">
            <a:avLst/>
          </a:prstGeom>
          <a:solidFill>
            <a:srgbClr val="F1F5F9"/>
          </a:solidFill>
          <a:ln/>
        </p:spPr>
        <p:txBody>
          <a:bodyPr/>
          <a:lstStyle/>
          <a:p>
            <a:endParaRPr lang="ja-JP" altLang="en-US"/>
          </a:p>
        </p:txBody>
      </p:sp>
      <p:sp>
        <p:nvSpPr>
          <p:cNvPr id="30" name="Shape 26"/>
          <p:cNvSpPr/>
          <p:nvPr/>
        </p:nvSpPr>
        <p:spPr>
          <a:xfrm>
            <a:off x="6448349" y="1718158"/>
            <a:ext cx="381305" cy="381305"/>
          </a:xfrm>
          <a:prstGeom prst="roundRect">
            <a:avLst>
              <a:gd name="adj" fmla="val 47962"/>
            </a:avLst>
          </a:prstGeom>
          <a:solidFill>
            <a:srgbClr val="ECFDF5"/>
          </a:solidFill>
          <a:ln/>
        </p:spPr>
        <p:txBody>
          <a:bodyPr/>
          <a:lstStyle/>
          <a:p>
            <a:endParaRPr lang="ja-JP" altLang="en-US"/>
          </a:p>
        </p:txBody>
      </p:sp>
      <p:pic>
        <p:nvPicPr>
          <p:cNvPr id="31" name="Image 2" descr="preencoded.png"/>
          <p:cNvPicPr>
            <a:picLocks noChangeAspect="1"/>
          </p:cNvPicPr>
          <p:nvPr/>
        </p:nvPicPr>
        <p:blipFill>
          <a:blip r:embed="rId4"/>
          <a:srcRect/>
          <a:stretch/>
        </p:blipFill>
        <p:spPr>
          <a:xfrm>
            <a:off x="6553505" y="1823314"/>
            <a:ext cx="171907" cy="171907"/>
          </a:xfrm>
          <a:prstGeom prst="rect">
            <a:avLst/>
          </a:prstGeom>
        </p:spPr>
      </p:pic>
      <p:sp>
        <p:nvSpPr>
          <p:cNvPr id="32" name="Text 27"/>
          <p:cNvSpPr txBox="1"/>
          <p:nvPr/>
        </p:nvSpPr>
        <p:spPr>
          <a:xfrm>
            <a:off x="6943954" y="1780337"/>
            <a:ext cx="814730" cy="247802"/>
          </a:xfrm>
          <a:prstGeom prst="rect">
            <a:avLst/>
          </a:prstGeom>
          <a:noFill/>
          <a:ln/>
        </p:spPr>
        <p:txBody>
          <a:bodyPr wrap="square" lIns="0" tIns="0" rIns="0" bIns="0" rtlCol="0" anchor="ctr"/>
          <a:lstStyle/>
          <a:p>
            <a:pPr marL="0" indent="0" algn="l">
              <a:buNone/>
            </a:pPr>
            <a:r>
              <a:rPr lang="en-US" sz="1300" b="1" dirty="0">
                <a:solidFill>
                  <a:srgbClr val="065F46"/>
                </a:solidFill>
                <a:latin typeface="Noto Sans JP" pitchFamily="34" charset="0"/>
                <a:ea typeface="Noto Sans JP" pitchFamily="34" charset="-122"/>
                <a:cs typeface="Noto Sans JP" pitchFamily="34" charset="-120"/>
              </a:rPr>
              <a:t>調査方法</a:t>
            </a:r>
            <a:endParaRPr lang="en-US" sz="1300" dirty="0"/>
          </a:p>
        </p:txBody>
      </p:sp>
      <p:sp>
        <p:nvSpPr>
          <p:cNvPr id="33" name="Text 28"/>
          <p:cNvSpPr txBox="1"/>
          <p:nvPr/>
        </p:nvSpPr>
        <p:spPr>
          <a:xfrm>
            <a:off x="6448349" y="2384755"/>
            <a:ext cx="5003597" cy="457200"/>
          </a:xfrm>
          <a:prstGeom prst="rect">
            <a:avLst/>
          </a:prstGeom>
          <a:noFill/>
          <a:ln/>
        </p:spPr>
        <p:txBody>
          <a:bodyPr wrap="square" lIns="0" tIns="0" rIns="0" bIns="0" rtlCol="0" anchor="ctr"/>
          <a:lstStyle/>
          <a:p>
            <a:pPr marL="0" indent="0" algn="l">
              <a:buNone/>
            </a:pPr>
            <a:r>
              <a:rPr lang="en-US" sz="1100" dirty="0">
                <a:solidFill>
                  <a:srgbClr val="4B5563"/>
                </a:solidFill>
                <a:latin typeface="Noto Sans JP" pitchFamily="34" charset="0"/>
                <a:ea typeface="Noto Sans JP" pitchFamily="34" charset="-122"/>
                <a:cs typeface="Noto Sans JP" pitchFamily="34" charset="-120"/>
              </a:rPr>
              <a:t>公開情報の分析： 企業の公式発表、プレスリリース、投資家向け資料（IR）、技術ブログ等の信頼できる一次情報を中心に分析。</a:t>
            </a:r>
            <a:endParaRPr lang="en-US" sz="1100" dirty="0"/>
          </a:p>
        </p:txBody>
      </p:sp>
      <p:sp>
        <p:nvSpPr>
          <p:cNvPr id="34" name="Text 29"/>
          <p:cNvSpPr txBox="1"/>
          <p:nvPr/>
        </p:nvSpPr>
        <p:spPr>
          <a:xfrm>
            <a:off x="6448349" y="2956255"/>
            <a:ext cx="5003597" cy="457200"/>
          </a:xfrm>
          <a:prstGeom prst="rect">
            <a:avLst/>
          </a:prstGeom>
          <a:noFill/>
          <a:ln/>
        </p:spPr>
        <p:txBody>
          <a:bodyPr wrap="square" lIns="0" tIns="0" rIns="0" bIns="0" rtlCol="0" anchor="ctr"/>
          <a:lstStyle/>
          <a:p>
            <a:pPr marL="0" indent="0" algn="l">
              <a:buNone/>
            </a:pPr>
            <a:r>
              <a:rPr lang="en-US" sz="1100" dirty="0">
                <a:solidFill>
                  <a:srgbClr val="4B5563"/>
                </a:solidFill>
                <a:latin typeface="Noto Sans JP" pitchFamily="34" charset="0"/>
                <a:ea typeface="Noto Sans JP" pitchFamily="34" charset="-122"/>
                <a:cs typeface="Noto Sans JP" pitchFamily="34" charset="-120"/>
              </a:rPr>
              <a:t>成功事例の抽出： 具体的な数値データ（導入規模、削減時間、開発ユースケース数など）が公表されている国内大手企業の事例を重点的に抽出。</a:t>
            </a:r>
            <a:endParaRPr lang="en-US" sz="1100" dirty="0"/>
          </a:p>
        </p:txBody>
      </p:sp>
      <p:sp>
        <p:nvSpPr>
          <p:cNvPr id="35" name="Text 30"/>
          <p:cNvSpPr txBox="1"/>
          <p:nvPr/>
        </p:nvSpPr>
        <p:spPr>
          <a:xfrm>
            <a:off x="6448349" y="3527755"/>
            <a:ext cx="5003597" cy="685800"/>
          </a:xfrm>
          <a:prstGeom prst="rect">
            <a:avLst/>
          </a:prstGeom>
          <a:noFill/>
          <a:ln/>
        </p:spPr>
        <p:txBody>
          <a:bodyPr wrap="square" lIns="0" tIns="0" rIns="0" bIns="0" rtlCol="0" anchor="ctr"/>
          <a:lstStyle/>
          <a:p>
            <a:pPr marL="0" indent="0" algn="l">
              <a:buNone/>
            </a:pPr>
            <a:r>
              <a:rPr lang="en-US" sz="1100" dirty="0">
                <a:solidFill>
                  <a:srgbClr val="4B5563"/>
                </a:solidFill>
                <a:latin typeface="Noto Sans JP" pitchFamily="34" charset="0"/>
                <a:ea typeface="Noto Sans JP" pitchFamily="34" charset="-122"/>
                <a:cs typeface="Noto Sans JP" pitchFamily="34" charset="-120"/>
              </a:rPr>
              <a:t>構造パターンの比較： 「中央集権型」「分散型」「ハイブリッド型（CoE）」の3つの組織モデルについて、メリット・デメリット・適用ケースを比較分析。</a:t>
            </a:r>
            <a:endParaRPr lang="en-US" sz="1100" dirty="0"/>
          </a:p>
        </p:txBody>
      </p:sp>
      <p:sp>
        <p:nvSpPr>
          <p:cNvPr id="36" name="Text 31"/>
          <p:cNvSpPr txBox="1"/>
          <p:nvPr/>
        </p:nvSpPr>
        <p:spPr>
          <a:xfrm>
            <a:off x="6448349" y="4327855"/>
            <a:ext cx="5003597" cy="457200"/>
          </a:xfrm>
          <a:prstGeom prst="rect">
            <a:avLst/>
          </a:prstGeom>
          <a:noFill/>
          <a:ln/>
        </p:spPr>
        <p:txBody>
          <a:bodyPr wrap="square" lIns="0" tIns="0" rIns="0" bIns="0" rtlCol="0" anchor="ctr"/>
          <a:lstStyle/>
          <a:p>
            <a:pPr marL="0" indent="0" algn="l">
              <a:buNone/>
            </a:pPr>
            <a:r>
              <a:rPr lang="en-US" sz="1100" dirty="0">
                <a:solidFill>
                  <a:srgbClr val="4B5563"/>
                </a:solidFill>
                <a:latin typeface="Noto Sans JP" pitchFamily="34" charset="0"/>
                <a:ea typeface="Noto Sans JP" pitchFamily="34" charset="-122"/>
                <a:cs typeface="Noto Sans JP" pitchFamily="34" charset="-120"/>
              </a:rPr>
              <a:t>業界レポートの参照： 調査会社やITベンダー（Microsoft等）が公開している業界レポートや導入事例集を参照し、客観性を担保。</a:t>
            </a:r>
            <a:endParaRPr lang="en-US" sz="1100" dirty="0"/>
          </a:p>
        </p:txBody>
      </p:sp>
      <p:sp>
        <p:nvSpPr>
          <p:cNvPr id="37" name="Text 32"/>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028700"/>
          </a:xfrm>
          <a:prstGeom prst="rect">
            <a:avLst/>
          </a:prstGeom>
          <a:solidFill>
            <a:srgbClr val="FFFFFF"/>
          </a:solidFill>
          <a:ln/>
        </p:spPr>
        <p:txBody>
          <a:bodyPr/>
          <a:lstStyle/>
          <a:p>
            <a:endParaRPr lang="ja-JP" altLang="en-US"/>
          </a:p>
        </p:txBody>
      </p:sp>
      <p:sp>
        <p:nvSpPr>
          <p:cNvPr id="5" name="Shape 3"/>
          <p:cNvSpPr/>
          <p:nvPr/>
        </p:nvSpPr>
        <p:spPr>
          <a:xfrm>
            <a:off x="0" y="1019556"/>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190195"/>
            <a:ext cx="4672584" cy="419710"/>
          </a:xfrm>
          <a:prstGeom prst="rect">
            <a:avLst/>
          </a:prstGeom>
          <a:noFill/>
          <a:ln/>
        </p:spPr>
        <p:txBody>
          <a:bodyPr wrap="square" lIns="0" tIns="0" rIns="0" bIns="0" rtlCol="0" anchor="ctr"/>
          <a:lstStyle/>
          <a:p>
            <a:pPr marL="0" indent="0" algn="l">
              <a:buNone/>
            </a:pPr>
            <a:r>
              <a:rPr lang="en-US" sz="2200" b="1" dirty="0">
                <a:solidFill>
                  <a:srgbClr val="1E3A8A"/>
                </a:solidFill>
                <a:latin typeface="Noto Sans JP" pitchFamily="34" charset="0"/>
                <a:ea typeface="Noto Sans JP" pitchFamily="34" charset="-122"/>
                <a:cs typeface="Noto Sans JP" pitchFamily="34" charset="-120"/>
              </a:rPr>
              <a:t>詳細KPI設計と部門別ユースケース</a:t>
            </a:r>
            <a:endParaRPr lang="en-US" sz="2200" dirty="0"/>
          </a:p>
        </p:txBody>
      </p:sp>
      <p:sp>
        <p:nvSpPr>
          <p:cNvPr id="7" name="Text 5"/>
          <p:cNvSpPr txBox="1"/>
          <p:nvPr/>
        </p:nvSpPr>
        <p:spPr>
          <a:xfrm>
            <a:off x="609905" y="629107"/>
            <a:ext cx="3710635" cy="191110"/>
          </a:xfrm>
          <a:prstGeom prst="rect">
            <a:avLst/>
          </a:prstGeom>
          <a:noFill/>
          <a:ln/>
        </p:spPr>
        <p:txBody>
          <a:bodyPr wrap="square" lIns="0" tIns="0" rIns="0" bIns="0" rtlCol="0" anchor="ctr"/>
          <a:lstStyle/>
          <a:p>
            <a:pPr marL="0" indent="0" algn="l">
              <a:buNone/>
            </a:pPr>
            <a:r>
              <a:rPr lang="en-US" sz="1000" dirty="0">
                <a:solidFill>
                  <a:srgbClr val="64748B"/>
                </a:solidFill>
                <a:latin typeface="Noto Sans JP" pitchFamily="34" charset="0"/>
                <a:ea typeface="Noto Sans JP" pitchFamily="34" charset="-122"/>
                <a:cs typeface="Noto Sans JP" pitchFamily="34" charset="-120"/>
              </a:rPr>
              <a:t>利用率80%達成に向けた目標設定と全部門への展開シナリオ</a:t>
            </a:r>
            <a:endParaRPr lang="en-US" sz="1000" dirty="0"/>
          </a:p>
        </p:txBody>
      </p:sp>
      <p:sp>
        <p:nvSpPr>
          <p:cNvPr id="8" name="Shape 6"/>
          <p:cNvSpPr/>
          <p:nvPr/>
        </p:nvSpPr>
        <p:spPr>
          <a:xfrm>
            <a:off x="9902952" y="580644"/>
            <a:ext cx="1686154" cy="247802"/>
          </a:xfrm>
          <a:prstGeom prst="roundRect">
            <a:avLst>
              <a:gd name="adj" fmla="val 227080"/>
            </a:avLst>
          </a:prstGeom>
          <a:solidFill>
            <a:srgbClr val="059669"/>
          </a:solidFill>
          <a:ln/>
        </p:spPr>
        <p:txBody>
          <a:bodyPr/>
          <a:lstStyle/>
          <a:p>
            <a:endParaRPr lang="ja-JP" altLang="en-US"/>
          </a:p>
        </p:txBody>
      </p:sp>
      <p:sp>
        <p:nvSpPr>
          <p:cNvPr id="9" name="Text 7"/>
          <p:cNvSpPr txBox="1"/>
          <p:nvPr/>
        </p:nvSpPr>
        <p:spPr>
          <a:xfrm>
            <a:off x="10017252" y="619049"/>
            <a:ext cx="1543507" cy="162763"/>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TARGET &amp; DEPLOYMENT</a:t>
            </a:r>
            <a:endParaRPr lang="en-US" sz="900" dirty="0"/>
          </a:p>
        </p:txBody>
      </p:sp>
      <p:sp>
        <p:nvSpPr>
          <p:cNvPr id="10" name="Shape 8"/>
          <p:cNvSpPr/>
          <p:nvPr/>
        </p:nvSpPr>
        <p:spPr>
          <a:xfrm>
            <a:off x="0" y="1028700"/>
            <a:ext cx="12191695" cy="5829300"/>
          </a:xfrm>
          <a:prstGeom prst="rect">
            <a:avLst/>
          </a:prstGeom>
          <a:solidFill>
            <a:srgbClr val="F8FAFC"/>
          </a:solidFill>
          <a:ln/>
        </p:spPr>
        <p:txBody>
          <a:bodyPr/>
          <a:lstStyle/>
          <a:p>
            <a:endParaRPr lang="ja-JP" altLang="en-US"/>
          </a:p>
        </p:txBody>
      </p:sp>
      <p:sp>
        <p:nvSpPr>
          <p:cNvPr id="11" name="Shape 9"/>
          <p:cNvSpPr/>
          <p:nvPr/>
        </p:nvSpPr>
        <p:spPr>
          <a:xfrm>
            <a:off x="609905" y="1257300"/>
            <a:ext cx="2600554" cy="1561795"/>
          </a:xfrm>
          <a:prstGeom prst="roundRect">
            <a:avLst>
              <a:gd name="adj" fmla="val 4284"/>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12" name="Text 10"/>
          <p:cNvSpPr txBox="1"/>
          <p:nvPr/>
        </p:nvSpPr>
        <p:spPr>
          <a:xfrm>
            <a:off x="771754" y="1466698"/>
            <a:ext cx="667512" cy="162763"/>
          </a:xfrm>
          <a:prstGeom prst="rect">
            <a:avLst/>
          </a:prstGeom>
          <a:noFill/>
          <a:ln/>
        </p:spPr>
        <p:txBody>
          <a:bodyPr wrap="square" lIns="0" tIns="0" rIns="0" bIns="0" rtlCol="0" anchor="ctr"/>
          <a:lstStyle/>
          <a:p>
            <a:pPr marL="0" indent="0" algn="l">
              <a:buNone/>
            </a:pPr>
            <a:r>
              <a:rPr lang="en-US" sz="900" b="1" dirty="0">
                <a:solidFill>
                  <a:srgbClr val="64748B"/>
                </a:solidFill>
                <a:latin typeface="Noto Sans JP" pitchFamily="34" charset="0"/>
                <a:ea typeface="Noto Sans JP" pitchFamily="34" charset="-122"/>
                <a:cs typeface="Noto Sans JP" pitchFamily="34" charset="-120"/>
              </a:rPr>
              <a:t>利用定着率</a:t>
            </a:r>
            <a:endParaRPr lang="en-US" sz="900" dirty="0"/>
          </a:p>
        </p:txBody>
      </p:sp>
      <p:sp>
        <p:nvSpPr>
          <p:cNvPr id="13" name="Shape 11"/>
          <p:cNvSpPr/>
          <p:nvPr/>
        </p:nvSpPr>
        <p:spPr>
          <a:xfrm>
            <a:off x="2781605" y="1419149"/>
            <a:ext cx="267005" cy="267005"/>
          </a:xfrm>
          <a:prstGeom prst="roundRect">
            <a:avLst>
              <a:gd name="adj" fmla="val 73385"/>
            </a:avLst>
          </a:prstGeom>
          <a:solidFill>
            <a:srgbClr val="EFF6FF"/>
          </a:solidFill>
          <a:ln/>
        </p:spPr>
        <p:txBody>
          <a:bodyPr/>
          <a:lstStyle/>
          <a:p>
            <a:endParaRPr lang="ja-JP" altLang="en-US"/>
          </a:p>
        </p:txBody>
      </p:sp>
      <p:pic>
        <p:nvPicPr>
          <p:cNvPr id="14" name="Image 0" descr="preencoded.png"/>
          <p:cNvPicPr>
            <a:picLocks noChangeAspect="1"/>
          </p:cNvPicPr>
          <p:nvPr/>
        </p:nvPicPr>
        <p:blipFill>
          <a:blip r:embed="rId3"/>
          <a:srcRect t="-180" b="-180"/>
          <a:stretch/>
        </p:blipFill>
        <p:spPr>
          <a:xfrm>
            <a:off x="2819095" y="1476756"/>
            <a:ext cx="190195" cy="152705"/>
          </a:xfrm>
          <a:prstGeom prst="rect">
            <a:avLst/>
          </a:prstGeom>
        </p:spPr>
      </p:pic>
      <p:sp>
        <p:nvSpPr>
          <p:cNvPr id="15" name="Text 12"/>
          <p:cNvSpPr txBox="1"/>
          <p:nvPr/>
        </p:nvSpPr>
        <p:spPr>
          <a:xfrm>
            <a:off x="771754" y="1705356"/>
            <a:ext cx="53401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80</a:t>
            </a:r>
            <a:endParaRPr lang="en-US" sz="2100" dirty="0"/>
          </a:p>
        </p:txBody>
      </p:sp>
      <p:sp>
        <p:nvSpPr>
          <p:cNvPr id="16" name="Text 13"/>
          <p:cNvSpPr txBox="1"/>
          <p:nvPr/>
        </p:nvSpPr>
        <p:spPr>
          <a:xfrm>
            <a:off x="1096366" y="1857146"/>
            <a:ext cx="234086" cy="191110"/>
          </a:xfrm>
          <a:prstGeom prst="rect">
            <a:avLst/>
          </a:prstGeom>
          <a:noFill/>
          <a:ln/>
        </p:spPr>
        <p:txBody>
          <a:bodyPr wrap="square" lIns="0" tIns="0" rIns="0" bIns="0" rtlCol="0" anchor="ctr"/>
          <a:lstStyle/>
          <a:p>
            <a:pPr marL="0" indent="0" algn="l">
              <a:buNone/>
            </a:pPr>
            <a:r>
              <a:rPr lang="en-US" sz="1000" b="1" dirty="0">
                <a:solidFill>
                  <a:srgbClr val="6B7280"/>
                </a:solidFill>
                <a:latin typeface="Noto Sans JP" pitchFamily="34" charset="0"/>
                <a:ea typeface="Noto Sans JP" pitchFamily="34" charset="-122"/>
                <a:cs typeface="Noto Sans JP" pitchFamily="34" charset="-120"/>
              </a:rPr>
              <a:t>%</a:t>
            </a:r>
            <a:endParaRPr lang="en-US" sz="1000" dirty="0"/>
          </a:p>
        </p:txBody>
      </p:sp>
      <p:sp>
        <p:nvSpPr>
          <p:cNvPr id="17" name="Text 14"/>
          <p:cNvSpPr txBox="1"/>
          <p:nvPr/>
        </p:nvSpPr>
        <p:spPr>
          <a:xfrm>
            <a:off x="771754" y="2029054"/>
            <a:ext cx="1448410" cy="162763"/>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月間アクティブユーザー率</a:t>
            </a:r>
            <a:endParaRPr lang="en-US" sz="900" dirty="0"/>
          </a:p>
        </p:txBody>
      </p:sp>
      <p:sp>
        <p:nvSpPr>
          <p:cNvPr id="18" name="Shape 15"/>
          <p:cNvSpPr/>
          <p:nvPr/>
        </p:nvSpPr>
        <p:spPr>
          <a:xfrm>
            <a:off x="771754" y="2200046"/>
            <a:ext cx="2276856" cy="9144"/>
          </a:xfrm>
          <a:prstGeom prst="rect">
            <a:avLst/>
          </a:prstGeom>
          <a:solidFill>
            <a:srgbClr val="E2E8F0"/>
          </a:solidFill>
          <a:ln/>
        </p:spPr>
        <p:txBody>
          <a:bodyPr/>
          <a:lstStyle/>
          <a:p>
            <a:endParaRPr lang="ja-JP" altLang="en-US"/>
          </a:p>
        </p:txBody>
      </p:sp>
      <p:sp>
        <p:nvSpPr>
          <p:cNvPr id="19" name="Text 16"/>
          <p:cNvSpPr txBox="1"/>
          <p:nvPr/>
        </p:nvSpPr>
        <p:spPr>
          <a:xfrm>
            <a:off x="771754" y="2305202"/>
            <a:ext cx="774497" cy="152705"/>
          </a:xfrm>
          <a:prstGeom prst="rect">
            <a:avLst/>
          </a:prstGeom>
          <a:noFill/>
          <a:ln/>
        </p:spPr>
        <p:txBody>
          <a:bodyPr wrap="square" lIns="0" tIns="0" rIns="0" bIns="0" rtlCol="0" anchor="ctr"/>
          <a:lstStyle/>
          <a:p>
            <a:pPr marL="0" indent="0" algn="l">
              <a:buNone/>
            </a:pPr>
            <a:r>
              <a:rPr lang="en-US" sz="800" dirty="0">
                <a:solidFill>
                  <a:srgbClr val="4B5563"/>
                </a:solidFill>
                <a:latin typeface="Noto Sans JP" pitchFamily="34" charset="0"/>
                <a:ea typeface="Noto Sans JP" pitchFamily="34" charset="-122"/>
                <a:cs typeface="Noto Sans JP" pitchFamily="34" charset="-120"/>
              </a:rPr>
              <a:t>週3回以上利用</a:t>
            </a:r>
            <a:endParaRPr lang="en-US" sz="800" dirty="0"/>
          </a:p>
        </p:txBody>
      </p:sp>
      <p:sp>
        <p:nvSpPr>
          <p:cNvPr id="20" name="Text 17"/>
          <p:cNvSpPr txBox="1"/>
          <p:nvPr/>
        </p:nvSpPr>
        <p:spPr>
          <a:xfrm>
            <a:off x="2823667" y="2305202"/>
            <a:ext cx="307238" cy="152705"/>
          </a:xfrm>
          <a:prstGeom prst="rect">
            <a:avLst/>
          </a:prstGeom>
          <a:noFill/>
          <a:ln/>
        </p:spPr>
        <p:txBody>
          <a:bodyPr wrap="square" lIns="0" tIns="0" rIns="0" bIns="0" rtlCol="0" anchor="ctr"/>
          <a:lstStyle/>
          <a:p>
            <a:pPr marL="0" indent="0" algn="l">
              <a:buNone/>
            </a:pPr>
            <a:r>
              <a:rPr lang="en-US" sz="800" b="1" dirty="0">
                <a:solidFill>
                  <a:srgbClr val="1E3A8A"/>
                </a:solidFill>
                <a:latin typeface="Noto Sans JP" pitchFamily="34" charset="0"/>
                <a:ea typeface="Noto Sans JP" pitchFamily="34" charset="-122"/>
                <a:cs typeface="Noto Sans JP" pitchFamily="34" charset="-120"/>
              </a:rPr>
              <a:t>60%</a:t>
            </a:r>
            <a:endParaRPr lang="en-US" sz="800" dirty="0"/>
          </a:p>
        </p:txBody>
      </p:sp>
      <p:sp>
        <p:nvSpPr>
          <p:cNvPr id="21" name="Text 18"/>
          <p:cNvSpPr txBox="1"/>
          <p:nvPr/>
        </p:nvSpPr>
        <p:spPr>
          <a:xfrm>
            <a:off x="771754" y="2499970"/>
            <a:ext cx="707746" cy="152705"/>
          </a:xfrm>
          <a:prstGeom prst="rect">
            <a:avLst/>
          </a:prstGeom>
          <a:noFill/>
          <a:ln/>
        </p:spPr>
        <p:txBody>
          <a:bodyPr wrap="square" lIns="0" tIns="0" rIns="0" bIns="0" rtlCol="0" anchor="ctr"/>
          <a:lstStyle/>
          <a:p>
            <a:pPr marL="0" indent="0" algn="l">
              <a:buNone/>
            </a:pPr>
            <a:r>
              <a:rPr lang="en-US" sz="800" dirty="0">
                <a:solidFill>
                  <a:srgbClr val="4B5563"/>
                </a:solidFill>
                <a:latin typeface="Noto Sans JP" pitchFamily="34" charset="0"/>
                <a:ea typeface="Noto Sans JP" pitchFamily="34" charset="-122"/>
                <a:cs typeface="Noto Sans JP" pitchFamily="34" charset="-120"/>
              </a:rPr>
              <a:t>継続利用意向</a:t>
            </a:r>
            <a:endParaRPr lang="en-US" sz="800" dirty="0"/>
          </a:p>
        </p:txBody>
      </p:sp>
      <p:sp>
        <p:nvSpPr>
          <p:cNvPr id="22" name="Text 19"/>
          <p:cNvSpPr txBox="1"/>
          <p:nvPr/>
        </p:nvSpPr>
        <p:spPr>
          <a:xfrm>
            <a:off x="2823667" y="2499970"/>
            <a:ext cx="307238" cy="152705"/>
          </a:xfrm>
          <a:prstGeom prst="rect">
            <a:avLst/>
          </a:prstGeom>
          <a:noFill/>
          <a:ln/>
        </p:spPr>
        <p:txBody>
          <a:bodyPr wrap="square" lIns="0" tIns="0" rIns="0" bIns="0" rtlCol="0" anchor="ctr"/>
          <a:lstStyle/>
          <a:p>
            <a:pPr marL="0" indent="0" algn="l">
              <a:buNone/>
            </a:pPr>
            <a:r>
              <a:rPr lang="en-US" sz="800" b="1" dirty="0">
                <a:solidFill>
                  <a:srgbClr val="1E3A8A"/>
                </a:solidFill>
                <a:latin typeface="Noto Sans JP" pitchFamily="34" charset="0"/>
                <a:ea typeface="Noto Sans JP" pitchFamily="34" charset="-122"/>
                <a:cs typeface="Noto Sans JP" pitchFamily="34" charset="-120"/>
              </a:rPr>
              <a:t>80%</a:t>
            </a:r>
            <a:endParaRPr lang="en-US" sz="800" dirty="0"/>
          </a:p>
        </p:txBody>
      </p:sp>
      <p:sp>
        <p:nvSpPr>
          <p:cNvPr id="25" name="Shape 22"/>
          <p:cNvSpPr/>
          <p:nvPr/>
        </p:nvSpPr>
        <p:spPr>
          <a:xfrm>
            <a:off x="3400654" y="1257300"/>
            <a:ext cx="2600554" cy="1561795"/>
          </a:xfrm>
          <a:prstGeom prst="roundRect">
            <a:avLst>
              <a:gd name="adj" fmla="val 4284"/>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26" name="Text 23"/>
          <p:cNvSpPr txBox="1"/>
          <p:nvPr/>
        </p:nvSpPr>
        <p:spPr>
          <a:xfrm>
            <a:off x="3562502" y="1466698"/>
            <a:ext cx="781812" cy="162763"/>
          </a:xfrm>
          <a:prstGeom prst="rect">
            <a:avLst/>
          </a:prstGeom>
          <a:noFill/>
          <a:ln/>
        </p:spPr>
        <p:txBody>
          <a:bodyPr wrap="square" lIns="0" tIns="0" rIns="0" bIns="0" rtlCol="0" anchor="ctr"/>
          <a:lstStyle/>
          <a:p>
            <a:pPr marL="0" indent="0" algn="l">
              <a:buNone/>
            </a:pPr>
            <a:r>
              <a:rPr lang="en-US" sz="900" b="1" dirty="0">
                <a:solidFill>
                  <a:srgbClr val="64748B"/>
                </a:solidFill>
                <a:latin typeface="Noto Sans JP" pitchFamily="34" charset="0"/>
                <a:ea typeface="Noto Sans JP" pitchFamily="34" charset="-122"/>
                <a:cs typeface="Noto Sans JP" pitchFamily="34" charset="-120"/>
              </a:rPr>
              <a:t>業務時間削減</a:t>
            </a:r>
            <a:endParaRPr lang="en-US" sz="900" dirty="0"/>
          </a:p>
        </p:txBody>
      </p:sp>
      <p:sp>
        <p:nvSpPr>
          <p:cNvPr id="27" name="Shape 24"/>
          <p:cNvSpPr/>
          <p:nvPr/>
        </p:nvSpPr>
        <p:spPr>
          <a:xfrm>
            <a:off x="5572354" y="1419149"/>
            <a:ext cx="267005" cy="267005"/>
          </a:xfrm>
          <a:prstGeom prst="roundRect">
            <a:avLst>
              <a:gd name="adj" fmla="val 73385"/>
            </a:avLst>
          </a:prstGeom>
          <a:solidFill>
            <a:srgbClr val="EFF6FF"/>
          </a:solidFill>
          <a:ln/>
        </p:spPr>
        <p:txBody>
          <a:bodyPr/>
          <a:lstStyle/>
          <a:p>
            <a:endParaRPr lang="ja-JP" altLang="en-US"/>
          </a:p>
        </p:txBody>
      </p:sp>
      <p:pic>
        <p:nvPicPr>
          <p:cNvPr id="28" name="Image 1" descr="preencoded.png"/>
          <p:cNvPicPr>
            <a:picLocks noChangeAspect="1"/>
          </p:cNvPicPr>
          <p:nvPr/>
        </p:nvPicPr>
        <p:blipFill>
          <a:blip r:embed="rId4"/>
          <a:srcRect/>
          <a:stretch/>
        </p:blipFill>
        <p:spPr>
          <a:xfrm>
            <a:off x="5629046" y="1476756"/>
            <a:ext cx="152705" cy="152705"/>
          </a:xfrm>
          <a:prstGeom prst="rect">
            <a:avLst/>
          </a:prstGeom>
        </p:spPr>
      </p:pic>
      <p:sp>
        <p:nvSpPr>
          <p:cNvPr id="29" name="Text 25"/>
          <p:cNvSpPr txBox="1"/>
          <p:nvPr/>
        </p:nvSpPr>
        <p:spPr>
          <a:xfrm>
            <a:off x="3562502" y="1705356"/>
            <a:ext cx="53401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20</a:t>
            </a:r>
            <a:endParaRPr lang="en-US" sz="2100" dirty="0"/>
          </a:p>
        </p:txBody>
      </p:sp>
      <p:sp>
        <p:nvSpPr>
          <p:cNvPr id="30" name="Text 26"/>
          <p:cNvSpPr txBox="1"/>
          <p:nvPr/>
        </p:nvSpPr>
        <p:spPr>
          <a:xfrm>
            <a:off x="3887114" y="1857146"/>
            <a:ext cx="234086" cy="191110"/>
          </a:xfrm>
          <a:prstGeom prst="rect">
            <a:avLst/>
          </a:prstGeom>
          <a:noFill/>
          <a:ln/>
        </p:spPr>
        <p:txBody>
          <a:bodyPr wrap="square" lIns="0" tIns="0" rIns="0" bIns="0" rtlCol="0" anchor="ctr"/>
          <a:lstStyle/>
          <a:p>
            <a:pPr marL="0" indent="0" algn="l">
              <a:buNone/>
            </a:pPr>
            <a:r>
              <a:rPr lang="en-US" sz="1000" b="1" dirty="0">
                <a:solidFill>
                  <a:srgbClr val="6B7280"/>
                </a:solidFill>
                <a:latin typeface="Noto Sans JP" pitchFamily="34" charset="0"/>
                <a:ea typeface="Noto Sans JP" pitchFamily="34" charset="-122"/>
                <a:cs typeface="Noto Sans JP" pitchFamily="34" charset="-120"/>
              </a:rPr>
              <a:t>%</a:t>
            </a:r>
            <a:endParaRPr lang="en-US" sz="1000" dirty="0"/>
          </a:p>
        </p:txBody>
      </p:sp>
      <p:sp>
        <p:nvSpPr>
          <p:cNvPr id="31" name="Text 27"/>
          <p:cNvSpPr txBox="1"/>
          <p:nvPr/>
        </p:nvSpPr>
        <p:spPr>
          <a:xfrm>
            <a:off x="3562502" y="2029054"/>
            <a:ext cx="1353312" cy="162763"/>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主要業務における削減率</a:t>
            </a:r>
            <a:endParaRPr lang="en-US" sz="900" dirty="0"/>
          </a:p>
        </p:txBody>
      </p:sp>
      <p:sp>
        <p:nvSpPr>
          <p:cNvPr id="32" name="Shape 28"/>
          <p:cNvSpPr/>
          <p:nvPr/>
        </p:nvSpPr>
        <p:spPr>
          <a:xfrm>
            <a:off x="3562502" y="2200046"/>
            <a:ext cx="2276856" cy="9144"/>
          </a:xfrm>
          <a:prstGeom prst="rect">
            <a:avLst/>
          </a:prstGeom>
          <a:solidFill>
            <a:srgbClr val="E2E8F0"/>
          </a:solidFill>
          <a:ln/>
        </p:spPr>
        <p:txBody>
          <a:bodyPr/>
          <a:lstStyle/>
          <a:p>
            <a:endParaRPr lang="ja-JP" altLang="en-US"/>
          </a:p>
        </p:txBody>
      </p:sp>
      <p:sp>
        <p:nvSpPr>
          <p:cNvPr id="33" name="Text 29"/>
          <p:cNvSpPr txBox="1"/>
          <p:nvPr/>
        </p:nvSpPr>
        <p:spPr>
          <a:xfrm>
            <a:off x="3562502" y="2305202"/>
            <a:ext cx="498348" cy="152705"/>
          </a:xfrm>
          <a:prstGeom prst="rect">
            <a:avLst/>
          </a:prstGeom>
          <a:noFill/>
          <a:ln/>
        </p:spPr>
        <p:txBody>
          <a:bodyPr wrap="square" lIns="0" tIns="0" rIns="0" bIns="0" rtlCol="0" anchor="ctr"/>
          <a:lstStyle/>
          <a:p>
            <a:pPr marL="0" indent="0" algn="l">
              <a:buNone/>
            </a:pPr>
            <a:r>
              <a:rPr lang="en-US" sz="800" dirty="0">
                <a:solidFill>
                  <a:srgbClr val="4B5563"/>
                </a:solidFill>
                <a:latin typeface="Noto Sans JP" pitchFamily="34" charset="0"/>
                <a:ea typeface="Noto Sans JP" pitchFamily="34" charset="-122"/>
                <a:cs typeface="Noto Sans JP" pitchFamily="34" charset="-120"/>
              </a:rPr>
              <a:t>文書作成</a:t>
            </a:r>
            <a:endParaRPr lang="en-US" sz="800" dirty="0"/>
          </a:p>
        </p:txBody>
      </p:sp>
      <p:sp>
        <p:nvSpPr>
          <p:cNvPr id="34" name="Text 30"/>
          <p:cNvSpPr txBox="1"/>
          <p:nvPr/>
        </p:nvSpPr>
        <p:spPr>
          <a:xfrm>
            <a:off x="5381244" y="2305202"/>
            <a:ext cx="545897" cy="152705"/>
          </a:xfrm>
          <a:prstGeom prst="rect">
            <a:avLst/>
          </a:prstGeom>
          <a:noFill/>
          <a:ln/>
        </p:spPr>
        <p:txBody>
          <a:bodyPr wrap="square" lIns="0" tIns="0" rIns="0" bIns="0" rtlCol="0" anchor="ctr"/>
          <a:lstStyle/>
          <a:p>
            <a:pPr marL="0" indent="0" algn="l">
              <a:buNone/>
            </a:pPr>
            <a:r>
              <a:rPr lang="en-US" sz="800" b="1" dirty="0">
                <a:solidFill>
                  <a:srgbClr val="1E3A8A"/>
                </a:solidFill>
                <a:latin typeface="Noto Sans JP" pitchFamily="34" charset="0"/>
                <a:ea typeface="Noto Sans JP" pitchFamily="34" charset="-122"/>
                <a:cs typeface="Noto Sans JP" pitchFamily="34" charset="-120"/>
              </a:rPr>
              <a:t>30% 削減</a:t>
            </a:r>
            <a:endParaRPr lang="en-US" sz="800" dirty="0"/>
          </a:p>
        </p:txBody>
      </p:sp>
      <p:sp>
        <p:nvSpPr>
          <p:cNvPr id="35" name="Text 31"/>
          <p:cNvSpPr txBox="1"/>
          <p:nvPr/>
        </p:nvSpPr>
        <p:spPr>
          <a:xfrm>
            <a:off x="3562502" y="2499970"/>
            <a:ext cx="602590" cy="152705"/>
          </a:xfrm>
          <a:prstGeom prst="rect">
            <a:avLst/>
          </a:prstGeom>
          <a:noFill/>
          <a:ln/>
        </p:spPr>
        <p:txBody>
          <a:bodyPr wrap="square" lIns="0" tIns="0" rIns="0" bIns="0" rtlCol="0" anchor="ctr"/>
          <a:lstStyle/>
          <a:p>
            <a:pPr marL="0" indent="0" algn="l">
              <a:buNone/>
            </a:pPr>
            <a:r>
              <a:rPr lang="en-US" sz="800" dirty="0">
                <a:solidFill>
                  <a:srgbClr val="4B5563"/>
                </a:solidFill>
                <a:latin typeface="Noto Sans JP" pitchFamily="34" charset="0"/>
                <a:ea typeface="Noto Sans JP" pitchFamily="34" charset="-122"/>
                <a:cs typeface="Noto Sans JP" pitchFamily="34" charset="-120"/>
              </a:rPr>
              <a:t>メール処理</a:t>
            </a:r>
            <a:endParaRPr lang="en-US" sz="800" dirty="0"/>
          </a:p>
        </p:txBody>
      </p:sp>
      <p:sp>
        <p:nvSpPr>
          <p:cNvPr id="36" name="Text 32"/>
          <p:cNvSpPr txBox="1"/>
          <p:nvPr/>
        </p:nvSpPr>
        <p:spPr>
          <a:xfrm>
            <a:off x="5381244" y="2499970"/>
            <a:ext cx="545897" cy="152705"/>
          </a:xfrm>
          <a:prstGeom prst="rect">
            <a:avLst/>
          </a:prstGeom>
          <a:noFill/>
          <a:ln/>
        </p:spPr>
        <p:txBody>
          <a:bodyPr wrap="square" lIns="0" tIns="0" rIns="0" bIns="0" rtlCol="0" anchor="ctr"/>
          <a:lstStyle/>
          <a:p>
            <a:pPr marL="0" indent="0" algn="l">
              <a:buNone/>
            </a:pPr>
            <a:r>
              <a:rPr lang="en-US" sz="800" b="1" dirty="0">
                <a:solidFill>
                  <a:srgbClr val="1E3A8A"/>
                </a:solidFill>
                <a:latin typeface="Noto Sans JP" pitchFamily="34" charset="0"/>
                <a:ea typeface="Noto Sans JP" pitchFamily="34" charset="-122"/>
                <a:cs typeface="Noto Sans JP" pitchFamily="34" charset="-120"/>
              </a:rPr>
              <a:t>25% 削減</a:t>
            </a:r>
            <a:endParaRPr lang="en-US" sz="800" dirty="0"/>
          </a:p>
        </p:txBody>
      </p:sp>
      <p:sp>
        <p:nvSpPr>
          <p:cNvPr id="39" name="Shape 35"/>
          <p:cNvSpPr/>
          <p:nvPr/>
        </p:nvSpPr>
        <p:spPr>
          <a:xfrm>
            <a:off x="6191402" y="1257300"/>
            <a:ext cx="2600554" cy="1561795"/>
          </a:xfrm>
          <a:prstGeom prst="roundRect">
            <a:avLst>
              <a:gd name="adj" fmla="val 4284"/>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40" name="Text 36"/>
          <p:cNvSpPr txBox="1"/>
          <p:nvPr/>
        </p:nvSpPr>
        <p:spPr>
          <a:xfrm>
            <a:off x="6353251" y="1466698"/>
            <a:ext cx="667512" cy="162763"/>
          </a:xfrm>
          <a:prstGeom prst="rect">
            <a:avLst/>
          </a:prstGeom>
          <a:noFill/>
          <a:ln/>
        </p:spPr>
        <p:txBody>
          <a:bodyPr wrap="square" lIns="0" tIns="0" rIns="0" bIns="0" rtlCol="0" anchor="ctr"/>
          <a:lstStyle/>
          <a:p>
            <a:pPr marL="0" indent="0" algn="l">
              <a:buNone/>
            </a:pPr>
            <a:r>
              <a:rPr lang="en-US" sz="900" b="1" dirty="0">
                <a:solidFill>
                  <a:srgbClr val="64748B"/>
                </a:solidFill>
                <a:latin typeface="Noto Sans JP" pitchFamily="34" charset="0"/>
                <a:ea typeface="Noto Sans JP" pitchFamily="34" charset="-122"/>
                <a:cs typeface="Noto Sans JP" pitchFamily="34" charset="-120"/>
              </a:rPr>
              <a:t>会議効率化</a:t>
            </a:r>
            <a:endParaRPr lang="en-US" sz="900" dirty="0"/>
          </a:p>
        </p:txBody>
      </p:sp>
      <p:sp>
        <p:nvSpPr>
          <p:cNvPr id="41" name="Shape 37"/>
          <p:cNvSpPr/>
          <p:nvPr/>
        </p:nvSpPr>
        <p:spPr>
          <a:xfrm>
            <a:off x="8363102" y="1419149"/>
            <a:ext cx="267005" cy="267005"/>
          </a:xfrm>
          <a:prstGeom prst="roundRect">
            <a:avLst>
              <a:gd name="adj" fmla="val 73385"/>
            </a:avLst>
          </a:prstGeom>
          <a:solidFill>
            <a:srgbClr val="EFF6FF"/>
          </a:solidFill>
          <a:ln/>
        </p:spPr>
        <p:txBody>
          <a:bodyPr/>
          <a:lstStyle/>
          <a:p>
            <a:endParaRPr lang="ja-JP" altLang="en-US"/>
          </a:p>
        </p:txBody>
      </p:sp>
      <p:pic>
        <p:nvPicPr>
          <p:cNvPr id="42" name="Image 2" descr="preencoded.png"/>
          <p:cNvPicPr>
            <a:picLocks noChangeAspect="1"/>
          </p:cNvPicPr>
          <p:nvPr/>
        </p:nvPicPr>
        <p:blipFill>
          <a:blip r:embed="rId5"/>
          <a:srcRect t="-180" b="-180"/>
          <a:stretch/>
        </p:blipFill>
        <p:spPr>
          <a:xfrm>
            <a:off x="8401507" y="1476756"/>
            <a:ext cx="190195" cy="152705"/>
          </a:xfrm>
          <a:prstGeom prst="rect">
            <a:avLst/>
          </a:prstGeom>
        </p:spPr>
      </p:pic>
      <p:sp>
        <p:nvSpPr>
          <p:cNvPr id="43" name="Text 38"/>
          <p:cNvSpPr txBox="1"/>
          <p:nvPr/>
        </p:nvSpPr>
        <p:spPr>
          <a:xfrm>
            <a:off x="6353251" y="1705356"/>
            <a:ext cx="53401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50</a:t>
            </a:r>
            <a:endParaRPr lang="en-US" sz="2100" dirty="0"/>
          </a:p>
        </p:txBody>
      </p:sp>
      <p:sp>
        <p:nvSpPr>
          <p:cNvPr id="44" name="Text 39"/>
          <p:cNvSpPr txBox="1"/>
          <p:nvPr/>
        </p:nvSpPr>
        <p:spPr>
          <a:xfrm>
            <a:off x="6677863" y="1857146"/>
            <a:ext cx="234086" cy="191110"/>
          </a:xfrm>
          <a:prstGeom prst="rect">
            <a:avLst/>
          </a:prstGeom>
          <a:noFill/>
          <a:ln/>
        </p:spPr>
        <p:txBody>
          <a:bodyPr wrap="square" lIns="0" tIns="0" rIns="0" bIns="0" rtlCol="0" anchor="ctr"/>
          <a:lstStyle/>
          <a:p>
            <a:pPr marL="0" indent="0" algn="l">
              <a:buNone/>
            </a:pPr>
            <a:r>
              <a:rPr lang="en-US" sz="1000" b="1" dirty="0">
                <a:solidFill>
                  <a:srgbClr val="6B7280"/>
                </a:solidFill>
                <a:latin typeface="Noto Sans JP" pitchFamily="34" charset="0"/>
                <a:ea typeface="Noto Sans JP" pitchFamily="34" charset="-122"/>
                <a:cs typeface="Noto Sans JP" pitchFamily="34" charset="-120"/>
              </a:rPr>
              <a:t>%</a:t>
            </a:r>
            <a:endParaRPr lang="en-US" sz="1000" dirty="0"/>
          </a:p>
        </p:txBody>
      </p:sp>
      <p:sp>
        <p:nvSpPr>
          <p:cNvPr id="45" name="Text 40"/>
          <p:cNvSpPr txBox="1"/>
          <p:nvPr/>
        </p:nvSpPr>
        <p:spPr>
          <a:xfrm>
            <a:off x="6353251" y="2029054"/>
            <a:ext cx="1239012" cy="162763"/>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議事録作成時間の削減</a:t>
            </a:r>
            <a:endParaRPr lang="en-US" sz="900" dirty="0"/>
          </a:p>
        </p:txBody>
      </p:sp>
      <p:sp>
        <p:nvSpPr>
          <p:cNvPr id="46" name="Shape 41"/>
          <p:cNvSpPr/>
          <p:nvPr/>
        </p:nvSpPr>
        <p:spPr>
          <a:xfrm>
            <a:off x="6353251" y="2200046"/>
            <a:ext cx="2276856" cy="9144"/>
          </a:xfrm>
          <a:prstGeom prst="rect">
            <a:avLst/>
          </a:prstGeom>
          <a:solidFill>
            <a:srgbClr val="E2E8F0"/>
          </a:solidFill>
          <a:ln/>
        </p:spPr>
        <p:txBody>
          <a:bodyPr/>
          <a:lstStyle/>
          <a:p>
            <a:endParaRPr lang="ja-JP" altLang="en-US"/>
          </a:p>
        </p:txBody>
      </p:sp>
      <p:sp>
        <p:nvSpPr>
          <p:cNvPr id="47" name="Text 42"/>
          <p:cNvSpPr txBox="1"/>
          <p:nvPr/>
        </p:nvSpPr>
        <p:spPr>
          <a:xfrm>
            <a:off x="6353251" y="2305202"/>
            <a:ext cx="498348" cy="152705"/>
          </a:xfrm>
          <a:prstGeom prst="rect">
            <a:avLst/>
          </a:prstGeom>
          <a:noFill/>
          <a:ln/>
        </p:spPr>
        <p:txBody>
          <a:bodyPr wrap="square" lIns="0" tIns="0" rIns="0" bIns="0" rtlCol="0" anchor="ctr"/>
          <a:lstStyle/>
          <a:p>
            <a:pPr marL="0" indent="0" algn="l">
              <a:buNone/>
            </a:pPr>
            <a:r>
              <a:rPr lang="en-US" sz="800" dirty="0">
                <a:solidFill>
                  <a:srgbClr val="4B5563"/>
                </a:solidFill>
                <a:latin typeface="Noto Sans JP" pitchFamily="34" charset="0"/>
                <a:ea typeface="Noto Sans JP" pitchFamily="34" charset="-122"/>
                <a:cs typeface="Noto Sans JP" pitchFamily="34" charset="-120"/>
              </a:rPr>
              <a:t>会議準備</a:t>
            </a:r>
            <a:endParaRPr lang="en-US" sz="800" dirty="0"/>
          </a:p>
        </p:txBody>
      </p:sp>
      <p:sp>
        <p:nvSpPr>
          <p:cNvPr id="48" name="Text 43"/>
          <p:cNvSpPr txBox="1"/>
          <p:nvPr/>
        </p:nvSpPr>
        <p:spPr>
          <a:xfrm>
            <a:off x="8210398" y="2305202"/>
            <a:ext cx="498348" cy="152705"/>
          </a:xfrm>
          <a:prstGeom prst="rect">
            <a:avLst/>
          </a:prstGeom>
          <a:noFill/>
          <a:ln/>
        </p:spPr>
        <p:txBody>
          <a:bodyPr wrap="square" lIns="0" tIns="0" rIns="0" bIns="0" rtlCol="0" anchor="ctr"/>
          <a:lstStyle/>
          <a:p>
            <a:pPr marL="0" indent="0" algn="l">
              <a:buNone/>
            </a:pPr>
            <a:r>
              <a:rPr lang="en-US" sz="800" b="1" dirty="0">
                <a:solidFill>
                  <a:srgbClr val="1E3A8A"/>
                </a:solidFill>
                <a:latin typeface="Noto Sans JP" pitchFamily="34" charset="0"/>
                <a:ea typeface="Noto Sans JP" pitchFamily="34" charset="-122"/>
                <a:cs typeface="Noto Sans JP" pitchFamily="34" charset="-120"/>
              </a:rPr>
              <a:t>大幅短縮</a:t>
            </a:r>
            <a:endParaRPr lang="en-US" sz="800" dirty="0"/>
          </a:p>
        </p:txBody>
      </p:sp>
      <p:sp>
        <p:nvSpPr>
          <p:cNvPr id="49" name="Text 44"/>
          <p:cNvSpPr txBox="1"/>
          <p:nvPr/>
        </p:nvSpPr>
        <p:spPr>
          <a:xfrm>
            <a:off x="6353251" y="2499970"/>
            <a:ext cx="917143" cy="152705"/>
          </a:xfrm>
          <a:prstGeom prst="rect">
            <a:avLst/>
          </a:prstGeom>
          <a:noFill/>
          <a:ln/>
        </p:spPr>
        <p:txBody>
          <a:bodyPr wrap="square" lIns="0" tIns="0" rIns="0" bIns="0" rtlCol="0" anchor="ctr"/>
          <a:lstStyle/>
          <a:p>
            <a:pPr marL="0" indent="0" algn="l">
              <a:buNone/>
            </a:pPr>
            <a:r>
              <a:rPr lang="en-US" sz="800" dirty="0">
                <a:solidFill>
                  <a:srgbClr val="4B5563"/>
                </a:solidFill>
                <a:latin typeface="Noto Sans JP" pitchFamily="34" charset="0"/>
                <a:ea typeface="Noto Sans JP" pitchFamily="34" charset="-122"/>
                <a:cs typeface="Noto Sans JP" pitchFamily="34" charset="-120"/>
              </a:rPr>
              <a:t>アクション明確化</a:t>
            </a:r>
            <a:endParaRPr lang="en-US" sz="800" dirty="0"/>
          </a:p>
        </p:txBody>
      </p:sp>
      <p:sp>
        <p:nvSpPr>
          <p:cNvPr id="50" name="Text 45"/>
          <p:cNvSpPr txBox="1"/>
          <p:nvPr/>
        </p:nvSpPr>
        <p:spPr>
          <a:xfrm>
            <a:off x="8419795" y="2499970"/>
            <a:ext cx="288950" cy="152705"/>
          </a:xfrm>
          <a:prstGeom prst="rect">
            <a:avLst/>
          </a:prstGeom>
          <a:noFill/>
          <a:ln/>
        </p:spPr>
        <p:txBody>
          <a:bodyPr wrap="square" lIns="0" tIns="0" rIns="0" bIns="0" rtlCol="0" anchor="ctr"/>
          <a:lstStyle/>
          <a:p>
            <a:pPr marL="0" indent="0" algn="l">
              <a:buNone/>
            </a:pPr>
            <a:r>
              <a:rPr lang="en-US" sz="800" b="1" dirty="0">
                <a:solidFill>
                  <a:srgbClr val="1E3A8A"/>
                </a:solidFill>
                <a:latin typeface="Noto Sans JP" pitchFamily="34" charset="0"/>
                <a:ea typeface="Noto Sans JP" pitchFamily="34" charset="-122"/>
                <a:cs typeface="Noto Sans JP" pitchFamily="34" charset="-120"/>
              </a:rPr>
              <a:t>即時</a:t>
            </a:r>
            <a:endParaRPr lang="en-US" sz="800" dirty="0"/>
          </a:p>
        </p:txBody>
      </p:sp>
      <p:sp>
        <p:nvSpPr>
          <p:cNvPr id="53" name="Shape 48"/>
          <p:cNvSpPr/>
          <p:nvPr/>
        </p:nvSpPr>
        <p:spPr>
          <a:xfrm>
            <a:off x="8982151" y="1257300"/>
            <a:ext cx="2600554" cy="1561795"/>
          </a:xfrm>
          <a:prstGeom prst="roundRect">
            <a:avLst>
              <a:gd name="adj" fmla="val 4284"/>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dirty="0"/>
          </a:p>
        </p:txBody>
      </p:sp>
      <p:sp>
        <p:nvSpPr>
          <p:cNvPr id="54" name="Text 49"/>
          <p:cNvSpPr txBox="1"/>
          <p:nvPr/>
        </p:nvSpPr>
        <p:spPr>
          <a:xfrm>
            <a:off x="9144000" y="1466698"/>
            <a:ext cx="914400" cy="162763"/>
          </a:xfrm>
          <a:prstGeom prst="rect">
            <a:avLst/>
          </a:prstGeom>
          <a:noFill/>
          <a:ln/>
        </p:spPr>
        <p:txBody>
          <a:bodyPr wrap="square" lIns="0" tIns="0" rIns="0" bIns="0" rtlCol="0" anchor="ctr"/>
          <a:lstStyle/>
          <a:p>
            <a:pPr marL="0" indent="0" algn="l">
              <a:buNone/>
            </a:pPr>
            <a:r>
              <a:rPr lang="en-US" sz="900" b="1" dirty="0">
                <a:solidFill>
                  <a:srgbClr val="64748B"/>
                </a:solidFill>
                <a:latin typeface="Noto Sans JP" pitchFamily="34" charset="0"/>
                <a:ea typeface="Noto Sans JP" pitchFamily="34" charset="-122"/>
                <a:cs typeface="Noto Sans JP" pitchFamily="34" charset="-120"/>
              </a:rPr>
              <a:t>従業員体験 (EX)</a:t>
            </a:r>
            <a:endParaRPr lang="en-US" sz="900" dirty="0"/>
          </a:p>
        </p:txBody>
      </p:sp>
      <p:sp>
        <p:nvSpPr>
          <p:cNvPr id="55" name="Shape 50"/>
          <p:cNvSpPr/>
          <p:nvPr/>
        </p:nvSpPr>
        <p:spPr>
          <a:xfrm>
            <a:off x="11153851" y="1419149"/>
            <a:ext cx="267005" cy="267005"/>
          </a:xfrm>
          <a:prstGeom prst="roundRect">
            <a:avLst>
              <a:gd name="adj" fmla="val 73385"/>
            </a:avLst>
          </a:prstGeom>
          <a:solidFill>
            <a:srgbClr val="EFF6FF"/>
          </a:solidFill>
          <a:ln/>
        </p:spPr>
        <p:txBody>
          <a:bodyPr/>
          <a:lstStyle/>
          <a:p>
            <a:endParaRPr lang="ja-JP" altLang="en-US"/>
          </a:p>
        </p:txBody>
      </p:sp>
      <p:pic>
        <p:nvPicPr>
          <p:cNvPr id="56" name="Image 3" descr="preencoded.png"/>
          <p:cNvPicPr>
            <a:picLocks noChangeAspect="1"/>
          </p:cNvPicPr>
          <p:nvPr/>
        </p:nvPicPr>
        <p:blipFill>
          <a:blip r:embed="rId6"/>
          <a:srcRect/>
          <a:stretch/>
        </p:blipFill>
        <p:spPr>
          <a:xfrm>
            <a:off x="11210544" y="1476756"/>
            <a:ext cx="152705" cy="152705"/>
          </a:xfrm>
          <a:prstGeom prst="rect">
            <a:avLst/>
          </a:prstGeom>
        </p:spPr>
      </p:pic>
      <p:sp>
        <p:nvSpPr>
          <p:cNvPr id="57" name="Text 51"/>
          <p:cNvSpPr txBox="1"/>
          <p:nvPr/>
        </p:nvSpPr>
        <p:spPr>
          <a:xfrm>
            <a:off x="9144000" y="1705356"/>
            <a:ext cx="619963"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4.0</a:t>
            </a:r>
            <a:endParaRPr lang="en-US" sz="2100" dirty="0"/>
          </a:p>
        </p:txBody>
      </p:sp>
      <p:sp>
        <p:nvSpPr>
          <p:cNvPr id="58" name="Text 52"/>
          <p:cNvSpPr txBox="1"/>
          <p:nvPr/>
        </p:nvSpPr>
        <p:spPr>
          <a:xfrm>
            <a:off x="9562795" y="1857146"/>
            <a:ext cx="357530" cy="191110"/>
          </a:xfrm>
          <a:prstGeom prst="rect">
            <a:avLst/>
          </a:prstGeom>
          <a:noFill/>
          <a:ln/>
        </p:spPr>
        <p:txBody>
          <a:bodyPr wrap="square" lIns="0" tIns="0" rIns="0" bIns="0" rtlCol="0" anchor="ctr"/>
          <a:lstStyle/>
          <a:p>
            <a:pPr marL="0" indent="0" algn="l">
              <a:buNone/>
            </a:pPr>
            <a:r>
              <a:rPr lang="en-US" sz="1000" b="1" dirty="0">
                <a:solidFill>
                  <a:srgbClr val="6B7280"/>
                </a:solidFill>
                <a:latin typeface="Noto Sans JP" pitchFamily="34" charset="0"/>
                <a:ea typeface="Noto Sans JP" pitchFamily="34" charset="-122"/>
                <a:cs typeface="Noto Sans JP" pitchFamily="34" charset="-120"/>
              </a:rPr>
              <a:t>/5.0</a:t>
            </a:r>
            <a:endParaRPr lang="en-US" sz="1000" dirty="0"/>
          </a:p>
        </p:txBody>
      </p:sp>
      <p:sp>
        <p:nvSpPr>
          <p:cNvPr id="59" name="Text 53"/>
          <p:cNvSpPr txBox="1"/>
          <p:nvPr/>
        </p:nvSpPr>
        <p:spPr>
          <a:xfrm>
            <a:off x="9144000" y="2029054"/>
            <a:ext cx="1124712" cy="162763"/>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利用者満足度スコア</a:t>
            </a:r>
            <a:endParaRPr lang="en-US" sz="900" dirty="0"/>
          </a:p>
        </p:txBody>
      </p:sp>
      <p:sp>
        <p:nvSpPr>
          <p:cNvPr id="60" name="Shape 54"/>
          <p:cNvSpPr/>
          <p:nvPr/>
        </p:nvSpPr>
        <p:spPr>
          <a:xfrm>
            <a:off x="9144000" y="2200046"/>
            <a:ext cx="2276856" cy="9144"/>
          </a:xfrm>
          <a:prstGeom prst="rect">
            <a:avLst/>
          </a:prstGeom>
          <a:solidFill>
            <a:srgbClr val="E2E8F0"/>
          </a:solidFill>
          <a:ln/>
        </p:spPr>
        <p:txBody>
          <a:bodyPr/>
          <a:lstStyle/>
          <a:p>
            <a:endParaRPr lang="ja-JP" altLang="en-US"/>
          </a:p>
        </p:txBody>
      </p:sp>
      <p:sp>
        <p:nvSpPr>
          <p:cNvPr id="61" name="Text 55"/>
          <p:cNvSpPr txBox="1"/>
          <p:nvPr/>
        </p:nvSpPr>
        <p:spPr>
          <a:xfrm>
            <a:off x="9144000" y="2305202"/>
            <a:ext cx="802843" cy="152705"/>
          </a:xfrm>
          <a:prstGeom prst="rect">
            <a:avLst/>
          </a:prstGeom>
          <a:noFill/>
          <a:ln/>
        </p:spPr>
        <p:txBody>
          <a:bodyPr wrap="square" lIns="0" tIns="0" rIns="0" bIns="0" rtlCol="0" anchor="ctr"/>
          <a:lstStyle/>
          <a:p>
            <a:pPr marL="0" indent="0" algn="l">
              <a:buNone/>
            </a:pPr>
            <a:r>
              <a:rPr lang="en-US" sz="800" dirty="0">
                <a:solidFill>
                  <a:srgbClr val="4B5563"/>
                </a:solidFill>
                <a:latin typeface="Noto Sans JP" pitchFamily="34" charset="0"/>
                <a:ea typeface="Noto Sans JP" pitchFamily="34" charset="-122"/>
                <a:cs typeface="Noto Sans JP" pitchFamily="34" charset="-120"/>
              </a:rPr>
              <a:t>NPS (推奨意向)</a:t>
            </a:r>
            <a:endParaRPr lang="en-US" sz="800" dirty="0"/>
          </a:p>
        </p:txBody>
      </p:sp>
      <p:sp>
        <p:nvSpPr>
          <p:cNvPr id="62" name="Text 56"/>
          <p:cNvSpPr txBox="1"/>
          <p:nvPr/>
        </p:nvSpPr>
        <p:spPr>
          <a:xfrm>
            <a:off x="11235233" y="2305202"/>
            <a:ext cx="269748" cy="152705"/>
          </a:xfrm>
          <a:prstGeom prst="rect">
            <a:avLst/>
          </a:prstGeom>
          <a:noFill/>
          <a:ln/>
        </p:spPr>
        <p:txBody>
          <a:bodyPr wrap="square" lIns="0" tIns="0" rIns="0" bIns="0" rtlCol="0" anchor="ctr"/>
          <a:lstStyle/>
          <a:p>
            <a:pPr marL="0" indent="0" algn="l">
              <a:buNone/>
            </a:pPr>
            <a:r>
              <a:rPr lang="en-US" sz="800" b="1" dirty="0">
                <a:solidFill>
                  <a:srgbClr val="1E3A8A"/>
                </a:solidFill>
                <a:latin typeface="Noto Sans JP" pitchFamily="34" charset="0"/>
                <a:ea typeface="Noto Sans JP" pitchFamily="34" charset="-122"/>
                <a:cs typeface="Noto Sans JP" pitchFamily="34" charset="-120"/>
              </a:rPr>
              <a:t>70+</a:t>
            </a:r>
            <a:endParaRPr lang="en-US" sz="800" dirty="0"/>
          </a:p>
        </p:txBody>
      </p:sp>
      <p:sp>
        <p:nvSpPr>
          <p:cNvPr id="63" name="Text 57"/>
          <p:cNvSpPr txBox="1"/>
          <p:nvPr/>
        </p:nvSpPr>
        <p:spPr>
          <a:xfrm>
            <a:off x="9144000" y="2499970"/>
            <a:ext cx="707746" cy="152705"/>
          </a:xfrm>
          <a:prstGeom prst="rect">
            <a:avLst/>
          </a:prstGeom>
          <a:noFill/>
          <a:ln/>
        </p:spPr>
        <p:txBody>
          <a:bodyPr wrap="square" lIns="0" tIns="0" rIns="0" bIns="0" rtlCol="0" anchor="ctr"/>
          <a:lstStyle/>
          <a:p>
            <a:pPr marL="0" indent="0" algn="l">
              <a:buNone/>
            </a:pPr>
            <a:r>
              <a:rPr lang="en-US" sz="800" dirty="0">
                <a:solidFill>
                  <a:srgbClr val="4B5563"/>
                </a:solidFill>
                <a:latin typeface="Noto Sans JP" pitchFamily="34" charset="0"/>
                <a:ea typeface="Noto Sans JP" pitchFamily="34" charset="-122"/>
                <a:cs typeface="Noto Sans JP" pitchFamily="34" charset="-120"/>
              </a:rPr>
              <a:t>業務効率実感</a:t>
            </a:r>
            <a:endParaRPr lang="en-US" sz="800" dirty="0"/>
          </a:p>
        </p:txBody>
      </p:sp>
      <p:sp>
        <p:nvSpPr>
          <p:cNvPr id="64" name="Text 58"/>
          <p:cNvSpPr txBox="1"/>
          <p:nvPr/>
        </p:nvSpPr>
        <p:spPr>
          <a:xfrm>
            <a:off x="10986516" y="2499970"/>
            <a:ext cx="517550" cy="152705"/>
          </a:xfrm>
          <a:prstGeom prst="rect">
            <a:avLst/>
          </a:prstGeom>
          <a:noFill/>
          <a:ln/>
        </p:spPr>
        <p:txBody>
          <a:bodyPr wrap="square" lIns="0" tIns="0" rIns="0" bIns="0" rtlCol="0" anchor="ctr"/>
          <a:lstStyle/>
          <a:p>
            <a:pPr marL="0" indent="0" algn="l">
              <a:buNone/>
            </a:pPr>
            <a:r>
              <a:rPr lang="en-US" sz="800" b="1" dirty="0">
                <a:solidFill>
                  <a:srgbClr val="1E3A8A"/>
                </a:solidFill>
                <a:latin typeface="Noto Sans JP" pitchFamily="34" charset="0"/>
                <a:ea typeface="Noto Sans JP" pitchFamily="34" charset="-122"/>
                <a:cs typeface="Noto Sans JP" pitchFamily="34" charset="-120"/>
              </a:rPr>
              <a:t>70%以上</a:t>
            </a:r>
            <a:endParaRPr lang="en-US" sz="800" dirty="0"/>
          </a:p>
        </p:txBody>
      </p:sp>
      <p:sp>
        <p:nvSpPr>
          <p:cNvPr id="67" name="Shape 61"/>
          <p:cNvSpPr/>
          <p:nvPr/>
        </p:nvSpPr>
        <p:spPr>
          <a:xfrm>
            <a:off x="609905" y="3047695"/>
            <a:ext cx="10972800" cy="3581705"/>
          </a:xfrm>
          <a:prstGeom prst="roundRect">
            <a:avLst>
              <a:gd name="adj" fmla="val 815"/>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68" name="Shape 62"/>
          <p:cNvSpPr/>
          <p:nvPr/>
        </p:nvSpPr>
        <p:spPr>
          <a:xfrm>
            <a:off x="619049" y="3057754"/>
            <a:ext cx="10953598" cy="437998"/>
          </a:xfrm>
          <a:prstGeom prst="rect">
            <a:avLst/>
          </a:prstGeom>
          <a:solidFill>
            <a:srgbClr val="F8FAFC"/>
          </a:solidFill>
          <a:ln/>
        </p:spPr>
        <p:txBody>
          <a:bodyPr/>
          <a:lstStyle/>
          <a:p>
            <a:endParaRPr lang="ja-JP" altLang="en-US"/>
          </a:p>
        </p:txBody>
      </p:sp>
      <p:sp>
        <p:nvSpPr>
          <p:cNvPr id="69" name="Shape 63"/>
          <p:cNvSpPr/>
          <p:nvPr/>
        </p:nvSpPr>
        <p:spPr>
          <a:xfrm>
            <a:off x="619049" y="3486607"/>
            <a:ext cx="10953598" cy="9144"/>
          </a:xfrm>
          <a:prstGeom prst="rect">
            <a:avLst/>
          </a:prstGeom>
          <a:solidFill>
            <a:srgbClr val="E2E8F0"/>
          </a:solidFill>
          <a:ln/>
        </p:spPr>
        <p:txBody>
          <a:bodyPr/>
          <a:lstStyle/>
          <a:p>
            <a:endParaRPr lang="ja-JP" altLang="en-US"/>
          </a:p>
        </p:txBody>
      </p:sp>
      <p:pic>
        <p:nvPicPr>
          <p:cNvPr id="70" name="Image 4" descr="preencoded.png"/>
          <p:cNvPicPr>
            <a:picLocks noChangeAspect="1"/>
          </p:cNvPicPr>
          <p:nvPr/>
        </p:nvPicPr>
        <p:blipFill>
          <a:blip r:embed="rId7"/>
          <a:srcRect/>
          <a:stretch/>
        </p:blipFill>
        <p:spPr>
          <a:xfrm>
            <a:off x="809244" y="3195828"/>
            <a:ext cx="152705" cy="152705"/>
          </a:xfrm>
          <a:prstGeom prst="rect">
            <a:avLst/>
          </a:prstGeom>
        </p:spPr>
      </p:pic>
      <p:sp>
        <p:nvSpPr>
          <p:cNvPr id="71" name="Text 64"/>
          <p:cNvSpPr txBox="1"/>
          <p:nvPr/>
        </p:nvSpPr>
        <p:spPr>
          <a:xfrm>
            <a:off x="1057046" y="3172054"/>
            <a:ext cx="3158338" cy="191110"/>
          </a:xfrm>
          <a:prstGeom prst="rect">
            <a:avLst/>
          </a:prstGeom>
          <a:noFill/>
          <a:ln/>
        </p:spPr>
        <p:txBody>
          <a:bodyPr wrap="square" lIns="0" tIns="0" rIns="0" bIns="0" rtlCol="0" anchor="ctr"/>
          <a:lstStyle/>
          <a:p>
            <a:pPr marL="0" indent="0" algn="l">
              <a:buNone/>
            </a:pPr>
            <a:r>
              <a:rPr lang="en-US" sz="1000" b="1" dirty="0">
                <a:solidFill>
                  <a:srgbClr val="334155"/>
                </a:solidFill>
                <a:latin typeface="Noto Sans JP" pitchFamily="34" charset="0"/>
                <a:ea typeface="Noto Sans JP" pitchFamily="34" charset="-122"/>
                <a:cs typeface="Noto Sans JP" pitchFamily="34" charset="-120"/>
              </a:rPr>
              <a:t>部門別ユースケースと期待効果（削減ターゲット）</a:t>
            </a:r>
            <a:endParaRPr lang="en-US" sz="1000" dirty="0"/>
          </a:p>
        </p:txBody>
      </p:sp>
      <p:sp>
        <p:nvSpPr>
          <p:cNvPr id="72" name="Shape 65"/>
          <p:cNvSpPr/>
          <p:nvPr/>
        </p:nvSpPr>
        <p:spPr>
          <a:xfrm>
            <a:off x="619049" y="3495751"/>
            <a:ext cx="3657600" cy="1561795"/>
          </a:xfrm>
          <a:prstGeom prst="rect">
            <a:avLst/>
          </a:prstGeom>
          <a:noFill/>
          <a:ln w="12700">
            <a:solidFill>
              <a:srgbClr val="F1F5F9"/>
            </a:solidFill>
            <a:prstDash val="solid"/>
          </a:ln>
        </p:spPr>
        <p:txBody>
          <a:bodyPr/>
          <a:lstStyle/>
          <a:p>
            <a:endParaRPr lang="ja-JP" altLang="en-US"/>
          </a:p>
        </p:txBody>
      </p:sp>
      <p:pic>
        <p:nvPicPr>
          <p:cNvPr id="73" name="Image 5" descr="preencoded.png"/>
          <p:cNvPicPr>
            <a:picLocks noChangeAspect="1"/>
          </p:cNvPicPr>
          <p:nvPr/>
        </p:nvPicPr>
        <p:blipFill>
          <a:blip r:embed="rId8"/>
          <a:srcRect/>
          <a:stretch/>
        </p:blipFill>
        <p:spPr>
          <a:xfrm>
            <a:off x="771754" y="3681374"/>
            <a:ext cx="133502" cy="133502"/>
          </a:xfrm>
          <a:prstGeom prst="rect">
            <a:avLst/>
          </a:prstGeom>
        </p:spPr>
      </p:pic>
      <p:sp>
        <p:nvSpPr>
          <p:cNvPr id="74" name="Text 66"/>
          <p:cNvSpPr txBox="1"/>
          <p:nvPr/>
        </p:nvSpPr>
        <p:spPr>
          <a:xfrm>
            <a:off x="981151" y="3648456"/>
            <a:ext cx="633679" cy="200254"/>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営業本部</a:t>
            </a:r>
            <a:endParaRPr lang="en-US" sz="1000" dirty="0"/>
          </a:p>
        </p:txBody>
      </p:sp>
      <p:sp>
        <p:nvSpPr>
          <p:cNvPr id="75" name="Shape 67"/>
          <p:cNvSpPr/>
          <p:nvPr/>
        </p:nvSpPr>
        <p:spPr>
          <a:xfrm>
            <a:off x="3692347" y="3648456"/>
            <a:ext cx="418795" cy="200254"/>
          </a:xfrm>
          <a:prstGeom prst="roundRect">
            <a:avLst>
              <a:gd name="adj" fmla="val 217438"/>
            </a:avLst>
          </a:prstGeom>
          <a:solidFill>
            <a:srgbClr val="F0FDF4"/>
          </a:solidFill>
          <a:ln w="12700">
            <a:solidFill>
              <a:srgbClr val="BBF7D0"/>
            </a:solidFill>
            <a:prstDash val="solid"/>
          </a:ln>
        </p:spPr>
        <p:txBody>
          <a:bodyPr/>
          <a:lstStyle/>
          <a:p>
            <a:endParaRPr lang="ja-JP" altLang="en-US"/>
          </a:p>
        </p:txBody>
      </p:sp>
      <p:sp>
        <p:nvSpPr>
          <p:cNvPr id="76" name="Text 68"/>
          <p:cNvSpPr txBox="1"/>
          <p:nvPr/>
        </p:nvSpPr>
        <p:spPr>
          <a:xfrm>
            <a:off x="3778301" y="3676802"/>
            <a:ext cx="324612" cy="143561"/>
          </a:xfrm>
          <a:prstGeom prst="rect">
            <a:avLst/>
          </a:prstGeom>
          <a:noFill/>
          <a:ln/>
        </p:spPr>
        <p:txBody>
          <a:bodyPr wrap="square" lIns="0" tIns="0" rIns="0" bIns="0" rtlCol="0" anchor="ctr"/>
          <a:lstStyle/>
          <a:p>
            <a:pPr marL="0" indent="0" algn="l">
              <a:buNone/>
            </a:pPr>
            <a:r>
              <a:rPr lang="en-US" sz="800" b="1" dirty="0">
                <a:solidFill>
                  <a:srgbClr val="15803D"/>
                </a:solidFill>
                <a:latin typeface="Noto Sans JP" pitchFamily="34" charset="0"/>
                <a:ea typeface="Noto Sans JP" pitchFamily="34" charset="-122"/>
                <a:cs typeface="Noto Sans JP" pitchFamily="34" charset="-120"/>
              </a:rPr>
              <a:t>Sales</a:t>
            </a:r>
            <a:endParaRPr lang="en-US" sz="800" dirty="0"/>
          </a:p>
        </p:txBody>
      </p:sp>
      <p:sp>
        <p:nvSpPr>
          <p:cNvPr id="77" name="Text 69"/>
          <p:cNvSpPr txBox="1"/>
          <p:nvPr/>
        </p:nvSpPr>
        <p:spPr>
          <a:xfrm>
            <a:off x="771754" y="3952951"/>
            <a:ext cx="3391510" cy="324612"/>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顧客提案書・見積書のドラフト作成、商談議事録からのTo-Do抽出</a:t>
            </a:r>
            <a:endParaRPr lang="en-US" sz="900" dirty="0"/>
          </a:p>
        </p:txBody>
      </p:sp>
      <p:sp>
        <p:nvSpPr>
          <p:cNvPr id="78" name="Shape 70"/>
          <p:cNvSpPr/>
          <p:nvPr/>
        </p:nvSpPr>
        <p:spPr>
          <a:xfrm>
            <a:off x="771754" y="4543654"/>
            <a:ext cx="3343046" cy="352044"/>
          </a:xfrm>
          <a:prstGeom prst="roundRect">
            <a:avLst>
              <a:gd name="adj" fmla="val 42120"/>
            </a:avLst>
          </a:prstGeom>
          <a:solidFill>
            <a:srgbClr val="F8FAFC"/>
          </a:solidFill>
          <a:ln/>
        </p:spPr>
        <p:txBody>
          <a:bodyPr/>
          <a:lstStyle/>
          <a:p>
            <a:endParaRPr lang="ja-JP" altLang="en-US"/>
          </a:p>
        </p:txBody>
      </p:sp>
      <p:sp>
        <p:nvSpPr>
          <p:cNvPr id="79" name="Shape 71"/>
          <p:cNvSpPr/>
          <p:nvPr/>
        </p:nvSpPr>
        <p:spPr>
          <a:xfrm>
            <a:off x="771754" y="4543654"/>
            <a:ext cx="28346" cy="352044"/>
          </a:xfrm>
          <a:prstGeom prst="rect">
            <a:avLst/>
          </a:prstGeom>
          <a:solidFill>
            <a:srgbClr val="2563EB"/>
          </a:solidFill>
          <a:ln/>
        </p:spPr>
        <p:txBody>
          <a:bodyPr/>
          <a:lstStyle/>
          <a:p>
            <a:endParaRPr lang="ja-JP" altLang="en-US"/>
          </a:p>
        </p:txBody>
      </p:sp>
      <p:sp>
        <p:nvSpPr>
          <p:cNvPr id="80" name="Text 72"/>
          <p:cNvSpPr txBox="1"/>
          <p:nvPr/>
        </p:nvSpPr>
        <p:spPr>
          <a:xfrm>
            <a:off x="914400" y="4647895"/>
            <a:ext cx="457200"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JP" pitchFamily="34" charset="0"/>
                <a:ea typeface="Noto Sans JP" pitchFamily="34" charset="-122"/>
                <a:cs typeface="Noto Sans JP" pitchFamily="34" charset="-120"/>
              </a:rPr>
              <a:t>作成時間</a:t>
            </a:r>
            <a:endParaRPr lang="en-US" sz="800" dirty="0"/>
          </a:p>
        </p:txBody>
      </p:sp>
      <p:sp>
        <p:nvSpPr>
          <p:cNvPr id="81" name="Text 73"/>
          <p:cNvSpPr txBox="1"/>
          <p:nvPr/>
        </p:nvSpPr>
        <p:spPr>
          <a:xfrm>
            <a:off x="3403397" y="4619549"/>
            <a:ext cx="700430" cy="191110"/>
          </a:xfrm>
          <a:prstGeom prst="rect">
            <a:avLst/>
          </a:prstGeom>
          <a:noFill/>
          <a:ln/>
        </p:spPr>
        <p:txBody>
          <a:bodyPr wrap="square" lIns="0" tIns="0" rIns="0" bIns="0" rtlCol="0" anchor="ctr"/>
          <a:lstStyle/>
          <a:p>
            <a:pPr marL="0" indent="0" algn="l">
              <a:buNone/>
            </a:pPr>
            <a:r>
              <a:rPr lang="en-US" sz="1000" b="1" dirty="0">
                <a:solidFill>
                  <a:srgbClr val="1E40AF"/>
                </a:solidFill>
                <a:latin typeface="Noto Sans JP" pitchFamily="34" charset="0"/>
                <a:ea typeface="Noto Sans JP" pitchFamily="34" charset="-122"/>
                <a:cs typeface="Noto Sans JP" pitchFamily="34" charset="-120"/>
              </a:rPr>
              <a:t>50% 削減</a:t>
            </a:r>
            <a:endParaRPr lang="en-US" sz="1000" dirty="0"/>
          </a:p>
        </p:txBody>
      </p:sp>
      <p:sp>
        <p:nvSpPr>
          <p:cNvPr id="82" name="Shape 74"/>
          <p:cNvSpPr/>
          <p:nvPr/>
        </p:nvSpPr>
        <p:spPr>
          <a:xfrm>
            <a:off x="4270248" y="3495751"/>
            <a:ext cx="3657600" cy="1561795"/>
          </a:xfrm>
          <a:prstGeom prst="rect">
            <a:avLst/>
          </a:prstGeom>
          <a:noFill/>
          <a:ln w="12700">
            <a:solidFill>
              <a:srgbClr val="F1F5F9"/>
            </a:solidFill>
            <a:prstDash val="solid"/>
          </a:ln>
        </p:spPr>
        <p:txBody>
          <a:bodyPr/>
          <a:lstStyle/>
          <a:p>
            <a:endParaRPr lang="ja-JP" altLang="en-US"/>
          </a:p>
        </p:txBody>
      </p:sp>
      <p:pic>
        <p:nvPicPr>
          <p:cNvPr id="83" name="Image 6" descr="preencoded.png"/>
          <p:cNvPicPr>
            <a:picLocks noChangeAspect="1"/>
          </p:cNvPicPr>
          <p:nvPr/>
        </p:nvPicPr>
        <p:blipFill>
          <a:blip r:embed="rId9"/>
          <a:srcRect l="-2512" r="-2512"/>
          <a:stretch/>
        </p:blipFill>
        <p:spPr>
          <a:xfrm>
            <a:off x="4422953" y="3681374"/>
            <a:ext cx="105156" cy="133502"/>
          </a:xfrm>
          <a:prstGeom prst="rect">
            <a:avLst/>
          </a:prstGeom>
        </p:spPr>
      </p:pic>
      <p:sp>
        <p:nvSpPr>
          <p:cNvPr id="84" name="Text 75"/>
          <p:cNvSpPr txBox="1"/>
          <p:nvPr/>
        </p:nvSpPr>
        <p:spPr>
          <a:xfrm>
            <a:off x="4604004" y="3648456"/>
            <a:ext cx="767182" cy="200254"/>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経理・財務</a:t>
            </a:r>
            <a:endParaRPr lang="en-US" sz="1000" dirty="0"/>
          </a:p>
        </p:txBody>
      </p:sp>
      <p:sp>
        <p:nvSpPr>
          <p:cNvPr id="85" name="Shape 76"/>
          <p:cNvSpPr/>
          <p:nvPr/>
        </p:nvSpPr>
        <p:spPr>
          <a:xfrm>
            <a:off x="7227418" y="3648456"/>
            <a:ext cx="533095" cy="200254"/>
          </a:xfrm>
          <a:prstGeom prst="roundRect">
            <a:avLst>
              <a:gd name="adj" fmla="val 217438"/>
            </a:avLst>
          </a:prstGeom>
          <a:solidFill>
            <a:srgbClr val="F0FDF4"/>
          </a:solidFill>
          <a:ln w="12700">
            <a:solidFill>
              <a:srgbClr val="BBF7D0"/>
            </a:solidFill>
            <a:prstDash val="solid"/>
          </a:ln>
        </p:spPr>
        <p:txBody>
          <a:bodyPr/>
          <a:lstStyle/>
          <a:p>
            <a:endParaRPr lang="ja-JP" altLang="en-US"/>
          </a:p>
        </p:txBody>
      </p:sp>
      <p:sp>
        <p:nvSpPr>
          <p:cNvPr id="86" name="Text 77"/>
          <p:cNvSpPr txBox="1"/>
          <p:nvPr/>
        </p:nvSpPr>
        <p:spPr>
          <a:xfrm>
            <a:off x="7313371" y="3676802"/>
            <a:ext cx="438912" cy="143561"/>
          </a:xfrm>
          <a:prstGeom prst="rect">
            <a:avLst/>
          </a:prstGeom>
          <a:noFill/>
          <a:ln/>
        </p:spPr>
        <p:txBody>
          <a:bodyPr wrap="square" lIns="0" tIns="0" rIns="0" bIns="0" rtlCol="0" anchor="ctr"/>
          <a:lstStyle/>
          <a:p>
            <a:pPr marL="0" indent="0" algn="l">
              <a:buNone/>
            </a:pPr>
            <a:r>
              <a:rPr lang="en-US" sz="800" b="1" dirty="0">
                <a:solidFill>
                  <a:srgbClr val="15803D"/>
                </a:solidFill>
                <a:latin typeface="Noto Sans JP" pitchFamily="34" charset="0"/>
                <a:ea typeface="Noto Sans JP" pitchFamily="34" charset="-122"/>
                <a:cs typeface="Noto Sans JP" pitchFamily="34" charset="-120"/>
              </a:rPr>
              <a:t>Finance</a:t>
            </a:r>
            <a:endParaRPr lang="en-US" sz="800" dirty="0"/>
          </a:p>
        </p:txBody>
      </p:sp>
      <p:sp>
        <p:nvSpPr>
          <p:cNvPr id="87" name="Text 78"/>
          <p:cNvSpPr txBox="1"/>
          <p:nvPr/>
        </p:nvSpPr>
        <p:spPr>
          <a:xfrm>
            <a:off x="4422953" y="3952951"/>
            <a:ext cx="3410712" cy="324612"/>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月次レポートの自動要約、予算対比データの傾向分析とコメント生成</a:t>
            </a:r>
            <a:endParaRPr lang="en-US" sz="900" dirty="0"/>
          </a:p>
        </p:txBody>
      </p:sp>
      <p:sp>
        <p:nvSpPr>
          <p:cNvPr id="88" name="Shape 79"/>
          <p:cNvSpPr/>
          <p:nvPr/>
        </p:nvSpPr>
        <p:spPr>
          <a:xfrm>
            <a:off x="4422953" y="4543654"/>
            <a:ext cx="3343046" cy="352044"/>
          </a:xfrm>
          <a:prstGeom prst="roundRect">
            <a:avLst>
              <a:gd name="adj" fmla="val 42120"/>
            </a:avLst>
          </a:prstGeom>
          <a:solidFill>
            <a:srgbClr val="F8FAFC"/>
          </a:solidFill>
          <a:ln/>
        </p:spPr>
        <p:txBody>
          <a:bodyPr/>
          <a:lstStyle/>
          <a:p>
            <a:endParaRPr lang="ja-JP" altLang="en-US"/>
          </a:p>
        </p:txBody>
      </p:sp>
      <p:sp>
        <p:nvSpPr>
          <p:cNvPr id="89" name="Shape 80"/>
          <p:cNvSpPr/>
          <p:nvPr/>
        </p:nvSpPr>
        <p:spPr>
          <a:xfrm>
            <a:off x="4422953" y="4543654"/>
            <a:ext cx="28346" cy="352044"/>
          </a:xfrm>
          <a:prstGeom prst="rect">
            <a:avLst/>
          </a:prstGeom>
          <a:solidFill>
            <a:srgbClr val="059669"/>
          </a:solidFill>
          <a:ln/>
        </p:spPr>
        <p:txBody>
          <a:bodyPr/>
          <a:lstStyle/>
          <a:p>
            <a:endParaRPr lang="ja-JP" altLang="en-US"/>
          </a:p>
        </p:txBody>
      </p:sp>
      <p:sp>
        <p:nvSpPr>
          <p:cNvPr id="90" name="Text 81"/>
          <p:cNvSpPr txBox="1"/>
          <p:nvPr/>
        </p:nvSpPr>
        <p:spPr>
          <a:xfrm>
            <a:off x="4565599" y="4647895"/>
            <a:ext cx="648310"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JP" pitchFamily="34" charset="0"/>
                <a:ea typeface="Noto Sans JP" pitchFamily="34" charset="-122"/>
                <a:cs typeface="Noto Sans JP" pitchFamily="34" charset="-120"/>
              </a:rPr>
              <a:t>レポート作成</a:t>
            </a:r>
            <a:endParaRPr lang="en-US" sz="800" dirty="0"/>
          </a:p>
        </p:txBody>
      </p:sp>
      <p:sp>
        <p:nvSpPr>
          <p:cNvPr id="91" name="Text 82"/>
          <p:cNvSpPr txBox="1"/>
          <p:nvPr/>
        </p:nvSpPr>
        <p:spPr>
          <a:xfrm>
            <a:off x="7054596" y="4619549"/>
            <a:ext cx="700430" cy="191110"/>
          </a:xfrm>
          <a:prstGeom prst="rect">
            <a:avLst/>
          </a:prstGeom>
          <a:noFill/>
          <a:ln/>
        </p:spPr>
        <p:txBody>
          <a:bodyPr wrap="square" lIns="0" tIns="0" rIns="0" bIns="0" rtlCol="0" anchor="ctr"/>
          <a:lstStyle/>
          <a:p>
            <a:pPr marL="0" indent="0" algn="l">
              <a:buNone/>
            </a:pPr>
            <a:r>
              <a:rPr lang="en-US" sz="1000" b="1" dirty="0">
                <a:solidFill>
                  <a:srgbClr val="1E40AF"/>
                </a:solidFill>
                <a:latin typeface="Noto Sans JP" pitchFamily="34" charset="0"/>
                <a:ea typeface="Noto Sans JP" pitchFamily="34" charset="-122"/>
                <a:cs typeface="Noto Sans JP" pitchFamily="34" charset="-120"/>
              </a:rPr>
              <a:t>30% 削減</a:t>
            </a:r>
            <a:endParaRPr lang="en-US" sz="1000" dirty="0"/>
          </a:p>
        </p:txBody>
      </p:sp>
      <p:sp>
        <p:nvSpPr>
          <p:cNvPr id="92" name="Shape 83"/>
          <p:cNvSpPr/>
          <p:nvPr/>
        </p:nvSpPr>
        <p:spPr>
          <a:xfrm>
            <a:off x="7921447" y="5048402"/>
            <a:ext cx="3657600" cy="9144"/>
          </a:xfrm>
          <a:prstGeom prst="rect">
            <a:avLst/>
          </a:prstGeom>
          <a:solidFill>
            <a:srgbClr val="F1F5F9"/>
          </a:solidFill>
          <a:ln/>
        </p:spPr>
        <p:txBody>
          <a:bodyPr/>
          <a:lstStyle/>
          <a:p>
            <a:endParaRPr lang="ja-JP" altLang="en-US"/>
          </a:p>
        </p:txBody>
      </p:sp>
      <p:pic>
        <p:nvPicPr>
          <p:cNvPr id="93" name="Image 7" descr="preencoded.png"/>
          <p:cNvPicPr>
            <a:picLocks noChangeAspect="1"/>
          </p:cNvPicPr>
          <p:nvPr/>
        </p:nvPicPr>
        <p:blipFill>
          <a:blip r:embed="rId10"/>
          <a:srcRect t="-1100" b="-1100"/>
          <a:stretch/>
        </p:blipFill>
        <p:spPr>
          <a:xfrm>
            <a:off x="8074152" y="3681374"/>
            <a:ext cx="114300" cy="133502"/>
          </a:xfrm>
          <a:prstGeom prst="rect">
            <a:avLst/>
          </a:prstGeom>
        </p:spPr>
      </p:pic>
      <p:sp>
        <p:nvSpPr>
          <p:cNvPr id="94" name="Text 84"/>
          <p:cNvSpPr txBox="1"/>
          <p:nvPr/>
        </p:nvSpPr>
        <p:spPr>
          <a:xfrm>
            <a:off x="8264347" y="3648456"/>
            <a:ext cx="500177" cy="200254"/>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人事部</a:t>
            </a:r>
            <a:endParaRPr lang="en-US" sz="1000" dirty="0"/>
          </a:p>
        </p:txBody>
      </p:sp>
      <p:sp>
        <p:nvSpPr>
          <p:cNvPr id="95" name="Shape 85"/>
          <p:cNvSpPr/>
          <p:nvPr/>
        </p:nvSpPr>
        <p:spPr>
          <a:xfrm>
            <a:off x="11113618" y="3648456"/>
            <a:ext cx="314554" cy="200254"/>
          </a:xfrm>
          <a:prstGeom prst="roundRect">
            <a:avLst>
              <a:gd name="adj" fmla="val 217438"/>
            </a:avLst>
          </a:prstGeom>
          <a:solidFill>
            <a:srgbClr val="F0FDF4"/>
          </a:solidFill>
          <a:ln w="12700">
            <a:solidFill>
              <a:srgbClr val="BBF7D0"/>
            </a:solidFill>
            <a:prstDash val="solid"/>
          </a:ln>
        </p:spPr>
        <p:txBody>
          <a:bodyPr/>
          <a:lstStyle/>
          <a:p>
            <a:endParaRPr lang="ja-JP" altLang="en-US"/>
          </a:p>
        </p:txBody>
      </p:sp>
      <p:sp>
        <p:nvSpPr>
          <p:cNvPr id="96" name="Text 86"/>
          <p:cNvSpPr txBox="1"/>
          <p:nvPr/>
        </p:nvSpPr>
        <p:spPr>
          <a:xfrm>
            <a:off x="11199571" y="3676802"/>
            <a:ext cx="219456" cy="143561"/>
          </a:xfrm>
          <a:prstGeom prst="rect">
            <a:avLst/>
          </a:prstGeom>
          <a:noFill/>
          <a:ln/>
        </p:spPr>
        <p:txBody>
          <a:bodyPr wrap="square" lIns="0" tIns="0" rIns="0" bIns="0" rtlCol="0" anchor="ctr"/>
          <a:lstStyle/>
          <a:p>
            <a:pPr marL="0" indent="0" algn="l">
              <a:buNone/>
            </a:pPr>
            <a:r>
              <a:rPr lang="en-US" sz="800" b="1" dirty="0">
                <a:solidFill>
                  <a:srgbClr val="15803D"/>
                </a:solidFill>
                <a:latin typeface="Noto Sans JP" pitchFamily="34" charset="0"/>
                <a:ea typeface="Noto Sans JP" pitchFamily="34" charset="-122"/>
                <a:cs typeface="Noto Sans JP" pitchFamily="34" charset="-120"/>
              </a:rPr>
              <a:t>HR</a:t>
            </a:r>
            <a:endParaRPr lang="en-US" sz="800" dirty="0"/>
          </a:p>
        </p:txBody>
      </p:sp>
      <p:sp>
        <p:nvSpPr>
          <p:cNvPr id="97" name="Text 87"/>
          <p:cNvSpPr txBox="1"/>
          <p:nvPr/>
        </p:nvSpPr>
        <p:spPr>
          <a:xfrm>
            <a:off x="8074152" y="3952951"/>
            <a:ext cx="3286354" cy="162763"/>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採用募集要項の作成、人事評価シートの下書き、社内通知文案</a:t>
            </a:r>
            <a:endParaRPr lang="en-US" sz="900" dirty="0"/>
          </a:p>
        </p:txBody>
      </p:sp>
      <p:sp>
        <p:nvSpPr>
          <p:cNvPr id="98" name="Shape 88"/>
          <p:cNvSpPr/>
          <p:nvPr/>
        </p:nvSpPr>
        <p:spPr>
          <a:xfrm>
            <a:off x="8074152" y="4543654"/>
            <a:ext cx="3353105" cy="352044"/>
          </a:xfrm>
          <a:prstGeom prst="roundRect">
            <a:avLst>
              <a:gd name="adj" fmla="val 42120"/>
            </a:avLst>
          </a:prstGeom>
          <a:solidFill>
            <a:srgbClr val="F8FAFC"/>
          </a:solidFill>
          <a:ln/>
        </p:spPr>
        <p:txBody>
          <a:bodyPr/>
          <a:lstStyle/>
          <a:p>
            <a:endParaRPr lang="ja-JP" altLang="en-US"/>
          </a:p>
        </p:txBody>
      </p:sp>
      <p:sp>
        <p:nvSpPr>
          <p:cNvPr id="99" name="Shape 89"/>
          <p:cNvSpPr/>
          <p:nvPr/>
        </p:nvSpPr>
        <p:spPr>
          <a:xfrm>
            <a:off x="8074152" y="4543654"/>
            <a:ext cx="28346" cy="352044"/>
          </a:xfrm>
          <a:prstGeom prst="rect">
            <a:avLst/>
          </a:prstGeom>
          <a:solidFill>
            <a:srgbClr val="DB2777"/>
          </a:solidFill>
          <a:ln/>
        </p:spPr>
        <p:txBody>
          <a:bodyPr/>
          <a:lstStyle/>
          <a:p>
            <a:endParaRPr lang="ja-JP" altLang="en-US"/>
          </a:p>
        </p:txBody>
      </p:sp>
      <p:sp>
        <p:nvSpPr>
          <p:cNvPr id="100" name="Text 90"/>
          <p:cNvSpPr txBox="1"/>
          <p:nvPr/>
        </p:nvSpPr>
        <p:spPr>
          <a:xfrm>
            <a:off x="8216798" y="4647895"/>
            <a:ext cx="457200"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JP" pitchFamily="34" charset="0"/>
                <a:ea typeface="Noto Sans JP" pitchFamily="34" charset="-122"/>
                <a:cs typeface="Noto Sans JP" pitchFamily="34" charset="-120"/>
              </a:rPr>
              <a:t>文書作成</a:t>
            </a:r>
            <a:endParaRPr lang="en-US" sz="800" dirty="0"/>
          </a:p>
        </p:txBody>
      </p:sp>
      <p:sp>
        <p:nvSpPr>
          <p:cNvPr id="101" name="Text 91"/>
          <p:cNvSpPr txBox="1"/>
          <p:nvPr/>
        </p:nvSpPr>
        <p:spPr>
          <a:xfrm>
            <a:off x="10714939" y="4619549"/>
            <a:ext cx="700430" cy="191110"/>
          </a:xfrm>
          <a:prstGeom prst="rect">
            <a:avLst/>
          </a:prstGeom>
          <a:noFill/>
          <a:ln/>
        </p:spPr>
        <p:txBody>
          <a:bodyPr wrap="square" lIns="0" tIns="0" rIns="0" bIns="0" rtlCol="0" anchor="ctr"/>
          <a:lstStyle/>
          <a:p>
            <a:pPr marL="0" indent="0" algn="l">
              <a:buNone/>
            </a:pPr>
            <a:r>
              <a:rPr lang="en-US" sz="1000" b="1" dirty="0">
                <a:solidFill>
                  <a:srgbClr val="1E40AF"/>
                </a:solidFill>
                <a:latin typeface="Noto Sans JP" pitchFamily="34" charset="0"/>
                <a:ea typeface="Noto Sans JP" pitchFamily="34" charset="-122"/>
                <a:cs typeface="Noto Sans JP" pitchFamily="34" charset="-120"/>
              </a:rPr>
              <a:t>40% 削減</a:t>
            </a:r>
            <a:endParaRPr lang="en-US" sz="1000" dirty="0"/>
          </a:p>
        </p:txBody>
      </p:sp>
      <p:sp>
        <p:nvSpPr>
          <p:cNvPr id="102" name="Shape 92"/>
          <p:cNvSpPr/>
          <p:nvPr/>
        </p:nvSpPr>
        <p:spPr>
          <a:xfrm>
            <a:off x="4267505" y="5057546"/>
            <a:ext cx="9144" cy="1561795"/>
          </a:xfrm>
          <a:prstGeom prst="rect">
            <a:avLst/>
          </a:prstGeom>
          <a:solidFill>
            <a:srgbClr val="F1F5F9"/>
          </a:solidFill>
          <a:ln/>
        </p:spPr>
        <p:txBody>
          <a:bodyPr/>
          <a:lstStyle/>
          <a:p>
            <a:endParaRPr lang="ja-JP" altLang="en-US"/>
          </a:p>
        </p:txBody>
      </p:sp>
      <p:pic>
        <p:nvPicPr>
          <p:cNvPr id="103" name="Image 8" descr="preencoded.png"/>
          <p:cNvPicPr>
            <a:picLocks noChangeAspect="1"/>
          </p:cNvPicPr>
          <p:nvPr/>
        </p:nvPicPr>
        <p:blipFill>
          <a:blip r:embed="rId11"/>
          <a:srcRect l="-1507" r="-1507"/>
          <a:stretch/>
        </p:blipFill>
        <p:spPr>
          <a:xfrm>
            <a:off x="771754" y="5243170"/>
            <a:ext cx="171907" cy="133502"/>
          </a:xfrm>
          <a:prstGeom prst="rect">
            <a:avLst/>
          </a:prstGeom>
        </p:spPr>
      </p:pic>
      <p:sp>
        <p:nvSpPr>
          <p:cNvPr id="104" name="Text 93"/>
          <p:cNvSpPr txBox="1"/>
          <p:nvPr/>
        </p:nvSpPr>
        <p:spPr>
          <a:xfrm>
            <a:off x="1019556" y="5210251"/>
            <a:ext cx="500177" cy="200254"/>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法務部</a:t>
            </a:r>
            <a:endParaRPr lang="en-US" sz="1000" dirty="0"/>
          </a:p>
        </p:txBody>
      </p:sp>
      <p:sp>
        <p:nvSpPr>
          <p:cNvPr id="105" name="Shape 94"/>
          <p:cNvSpPr/>
          <p:nvPr/>
        </p:nvSpPr>
        <p:spPr>
          <a:xfrm>
            <a:off x="3693262" y="5210251"/>
            <a:ext cx="418795" cy="200254"/>
          </a:xfrm>
          <a:prstGeom prst="roundRect">
            <a:avLst>
              <a:gd name="adj" fmla="val 217438"/>
            </a:avLst>
          </a:prstGeom>
          <a:solidFill>
            <a:srgbClr val="F0FDF4"/>
          </a:solidFill>
          <a:ln w="12700">
            <a:solidFill>
              <a:srgbClr val="BBF7D0"/>
            </a:solidFill>
            <a:prstDash val="solid"/>
          </a:ln>
        </p:spPr>
        <p:txBody>
          <a:bodyPr/>
          <a:lstStyle/>
          <a:p>
            <a:endParaRPr lang="ja-JP" altLang="en-US"/>
          </a:p>
        </p:txBody>
      </p:sp>
      <p:sp>
        <p:nvSpPr>
          <p:cNvPr id="106" name="Text 95"/>
          <p:cNvSpPr txBox="1"/>
          <p:nvPr/>
        </p:nvSpPr>
        <p:spPr>
          <a:xfrm>
            <a:off x="3779215" y="5238598"/>
            <a:ext cx="324612" cy="143561"/>
          </a:xfrm>
          <a:prstGeom prst="rect">
            <a:avLst/>
          </a:prstGeom>
          <a:noFill/>
          <a:ln/>
        </p:spPr>
        <p:txBody>
          <a:bodyPr wrap="square" lIns="0" tIns="0" rIns="0" bIns="0" rtlCol="0" anchor="ctr"/>
          <a:lstStyle/>
          <a:p>
            <a:pPr marL="0" indent="0" algn="l">
              <a:buNone/>
            </a:pPr>
            <a:r>
              <a:rPr lang="en-US" sz="800" b="1" dirty="0">
                <a:solidFill>
                  <a:srgbClr val="15803D"/>
                </a:solidFill>
                <a:latin typeface="Noto Sans JP" pitchFamily="34" charset="0"/>
                <a:ea typeface="Noto Sans JP" pitchFamily="34" charset="-122"/>
                <a:cs typeface="Noto Sans JP" pitchFamily="34" charset="-120"/>
              </a:rPr>
              <a:t>Legal</a:t>
            </a:r>
            <a:endParaRPr lang="en-US" sz="800" dirty="0"/>
          </a:p>
        </p:txBody>
      </p:sp>
      <p:sp>
        <p:nvSpPr>
          <p:cNvPr id="107" name="Text 96"/>
          <p:cNvSpPr txBox="1"/>
          <p:nvPr/>
        </p:nvSpPr>
        <p:spPr>
          <a:xfrm>
            <a:off x="771754" y="5514746"/>
            <a:ext cx="3391510" cy="324612"/>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契約書のリスクポイント抽出、条文チェック、社内規程の改定案作成</a:t>
            </a:r>
            <a:endParaRPr lang="en-US" sz="900" dirty="0"/>
          </a:p>
        </p:txBody>
      </p:sp>
      <p:sp>
        <p:nvSpPr>
          <p:cNvPr id="108" name="Shape 97"/>
          <p:cNvSpPr/>
          <p:nvPr/>
        </p:nvSpPr>
        <p:spPr>
          <a:xfrm>
            <a:off x="771754" y="6115507"/>
            <a:ext cx="3343046" cy="352044"/>
          </a:xfrm>
          <a:prstGeom prst="roundRect">
            <a:avLst>
              <a:gd name="adj" fmla="val 42120"/>
            </a:avLst>
          </a:prstGeom>
          <a:solidFill>
            <a:srgbClr val="F8FAFC"/>
          </a:solidFill>
          <a:ln/>
        </p:spPr>
        <p:txBody>
          <a:bodyPr/>
          <a:lstStyle/>
          <a:p>
            <a:endParaRPr lang="ja-JP" altLang="en-US"/>
          </a:p>
        </p:txBody>
      </p:sp>
      <p:sp>
        <p:nvSpPr>
          <p:cNvPr id="109" name="Shape 98"/>
          <p:cNvSpPr/>
          <p:nvPr/>
        </p:nvSpPr>
        <p:spPr>
          <a:xfrm>
            <a:off x="771754" y="6115507"/>
            <a:ext cx="28346" cy="352044"/>
          </a:xfrm>
          <a:prstGeom prst="rect">
            <a:avLst/>
          </a:prstGeom>
          <a:solidFill>
            <a:srgbClr val="D97706"/>
          </a:solidFill>
          <a:ln/>
        </p:spPr>
        <p:txBody>
          <a:bodyPr/>
          <a:lstStyle/>
          <a:p>
            <a:endParaRPr lang="ja-JP" altLang="en-US"/>
          </a:p>
        </p:txBody>
      </p:sp>
      <p:sp>
        <p:nvSpPr>
          <p:cNvPr id="110" name="Text 99"/>
          <p:cNvSpPr txBox="1"/>
          <p:nvPr/>
        </p:nvSpPr>
        <p:spPr>
          <a:xfrm>
            <a:off x="914400" y="6219749"/>
            <a:ext cx="648310"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JP" pitchFamily="34" charset="0"/>
                <a:ea typeface="Noto Sans JP" pitchFamily="34" charset="-122"/>
                <a:cs typeface="Noto Sans JP" pitchFamily="34" charset="-120"/>
              </a:rPr>
              <a:t>チェック業務</a:t>
            </a:r>
            <a:endParaRPr lang="en-US" sz="800" dirty="0"/>
          </a:p>
        </p:txBody>
      </p:sp>
      <p:sp>
        <p:nvSpPr>
          <p:cNvPr id="111" name="Text 100"/>
          <p:cNvSpPr txBox="1"/>
          <p:nvPr/>
        </p:nvSpPr>
        <p:spPr>
          <a:xfrm>
            <a:off x="3403397" y="6191402"/>
            <a:ext cx="700430" cy="191110"/>
          </a:xfrm>
          <a:prstGeom prst="rect">
            <a:avLst/>
          </a:prstGeom>
          <a:noFill/>
          <a:ln/>
        </p:spPr>
        <p:txBody>
          <a:bodyPr wrap="square" lIns="0" tIns="0" rIns="0" bIns="0" rtlCol="0" anchor="ctr"/>
          <a:lstStyle/>
          <a:p>
            <a:pPr marL="0" indent="0" algn="l">
              <a:buNone/>
            </a:pPr>
            <a:r>
              <a:rPr lang="en-US" sz="1000" b="1" dirty="0">
                <a:solidFill>
                  <a:srgbClr val="1E40AF"/>
                </a:solidFill>
                <a:latin typeface="Noto Sans JP" pitchFamily="34" charset="0"/>
                <a:ea typeface="Noto Sans JP" pitchFamily="34" charset="-122"/>
                <a:cs typeface="Noto Sans JP" pitchFamily="34" charset="-120"/>
              </a:rPr>
              <a:t>60% 削減</a:t>
            </a:r>
            <a:endParaRPr lang="en-US" sz="1000" dirty="0"/>
          </a:p>
        </p:txBody>
      </p:sp>
      <p:sp>
        <p:nvSpPr>
          <p:cNvPr id="112" name="Shape 101"/>
          <p:cNvSpPr/>
          <p:nvPr/>
        </p:nvSpPr>
        <p:spPr>
          <a:xfrm>
            <a:off x="7918704" y="5057546"/>
            <a:ext cx="9144" cy="1561795"/>
          </a:xfrm>
          <a:prstGeom prst="rect">
            <a:avLst/>
          </a:prstGeom>
          <a:solidFill>
            <a:srgbClr val="F1F5F9"/>
          </a:solidFill>
          <a:ln/>
        </p:spPr>
        <p:txBody>
          <a:bodyPr/>
          <a:lstStyle/>
          <a:p>
            <a:endParaRPr lang="ja-JP" altLang="en-US"/>
          </a:p>
        </p:txBody>
      </p:sp>
      <p:pic>
        <p:nvPicPr>
          <p:cNvPr id="113" name="Image 9" descr="preencoded.png"/>
          <p:cNvPicPr>
            <a:picLocks noChangeAspect="1"/>
          </p:cNvPicPr>
          <p:nvPr/>
        </p:nvPicPr>
        <p:blipFill>
          <a:blip r:embed="rId12"/>
          <a:srcRect l="-2512" r="-2512"/>
          <a:stretch/>
        </p:blipFill>
        <p:spPr>
          <a:xfrm>
            <a:off x="4422953" y="5243170"/>
            <a:ext cx="105156" cy="133502"/>
          </a:xfrm>
          <a:prstGeom prst="rect">
            <a:avLst/>
          </a:prstGeom>
        </p:spPr>
      </p:pic>
      <p:sp>
        <p:nvSpPr>
          <p:cNvPr id="114" name="Text 102"/>
          <p:cNvSpPr txBox="1"/>
          <p:nvPr/>
        </p:nvSpPr>
        <p:spPr>
          <a:xfrm>
            <a:off x="4604004" y="5210251"/>
            <a:ext cx="500177" cy="200254"/>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総務部</a:t>
            </a:r>
            <a:endParaRPr lang="en-US" sz="1000" dirty="0"/>
          </a:p>
        </p:txBody>
      </p:sp>
      <p:sp>
        <p:nvSpPr>
          <p:cNvPr id="115" name="Shape 103"/>
          <p:cNvSpPr/>
          <p:nvPr/>
        </p:nvSpPr>
        <p:spPr>
          <a:xfrm>
            <a:off x="7287768" y="5210251"/>
            <a:ext cx="476402" cy="200254"/>
          </a:xfrm>
          <a:prstGeom prst="roundRect">
            <a:avLst>
              <a:gd name="adj" fmla="val 217438"/>
            </a:avLst>
          </a:prstGeom>
          <a:solidFill>
            <a:srgbClr val="F0FDF4"/>
          </a:solidFill>
          <a:ln w="12700">
            <a:solidFill>
              <a:srgbClr val="BBF7D0"/>
            </a:solidFill>
            <a:prstDash val="solid"/>
          </a:ln>
        </p:spPr>
        <p:txBody>
          <a:bodyPr/>
          <a:lstStyle/>
          <a:p>
            <a:endParaRPr lang="ja-JP" altLang="en-US"/>
          </a:p>
        </p:txBody>
      </p:sp>
      <p:sp>
        <p:nvSpPr>
          <p:cNvPr id="116" name="Text 104"/>
          <p:cNvSpPr txBox="1"/>
          <p:nvPr/>
        </p:nvSpPr>
        <p:spPr>
          <a:xfrm>
            <a:off x="7373722" y="5238598"/>
            <a:ext cx="381305" cy="143561"/>
          </a:xfrm>
          <a:prstGeom prst="rect">
            <a:avLst/>
          </a:prstGeom>
          <a:noFill/>
          <a:ln/>
        </p:spPr>
        <p:txBody>
          <a:bodyPr wrap="square" lIns="0" tIns="0" rIns="0" bIns="0" rtlCol="0" anchor="ctr"/>
          <a:lstStyle/>
          <a:p>
            <a:pPr marL="0" indent="0" algn="l">
              <a:buNone/>
            </a:pPr>
            <a:r>
              <a:rPr lang="en-US" sz="800" b="1" dirty="0">
                <a:solidFill>
                  <a:srgbClr val="15803D"/>
                </a:solidFill>
                <a:latin typeface="Noto Sans JP" pitchFamily="34" charset="0"/>
                <a:ea typeface="Noto Sans JP" pitchFamily="34" charset="-122"/>
                <a:cs typeface="Noto Sans JP" pitchFamily="34" charset="-120"/>
              </a:rPr>
              <a:t>Admin</a:t>
            </a:r>
            <a:endParaRPr lang="en-US" sz="800" dirty="0"/>
          </a:p>
        </p:txBody>
      </p:sp>
      <p:sp>
        <p:nvSpPr>
          <p:cNvPr id="117" name="Text 105"/>
          <p:cNvSpPr txBox="1"/>
          <p:nvPr/>
        </p:nvSpPr>
        <p:spPr>
          <a:xfrm>
            <a:off x="4422953" y="5514746"/>
            <a:ext cx="3410712" cy="324612"/>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経営会議・全社集会の議事録作成、各種申請書のフォーマット整備</a:t>
            </a:r>
            <a:endParaRPr lang="en-US" sz="900" dirty="0"/>
          </a:p>
        </p:txBody>
      </p:sp>
      <p:sp>
        <p:nvSpPr>
          <p:cNvPr id="118" name="Shape 106"/>
          <p:cNvSpPr/>
          <p:nvPr/>
        </p:nvSpPr>
        <p:spPr>
          <a:xfrm>
            <a:off x="4422953" y="6115507"/>
            <a:ext cx="3343046" cy="352044"/>
          </a:xfrm>
          <a:prstGeom prst="roundRect">
            <a:avLst>
              <a:gd name="adj" fmla="val 42120"/>
            </a:avLst>
          </a:prstGeom>
          <a:solidFill>
            <a:srgbClr val="F8FAFC"/>
          </a:solidFill>
          <a:ln/>
        </p:spPr>
        <p:txBody>
          <a:bodyPr/>
          <a:lstStyle/>
          <a:p>
            <a:endParaRPr lang="ja-JP" altLang="en-US"/>
          </a:p>
        </p:txBody>
      </p:sp>
      <p:sp>
        <p:nvSpPr>
          <p:cNvPr id="119" name="Shape 107"/>
          <p:cNvSpPr/>
          <p:nvPr/>
        </p:nvSpPr>
        <p:spPr>
          <a:xfrm>
            <a:off x="4422953" y="6115507"/>
            <a:ext cx="28346" cy="352044"/>
          </a:xfrm>
          <a:prstGeom prst="rect">
            <a:avLst/>
          </a:prstGeom>
          <a:solidFill>
            <a:srgbClr val="7C3AED"/>
          </a:solidFill>
          <a:ln/>
        </p:spPr>
        <p:txBody>
          <a:bodyPr/>
          <a:lstStyle/>
          <a:p>
            <a:endParaRPr lang="ja-JP" altLang="en-US"/>
          </a:p>
        </p:txBody>
      </p:sp>
      <p:sp>
        <p:nvSpPr>
          <p:cNvPr id="120" name="Text 108"/>
          <p:cNvSpPr txBox="1"/>
          <p:nvPr/>
        </p:nvSpPr>
        <p:spPr>
          <a:xfrm>
            <a:off x="4565599" y="6219749"/>
            <a:ext cx="457200"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JP" pitchFamily="34" charset="0"/>
                <a:ea typeface="Noto Sans JP" pitchFamily="34" charset="-122"/>
                <a:cs typeface="Noto Sans JP" pitchFamily="34" charset="-120"/>
              </a:rPr>
              <a:t>事務作業</a:t>
            </a:r>
            <a:endParaRPr lang="en-US" sz="800" dirty="0"/>
          </a:p>
        </p:txBody>
      </p:sp>
      <p:sp>
        <p:nvSpPr>
          <p:cNvPr id="121" name="Text 109"/>
          <p:cNvSpPr txBox="1"/>
          <p:nvPr/>
        </p:nvSpPr>
        <p:spPr>
          <a:xfrm>
            <a:off x="7054596" y="6191402"/>
            <a:ext cx="700430" cy="191110"/>
          </a:xfrm>
          <a:prstGeom prst="rect">
            <a:avLst/>
          </a:prstGeom>
          <a:noFill/>
          <a:ln/>
        </p:spPr>
        <p:txBody>
          <a:bodyPr wrap="square" lIns="0" tIns="0" rIns="0" bIns="0" rtlCol="0" anchor="ctr"/>
          <a:lstStyle/>
          <a:p>
            <a:pPr marL="0" indent="0" algn="l">
              <a:buNone/>
            </a:pPr>
            <a:r>
              <a:rPr lang="en-US" sz="1000" b="1" dirty="0">
                <a:solidFill>
                  <a:srgbClr val="1E40AF"/>
                </a:solidFill>
                <a:latin typeface="Noto Sans JP" pitchFamily="34" charset="0"/>
                <a:ea typeface="Noto Sans JP" pitchFamily="34" charset="-122"/>
                <a:cs typeface="Noto Sans JP" pitchFamily="34" charset="-120"/>
              </a:rPr>
              <a:t>50% 削減</a:t>
            </a:r>
            <a:endParaRPr lang="en-US" sz="1000" dirty="0"/>
          </a:p>
        </p:txBody>
      </p:sp>
      <p:pic>
        <p:nvPicPr>
          <p:cNvPr id="122" name="Image 10" descr="preencoded.png"/>
          <p:cNvPicPr>
            <a:picLocks noChangeAspect="1"/>
          </p:cNvPicPr>
          <p:nvPr/>
        </p:nvPicPr>
        <p:blipFill>
          <a:blip r:embed="rId13"/>
          <a:srcRect l="-1507" r="-1507"/>
          <a:stretch/>
        </p:blipFill>
        <p:spPr>
          <a:xfrm>
            <a:off x="8074152" y="5243170"/>
            <a:ext cx="171907" cy="133502"/>
          </a:xfrm>
          <a:prstGeom prst="rect">
            <a:avLst/>
          </a:prstGeom>
        </p:spPr>
      </p:pic>
      <p:sp>
        <p:nvSpPr>
          <p:cNvPr id="123" name="Text 110"/>
          <p:cNvSpPr txBox="1"/>
          <p:nvPr/>
        </p:nvSpPr>
        <p:spPr>
          <a:xfrm>
            <a:off x="8321954" y="5210251"/>
            <a:ext cx="633679" cy="200254"/>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開発本部</a:t>
            </a:r>
            <a:endParaRPr lang="en-US" sz="1000" dirty="0"/>
          </a:p>
        </p:txBody>
      </p:sp>
      <p:sp>
        <p:nvSpPr>
          <p:cNvPr id="124" name="Shape 111"/>
          <p:cNvSpPr/>
          <p:nvPr/>
        </p:nvSpPr>
        <p:spPr>
          <a:xfrm>
            <a:off x="11074298" y="5210251"/>
            <a:ext cx="352044" cy="200254"/>
          </a:xfrm>
          <a:prstGeom prst="roundRect">
            <a:avLst>
              <a:gd name="adj" fmla="val 217438"/>
            </a:avLst>
          </a:prstGeom>
          <a:solidFill>
            <a:srgbClr val="F0FDF4"/>
          </a:solidFill>
          <a:ln w="12700">
            <a:solidFill>
              <a:srgbClr val="BBF7D0"/>
            </a:solidFill>
            <a:prstDash val="solid"/>
          </a:ln>
        </p:spPr>
        <p:txBody>
          <a:bodyPr/>
          <a:lstStyle/>
          <a:p>
            <a:endParaRPr lang="ja-JP" altLang="en-US"/>
          </a:p>
        </p:txBody>
      </p:sp>
      <p:sp>
        <p:nvSpPr>
          <p:cNvPr id="125" name="Text 112"/>
          <p:cNvSpPr txBox="1"/>
          <p:nvPr/>
        </p:nvSpPr>
        <p:spPr>
          <a:xfrm>
            <a:off x="11160252" y="5238598"/>
            <a:ext cx="257861" cy="143561"/>
          </a:xfrm>
          <a:prstGeom prst="rect">
            <a:avLst/>
          </a:prstGeom>
          <a:noFill/>
          <a:ln/>
        </p:spPr>
        <p:txBody>
          <a:bodyPr wrap="square" lIns="0" tIns="0" rIns="0" bIns="0" rtlCol="0" anchor="ctr"/>
          <a:lstStyle/>
          <a:p>
            <a:pPr marL="0" indent="0" algn="l">
              <a:buNone/>
            </a:pPr>
            <a:r>
              <a:rPr lang="en-US" sz="800" b="1" dirty="0">
                <a:solidFill>
                  <a:srgbClr val="15803D"/>
                </a:solidFill>
                <a:latin typeface="Noto Sans JP" pitchFamily="34" charset="0"/>
                <a:ea typeface="Noto Sans JP" pitchFamily="34" charset="-122"/>
                <a:cs typeface="Noto Sans JP" pitchFamily="34" charset="-120"/>
              </a:rPr>
              <a:t>Dev</a:t>
            </a:r>
            <a:endParaRPr lang="en-US" sz="800" dirty="0"/>
          </a:p>
        </p:txBody>
      </p:sp>
      <p:sp>
        <p:nvSpPr>
          <p:cNvPr id="126" name="Text 113"/>
          <p:cNvSpPr txBox="1"/>
          <p:nvPr/>
        </p:nvSpPr>
        <p:spPr>
          <a:xfrm>
            <a:off x="8074152" y="5514746"/>
            <a:ext cx="3400654" cy="324612"/>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機能仕様書のドラフト作成、テストケース生成、コード解説コメント付与</a:t>
            </a:r>
            <a:endParaRPr lang="en-US" sz="900" dirty="0"/>
          </a:p>
        </p:txBody>
      </p:sp>
      <p:sp>
        <p:nvSpPr>
          <p:cNvPr id="127" name="Shape 114"/>
          <p:cNvSpPr/>
          <p:nvPr/>
        </p:nvSpPr>
        <p:spPr>
          <a:xfrm>
            <a:off x="8074152" y="6115507"/>
            <a:ext cx="3353105" cy="352044"/>
          </a:xfrm>
          <a:prstGeom prst="roundRect">
            <a:avLst>
              <a:gd name="adj" fmla="val 42120"/>
            </a:avLst>
          </a:prstGeom>
          <a:solidFill>
            <a:srgbClr val="F8FAFC"/>
          </a:solidFill>
          <a:ln/>
        </p:spPr>
        <p:txBody>
          <a:bodyPr/>
          <a:lstStyle/>
          <a:p>
            <a:endParaRPr lang="ja-JP" altLang="en-US"/>
          </a:p>
        </p:txBody>
      </p:sp>
      <p:sp>
        <p:nvSpPr>
          <p:cNvPr id="128" name="Shape 115"/>
          <p:cNvSpPr/>
          <p:nvPr/>
        </p:nvSpPr>
        <p:spPr>
          <a:xfrm>
            <a:off x="8074152" y="6115507"/>
            <a:ext cx="28346" cy="352044"/>
          </a:xfrm>
          <a:prstGeom prst="rect">
            <a:avLst/>
          </a:prstGeom>
          <a:solidFill>
            <a:srgbClr val="DC2626"/>
          </a:solidFill>
          <a:ln/>
        </p:spPr>
        <p:txBody>
          <a:bodyPr/>
          <a:lstStyle/>
          <a:p>
            <a:endParaRPr lang="ja-JP" altLang="en-US"/>
          </a:p>
        </p:txBody>
      </p:sp>
      <p:sp>
        <p:nvSpPr>
          <p:cNvPr id="129" name="Text 116"/>
          <p:cNvSpPr txBox="1"/>
          <p:nvPr/>
        </p:nvSpPr>
        <p:spPr>
          <a:xfrm>
            <a:off x="8216798" y="6219749"/>
            <a:ext cx="648310"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JP" pitchFamily="34" charset="0"/>
                <a:ea typeface="Noto Sans JP" pitchFamily="34" charset="-122"/>
                <a:cs typeface="Noto Sans JP" pitchFamily="34" charset="-120"/>
              </a:rPr>
              <a:t>設計・文書化</a:t>
            </a:r>
            <a:endParaRPr lang="en-US" sz="800" dirty="0"/>
          </a:p>
        </p:txBody>
      </p:sp>
      <p:sp>
        <p:nvSpPr>
          <p:cNvPr id="130" name="Text 117"/>
          <p:cNvSpPr txBox="1"/>
          <p:nvPr/>
        </p:nvSpPr>
        <p:spPr>
          <a:xfrm>
            <a:off x="10714939" y="6191402"/>
            <a:ext cx="700430" cy="191110"/>
          </a:xfrm>
          <a:prstGeom prst="rect">
            <a:avLst/>
          </a:prstGeom>
          <a:noFill/>
          <a:ln/>
        </p:spPr>
        <p:txBody>
          <a:bodyPr wrap="square" lIns="0" tIns="0" rIns="0" bIns="0" rtlCol="0" anchor="ctr"/>
          <a:lstStyle/>
          <a:p>
            <a:pPr marL="0" indent="0" algn="l">
              <a:buNone/>
            </a:pPr>
            <a:r>
              <a:rPr lang="en-US" sz="1000" b="1" dirty="0">
                <a:solidFill>
                  <a:srgbClr val="1E40AF"/>
                </a:solidFill>
                <a:latin typeface="Noto Sans JP" pitchFamily="34" charset="0"/>
                <a:ea typeface="Noto Sans JP" pitchFamily="34" charset="-122"/>
                <a:cs typeface="Noto Sans JP" pitchFamily="34" charset="-120"/>
              </a:rPr>
              <a:t>35% 削減</a:t>
            </a:r>
            <a:endParaRPr lang="en-US" sz="1000" dirty="0"/>
          </a:p>
        </p:txBody>
      </p:sp>
      <p:sp>
        <p:nvSpPr>
          <p:cNvPr id="131" name="Text 118"/>
          <p:cNvSpPr txBox="1"/>
          <p:nvPr/>
        </p:nvSpPr>
        <p:spPr>
          <a:xfrm>
            <a:off x="11818620" y="6486754"/>
            <a:ext cx="162763"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1266444"/>
            <a:ext cx="12191695" cy="6077102"/>
          </a:xfrm>
          <a:prstGeom prst="rect">
            <a:avLst/>
          </a:prstGeom>
          <a:solidFill>
            <a:srgbClr val="F8FAFC"/>
          </a:solidFill>
          <a:ln/>
        </p:spPr>
        <p:txBody>
          <a:bodyPr/>
          <a:lstStyle/>
          <a:p>
            <a:endParaRPr lang="ja-JP" altLang="en-US"/>
          </a:p>
        </p:txBody>
      </p:sp>
      <p:sp>
        <p:nvSpPr>
          <p:cNvPr id="5" name="Shape 3"/>
          <p:cNvSpPr/>
          <p:nvPr/>
        </p:nvSpPr>
        <p:spPr>
          <a:xfrm>
            <a:off x="609905" y="3575304"/>
            <a:ext cx="10972800" cy="38405"/>
          </a:xfrm>
          <a:prstGeom prst="roundRect">
            <a:avLst>
              <a:gd name="adj" fmla="val 2380940"/>
            </a:avLst>
          </a:prstGeom>
          <a:solidFill>
            <a:srgbClr val="E2E8F0"/>
          </a:solidFill>
          <a:ln/>
        </p:spPr>
        <p:txBody>
          <a:bodyPr/>
          <a:lstStyle/>
          <a:p>
            <a:endParaRPr lang="ja-JP" altLang="en-US"/>
          </a:p>
        </p:txBody>
      </p:sp>
      <p:sp>
        <p:nvSpPr>
          <p:cNvPr id="6" name="Shape 4"/>
          <p:cNvSpPr/>
          <p:nvPr/>
        </p:nvSpPr>
        <p:spPr>
          <a:xfrm>
            <a:off x="609905" y="6255410"/>
            <a:ext cx="10972800" cy="705002"/>
          </a:xfrm>
          <a:prstGeom prst="rect">
            <a:avLst/>
          </a:prstGeom>
          <a:solidFill>
            <a:srgbClr val="EFF6FC"/>
          </a:solidFill>
          <a:ln/>
        </p:spPr>
        <p:txBody>
          <a:bodyPr/>
          <a:lstStyle/>
          <a:p>
            <a:endParaRPr lang="ja-JP" altLang="en-US"/>
          </a:p>
        </p:txBody>
      </p:sp>
      <p:sp>
        <p:nvSpPr>
          <p:cNvPr id="7" name="Shape 5"/>
          <p:cNvSpPr/>
          <p:nvPr/>
        </p:nvSpPr>
        <p:spPr>
          <a:xfrm>
            <a:off x="609905" y="6255410"/>
            <a:ext cx="38405" cy="705002"/>
          </a:xfrm>
          <a:prstGeom prst="rect">
            <a:avLst/>
          </a:prstGeom>
          <a:solidFill>
            <a:srgbClr val="0078D4"/>
          </a:solidFill>
          <a:ln/>
        </p:spPr>
        <p:txBody>
          <a:bodyPr/>
          <a:lstStyle/>
          <a:p>
            <a:endParaRPr lang="ja-JP" altLang="en-US"/>
          </a:p>
        </p:txBody>
      </p:sp>
      <p:pic>
        <p:nvPicPr>
          <p:cNvPr id="8" name="Image 0" descr="preencoded.png"/>
          <p:cNvPicPr>
            <a:picLocks noChangeAspect="1"/>
          </p:cNvPicPr>
          <p:nvPr/>
        </p:nvPicPr>
        <p:blipFill>
          <a:blip r:embed="rId3"/>
          <a:srcRect/>
          <a:stretch/>
        </p:blipFill>
        <p:spPr>
          <a:xfrm>
            <a:off x="875995" y="6512357"/>
            <a:ext cx="142646" cy="190195"/>
          </a:xfrm>
          <a:prstGeom prst="rect">
            <a:avLst/>
          </a:prstGeom>
        </p:spPr>
      </p:pic>
      <p:sp>
        <p:nvSpPr>
          <p:cNvPr id="9" name="Text 6"/>
          <p:cNvSpPr txBox="1"/>
          <p:nvPr/>
        </p:nvSpPr>
        <p:spPr>
          <a:xfrm>
            <a:off x="1171346" y="6407201"/>
            <a:ext cx="6491326" cy="191110"/>
          </a:xfrm>
          <a:prstGeom prst="rect">
            <a:avLst/>
          </a:prstGeom>
          <a:noFill/>
          <a:ln/>
        </p:spPr>
        <p:txBody>
          <a:bodyPr wrap="square" lIns="0" tIns="0" rIns="0" bIns="0" rtlCol="0" anchor="ctr"/>
          <a:lstStyle/>
          <a:p>
            <a:pPr marL="0" indent="0" algn="l">
              <a:buNone/>
            </a:pPr>
            <a:r>
              <a:rPr lang="en-US" sz="1000" dirty="0">
                <a:solidFill>
                  <a:srgbClr val="1E3A8A"/>
                </a:solidFill>
                <a:latin typeface="Noto Sans JP" pitchFamily="34" charset="0"/>
                <a:ea typeface="Noto Sans JP" pitchFamily="34" charset="-122"/>
                <a:cs typeface="Noto Sans JP" pitchFamily="34" charset="-120"/>
              </a:rPr>
              <a:t>POINT：オンプレミス文書管理からの脱却（SharePoint移行）が「Phase 3」以降の成功の鍵となります。</a:t>
            </a:r>
            <a:endParaRPr lang="en-US" sz="1000" dirty="0"/>
          </a:p>
        </p:txBody>
      </p:sp>
      <p:sp>
        <p:nvSpPr>
          <p:cNvPr id="10" name="Text 7"/>
          <p:cNvSpPr txBox="1"/>
          <p:nvPr/>
        </p:nvSpPr>
        <p:spPr>
          <a:xfrm>
            <a:off x="1171346" y="6607454"/>
            <a:ext cx="7339889" cy="191110"/>
          </a:xfrm>
          <a:prstGeom prst="rect">
            <a:avLst/>
          </a:prstGeom>
          <a:noFill/>
          <a:ln/>
        </p:spPr>
        <p:txBody>
          <a:bodyPr wrap="square" lIns="0" tIns="0" rIns="0" bIns="0" rtlCol="0" anchor="ctr"/>
          <a:lstStyle/>
          <a:p>
            <a:pPr marL="0" indent="0" algn="l">
              <a:buNone/>
            </a:pPr>
            <a:r>
              <a:rPr lang="en-US" sz="1000" dirty="0">
                <a:solidFill>
                  <a:srgbClr val="1E3A8A"/>
                </a:solidFill>
                <a:latin typeface="Noto Sans JP" pitchFamily="34" charset="0"/>
                <a:ea typeface="Noto Sans JP" pitchFamily="34" charset="-122"/>
                <a:cs typeface="Noto Sans JP" pitchFamily="34" charset="-120"/>
              </a:rPr>
              <a:t>前半は「個人の時短（Tier 1効果）」に注力し、後半で「組織知の活用（Tier 3効果）」へシフトする構成が推奨されます。</a:t>
            </a:r>
            <a:endParaRPr lang="en-US" sz="1000" dirty="0"/>
          </a:p>
        </p:txBody>
      </p:sp>
      <p:sp>
        <p:nvSpPr>
          <p:cNvPr id="11" name="Text 8"/>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16</a:t>
            </a:r>
            <a:endParaRPr lang="en-US" sz="900" dirty="0"/>
          </a:p>
        </p:txBody>
      </p:sp>
      <p:sp>
        <p:nvSpPr>
          <p:cNvPr id="12" name="Shape 9"/>
          <p:cNvSpPr/>
          <p:nvPr/>
        </p:nvSpPr>
        <p:spPr>
          <a:xfrm>
            <a:off x="0" y="0"/>
            <a:ext cx="12191695" cy="1266444"/>
          </a:xfrm>
          <a:prstGeom prst="rect">
            <a:avLst/>
          </a:prstGeom>
          <a:solidFill>
            <a:srgbClr val="FFFFFF"/>
          </a:solidFill>
          <a:ln/>
        </p:spPr>
        <p:txBody>
          <a:bodyPr/>
          <a:lstStyle/>
          <a:p>
            <a:endParaRPr lang="ja-JP" altLang="en-US"/>
          </a:p>
        </p:txBody>
      </p:sp>
      <p:sp>
        <p:nvSpPr>
          <p:cNvPr id="13" name="Shape 10"/>
          <p:cNvSpPr/>
          <p:nvPr/>
        </p:nvSpPr>
        <p:spPr>
          <a:xfrm>
            <a:off x="0" y="1257300"/>
            <a:ext cx="12191695" cy="9144"/>
          </a:xfrm>
          <a:prstGeom prst="rect">
            <a:avLst/>
          </a:prstGeom>
          <a:solidFill>
            <a:srgbClr val="E5E7EB"/>
          </a:solidFill>
          <a:ln/>
        </p:spPr>
        <p:txBody>
          <a:bodyPr/>
          <a:lstStyle/>
          <a:p>
            <a:endParaRPr lang="ja-JP" altLang="en-US"/>
          </a:p>
        </p:txBody>
      </p:sp>
      <p:sp>
        <p:nvSpPr>
          <p:cNvPr id="14" name="Shape 11"/>
          <p:cNvSpPr/>
          <p:nvPr/>
        </p:nvSpPr>
        <p:spPr>
          <a:xfrm>
            <a:off x="10305288" y="752551"/>
            <a:ext cx="1285646" cy="314554"/>
          </a:xfrm>
          <a:prstGeom prst="roundRect">
            <a:avLst>
              <a:gd name="adj" fmla="val 35236"/>
            </a:avLst>
          </a:prstGeom>
          <a:solidFill>
            <a:srgbClr val="0F172A"/>
          </a:solidFill>
          <a:ln/>
        </p:spPr>
        <p:txBody>
          <a:bodyPr/>
          <a:lstStyle/>
          <a:p>
            <a:endParaRPr lang="ja-JP" altLang="en-US"/>
          </a:p>
        </p:txBody>
      </p:sp>
      <p:sp>
        <p:nvSpPr>
          <p:cNvPr id="15" name="Text 12"/>
          <p:cNvSpPr txBox="1"/>
          <p:nvPr/>
        </p:nvSpPr>
        <p:spPr>
          <a:xfrm>
            <a:off x="609905" y="314554"/>
            <a:ext cx="5468112" cy="438912"/>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導入ロードマップへの示唆（12ヶ月）</a:t>
            </a:r>
            <a:endParaRPr lang="en-US" sz="2400" dirty="0"/>
          </a:p>
        </p:txBody>
      </p:sp>
      <p:sp>
        <p:nvSpPr>
          <p:cNvPr id="16" name="Text 13"/>
          <p:cNvSpPr txBox="1"/>
          <p:nvPr/>
        </p:nvSpPr>
        <p:spPr>
          <a:xfrm>
            <a:off x="609905" y="838505"/>
            <a:ext cx="5448910" cy="228600"/>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段階的な展開による「個人の生産性」から「組織知の活用」への進化ステップ</a:t>
            </a:r>
            <a:endParaRPr lang="en-US" sz="1200" dirty="0"/>
          </a:p>
        </p:txBody>
      </p:sp>
      <p:pic>
        <p:nvPicPr>
          <p:cNvPr id="17" name="Image 1" descr="preencoded.png"/>
          <p:cNvPicPr>
            <a:picLocks noChangeAspect="1"/>
          </p:cNvPicPr>
          <p:nvPr/>
        </p:nvPicPr>
        <p:blipFill>
          <a:blip r:embed="rId4"/>
          <a:srcRect l="-3425" r="-3425"/>
          <a:stretch/>
        </p:blipFill>
        <p:spPr>
          <a:xfrm>
            <a:off x="10457078" y="844906"/>
            <a:ext cx="142646" cy="133502"/>
          </a:xfrm>
          <a:prstGeom prst="rect">
            <a:avLst/>
          </a:prstGeom>
        </p:spPr>
      </p:pic>
      <p:sp>
        <p:nvSpPr>
          <p:cNvPr id="18" name="Text 14"/>
          <p:cNvSpPr txBox="1"/>
          <p:nvPr/>
        </p:nvSpPr>
        <p:spPr>
          <a:xfrm>
            <a:off x="10676534" y="809244"/>
            <a:ext cx="862279" cy="191110"/>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JP" pitchFamily="34" charset="0"/>
                <a:ea typeface="Noto Sans JP" pitchFamily="34" charset="-122"/>
                <a:cs typeface="Noto Sans JP" pitchFamily="34" charset="-120"/>
              </a:rPr>
              <a:t>ROADMAP</a:t>
            </a:r>
            <a:endParaRPr lang="en-US" sz="1000" dirty="0"/>
          </a:p>
        </p:txBody>
      </p:sp>
      <p:sp>
        <p:nvSpPr>
          <p:cNvPr id="19" name="Shape 15"/>
          <p:cNvSpPr/>
          <p:nvPr/>
        </p:nvSpPr>
        <p:spPr>
          <a:xfrm>
            <a:off x="9010498" y="1647749"/>
            <a:ext cx="2572207" cy="4381805"/>
          </a:xfrm>
          <a:prstGeom prst="roundRect">
            <a:avLst>
              <a:gd name="adj" fmla="val 1580"/>
            </a:avLst>
          </a:prstGeom>
          <a:solidFill>
            <a:srgbClr val="FFFFFF"/>
          </a:solidFill>
          <a:ln/>
          <a:effectLst>
            <a:outerShdw blurRad="63500" dist="38100" dir="5400000" algn="bl" rotWithShape="0">
              <a:srgbClr val="000000">
                <a:alpha val="5000"/>
              </a:srgbClr>
            </a:outerShdw>
          </a:effectLst>
        </p:spPr>
        <p:txBody>
          <a:bodyPr/>
          <a:lstStyle/>
          <a:p>
            <a:endParaRPr lang="ja-JP" altLang="en-US"/>
          </a:p>
        </p:txBody>
      </p:sp>
      <p:sp>
        <p:nvSpPr>
          <p:cNvPr id="20" name="Shape 16"/>
          <p:cNvSpPr/>
          <p:nvPr/>
        </p:nvSpPr>
        <p:spPr>
          <a:xfrm>
            <a:off x="9010498" y="1647749"/>
            <a:ext cx="2572207" cy="57607"/>
          </a:xfrm>
          <a:prstGeom prst="rect">
            <a:avLst/>
          </a:prstGeom>
          <a:solidFill>
            <a:srgbClr val="0F172A"/>
          </a:solidFill>
          <a:ln/>
        </p:spPr>
        <p:txBody>
          <a:bodyPr/>
          <a:lstStyle/>
          <a:p>
            <a:endParaRPr lang="ja-JP" altLang="en-US"/>
          </a:p>
        </p:txBody>
      </p:sp>
      <p:sp>
        <p:nvSpPr>
          <p:cNvPr id="21" name="Shape 17"/>
          <p:cNvSpPr/>
          <p:nvPr/>
        </p:nvSpPr>
        <p:spPr>
          <a:xfrm>
            <a:off x="9010498" y="1705356"/>
            <a:ext cx="2572207" cy="1543507"/>
          </a:xfrm>
          <a:prstGeom prst="rect">
            <a:avLst/>
          </a:prstGeom>
          <a:solidFill>
            <a:srgbClr val="FFFFFF"/>
          </a:solidFill>
          <a:ln/>
        </p:spPr>
        <p:txBody>
          <a:bodyPr/>
          <a:lstStyle/>
          <a:p>
            <a:endParaRPr lang="ja-JP" altLang="en-US"/>
          </a:p>
        </p:txBody>
      </p:sp>
      <p:sp>
        <p:nvSpPr>
          <p:cNvPr id="22" name="Shape 18"/>
          <p:cNvSpPr/>
          <p:nvPr/>
        </p:nvSpPr>
        <p:spPr>
          <a:xfrm>
            <a:off x="9010498" y="3239719"/>
            <a:ext cx="2572207" cy="9144"/>
          </a:xfrm>
          <a:prstGeom prst="rect">
            <a:avLst/>
          </a:prstGeom>
          <a:solidFill>
            <a:srgbClr val="F1F5F9"/>
          </a:solidFill>
          <a:ln/>
        </p:spPr>
        <p:txBody>
          <a:bodyPr/>
          <a:lstStyle/>
          <a:p>
            <a:endParaRPr lang="ja-JP" altLang="en-US"/>
          </a:p>
        </p:txBody>
      </p:sp>
      <p:sp>
        <p:nvSpPr>
          <p:cNvPr id="23" name="Shape 19"/>
          <p:cNvSpPr/>
          <p:nvPr/>
        </p:nvSpPr>
        <p:spPr>
          <a:xfrm>
            <a:off x="9239098" y="1895551"/>
            <a:ext cx="381305" cy="381305"/>
          </a:xfrm>
          <a:prstGeom prst="ellipse">
            <a:avLst/>
          </a:prstGeom>
          <a:solidFill>
            <a:srgbClr val="0F172A"/>
          </a:solidFill>
          <a:ln/>
          <a:effectLst>
            <a:outerShdw blurRad="38100" dist="25400" dir="5400000" algn="bl" rotWithShape="0">
              <a:srgbClr val="000000">
                <a:alpha val="10000"/>
              </a:srgbClr>
            </a:outerShdw>
          </a:effectLst>
        </p:spPr>
        <p:txBody>
          <a:bodyPr/>
          <a:lstStyle/>
          <a:p>
            <a:endParaRPr lang="ja-JP" altLang="en-US"/>
          </a:p>
        </p:txBody>
      </p:sp>
      <p:pic>
        <p:nvPicPr>
          <p:cNvPr id="24" name="Image 2" descr="preencoded.png"/>
          <p:cNvPicPr>
            <a:picLocks noChangeAspect="1"/>
          </p:cNvPicPr>
          <p:nvPr/>
        </p:nvPicPr>
        <p:blipFill>
          <a:blip r:embed="rId5"/>
          <a:srcRect l="-1064" r="-1064"/>
          <a:stretch/>
        </p:blipFill>
        <p:spPr>
          <a:xfrm>
            <a:off x="9320479" y="2000707"/>
            <a:ext cx="219456" cy="171907"/>
          </a:xfrm>
          <a:prstGeom prst="rect">
            <a:avLst/>
          </a:prstGeom>
        </p:spPr>
      </p:pic>
      <p:pic>
        <p:nvPicPr>
          <p:cNvPr id="25" name="Image 3" descr="preencoded.png"/>
          <p:cNvPicPr>
            <a:picLocks noChangeAspect="1"/>
          </p:cNvPicPr>
          <p:nvPr/>
        </p:nvPicPr>
        <p:blipFill>
          <a:blip r:embed="rId6"/>
          <a:srcRect/>
          <a:stretch/>
        </p:blipFill>
        <p:spPr>
          <a:xfrm>
            <a:off x="9239098" y="3503066"/>
            <a:ext cx="75895" cy="75895"/>
          </a:xfrm>
          <a:prstGeom prst="rect">
            <a:avLst/>
          </a:prstGeom>
        </p:spPr>
      </p:pic>
      <p:pic>
        <p:nvPicPr>
          <p:cNvPr id="26" name="Image 4" descr="preencoded.png"/>
          <p:cNvPicPr>
            <a:picLocks noChangeAspect="1"/>
          </p:cNvPicPr>
          <p:nvPr/>
        </p:nvPicPr>
        <p:blipFill>
          <a:blip r:embed="rId6"/>
          <a:srcRect/>
          <a:stretch/>
        </p:blipFill>
        <p:spPr>
          <a:xfrm>
            <a:off x="9239098" y="3989527"/>
            <a:ext cx="75895" cy="75895"/>
          </a:xfrm>
          <a:prstGeom prst="rect">
            <a:avLst/>
          </a:prstGeom>
        </p:spPr>
      </p:pic>
      <p:pic>
        <p:nvPicPr>
          <p:cNvPr id="27" name="Image 5" descr="preencoded.png"/>
          <p:cNvPicPr>
            <a:picLocks noChangeAspect="1"/>
          </p:cNvPicPr>
          <p:nvPr/>
        </p:nvPicPr>
        <p:blipFill>
          <a:blip r:embed="rId6"/>
          <a:srcRect/>
          <a:stretch/>
        </p:blipFill>
        <p:spPr>
          <a:xfrm>
            <a:off x="9239098" y="4475074"/>
            <a:ext cx="75895" cy="75895"/>
          </a:xfrm>
          <a:prstGeom prst="rect">
            <a:avLst/>
          </a:prstGeom>
        </p:spPr>
      </p:pic>
      <p:sp>
        <p:nvSpPr>
          <p:cNvPr id="28" name="Shape 20"/>
          <p:cNvSpPr/>
          <p:nvPr/>
        </p:nvSpPr>
        <p:spPr>
          <a:xfrm>
            <a:off x="9239098" y="5046574"/>
            <a:ext cx="2115007" cy="790956"/>
          </a:xfrm>
          <a:prstGeom prst="roundRect">
            <a:avLst>
              <a:gd name="adj" fmla="val 8357"/>
            </a:avLst>
          </a:prstGeom>
          <a:solidFill>
            <a:srgbClr val="F8FAFC"/>
          </a:solidFill>
          <a:ln w="12700">
            <a:solidFill>
              <a:srgbClr val="CBD5E1"/>
            </a:solidFill>
            <a:prstDash val="solid"/>
          </a:ln>
        </p:spPr>
        <p:txBody>
          <a:bodyPr/>
          <a:lstStyle/>
          <a:p>
            <a:endParaRPr lang="ja-JP" altLang="en-US"/>
          </a:p>
        </p:txBody>
      </p:sp>
      <p:sp>
        <p:nvSpPr>
          <p:cNvPr id="29" name="Text 21"/>
          <p:cNvSpPr txBox="1"/>
          <p:nvPr/>
        </p:nvSpPr>
        <p:spPr>
          <a:xfrm>
            <a:off x="9239098" y="2391156"/>
            <a:ext cx="1057961" cy="162763"/>
          </a:xfrm>
          <a:prstGeom prst="rect">
            <a:avLst/>
          </a:prstGeom>
          <a:noFill/>
          <a:ln/>
        </p:spPr>
        <p:txBody>
          <a:bodyPr wrap="square" lIns="0" tIns="0" rIns="0" bIns="0" rtlCol="0" anchor="ctr"/>
          <a:lstStyle/>
          <a:p>
            <a:pPr marL="0" indent="0" algn="l">
              <a:buNone/>
            </a:pPr>
            <a:r>
              <a:rPr lang="en-US" sz="900" b="1" dirty="0">
                <a:solidFill>
                  <a:srgbClr val="64748B"/>
                </a:solidFill>
                <a:latin typeface="Noto Sans JP" pitchFamily="34" charset="0"/>
                <a:ea typeface="Noto Sans JP" pitchFamily="34" charset="-122"/>
                <a:cs typeface="Noto Sans JP" pitchFamily="34" charset="-120"/>
              </a:rPr>
              <a:t>10 - 12 MONTHS</a:t>
            </a:r>
            <a:endParaRPr lang="en-US" sz="900" dirty="0"/>
          </a:p>
        </p:txBody>
      </p:sp>
      <p:sp>
        <p:nvSpPr>
          <p:cNvPr id="30" name="Text 22"/>
          <p:cNvSpPr txBox="1"/>
          <p:nvPr/>
        </p:nvSpPr>
        <p:spPr>
          <a:xfrm>
            <a:off x="9239098" y="2581351"/>
            <a:ext cx="2119579" cy="4764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JP" pitchFamily="34" charset="0"/>
                <a:ea typeface="Noto Sans JP" pitchFamily="34" charset="-122"/>
                <a:cs typeface="Noto Sans JP" pitchFamily="34" charset="-120"/>
              </a:rPr>
              <a:t>全社展開・自動化Scale &amp; Automate</a:t>
            </a:r>
            <a:endParaRPr lang="en-US" sz="1300" dirty="0"/>
          </a:p>
        </p:txBody>
      </p:sp>
      <p:sp>
        <p:nvSpPr>
          <p:cNvPr id="31" name="Text 23"/>
          <p:cNvSpPr txBox="1"/>
          <p:nvPr/>
        </p:nvSpPr>
        <p:spPr>
          <a:xfrm>
            <a:off x="9411005" y="3436315"/>
            <a:ext cx="1922069" cy="37216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Copilot Agents内製化（ノーコード活用）</a:t>
            </a:r>
            <a:endParaRPr lang="en-US" sz="900" dirty="0"/>
          </a:p>
        </p:txBody>
      </p:sp>
      <p:sp>
        <p:nvSpPr>
          <p:cNvPr id="32" name="Text 24"/>
          <p:cNvSpPr txBox="1"/>
          <p:nvPr/>
        </p:nvSpPr>
        <p:spPr>
          <a:xfrm>
            <a:off x="9411005" y="3922776"/>
            <a:ext cx="1950415" cy="37216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部門特化エージェントの全社スケール</a:t>
            </a:r>
            <a:endParaRPr lang="en-US" sz="900" dirty="0"/>
          </a:p>
        </p:txBody>
      </p:sp>
      <p:sp>
        <p:nvSpPr>
          <p:cNvPr id="33" name="Text 25"/>
          <p:cNvSpPr txBox="1"/>
          <p:nvPr/>
        </p:nvSpPr>
        <p:spPr>
          <a:xfrm>
            <a:off x="9411005" y="4408322"/>
            <a:ext cx="1693469"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アクセシビリティ対応の拡充</a:t>
            </a:r>
            <a:endParaRPr lang="en-US" sz="900" dirty="0"/>
          </a:p>
        </p:txBody>
      </p:sp>
      <p:sp>
        <p:nvSpPr>
          <p:cNvPr id="34" name="Text 26"/>
          <p:cNvSpPr txBox="1"/>
          <p:nvPr/>
        </p:nvSpPr>
        <p:spPr>
          <a:xfrm>
            <a:off x="9363456" y="5170018"/>
            <a:ext cx="688543" cy="152705"/>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TARGET KPI</a:t>
            </a:r>
            <a:endParaRPr lang="en-US" sz="800" dirty="0"/>
          </a:p>
        </p:txBody>
      </p:sp>
      <p:sp>
        <p:nvSpPr>
          <p:cNvPr id="35" name="Text 27"/>
          <p:cNvSpPr txBox="1"/>
          <p:nvPr/>
        </p:nvSpPr>
        <p:spPr>
          <a:xfrm>
            <a:off x="9363456" y="5355641"/>
            <a:ext cx="1341425" cy="181051"/>
          </a:xfrm>
          <a:prstGeom prst="rect">
            <a:avLst/>
          </a:prstGeom>
          <a:noFill/>
          <a:ln/>
        </p:spPr>
        <p:txBody>
          <a:bodyPr wrap="square" lIns="0" tIns="0" rIns="0" bIns="0" rtlCol="0" anchor="ctr"/>
          <a:lstStyle/>
          <a:p>
            <a:pPr marL="0" indent="0" algn="l">
              <a:buNone/>
            </a:pPr>
            <a:r>
              <a:rPr lang="en-US" sz="900" b="1" dirty="0">
                <a:solidFill>
                  <a:srgbClr val="0F172A"/>
                </a:solidFill>
                <a:latin typeface="Noto Sans JP" pitchFamily="34" charset="0"/>
                <a:ea typeface="Noto Sans JP" pitchFamily="34" charset="-122"/>
                <a:cs typeface="Noto Sans JP" pitchFamily="34" charset="-120"/>
              </a:rPr>
              <a:t>業務プロセス削減時間</a:t>
            </a:r>
            <a:endParaRPr lang="en-US" sz="900" dirty="0"/>
          </a:p>
        </p:txBody>
      </p:sp>
      <p:sp>
        <p:nvSpPr>
          <p:cNvPr id="36" name="Text 28"/>
          <p:cNvSpPr txBox="1"/>
          <p:nvPr/>
        </p:nvSpPr>
        <p:spPr>
          <a:xfrm>
            <a:off x="9363456" y="5529377"/>
            <a:ext cx="1207922" cy="181051"/>
          </a:xfrm>
          <a:prstGeom prst="rect">
            <a:avLst/>
          </a:prstGeom>
          <a:noFill/>
          <a:ln/>
        </p:spPr>
        <p:txBody>
          <a:bodyPr wrap="square" lIns="0" tIns="0" rIns="0" bIns="0" rtlCol="0" anchor="ctr"/>
          <a:lstStyle/>
          <a:p>
            <a:pPr marL="0" indent="0" algn="l">
              <a:buNone/>
            </a:pPr>
            <a:r>
              <a:rPr lang="en-US" sz="900" b="1" dirty="0">
                <a:solidFill>
                  <a:srgbClr val="0F172A"/>
                </a:solidFill>
                <a:latin typeface="Noto Sans JP" pitchFamily="34" charset="0"/>
                <a:ea typeface="Noto Sans JP" pitchFamily="34" charset="-122"/>
                <a:cs typeface="Noto Sans JP" pitchFamily="34" charset="-120"/>
              </a:rPr>
              <a:t>エージェント稼働数</a:t>
            </a:r>
            <a:endParaRPr lang="en-US" sz="900" dirty="0"/>
          </a:p>
        </p:txBody>
      </p:sp>
      <p:sp>
        <p:nvSpPr>
          <p:cNvPr id="37" name="Shape 29"/>
          <p:cNvSpPr/>
          <p:nvPr/>
        </p:nvSpPr>
        <p:spPr>
          <a:xfrm>
            <a:off x="609905" y="1647749"/>
            <a:ext cx="2572207" cy="4381805"/>
          </a:xfrm>
          <a:prstGeom prst="roundRect">
            <a:avLst>
              <a:gd name="adj" fmla="val 1580"/>
            </a:avLst>
          </a:prstGeom>
          <a:solidFill>
            <a:srgbClr val="FFFFFF"/>
          </a:solidFill>
          <a:ln/>
          <a:effectLst>
            <a:outerShdw blurRad="63500" dist="38100" dir="5400000" algn="bl" rotWithShape="0">
              <a:srgbClr val="000000">
                <a:alpha val="5000"/>
              </a:srgbClr>
            </a:outerShdw>
          </a:effectLst>
        </p:spPr>
        <p:txBody>
          <a:bodyPr/>
          <a:lstStyle/>
          <a:p>
            <a:endParaRPr lang="ja-JP" altLang="en-US"/>
          </a:p>
        </p:txBody>
      </p:sp>
      <p:sp>
        <p:nvSpPr>
          <p:cNvPr id="38" name="Shape 30"/>
          <p:cNvSpPr/>
          <p:nvPr/>
        </p:nvSpPr>
        <p:spPr>
          <a:xfrm>
            <a:off x="609905" y="1647749"/>
            <a:ext cx="2572207" cy="57607"/>
          </a:xfrm>
          <a:prstGeom prst="rect">
            <a:avLst/>
          </a:prstGeom>
          <a:solidFill>
            <a:srgbClr val="93C5FD"/>
          </a:solidFill>
          <a:ln/>
        </p:spPr>
        <p:txBody>
          <a:bodyPr/>
          <a:lstStyle/>
          <a:p>
            <a:endParaRPr lang="ja-JP" altLang="en-US"/>
          </a:p>
        </p:txBody>
      </p:sp>
      <p:sp>
        <p:nvSpPr>
          <p:cNvPr id="39" name="Shape 31"/>
          <p:cNvSpPr/>
          <p:nvPr/>
        </p:nvSpPr>
        <p:spPr>
          <a:xfrm>
            <a:off x="609905" y="1705356"/>
            <a:ext cx="2572207" cy="1543507"/>
          </a:xfrm>
          <a:prstGeom prst="rect">
            <a:avLst/>
          </a:prstGeom>
          <a:solidFill>
            <a:srgbClr val="FFFFFF"/>
          </a:solidFill>
          <a:ln/>
        </p:spPr>
        <p:txBody>
          <a:bodyPr/>
          <a:lstStyle/>
          <a:p>
            <a:endParaRPr lang="ja-JP" altLang="en-US"/>
          </a:p>
        </p:txBody>
      </p:sp>
      <p:sp>
        <p:nvSpPr>
          <p:cNvPr id="40" name="Shape 32"/>
          <p:cNvSpPr/>
          <p:nvPr/>
        </p:nvSpPr>
        <p:spPr>
          <a:xfrm>
            <a:off x="609905" y="3239719"/>
            <a:ext cx="2572207" cy="9144"/>
          </a:xfrm>
          <a:prstGeom prst="rect">
            <a:avLst/>
          </a:prstGeom>
          <a:solidFill>
            <a:srgbClr val="F1F5F9"/>
          </a:solidFill>
          <a:ln/>
        </p:spPr>
        <p:txBody>
          <a:bodyPr/>
          <a:lstStyle/>
          <a:p>
            <a:endParaRPr lang="ja-JP" altLang="en-US"/>
          </a:p>
        </p:txBody>
      </p:sp>
      <p:sp>
        <p:nvSpPr>
          <p:cNvPr id="41" name="Shape 33"/>
          <p:cNvSpPr/>
          <p:nvPr/>
        </p:nvSpPr>
        <p:spPr>
          <a:xfrm>
            <a:off x="838505" y="1895551"/>
            <a:ext cx="381305" cy="381305"/>
          </a:xfrm>
          <a:prstGeom prst="ellipse">
            <a:avLst/>
          </a:prstGeom>
          <a:solidFill>
            <a:srgbClr val="93C5FD"/>
          </a:solidFill>
          <a:ln/>
          <a:effectLst>
            <a:outerShdw blurRad="38100" dist="25400" dir="5400000" algn="bl" rotWithShape="0">
              <a:srgbClr val="000000">
                <a:alpha val="10000"/>
              </a:srgbClr>
            </a:outerShdw>
          </a:effectLst>
        </p:spPr>
        <p:txBody>
          <a:bodyPr/>
          <a:lstStyle/>
          <a:p>
            <a:endParaRPr lang="ja-JP" altLang="en-US"/>
          </a:p>
        </p:txBody>
      </p:sp>
      <p:pic>
        <p:nvPicPr>
          <p:cNvPr id="42" name="Image 6" descr="preencoded.png"/>
          <p:cNvPicPr>
            <a:picLocks noChangeAspect="1"/>
          </p:cNvPicPr>
          <p:nvPr/>
        </p:nvPicPr>
        <p:blipFill>
          <a:blip r:embed="rId7"/>
          <a:srcRect l="-760" r="-760"/>
          <a:stretch/>
        </p:blipFill>
        <p:spPr>
          <a:xfrm>
            <a:off x="952805" y="2000707"/>
            <a:ext cx="152705" cy="171907"/>
          </a:xfrm>
          <a:prstGeom prst="rect">
            <a:avLst/>
          </a:prstGeom>
        </p:spPr>
      </p:pic>
      <p:sp>
        <p:nvSpPr>
          <p:cNvPr id="43" name="Text 34"/>
          <p:cNvSpPr txBox="1"/>
          <p:nvPr/>
        </p:nvSpPr>
        <p:spPr>
          <a:xfrm>
            <a:off x="838505" y="2391156"/>
            <a:ext cx="914400" cy="162763"/>
          </a:xfrm>
          <a:prstGeom prst="rect">
            <a:avLst/>
          </a:prstGeom>
          <a:noFill/>
          <a:ln/>
        </p:spPr>
        <p:txBody>
          <a:bodyPr wrap="square" lIns="0" tIns="0" rIns="0" bIns="0" rtlCol="0" anchor="ctr"/>
          <a:lstStyle/>
          <a:p>
            <a:pPr marL="0" indent="0" algn="l">
              <a:buNone/>
            </a:pPr>
            <a:r>
              <a:rPr lang="en-US" sz="900" b="1" dirty="0">
                <a:solidFill>
                  <a:srgbClr val="64748B"/>
                </a:solidFill>
                <a:latin typeface="Noto Sans JP" pitchFamily="34" charset="0"/>
                <a:ea typeface="Noto Sans JP" pitchFamily="34" charset="-122"/>
                <a:cs typeface="Noto Sans JP" pitchFamily="34" charset="-120"/>
              </a:rPr>
              <a:t>0 - 3 MONTHS</a:t>
            </a:r>
            <a:endParaRPr lang="en-US" sz="900" dirty="0"/>
          </a:p>
        </p:txBody>
      </p:sp>
      <p:sp>
        <p:nvSpPr>
          <p:cNvPr id="44" name="Text 35"/>
          <p:cNvSpPr txBox="1"/>
          <p:nvPr/>
        </p:nvSpPr>
        <p:spPr>
          <a:xfrm>
            <a:off x="838505" y="2581351"/>
            <a:ext cx="2177186" cy="4764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JP" pitchFamily="34" charset="0"/>
                <a:ea typeface="Noto Sans JP" pitchFamily="34" charset="-122"/>
                <a:cs typeface="Noto Sans JP" pitchFamily="34" charset="-120"/>
              </a:rPr>
              <a:t>基盤整備・初期導入Setup &amp; Baseline</a:t>
            </a:r>
            <a:endParaRPr lang="en-US" sz="1300" dirty="0"/>
          </a:p>
        </p:txBody>
      </p:sp>
      <p:pic>
        <p:nvPicPr>
          <p:cNvPr id="45" name="Image 7" descr="preencoded.png"/>
          <p:cNvPicPr>
            <a:picLocks noChangeAspect="1"/>
          </p:cNvPicPr>
          <p:nvPr/>
        </p:nvPicPr>
        <p:blipFill>
          <a:blip r:embed="rId8"/>
          <a:srcRect/>
          <a:stretch/>
        </p:blipFill>
        <p:spPr>
          <a:xfrm>
            <a:off x="838505" y="3503066"/>
            <a:ext cx="75895" cy="75895"/>
          </a:xfrm>
          <a:prstGeom prst="rect">
            <a:avLst/>
          </a:prstGeom>
        </p:spPr>
      </p:pic>
      <p:sp>
        <p:nvSpPr>
          <p:cNvPr id="46" name="Text 36"/>
          <p:cNvSpPr txBox="1"/>
          <p:nvPr/>
        </p:nvSpPr>
        <p:spPr>
          <a:xfrm>
            <a:off x="1009498" y="3436315"/>
            <a:ext cx="1997964" cy="37216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ガバナンス/セキュリティ確認・設定</a:t>
            </a:r>
            <a:endParaRPr lang="en-US" sz="900" dirty="0"/>
          </a:p>
        </p:txBody>
      </p:sp>
      <p:pic>
        <p:nvPicPr>
          <p:cNvPr id="47" name="Image 8" descr="preencoded.png"/>
          <p:cNvPicPr>
            <a:picLocks noChangeAspect="1"/>
          </p:cNvPicPr>
          <p:nvPr/>
        </p:nvPicPr>
        <p:blipFill>
          <a:blip r:embed="rId8"/>
          <a:srcRect/>
          <a:stretch/>
        </p:blipFill>
        <p:spPr>
          <a:xfrm>
            <a:off x="838505" y="3989527"/>
            <a:ext cx="75895" cy="75895"/>
          </a:xfrm>
          <a:prstGeom prst="rect">
            <a:avLst/>
          </a:prstGeom>
        </p:spPr>
      </p:pic>
      <p:sp>
        <p:nvSpPr>
          <p:cNvPr id="48" name="Text 37"/>
          <p:cNvSpPr txBox="1"/>
          <p:nvPr/>
        </p:nvSpPr>
        <p:spPr>
          <a:xfrm>
            <a:off x="1009498" y="3922776"/>
            <a:ext cx="1950415" cy="37216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推進リーダー（チャンピオン）任命と教育</a:t>
            </a:r>
            <a:endParaRPr lang="en-US" sz="900" dirty="0"/>
          </a:p>
        </p:txBody>
      </p:sp>
      <p:pic>
        <p:nvPicPr>
          <p:cNvPr id="49" name="Image 9" descr="preencoded.png"/>
          <p:cNvPicPr>
            <a:picLocks noChangeAspect="1"/>
          </p:cNvPicPr>
          <p:nvPr/>
        </p:nvPicPr>
        <p:blipFill>
          <a:blip r:embed="rId8"/>
          <a:srcRect/>
          <a:stretch/>
        </p:blipFill>
        <p:spPr>
          <a:xfrm>
            <a:off x="838505" y="4475074"/>
            <a:ext cx="75895" cy="75895"/>
          </a:xfrm>
          <a:prstGeom prst="rect">
            <a:avLst/>
          </a:prstGeom>
        </p:spPr>
      </p:pic>
      <p:sp>
        <p:nvSpPr>
          <p:cNvPr id="50" name="Text 38"/>
          <p:cNvSpPr txBox="1"/>
          <p:nvPr/>
        </p:nvSpPr>
        <p:spPr>
          <a:xfrm>
            <a:off x="1009498" y="4408322"/>
            <a:ext cx="1941271" cy="37216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メール・会議ユースケースの優先展開</a:t>
            </a:r>
            <a:endParaRPr lang="en-US" sz="900" dirty="0"/>
          </a:p>
        </p:txBody>
      </p:sp>
      <p:sp>
        <p:nvSpPr>
          <p:cNvPr id="51" name="Shape 39"/>
          <p:cNvSpPr/>
          <p:nvPr/>
        </p:nvSpPr>
        <p:spPr>
          <a:xfrm>
            <a:off x="838505" y="5046574"/>
            <a:ext cx="2115007" cy="790956"/>
          </a:xfrm>
          <a:prstGeom prst="roundRect">
            <a:avLst>
              <a:gd name="adj" fmla="val 8357"/>
            </a:avLst>
          </a:prstGeom>
          <a:solidFill>
            <a:srgbClr val="F8FAFC"/>
          </a:solidFill>
          <a:ln w="12700">
            <a:solidFill>
              <a:srgbClr val="CBD5E1"/>
            </a:solidFill>
            <a:prstDash val="solid"/>
          </a:ln>
        </p:spPr>
        <p:txBody>
          <a:bodyPr/>
          <a:lstStyle/>
          <a:p>
            <a:endParaRPr lang="ja-JP" altLang="en-US"/>
          </a:p>
        </p:txBody>
      </p:sp>
      <p:sp>
        <p:nvSpPr>
          <p:cNvPr id="52" name="Text 40"/>
          <p:cNvSpPr txBox="1"/>
          <p:nvPr/>
        </p:nvSpPr>
        <p:spPr>
          <a:xfrm>
            <a:off x="961949" y="5170018"/>
            <a:ext cx="688543" cy="152705"/>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TARGET KPI</a:t>
            </a:r>
            <a:endParaRPr lang="en-US" sz="800" dirty="0"/>
          </a:p>
        </p:txBody>
      </p:sp>
      <p:sp>
        <p:nvSpPr>
          <p:cNvPr id="53" name="Text 41"/>
          <p:cNvSpPr txBox="1"/>
          <p:nvPr/>
        </p:nvSpPr>
        <p:spPr>
          <a:xfrm>
            <a:off x="961949" y="5355641"/>
            <a:ext cx="1083564" cy="181051"/>
          </a:xfrm>
          <a:prstGeom prst="rect">
            <a:avLst/>
          </a:prstGeom>
          <a:noFill/>
          <a:ln/>
        </p:spPr>
        <p:txBody>
          <a:bodyPr wrap="square" lIns="0" tIns="0" rIns="0" bIns="0" rtlCol="0" anchor="ctr"/>
          <a:lstStyle/>
          <a:p>
            <a:pPr marL="0" indent="0" algn="l">
              <a:buNone/>
            </a:pPr>
            <a:r>
              <a:rPr lang="en-US" sz="900" b="1" dirty="0">
                <a:solidFill>
                  <a:srgbClr val="0F172A"/>
                </a:solidFill>
                <a:latin typeface="Noto Sans JP" pitchFamily="34" charset="0"/>
                <a:ea typeface="Noto Sans JP" pitchFamily="34" charset="-122"/>
                <a:cs typeface="Noto Sans JP" pitchFamily="34" charset="-120"/>
              </a:rPr>
              <a:t>ベースライン計測</a:t>
            </a:r>
            <a:endParaRPr lang="en-US" sz="900" dirty="0"/>
          </a:p>
        </p:txBody>
      </p:sp>
      <p:sp>
        <p:nvSpPr>
          <p:cNvPr id="54" name="Text 42"/>
          <p:cNvSpPr txBox="1"/>
          <p:nvPr/>
        </p:nvSpPr>
        <p:spPr>
          <a:xfrm>
            <a:off x="961949" y="5529377"/>
            <a:ext cx="1341425" cy="181051"/>
          </a:xfrm>
          <a:prstGeom prst="rect">
            <a:avLst/>
          </a:prstGeom>
          <a:noFill/>
          <a:ln/>
        </p:spPr>
        <p:txBody>
          <a:bodyPr wrap="square" lIns="0" tIns="0" rIns="0" bIns="0" rtlCol="0" anchor="ctr"/>
          <a:lstStyle/>
          <a:p>
            <a:pPr marL="0" indent="0" algn="l">
              <a:buNone/>
            </a:pPr>
            <a:r>
              <a:rPr lang="en-US" sz="900" b="1" dirty="0">
                <a:solidFill>
                  <a:srgbClr val="0F172A"/>
                </a:solidFill>
                <a:latin typeface="Noto Sans JP" pitchFamily="34" charset="0"/>
                <a:ea typeface="Noto Sans JP" pitchFamily="34" charset="-122"/>
                <a:cs typeface="Noto Sans JP" pitchFamily="34" charset="-120"/>
              </a:rPr>
              <a:t>（メール処理時間等）</a:t>
            </a:r>
            <a:endParaRPr lang="en-US" sz="900" dirty="0"/>
          </a:p>
        </p:txBody>
      </p:sp>
      <p:sp>
        <p:nvSpPr>
          <p:cNvPr id="55" name="Shape 43"/>
          <p:cNvSpPr/>
          <p:nvPr/>
        </p:nvSpPr>
        <p:spPr>
          <a:xfrm>
            <a:off x="3409798" y="1647749"/>
            <a:ext cx="2572207" cy="4381805"/>
          </a:xfrm>
          <a:prstGeom prst="roundRect">
            <a:avLst>
              <a:gd name="adj" fmla="val 1580"/>
            </a:avLst>
          </a:prstGeom>
          <a:solidFill>
            <a:srgbClr val="FFFFFF"/>
          </a:solidFill>
          <a:ln/>
          <a:effectLst>
            <a:outerShdw blurRad="63500" dist="38100" dir="5400000" algn="bl" rotWithShape="0">
              <a:srgbClr val="000000">
                <a:alpha val="5000"/>
              </a:srgbClr>
            </a:outerShdw>
          </a:effectLst>
        </p:spPr>
        <p:txBody>
          <a:bodyPr/>
          <a:lstStyle/>
          <a:p>
            <a:endParaRPr lang="ja-JP" altLang="en-US"/>
          </a:p>
        </p:txBody>
      </p:sp>
      <p:sp>
        <p:nvSpPr>
          <p:cNvPr id="56" name="Shape 44"/>
          <p:cNvSpPr/>
          <p:nvPr/>
        </p:nvSpPr>
        <p:spPr>
          <a:xfrm>
            <a:off x="3409798" y="1647749"/>
            <a:ext cx="2572207" cy="57607"/>
          </a:xfrm>
          <a:prstGeom prst="rect">
            <a:avLst/>
          </a:prstGeom>
          <a:solidFill>
            <a:srgbClr val="3B82F6"/>
          </a:solidFill>
          <a:ln/>
        </p:spPr>
        <p:txBody>
          <a:bodyPr/>
          <a:lstStyle/>
          <a:p>
            <a:endParaRPr lang="ja-JP" altLang="en-US"/>
          </a:p>
        </p:txBody>
      </p:sp>
      <p:sp>
        <p:nvSpPr>
          <p:cNvPr id="57" name="Shape 45"/>
          <p:cNvSpPr/>
          <p:nvPr/>
        </p:nvSpPr>
        <p:spPr>
          <a:xfrm>
            <a:off x="3409798" y="1705356"/>
            <a:ext cx="2572207" cy="1543507"/>
          </a:xfrm>
          <a:prstGeom prst="rect">
            <a:avLst/>
          </a:prstGeom>
          <a:solidFill>
            <a:srgbClr val="FFFFFF"/>
          </a:solidFill>
          <a:ln/>
        </p:spPr>
        <p:txBody>
          <a:bodyPr/>
          <a:lstStyle/>
          <a:p>
            <a:endParaRPr lang="ja-JP" altLang="en-US"/>
          </a:p>
        </p:txBody>
      </p:sp>
      <p:sp>
        <p:nvSpPr>
          <p:cNvPr id="58" name="Shape 46"/>
          <p:cNvSpPr/>
          <p:nvPr/>
        </p:nvSpPr>
        <p:spPr>
          <a:xfrm>
            <a:off x="3409798" y="3239719"/>
            <a:ext cx="2572207" cy="9144"/>
          </a:xfrm>
          <a:prstGeom prst="rect">
            <a:avLst/>
          </a:prstGeom>
          <a:solidFill>
            <a:srgbClr val="F1F5F9"/>
          </a:solidFill>
          <a:ln/>
        </p:spPr>
        <p:txBody>
          <a:bodyPr/>
          <a:lstStyle/>
          <a:p>
            <a:endParaRPr lang="ja-JP" altLang="en-US"/>
          </a:p>
        </p:txBody>
      </p:sp>
      <p:sp>
        <p:nvSpPr>
          <p:cNvPr id="59" name="Shape 47"/>
          <p:cNvSpPr/>
          <p:nvPr/>
        </p:nvSpPr>
        <p:spPr>
          <a:xfrm>
            <a:off x="3638398" y="1895551"/>
            <a:ext cx="381305" cy="381305"/>
          </a:xfrm>
          <a:prstGeom prst="ellipse">
            <a:avLst/>
          </a:prstGeom>
          <a:solidFill>
            <a:srgbClr val="3B82F6"/>
          </a:solidFill>
          <a:ln/>
          <a:effectLst>
            <a:outerShdw blurRad="38100" dist="25400" dir="5400000" algn="bl" rotWithShape="0">
              <a:srgbClr val="000000">
                <a:alpha val="10000"/>
              </a:srgbClr>
            </a:outerShdw>
          </a:effectLst>
        </p:spPr>
        <p:txBody>
          <a:bodyPr/>
          <a:lstStyle/>
          <a:p>
            <a:endParaRPr lang="ja-JP" altLang="en-US"/>
          </a:p>
        </p:txBody>
      </p:sp>
      <p:pic>
        <p:nvPicPr>
          <p:cNvPr id="60" name="Image 10" descr="preencoded.png"/>
          <p:cNvPicPr>
            <a:picLocks noChangeAspect="1"/>
          </p:cNvPicPr>
          <p:nvPr/>
        </p:nvPicPr>
        <p:blipFill>
          <a:blip r:embed="rId9"/>
          <a:srcRect/>
          <a:stretch/>
        </p:blipFill>
        <p:spPr>
          <a:xfrm>
            <a:off x="3743554" y="2000707"/>
            <a:ext cx="171907" cy="171907"/>
          </a:xfrm>
          <a:prstGeom prst="rect">
            <a:avLst/>
          </a:prstGeom>
        </p:spPr>
      </p:pic>
      <p:sp>
        <p:nvSpPr>
          <p:cNvPr id="61" name="Text 48"/>
          <p:cNvSpPr txBox="1"/>
          <p:nvPr/>
        </p:nvSpPr>
        <p:spPr>
          <a:xfrm>
            <a:off x="3638398" y="2391156"/>
            <a:ext cx="914400" cy="162763"/>
          </a:xfrm>
          <a:prstGeom prst="rect">
            <a:avLst/>
          </a:prstGeom>
          <a:noFill/>
          <a:ln/>
        </p:spPr>
        <p:txBody>
          <a:bodyPr wrap="square" lIns="0" tIns="0" rIns="0" bIns="0" rtlCol="0" anchor="ctr"/>
          <a:lstStyle/>
          <a:p>
            <a:pPr marL="0" indent="0" algn="l">
              <a:buNone/>
            </a:pPr>
            <a:r>
              <a:rPr lang="en-US" sz="900" b="1" dirty="0">
                <a:solidFill>
                  <a:srgbClr val="64748B"/>
                </a:solidFill>
                <a:latin typeface="Noto Sans JP" pitchFamily="34" charset="0"/>
                <a:ea typeface="Noto Sans JP" pitchFamily="34" charset="-122"/>
                <a:cs typeface="Noto Sans JP" pitchFamily="34" charset="-120"/>
              </a:rPr>
              <a:t>4 - 6 MONTHS</a:t>
            </a:r>
            <a:endParaRPr lang="en-US" sz="900" dirty="0"/>
          </a:p>
        </p:txBody>
      </p:sp>
      <p:sp>
        <p:nvSpPr>
          <p:cNvPr id="62" name="Text 49"/>
          <p:cNvSpPr txBox="1"/>
          <p:nvPr/>
        </p:nvSpPr>
        <p:spPr>
          <a:xfrm>
            <a:off x="3638398" y="2581351"/>
            <a:ext cx="1662379" cy="4764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JP" pitchFamily="34" charset="0"/>
                <a:ea typeface="Noto Sans JP" pitchFamily="34" charset="-122"/>
                <a:cs typeface="Noto Sans JP" pitchFamily="34" charset="-120"/>
              </a:rPr>
              <a:t>定着化・習慣形成Adoption &amp; Habits</a:t>
            </a:r>
            <a:endParaRPr lang="en-US" sz="1300" dirty="0"/>
          </a:p>
        </p:txBody>
      </p:sp>
      <p:pic>
        <p:nvPicPr>
          <p:cNvPr id="63" name="Image 11" descr="preencoded.png"/>
          <p:cNvPicPr>
            <a:picLocks noChangeAspect="1"/>
          </p:cNvPicPr>
          <p:nvPr/>
        </p:nvPicPr>
        <p:blipFill>
          <a:blip r:embed="rId10"/>
          <a:srcRect/>
          <a:stretch/>
        </p:blipFill>
        <p:spPr>
          <a:xfrm>
            <a:off x="3638398" y="3503066"/>
            <a:ext cx="75895" cy="75895"/>
          </a:xfrm>
          <a:prstGeom prst="rect">
            <a:avLst/>
          </a:prstGeom>
        </p:spPr>
      </p:pic>
      <p:sp>
        <p:nvSpPr>
          <p:cNvPr id="64" name="Text 50"/>
          <p:cNvSpPr txBox="1"/>
          <p:nvPr/>
        </p:nvSpPr>
        <p:spPr>
          <a:xfrm>
            <a:off x="3810305" y="3436315"/>
            <a:ext cx="1950415" cy="37216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成功事例・プロンプト集の社内配布</a:t>
            </a:r>
            <a:endParaRPr lang="en-US" sz="900" dirty="0"/>
          </a:p>
        </p:txBody>
      </p:sp>
      <p:pic>
        <p:nvPicPr>
          <p:cNvPr id="65" name="Image 12" descr="preencoded.png"/>
          <p:cNvPicPr>
            <a:picLocks noChangeAspect="1"/>
          </p:cNvPicPr>
          <p:nvPr/>
        </p:nvPicPr>
        <p:blipFill>
          <a:blip r:embed="rId10"/>
          <a:srcRect/>
          <a:stretch/>
        </p:blipFill>
        <p:spPr>
          <a:xfrm>
            <a:off x="3638398" y="3989527"/>
            <a:ext cx="75895" cy="75895"/>
          </a:xfrm>
          <a:prstGeom prst="rect">
            <a:avLst/>
          </a:prstGeom>
        </p:spPr>
      </p:pic>
      <p:sp>
        <p:nvSpPr>
          <p:cNvPr id="66" name="Text 51"/>
          <p:cNvSpPr txBox="1"/>
          <p:nvPr/>
        </p:nvSpPr>
        <p:spPr>
          <a:xfrm>
            <a:off x="3810305" y="3922776"/>
            <a:ext cx="1960474" cy="37216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部門別シェア会・定着化キャンペーン</a:t>
            </a:r>
            <a:endParaRPr lang="en-US" sz="900" dirty="0"/>
          </a:p>
        </p:txBody>
      </p:sp>
      <p:pic>
        <p:nvPicPr>
          <p:cNvPr id="67" name="Image 13" descr="preencoded.png"/>
          <p:cNvPicPr>
            <a:picLocks noChangeAspect="1"/>
          </p:cNvPicPr>
          <p:nvPr/>
        </p:nvPicPr>
        <p:blipFill>
          <a:blip r:embed="rId10"/>
          <a:srcRect/>
          <a:stretch/>
        </p:blipFill>
        <p:spPr>
          <a:xfrm>
            <a:off x="3638398" y="4475074"/>
            <a:ext cx="75895" cy="75895"/>
          </a:xfrm>
          <a:prstGeom prst="rect">
            <a:avLst/>
          </a:prstGeom>
        </p:spPr>
      </p:pic>
      <p:sp>
        <p:nvSpPr>
          <p:cNvPr id="68" name="Text 52"/>
          <p:cNvSpPr txBox="1"/>
          <p:nvPr/>
        </p:nvSpPr>
        <p:spPr>
          <a:xfrm>
            <a:off x="3810305" y="4408322"/>
            <a:ext cx="2036369" cy="37216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文書作成（Word/PPT）ユースケース拡大</a:t>
            </a:r>
            <a:endParaRPr lang="en-US" sz="900" dirty="0"/>
          </a:p>
        </p:txBody>
      </p:sp>
      <p:sp>
        <p:nvSpPr>
          <p:cNvPr id="69" name="Shape 53"/>
          <p:cNvSpPr/>
          <p:nvPr/>
        </p:nvSpPr>
        <p:spPr>
          <a:xfrm>
            <a:off x="3638398" y="5046574"/>
            <a:ext cx="2115007" cy="790956"/>
          </a:xfrm>
          <a:prstGeom prst="roundRect">
            <a:avLst>
              <a:gd name="adj" fmla="val 8357"/>
            </a:avLst>
          </a:prstGeom>
          <a:solidFill>
            <a:srgbClr val="F8FAFC"/>
          </a:solidFill>
          <a:ln w="12700">
            <a:solidFill>
              <a:srgbClr val="CBD5E1"/>
            </a:solidFill>
            <a:prstDash val="solid"/>
          </a:ln>
        </p:spPr>
        <p:txBody>
          <a:bodyPr/>
          <a:lstStyle/>
          <a:p>
            <a:endParaRPr lang="ja-JP" altLang="en-US"/>
          </a:p>
        </p:txBody>
      </p:sp>
      <p:sp>
        <p:nvSpPr>
          <p:cNvPr id="70" name="Text 54"/>
          <p:cNvSpPr txBox="1"/>
          <p:nvPr/>
        </p:nvSpPr>
        <p:spPr>
          <a:xfrm>
            <a:off x="3762756" y="5170018"/>
            <a:ext cx="688543" cy="152705"/>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TARGET KPI</a:t>
            </a:r>
            <a:endParaRPr lang="en-US" sz="800" dirty="0"/>
          </a:p>
        </p:txBody>
      </p:sp>
      <p:sp>
        <p:nvSpPr>
          <p:cNvPr id="71" name="Text 55"/>
          <p:cNvSpPr txBox="1"/>
          <p:nvPr/>
        </p:nvSpPr>
        <p:spPr>
          <a:xfrm>
            <a:off x="3762756" y="5355641"/>
            <a:ext cx="1131113" cy="181051"/>
          </a:xfrm>
          <a:prstGeom prst="rect">
            <a:avLst/>
          </a:prstGeom>
          <a:noFill/>
          <a:ln/>
        </p:spPr>
        <p:txBody>
          <a:bodyPr wrap="square" lIns="0" tIns="0" rIns="0" bIns="0" rtlCol="0" anchor="ctr"/>
          <a:lstStyle/>
          <a:p>
            <a:pPr marL="0" indent="0" algn="l">
              <a:buNone/>
            </a:pPr>
            <a:r>
              <a:rPr lang="en-US" sz="900" b="1" dirty="0">
                <a:solidFill>
                  <a:srgbClr val="0F172A"/>
                </a:solidFill>
                <a:latin typeface="Noto Sans JP" pitchFamily="34" charset="0"/>
                <a:ea typeface="Noto Sans JP" pitchFamily="34" charset="-122"/>
                <a:cs typeface="Noto Sans JP" pitchFamily="34" charset="-120"/>
              </a:rPr>
              <a:t>定常利用率 40%超</a:t>
            </a:r>
            <a:endParaRPr lang="en-US" sz="900" dirty="0"/>
          </a:p>
        </p:txBody>
      </p:sp>
      <p:sp>
        <p:nvSpPr>
          <p:cNvPr id="72" name="Text 56"/>
          <p:cNvSpPr txBox="1"/>
          <p:nvPr/>
        </p:nvSpPr>
        <p:spPr>
          <a:xfrm>
            <a:off x="3762756" y="5529377"/>
            <a:ext cx="1283818" cy="181051"/>
          </a:xfrm>
          <a:prstGeom prst="rect">
            <a:avLst/>
          </a:prstGeom>
          <a:noFill/>
          <a:ln/>
        </p:spPr>
        <p:txBody>
          <a:bodyPr wrap="square" lIns="0" tIns="0" rIns="0" bIns="0" rtlCol="0" anchor="ctr"/>
          <a:lstStyle/>
          <a:p>
            <a:pPr marL="0" indent="0" algn="l">
              <a:buNone/>
            </a:pPr>
            <a:r>
              <a:rPr lang="en-US" sz="900" b="1" dirty="0">
                <a:solidFill>
                  <a:srgbClr val="0F172A"/>
                </a:solidFill>
                <a:latin typeface="Noto Sans JP" pitchFamily="34" charset="0"/>
                <a:ea typeface="Noto Sans JP" pitchFamily="34" charset="-122"/>
                <a:cs typeface="Noto Sans JP" pitchFamily="34" charset="-120"/>
              </a:rPr>
              <a:t>（週1回以上の利用）</a:t>
            </a:r>
            <a:endParaRPr lang="en-US" sz="900" dirty="0"/>
          </a:p>
        </p:txBody>
      </p:sp>
      <p:sp>
        <p:nvSpPr>
          <p:cNvPr id="73" name="Shape 57"/>
          <p:cNvSpPr/>
          <p:nvPr/>
        </p:nvSpPr>
        <p:spPr>
          <a:xfrm>
            <a:off x="6210605" y="1647749"/>
            <a:ext cx="2572207" cy="4381805"/>
          </a:xfrm>
          <a:prstGeom prst="roundRect">
            <a:avLst>
              <a:gd name="adj" fmla="val 1580"/>
            </a:avLst>
          </a:prstGeom>
          <a:solidFill>
            <a:srgbClr val="FFFFFF"/>
          </a:solidFill>
          <a:ln/>
          <a:effectLst>
            <a:outerShdw blurRad="63500" dist="38100" dir="5400000" algn="bl" rotWithShape="0">
              <a:srgbClr val="000000">
                <a:alpha val="5000"/>
              </a:srgbClr>
            </a:outerShdw>
          </a:effectLst>
        </p:spPr>
        <p:txBody>
          <a:bodyPr/>
          <a:lstStyle/>
          <a:p>
            <a:endParaRPr lang="ja-JP" altLang="en-US"/>
          </a:p>
        </p:txBody>
      </p:sp>
      <p:sp>
        <p:nvSpPr>
          <p:cNvPr id="74" name="Shape 58"/>
          <p:cNvSpPr/>
          <p:nvPr/>
        </p:nvSpPr>
        <p:spPr>
          <a:xfrm>
            <a:off x="6210605" y="1647749"/>
            <a:ext cx="2572207" cy="57607"/>
          </a:xfrm>
          <a:prstGeom prst="rect">
            <a:avLst/>
          </a:prstGeom>
          <a:solidFill>
            <a:srgbClr val="1D4ED8"/>
          </a:solidFill>
          <a:ln/>
        </p:spPr>
        <p:txBody>
          <a:bodyPr/>
          <a:lstStyle/>
          <a:p>
            <a:endParaRPr lang="ja-JP" altLang="en-US"/>
          </a:p>
        </p:txBody>
      </p:sp>
      <p:sp>
        <p:nvSpPr>
          <p:cNvPr id="75" name="Shape 59"/>
          <p:cNvSpPr/>
          <p:nvPr/>
        </p:nvSpPr>
        <p:spPr>
          <a:xfrm>
            <a:off x="6210605" y="1705356"/>
            <a:ext cx="2572207" cy="1543507"/>
          </a:xfrm>
          <a:prstGeom prst="rect">
            <a:avLst/>
          </a:prstGeom>
          <a:solidFill>
            <a:srgbClr val="FFFFFF"/>
          </a:solidFill>
          <a:ln/>
        </p:spPr>
        <p:txBody>
          <a:bodyPr/>
          <a:lstStyle/>
          <a:p>
            <a:endParaRPr lang="ja-JP" altLang="en-US"/>
          </a:p>
        </p:txBody>
      </p:sp>
      <p:sp>
        <p:nvSpPr>
          <p:cNvPr id="76" name="Shape 60"/>
          <p:cNvSpPr/>
          <p:nvPr/>
        </p:nvSpPr>
        <p:spPr>
          <a:xfrm>
            <a:off x="6210605" y="3239719"/>
            <a:ext cx="2572207" cy="9144"/>
          </a:xfrm>
          <a:prstGeom prst="rect">
            <a:avLst/>
          </a:prstGeom>
          <a:solidFill>
            <a:srgbClr val="F1F5F9"/>
          </a:solidFill>
          <a:ln/>
        </p:spPr>
        <p:txBody>
          <a:bodyPr/>
          <a:lstStyle/>
          <a:p>
            <a:endParaRPr lang="ja-JP" altLang="en-US"/>
          </a:p>
        </p:txBody>
      </p:sp>
      <p:sp>
        <p:nvSpPr>
          <p:cNvPr id="77" name="Shape 61"/>
          <p:cNvSpPr/>
          <p:nvPr/>
        </p:nvSpPr>
        <p:spPr>
          <a:xfrm>
            <a:off x="6439205" y="1895551"/>
            <a:ext cx="381305" cy="381305"/>
          </a:xfrm>
          <a:prstGeom prst="ellipse">
            <a:avLst/>
          </a:prstGeom>
          <a:solidFill>
            <a:srgbClr val="1D4ED8"/>
          </a:solidFill>
          <a:ln/>
          <a:effectLst>
            <a:outerShdw blurRad="38100" dist="25400" dir="5400000" algn="bl" rotWithShape="0">
              <a:srgbClr val="000000">
                <a:alpha val="10000"/>
              </a:srgbClr>
            </a:outerShdw>
          </a:effectLst>
        </p:spPr>
        <p:txBody>
          <a:bodyPr/>
          <a:lstStyle/>
          <a:p>
            <a:endParaRPr lang="ja-JP" altLang="en-US"/>
          </a:p>
        </p:txBody>
      </p:sp>
      <p:pic>
        <p:nvPicPr>
          <p:cNvPr id="78" name="Image 14" descr="preencoded.png"/>
          <p:cNvPicPr>
            <a:picLocks noChangeAspect="1"/>
          </p:cNvPicPr>
          <p:nvPr/>
        </p:nvPicPr>
        <p:blipFill>
          <a:blip r:embed="rId11"/>
          <a:srcRect l="-1064" r="-1064"/>
          <a:stretch/>
        </p:blipFill>
        <p:spPr>
          <a:xfrm>
            <a:off x="6519672" y="2000707"/>
            <a:ext cx="219456" cy="171907"/>
          </a:xfrm>
          <a:prstGeom prst="rect">
            <a:avLst/>
          </a:prstGeom>
        </p:spPr>
      </p:pic>
      <p:sp>
        <p:nvSpPr>
          <p:cNvPr id="79" name="Text 62"/>
          <p:cNvSpPr txBox="1"/>
          <p:nvPr/>
        </p:nvSpPr>
        <p:spPr>
          <a:xfrm>
            <a:off x="6439205" y="2391156"/>
            <a:ext cx="914400" cy="162763"/>
          </a:xfrm>
          <a:prstGeom prst="rect">
            <a:avLst/>
          </a:prstGeom>
          <a:noFill/>
          <a:ln/>
        </p:spPr>
        <p:txBody>
          <a:bodyPr wrap="square" lIns="0" tIns="0" rIns="0" bIns="0" rtlCol="0" anchor="ctr"/>
          <a:lstStyle/>
          <a:p>
            <a:pPr marL="0" indent="0" algn="l">
              <a:buNone/>
            </a:pPr>
            <a:r>
              <a:rPr lang="en-US" sz="900" b="1" dirty="0">
                <a:solidFill>
                  <a:srgbClr val="64748B"/>
                </a:solidFill>
                <a:latin typeface="Noto Sans JP" pitchFamily="34" charset="0"/>
                <a:ea typeface="Noto Sans JP" pitchFamily="34" charset="-122"/>
                <a:cs typeface="Noto Sans JP" pitchFamily="34" charset="-120"/>
              </a:rPr>
              <a:t>7 - 9 MONTHS</a:t>
            </a:r>
            <a:endParaRPr lang="en-US" sz="900" dirty="0"/>
          </a:p>
        </p:txBody>
      </p:sp>
      <p:sp>
        <p:nvSpPr>
          <p:cNvPr id="80" name="Text 63"/>
          <p:cNvSpPr txBox="1"/>
          <p:nvPr/>
        </p:nvSpPr>
        <p:spPr>
          <a:xfrm>
            <a:off x="6439205" y="2581351"/>
            <a:ext cx="2052828" cy="4764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JP" pitchFamily="34" charset="0"/>
                <a:ea typeface="Noto Sans JP" pitchFamily="34" charset="-122"/>
                <a:cs typeface="Noto Sans JP" pitchFamily="34" charset="-120"/>
              </a:rPr>
              <a:t>高度化・情報連携Knowledge Integration</a:t>
            </a:r>
            <a:endParaRPr lang="en-US" sz="1300" dirty="0"/>
          </a:p>
        </p:txBody>
      </p:sp>
      <p:pic>
        <p:nvPicPr>
          <p:cNvPr id="81" name="Image 15" descr="preencoded.png"/>
          <p:cNvPicPr>
            <a:picLocks noChangeAspect="1"/>
          </p:cNvPicPr>
          <p:nvPr/>
        </p:nvPicPr>
        <p:blipFill>
          <a:blip r:embed="rId12"/>
          <a:srcRect/>
          <a:stretch/>
        </p:blipFill>
        <p:spPr>
          <a:xfrm>
            <a:off x="6439205" y="3503066"/>
            <a:ext cx="75895" cy="75895"/>
          </a:xfrm>
          <a:prstGeom prst="rect">
            <a:avLst/>
          </a:prstGeom>
        </p:spPr>
      </p:pic>
      <p:sp>
        <p:nvSpPr>
          <p:cNvPr id="82" name="Text 64"/>
          <p:cNvSpPr txBox="1"/>
          <p:nvPr/>
        </p:nvSpPr>
        <p:spPr>
          <a:xfrm>
            <a:off x="6610198" y="3436315"/>
            <a:ext cx="1979676"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SharePoint文書整理・検索性向上</a:t>
            </a:r>
            <a:endParaRPr lang="en-US" sz="900" dirty="0"/>
          </a:p>
        </p:txBody>
      </p:sp>
      <p:pic>
        <p:nvPicPr>
          <p:cNvPr id="83" name="Image 16" descr="preencoded.png"/>
          <p:cNvPicPr>
            <a:picLocks noChangeAspect="1"/>
          </p:cNvPicPr>
          <p:nvPr/>
        </p:nvPicPr>
        <p:blipFill>
          <a:blip r:embed="rId12"/>
          <a:srcRect/>
          <a:stretch/>
        </p:blipFill>
        <p:spPr>
          <a:xfrm>
            <a:off x="6439205" y="3803904"/>
            <a:ext cx="75895" cy="75895"/>
          </a:xfrm>
          <a:prstGeom prst="rect">
            <a:avLst/>
          </a:prstGeom>
        </p:spPr>
      </p:pic>
      <p:sp>
        <p:nvSpPr>
          <p:cNvPr id="84" name="Text 65"/>
          <p:cNvSpPr txBox="1"/>
          <p:nvPr/>
        </p:nvSpPr>
        <p:spPr>
          <a:xfrm>
            <a:off x="6610198" y="3737153"/>
            <a:ext cx="2027225" cy="37216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横断検索(AMA)・社内FAQボット試作</a:t>
            </a:r>
            <a:endParaRPr lang="en-US" sz="900" dirty="0"/>
          </a:p>
        </p:txBody>
      </p:sp>
      <p:pic>
        <p:nvPicPr>
          <p:cNvPr id="85" name="Image 17" descr="preencoded.png"/>
          <p:cNvPicPr>
            <a:picLocks noChangeAspect="1"/>
          </p:cNvPicPr>
          <p:nvPr/>
        </p:nvPicPr>
        <p:blipFill>
          <a:blip r:embed="rId12"/>
          <a:srcRect/>
          <a:stretch/>
        </p:blipFill>
        <p:spPr>
          <a:xfrm>
            <a:off x="6439205" y="4289450"/>
            <a:ext cx="75895" cy="75895"/>
          </a:xfrm>
          <a:prstGeom prst="rect">
            <a:avLst/>
          </a:prstGeom>
        </p:spPr>
      </p:pic>
      <p:sp>
        <p:nvSpPr>
          <p:cNvPr id="86" name="Text 66"/>
          <p:cNvSpPr txBox="1"/>
          <p:nvPr/>
        </p:nvSpPr>
        <p:spPr>
          <a:xfrm>
            <a:off x="6610198" y="4222699"/>
            <a:ext cx="1712671" cy="181051"/>
          </a:xfrm>
          <a:prstGeom prst="rect">
            <a:avLst/>
          </a:prstGeom>
          <a:noFill/>
          <a:ln/>
        </p:spPr>
        <p:txBody>
          <a:bodyPr wrap="square" lIns="0" tIns="0" rIns="0" bIns="0" rtlCol="0" anchor="ctr"/>
          <a:lstStyle/>
          <a:p>
            <a:pPr marL="0" indent="0" algn="l">
              <a:buNone/>
            </a:pPr>
            <a:r>
              <a:rPr lang="en-US" sz="900" dirty="0">
                <a:solidFill>
                  <a:srgbClr val="334155"/>
                </a:solidFill>
                <a:latin typeface="Noto Sans JP" pitchFamily="34" charset="0"/>
                <a:ea typeface="Noto Sans JP" pitchFamily="34" charset="-122"/>
                <a:cs typeface="Noto Sans JP" pitchFamily="34" charset="-120"/>
              </a:rPr>
              <a:t>品質評価ワークフローの策定</a:t>
            </a:r>
            <a:endParaRPr lang="en-US" sz="900" dirty="0"/>
          </a:p>
        </p:txBody>
      </p:sp>
      <p:sp>
        <p:nvSpPr>
          <p:cNvPr id="87" name="Shape 67"/>
          <p:cNvSpPr/>
          <p:nvPr/>
        </p:nvSpPr>
        <p:spPr>
          <a:xfrm>
            <a:off x="6439205" y="5046574"/>
            <a:ext cx="2115007" cy="790956"/>
          </a:xfrm>
          <a:prstGeom prst="roundRect">
            <a:avLst>
              <a:gd name="adj" fmla="val 8357"/>
            </a:avLst>
          </a:prstGeom>
          <a:solidFill>
            <a:srgbClr val="F8FAFC"/>
          </a:solidFill>
          <a:ln w="12700">
            <a:solidFill>
              <a:srgbClr val="CBD5E1"/>
            </a:solidFill>
            <a:prstDash val="solid"/>
          </a:ln>
        </p:spPr>
        <p:txBody>
          <a:bodyPr/>
          <a:lstStyle/>
          <a:p>
            <a:endParaRPr lang="ja-JP" altLang="en-US"/>
          </a:p>
        </p:txBody>
      </p:sp>
      <p:sp>
        <p:nvSpPr>
          <p:cNvPr id="88" name="Text 68"/>
          <p:cNvSpPr txBox="1"/>
          <p:nvPr/>
        </p:nvSpPr>
        <p:spPr>
          <a:xfrm>
            <a:off x="6562649" y="5170018"/>
            <a:ext cx="688543" cy="152705"/>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TARGET KPI</a:t>
            </a:r>
            <a:endParaRPr lang="en-US" sz="800" dirty="0"/>
          </a:p>
        </p:txBody>
      </p:sp>
      <p:sp>
        <p:nvSpPr>
          <p:cNvPr id="89" name="Text 69"/>
          <p:cNvSpPr txBox="1"/>
          <p:nvPr/>
        </p:nvSpPr>
        <p:spPr>
          <a:xfrm>
            <a:off x="6562649" y="5355641"/>
            <a:ext cx="845820" cy="181051"/>
          </a:xfrm>
          <a:prstGeom prst="rect">
            <a:avLst/>
          </a:prstGeom>
          <a:noFill/>
          <a:ln/>
        </p:spPr>
        <p:txBody>
          <a:bodyPr wrap="square" lIns="0" tIns="0" rIns="0" bIns="0" rtlCol="0" anchor="ctr"/>
          <a:lstStyle/>
          <a:p>
            <a:pPr marL="0" indent="0" algn="l">
              <a:buNone/>
            </a:pPr>
            <a:r>
              <a:rPr lang="en-US" sz="900" b="1" dirty="0">
                <a:solidFill>
                  <a:srgbClr val="0F172A"/>
                </a:solidFill>
                <a:latin typeface="Noto Sans JP" pitchFamily="34" charset="0"/>
                <a:ea typeface="Noto Sans JP" pitchFamily="34" charset="-122"/>
                <a:cs typeface="Noto Sans JP" pitchFamily="34" charset="-120"/>
              </a:rPr>
              <a:t>検索時間削減</a:t>
            </a:r>
            <a:endParaRPr lang="en-US" sz="900" dirty="0"/>
          </a:p>
        </p:txBody>
      </p:sp>
      <p:sp>
        <p:nvSpPr>
          <p:cNvPr id="90" name="Text 70"/>
          <p:cNvSpPr txBox="1"/>
          <p:nvPr/>
        </p:nvSpPr>
        <p:spPr>
          <a:xfrm>
            <a:off x="6562649" y="5529377"/>
            <a:ext cx="1464869" cy="181051"/>
          </a:xfrm>
          <a:prstGeom prst="rect">
            <a:avLst/>
          </a:prstGeom>
          <a:noFill/>
          <a:ln/>
        </p:spPr>
        <p:txBody>
          <a:bodyPr wrap="square" lIns="0" tIns="0" rIns="0" bIns="0" rtlCol="0" anchor="ctr"/>
          <a:lstStyle/>
          <a:p>
            <a:pPr marL="0" indent="0" algn="l">
              <a:buNone/>
            </a:pPr>
            <a:r>
              <a:rPr lang="en-US" sz="900" b="1" dirty="0">
                <a:solidFill>
                  <a:srgbClr val="0F172A"/>
                </a:solidFill>
                <a:latin typeface="Noto Sans JP" pitchFamily="34" charset="0"/>
                <a:ea typeface="Noto Sans JP" pitchFamily="34" charset="-122"/>
                <a:cs typeface="Noto Sans JP" pitchFamily="34" charset="-120"/>
              </a:rPr>
              <a:t>（具体的成果の可視化）</a:t>
            </a:r>
            <a:endParaRPr lang="en-US" sz="900" dirty="0"/>
          </a:p>
        </p:txBody>
      </p:sp>
      <p:pic>
        <p:nvPicPr>
          <p:cNvPr id="91" name="Image 18" descr="preencoded.png"/>
          <p:cNvPicPr>
            <a:picLocks noChangeAspect="1"/>
          </p:cNvPicPr>
          <p:nvPr/>
        </p:nvPicPr>
        <p:blipFill>
          <a:blip r:embed="rId13"/>
          <a:srcRect l="-1923" r="-1923"/>
          <a:stretch/>
        </p:blipFill>
        <p:spPr>
          <a:xfrm>
            <a:off x="3228746" y="3775558"/>
            <a:ext cx="123444" cy="190195"/>
          </a:xfrm>
          <a:prstGeom prst="rect">
            <a:avLst/>
          </a:prstGeom>
        </p:spPr>
      </p:pic>
      <p:pic>
        <p:nvPicPr>
          <p:cNvPr id="92" name="Image 19" descr="preencoded.png"/>
          <p:cNvPicPr>
            <a:picLocks noChangeAspect="1"/>
          </p:cNvPicPr>
          <p:nvPr/>
        </p:nvPicPr>
        <p:blipFill>
          <a:blip r:embed="rId13"/>
          <a:srcRect l="-1923" r="-1923"/>
          <a:stretch/>
        </p:blipFill>
        <p:spPr>
          <a:xfrm>
            <a:off x="6029554" y="3775558"/>
            <a:ext cx="123444" cy="190195"/>
          </a:xfrm>
          <a:prstGeom prst="rect">
            <a:avLst/>
          </a:prstGeom>
        </p:spPr>
      </p:pic>
      <p:pic>
        <p:nvPicPr>
          <p:cNvPr id="93" name="Image 20" descr="preencoded.png"/>
          <p:cNvPicPr>
            <a:picLocks noChangeAspect="1"/>
          </p:cNvPicPr>
          <p:nvPr/>
        </p:nvPicPr>
        <p:blipFill>
          <a:blip r:embed="rId13"/>
          <a:srcRect l="-1923" r="-1923"/>
          <a:stretch/>
        </p:blipFill>
        <p:spPr>
          <a:xfrm>
            <a:off x="8829446" y="3775558"/>
            <a:ext cx="123444" cy="1901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285646"/>
          </a:xfrm>
          <a:prstGeom prst="rect">
            <a:avLst/>
          </a:prstGeom>
          <a:solidFill>
            <a:srgbClr val="FFFFFF"/>
          </a:solidFill>
          <a:ln/>
        </p:spPr>
        <p:txBody>
          <a:bodyPr/>
          <a:lstStyle/>
          <a:p>
            <a:endParaRPr lang="ja-JP" altLang="en-US"/>
          </a:p>
        </p:txBody>
      </p:sp>
      <p:sp>
        <p:nvSpPr>
          <p:cNvPr id="5" name="Shape 3"/>
          <p:cNvSpPr/>
          <p:nvPr/>
        </p:nvSpPr>
        <p:spPr>
          <a:xfrm>
            <a:off x="0" y="1276502"/>
            <a:ext cx="12191695" cy="9144"/>
          </a:xfrm>
          <a:prstGeom prst="rect">
            <a:avLst/>
          </a:prstGeom>
          <a:solidFill>
            <a:srgbClr val="E5E7EB"/>
          </a:solidFill>
          <a:ln/>
        </p:spPr>
        <p:txBody>
          <a:bodyPr/>
          <a:lstStyle/>
          <a:p>
            <a:endParaRPr lang="ja-JP" altLang="en-US"/>
          </a:p>
        </p:txBody>
      </p:sp>
      <p:sp>
        <p:nvSpPr>
          <p:cNvPr id="6" name="Shape 4"/>
          <p:cNvSpPr/>
          <p:nvPr/>
        </p:nvSpPr>
        <p:spPr>
          <a:xfrm>
            <a:off x="609905" y="448056"/>
            <a:ext cx="457200" cy="457200"/>
          </a:xfrm>
          <a:prstGeom prst="ellipse">
            <a:avLst/>
          </a:prstGeom>
          <a:solidFill>
            <a:srgbClr val="1E40AF"/>
          </a:solidFill>
          <a:ln/>
          <a:effectLst>
            <a:outerShdw blurRad="63500" dist="38100" dir="5400000" algn="bl" rotWithShape="0">
              <a:srgbClr val="000000">
                <a:alpha val="10000"/>
              </a:srgbClr>
            </a:outerShdw>
          </a:effectLst>
        </p:spPr>
        <p:txBody>
          <a:bodyPr/>
          <a:lstStyle/>
          <a:p>
            <a:endParaRPr lang="ja-JP" altLang="en-US"/>
          </a:p>
        </p:txBody>
      </p:sp>
      <p:pic>
        <p:nvPicPr>
          <p:cNvPr id="7" name="Image 0" descr="preencoded.png"/>
          <p:cNvPicPr>
            <a:picLocks noChangeAspect="1"/>
          </p:cNvPicPr>
          <p:nvPr/>
        </p:nvPicPr>
        <p:blipFill>
          <a:blip r:embed="rId3"/>
          <a:srcRect l="-1282" r="-1282"/>
          <a:stretch/>
        </p:blipFill>
        <p:spPr>
          <a:xfrm>
            <a:off x="728777" y="580644"/>
            <a:ext cx="219456" cy="190195"/>
          </a:xfrm>
          <a:prstGeom prst="rect">
            <a:avLst/>
          </a:prstGeom>
        </p:spPr>
      </p:pic>
      <p:sp>
        <p:nvSpPr>
          <p:cNvPr id="8" name="Shape 5"/>
          <p:cNvSpPr/>
          <p:nvPr/>
        </p:nvSpPr>
        <p:spPr>
          <a:xfrm>
            <a:off x="1295705" y="321869"/>
            <a:ext cx="1114654" cy="200254"/>
          </a:xfrm>
          <a:prstGeom prst="roundRect">
            <a:avLst>
              <a:gd name="adj" fmla="val 86975"/>
            </a:avLst>
          </a:prstGeom>
          <a:solidFill>
            <a:srgbClr val="1E40AF"/>
          </a:solidFill>
          <a:ln/>
        </p:spPr>
        <p:txBody>
          <a:bodyPr/>
          <a:lstStyle/>
          <a:p>
            <a:endParaRPr lang="ja-JP" altLang="en-US"/>
          </a:p>
        </p:txBody>
      </p:sp>
      <p:sp>
        <p:nvSpPr>
          <p:cNvPr id="9" name="Text 6"/>
          <p:cNvSpPr txBox="1"/>
          <p:nvPr/>
        </p:nvSpPr>
        <p:spPr>
          <a:xfrm>
            <a:off x="1371600" y="340157"/>
            <a:ext cx="1041502"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組織構造パターン ①</a:t>
            </a:r>
            <a:endParaRPr lang="en-US" sz="800" dirty="0"/>
          </a:p>
        </p:txBody>
      </p:sp>
      <p:sp>
        <p:nvSpPr>
          <p:cNvPr id="10" name="Text 7"/>
          <p:cNvSpPr txBox="1"/>
          <p:nvPr/>
        </p:nvSpPr>
        <p:spPr>
          <a:xfrm>
            <a:off x="2485339" y="304495"/>
            <a:ext cx="1505102" cy="228600"/>
          </a:xfrm>
          <a:prstGeom prst="rect">
            <a:avLst/>
          </a:prstGeom>
          <a:noFill/>
          <a:ln/>
        </p:spPr>
        <p:txBody>
          <a:bodyPr wrap="square" lIns="0" tIns="0" rIns="0" bIns="0" rtlCol="0" anchor="ctr"/>
          <a:lstStyle/>
          <a:p>
            <a:pPr marL="0" indent="0" algn="l">
              <a:buNone/>
            </a:pPr>
            <a:r>
              <a:rPr lang="en-US" sz="1200" dirty="0">
                <a:solidFill>
                  <a:srgbClr val="64748B"/>
                </a:solidFill>
                <a:latin typeface="Noto Sans JP" pitchFamily="34" charset="0"/>
                <a:ea typeface="Noto Sans JP" pitchFamily="34" charset="-122"/>
                <a:cs typeface="Noto Sans JP" pitchFamily="34" charset="-120"/>
              </a:rPr>
              <a:t>Organization Model</a:t>
            </a:r>
            <a:endParaRPr lang="en-US" sz="1200" dirty="0"/>
          </a:p>
        </p:txBody>
      </p:sp>
      <p:sp>
        <p:nvSpPr>
          <p:cNvPr id="11" name="Text 8"/>
          <p:cNvSpPr txBox="1"/>
          <p:nvPr/>
        </p:nvSpPr>
        <p:spPr>
          <a:xfrm>
            <a:off x="1295705" y="543154"/>
            <a:ext cx="2619756" cy="438912"/>
          </a:xfrm>
          <a:prstGeom prst="rect">
            <a:avLst/>
          </a:prstGeom>
          <a:noFill/>
          <a:ln/>
        </p:spPr>
        <p:txBody>
          <a:bodyPr wrap="square" lIns="0" tIns="0" rIns="0" bIns="0" rtlCol="0" anchor="ctr"/>
          <a:lstStyle/>
          <a:p>
            <a:pPr marL="0" indent="0" algn="l">
              <a:buNone/>
            </a:pPr>
            <a:r>
              <a:rPr lang="en-US" sz="2400" b="1" dirty="0">
                <a:solidFill>
                  <a:srgbClr val="1E3A8A"/>
                </a:solidFill>
                <a:latin typeface="Noto Sans JP" pitchFamily="34" charset="0"/>
                <a:ea typeface="Noto Sans JP" pitchFamily="34" charset="-122"/>
                <a:cs typeface="Noto Sans JP" pitchFamily="34" charset="-120"/>
              </a:rPr>
              <a:t>中央集権型モデル</a:t>
            </a:r>
            <a:endParaRPr lang="en-US" sz="2400" dirty="0"/>
          </a:p>
        </p:txBody>
      </p:sp>
      <p:sp>
        <p:nvSpPr>
          <p:cNvPr id="13" name="Shape 10"/>
          <p:cNvSpPr/>
          <p:nvPr/>
        </p:nvSpPr>
        <p:spPr>
          <a:xfrm>
            <a:off x="609905" y="1591056"/>
            <a:ext cx="5296205" cy="5171846"/>
          </a:xfrm>
          <a:prstGeom prst="roundRect">
            <a:avLst>
              <a:gd name="adj" fmla="val 521"/>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14" name="Shape 11"/>
          <p:cNvSpPr/>
          <p:nvPr/>
        </p:nvSpPr>
        <p:spPr>
          <a:xfrm>
            <a:off x="847649" y="2210105"/>
            <a:ext cx="4819802" cy="9144"/>
          </a:xfrm>
          <a:prstGeom prst="rect">
            <a:avLst/>
          </a:prstGeom>
          <a:solidFill>
            <a:srgbClr val="E5E7EB"/>
          </a:solidFill>
          <a:ln/>
        </p:spPr>
        <p:txBody>
          <a:bodyPr/>
          <a:lstStyle/>
          <a:p>
            <a:endParaRPr lang="ja-JP" altLang="en-US"/>
          </a:p>
        </p:txBody>
      </p:sp>
      <p:pic>
        <p:nvPicPr>
          <p:cNvPr id="15" name="Image 1" descr="preencoded.png"/>
          <p:cNvPicPr>
            <a:picLocks noChangeAspect="1"/>
          </p:cNvPicPr>
          <p:nvPr/>
        </p:nvPicPr>
        <p:blipFill>
          <a:blip r:embed="rId4"/>
          <a:srcRect l="-1282" r="-1282"/>
          <a:stretch/>
        </p:blipFill>
        <p:spPr>
          <a:xfrm>
            <a:off x="847649" y="1867205"/>
            <a:ext cx="219456" cy="190195"/>
          </a:xfrm>
          <a:prstGeom prst="rect">
            <a:avLst/>
          </a:prstGeom>
        </p:spPr>
      </p:pic>
      <p:sp>
        <p:nvSpPr>
          <p:cNvPr id="16" name="Text 12"/>
          <p:cNvSpPr txBox="1"/>
          <p:nvPr/>
        </p:nvSpPr>
        <p:spPr>
          <a:xfrm>
            <a:off x="1143000" y="1828800"/>
            <a:ext cx="1286561" cy="267005"/>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JP" pitchFamily="34" charset="0"/>
                <a:ea typeface="Noto Sans JP" pitchFamily="34" charset="-122"/>
                <a:cs typeface="Noto Sans JP" pitchFamily="34" charset="-120"/>
              </a:rPr>
              <a:t>モデルの特徴</a:t>
            </a:r>
            <a:endParaRPr lang="en-US" sz="1500" dirty="0"/>
          </a:p>
        </p:txBody>
      </p:sp>
      <p:sp>
        <p:nvSpPr>
          <p:cNvPr id="17" name="Shape 13"/>
          <p:cNvSpPr/>
          <p:nvPr/>
        </p:nvSpPr>
        <p:spPr>
          <a:xfrm>
            <a:off x="847649" y="2523744"/>
            <a:ext cx="4819802" cy="2590495"/>
          </a:xfrm>
          <a:prstGeom prst="roundRect">
            <a:avLst>
              <a:gd name="adj" fmla="val 1557"/>
            </a:avLst>
          </a:prstGeom>
          <a:solidFill>
            <a:srgbClr val="F8FAFC"/>
          </a:solidFill>
          <a:ln/>
        </p:spPr>
        <p:txBody>
          <a:bodyPr/>
          <a:lstStyle/>
          <a:p>
            <a:endParaRPr lang="ja-JP" altLang="en-US"/>
          </a:p>
        </p:txBody>
      </p:sp>
      <p:sp>
        <p:nvSpPr>
          <p:cNvPr id="18" name="Shape 14"/>
          <p:cNvSpPr/>
          <p:nvPr/>
        </p:nvSpPr>
        <p:spPr>
          <a:xfrm>
            <a:off x="3247949" y="3819449"/>
            <a:ext cx="19202" cy="304495"/>
          </a:xfrm>
          <a:prstGeom prst="rect">
            <a:avLst/>
          </a:prstGeom>
          <a:solidFill>
            <a:srgbClr val="D1D5DB"/>
          </a:solidFill>
          <a:ln/>
        </p:spPr>
        <p:txBody>
          <a:bodyPr/>
          <a:lstStyle/>
          <a:p>
            <a:endParaRPr lang="ja-JP" altLang="en-US"/>
          </a:p>
        </p:txBody>
      </p:sp>
      <p:sp>
        <p:nvSpPr>
          <p:cNvPr id="19" name="Shape 15"/>
          <p:cNvSpPr/>
          <p:nvPr/>
        </p:nvSpPr>
        <p:spPr>
          <a:xfrm>
            <a:off x="1037844" y="4315054"/>
            <a:ext cx="1419149" cy="609905"/>
          </a:xfrm>
          <a:prstGeom prst="roundRect">
            <a:avLst>
              <a:gd name="adj" fmla="val 14055"/>
            </a:avLst>
          </a:prstGeom>
          <a:solidFill>
            <a:srgbClr val="FFFFFF"/>
          </a:solidFill>
          <a:ln w="25400">
            <a:solidFill>
              <a:srgbClr val="CBD5E1"/>
            </a:solidFill>
            <a:prstDash val="solid"/>
          </a:ln>
        </p:spPr>
        <p:txBody>
          <a:bodyPr/>
          <a:lstStyle/>
          <a:p>
            <a:endParaRPr lang="ja-JP" altLang="en-US"/>
          </a:p>
        </p:txBody>
      </p:sp>
      <p:sp>
        <p:nvSpPr>
          <p:cNvPr id="20" name="Shape 16"/>
          <p:cNvSpPr/>
          <p:nvPr/>
        </p:nvSpPr>
        <p:spPr>
          <a:xfrm>
            <a:off x="1736446" y="4181551"/>
            <a:ext cx="19202" cy="152705"/>
          </a:xfrm>
          <a:prstGeom prst="rect">
            <a:avLst/>
          </a:prstGeom>
          <a:solidFill>
            <a:srgbClr val="D1D5DB"/>
          </a:solidFill>
          <a:ln/>
        </p:spPr>
        <p:txBody>
          <a:bodyPr/>
          <a:lstStyle/>
          <a:p>
            <a:endParaRPr lang="ja-JP" altLang="en-US"/>
          </a:p>
        </p:txBody>
      </p:sp>
      <p:sp>
        <p:nvSpPr>
          <p:cNvPr id="21" name="Text 17"/>
          <p:cNvSpPr txBox="1"/>
          <p:nvPr/>
        </p:nvSpPr>
        <p:spPr>
          <a:xfrm>
            <a:off x="1525219" y="4429354"/>
            <a:ext cx="534010" cy="162763"/>
          </a:xfrm>
          <a:prstGeom prst="rect">
            <a:avLst/>
          </a:prstGeom>
          <a:noFill/>
          <a:ln/>
        </p:spPr>
        <p:txBody>
          <a:bodyPr wrap="square" lIns="0" tIns="0" rIns="0" bIns="0" rtlCol="0" anchor="ctr"/>
          <a:lstStyle/>
          <a:p>
            <a:pPr marL="0" indent="0" algn="ctr">
              <a:buNone/>
            </a:pPr>
            <a:r>
              <a:rPr lang="en-US" sz="900" b="1" dirty="0">
                <a:solidFill>
                  <a:srgbClr val="64748B"/>
                </a:solidFill>
                <a:latin typeface="Noto Sans JP" pitchFamily="34" charset="0"/>
                <a:ea typeface="Noto Sans JP" pitchFamily="34" charset="-122"/>
                <a:cs typeface="Noto Sans JP" pitchFamily="34" charset="-120"/>
              </a:rPr>
              <a:t>事業部 A</a:t>
            </a:r>
            <a:endParaRPr lang="en-US" sz="900" dirty="0"/>
          </a:p>
        </p:txBody>
      </p:sp>
      <p:sp>
        <p:nvSpPr>
          <p:cNvPr id="22" name="Text 18"/>
          <p:cNvSpPr txBox="1"/>
          <p:nvPr/>
        </p:nvSpPr>
        <p:spPr>
          <a:xfrm>
            <a:off x="1517904" y="4638751"/>
            <a:ext cx="553212" cy="162763"/>
          </a:xfrm>
          <a:prstGeom prst="rect">
            <a:avLst/>
          </a:prstGeom>
          <a:noFill/>
          <a:ln/>
        </p:spPr>
        <p:txBody>
          <a:bodyPr wrap="square" lIns="0" tIns="0" rIns="0" bIns="0" rtlCol="0" anchor="ctr"/>
          <a:lstStyle/>
          <a:p>
            <a:pPr marL="0" indent="0" algn="ctr">
              <a:buNone/>
            </a:pPr>
            <a:r>
              <a:rPr lang="en-US" sz="900" dirty="0">
                <a:solidFill>
                  <a:srgbClr val="64748B"/>
                </a:solidFill>
                <a:latin typeface="Noto Sans JP" pitchFamily="34" charset="0"/>
                <a:ea typeface="Noto Sans JP" pitchFamily="34" charset="-122"/>
                <a:cs typeface="Noto Sans JP" pitchFamily="34" charset="-120"/>
              </a:rPr>
              <a:t>指示実行</a:t>
            </a:r>
            <a:endParaRPr lang="en-US" sz="900" dirty="0"/>
          </a:p>
        </p:txBody>
      </p:sp>
      <p:sp>
        <p:nvSpPr>
          <p:cNvPr id="23" name="Shape 19"/>
          <p:cNvSpPr/>
          <p:nvPr/>
        </p:nvSpPr>
        <p:spPr>
          <a:xfrm>
            <a:off x="2549347" y="4315054"/>
            <a:ext cx="1419149" cy="609905"/>
          </a:xfrm>
          <a:prstGeom prst="roundRect">
            <a:avLst>
              <a:gd name="adj" fmla="val 14055"/>
            </a:avLst>
          </a:prstGeom>
          <a:solidFill>
            <a:srgbClr val="FFFFFF"/>
          </a:solidFill>
          <a:ln w="25400">
            <a:solidFill>
              <a:srgbClr val="CBD5E1"/>
            </a:solidFill>
            <a:prstDash val="solid"/>
          </a:ln>
        </p:spPr>
        <p:txBody>
          <a:bodyPr/>
          <a:lstStyle/>
          <a:p>
            <a:endParaRPr lang="ja-JP" altLang="en-US"/>
          </a:p>
        </p:txBody>
      </p:sp>
      <p:sp>
        <p:nvSpPr>
          <p:cNvPr id="24" name="Shape 20"/>
          <p:cNvSpPr/>
          <p:nvPr/>
        </p:nvSpPr>
        <p:spPr>
          <a:xfrm>
            <a:off x="3247949" y="4181551"/>
            <a:ext cx="19202" cy="152705"/>
          </a:xfrm>
          <a:prstGeom prst="rect">
            <a:avLst/>
          </a:prstGeom>
          <a:solidFill>
            <a:srgbClr val="D1D5DB"/>
          </a:solidFill>
          <a:ln/>
        </p:spPr>
        <p:txBody>
          <a:bodyPr/>
          <a:lstStyle/>
          <a:p>
            <a:endParaRPr lang="ja-JP" altLang="en-US"/>
          </a:p>
        </p:txBody>
      </p:sp>
      <p:sp>
        <p:nvSpPr>
          <p:cNvPr id="25" name="Text 21"/>
          <p:cNvSpPr txBox="1"/>
          <p:nvPr/>
        </p:nvSpPr>
        <p:spPr>
          <a:xfrm>
            <a:off x="3033979" y="4429354"/>
            <a:ext cx="534010" cy="162763"/>
          </a:xfrm>
          <a:prstGeom prst="rect">
            <a:avLst/>
          </a:prstGeom>
          <a:noFill/>
          <a:ln/>
        </p:spPr>
        <p:txBody>
          <a:bodyPr wrap="square" lIns="0" tIns="0" rIns="0" bIns="0" rtlCol="0" anchor="ctr"/>
          <a:lstStyle/>
          <a:p>
            <a:pPr marL="0" indent="0" algn="ctr">
              <a:buNone/>
            </a:pPr>
            <a:r>
              <a:rPr lang="en-US" sz="900" b="1" dirty="0">
                <a:solidFill>
                  <a:srgbClr val="64748B"/>
                </a:solidFill>
                <a:latin typeface="Noto Sans JP" pitchFamily="34" charset="0"/>
                <a:ea typeface="Noto Sans JP" pitchFamily="34" charset="-122"/>
                <a:cs typeface="Noto Sans JP" pitchFamily="34" charset="-120"/>
              </a:rPr>
              <a:t>事業部 B</a:t>
            </a:r>
            <a:endParaRPr lang="en-US" sz="900" dirty="0"/>
          </a:p>
        </p:txBody>
      </p:sp>
      <p:sp>
        <p:nvSpPr>
          <p:cNvPr id="26" name="Text 22"/>
          <p:cNvSpPr txBox="1"/>
          <p:nvPr/>
        </p:nvSpPr>
        <p:spPr>
          <a:xfrm>
            <a:off x="3029407" y="4638751"/>
            <a:ext cx="553212" cy="162763"/>
          </a:xfrm>
          <a:prstGeom prst="rect">
            <a:avLst/>
          </a:prstGeom>
          <a:noFill/>
          <a:ln/>
        </p:spPr>
        <p:txBody>
          <a:bodyPr wrap="square" lIns="0" tIns="0" rIns="0" bIns="0" rtlCol="0" anchor="ctr"/>
          <a:lstStyle/>
          <a:p>
            <a:pPr marL="0" indent="0" algn="ctr">
              <a:buNone/>
            </a:pPr>
            <a:r>
              <a:rPr lang="en-US" sz="900" dirty="0">
                <a:solidFill>
                  <a:srgbClr val="64748B"/>
                </a:solidFill>
                <a:latin typeface="Noto Sans JP" pitchFamily="34" charset="0"/>
                <a:ea typeface="Noto Sans JP" pitchFamily="34" charset="-122"/>
                <a:cs typeface="Noto Sans JP" pitchFamily="34" charset="-120"/>
              </a:rPr>
              <a:t>指示実行</a:t>
            </a:r>
            <a:endParaRPr lang="en-US" sz="900" dirty="0"/>
          </a:p>
        </p:txBody>
      </p:sp>
      <p:sp>
        <p:nvSpPr>
          <p:cNvPr id="27" name="Shape 23"/>
          <p:cNvSpPr/>
          <p:nvPr/>
        </p:nvSpPr>
        <p:spPr>
          <a:xfrm>
            <a:off x="4060850" y="4315054"/>
            <a:ext cx="1419149" cy="609905"/>
          </a:xfrm>
          <a:prstGeom prst="roundRect">
            <a:avLst>
              <a:gd name="adj" fmla="val 14055"/>
            </a:avLst>
          </a:prstGeom>
          <a:solidFill>
            <a:srgbClr val="FFFFFF"/>
          </a:solidFill>
          <a:ln w="25400">
            <a:solidFill>
              <a:srgbClr val="CBD5E1"/>
            </a:solidFill>
            <a:prstDash val="solid"/>
          </a:ln>
        </p:spPr>
        <p:txBody>
          <a:bodyPr/>
          <a:lstStyle/>
          <a:p>
            <a:endParaRPr lang="ja-JP" altLang="en-US"/>
          </a:p>
        </p:txBody>
      </p:sp>
      <p:sp>
        <p:nvSpPr>
          <p:cNvPr id="28" name="Shape 24"/>
          <p:cNvSpPr/>
          <p:nvPr/>
        </p:nvSpPr>
        <p:spPr>
          <a:xfrm>
            <a:off x="4759452" y="4181551"/>
            <a:ext cx="19202" cy="152705"/>
          </a:xfrm>
          <a:prstGeom prst="rect">
            <a:avLst/>
          </a:prstGeom>
          <a:solidFill>
            <a:srgbClr val="D1D5DB"/>
          </a:solidFill>
          <a:ln/>
        </p:spPr>
        <p:txBody>
          <a:bodyPr/>
          <a:lstStyle/>
          <a:p>
            <a:endParaRPr lang="ja-JP" altLang="en-US"/>
          </a:p>
        </p:txBody>
      </p:sp>
      <p:sp>
        <p:nvSpPr>
          <p:cNvPr id="29" name="Text 25"/>
          <p:cNvSpPr txBox="1"/>
          <p:nvPr/>
        </p:nvSpPr>
        <p:spPr>
          <a:xfrm>
            <a:off x="4547311" y="4429354"/>
            <a:ext cx="534010" cy="162763"/>
          </a:xfrm>
          <a:prstGeom prst="rect">
            <a:avLst/>
          </a:prstGeom>
          <a:noFill/>
          <a:ln/>
        </p:spPr>
        <p:txBody>
          <a:bodyPr wrap="square" lIns="0" tIns="0" rIns="0" bIns="0" rtlCol="0" anchor="ctr"/>
          <a:lstStyle/>
          <a:p>
            <a:pPr marL="0" indent="0" algn="ctr">
              <a:buNone/>
            </a:pPr>
            <a:r>
              <a:rPr lang="en-US" sz="900" b="1" dirty="0">
                <a:solidFill>
                  <a:srgbClr val="64748B"/>
                </a:solidFill>
                <a:latin typeface="Noto Sans JP" pitchFamily="34" charset="0"/>
                <a:ea typeface="Noto Sans JP" pitchFamily="34" charset="-122"/>
                <a:cs typeface="Noto Sans JP" pitchFamily="34" charset="-120"/>
              </a:rPr>
              <a:t>事業部 C</a:t>
            </a:r>
            <a:endParaRPr lang="en-US" sz="900" dirty="0"/>
          </a:p>
        </p:txBody>
      </p:sp>
      <p:sp>
        <p:nvSpPr>
          <p:cNvPr id="30" name="Text 26"/>
          <p:cNvSpPr txBox="1"/>
          <p:nvPr/>
        </p:nvSpPr>
        <p:spPr>
          <a:xfrm>
            <a:off x="4539996" y="4638751"/>
            <a:ext cx="553212" cy="162763"/>
          </a:xfrm>
          <a:prstGeom prst="rect">
            <a:avLst/>
          </a:prstGeom>
          <a:noFill/>
          <a:ln/>
        </p:spPr>
        <p:txBody>
          <a:bodyPr wrap="square" lIns="0" tIns="0" rIns="0" bIns="0" rtlCol="0" anchor="ctr"/>
          <a:lstStyle/>
          <a:p>
            <a:pPr marL="0" indent="0" algn="ctr">
              <a:buNone/>
            </a:pPr>
            <a:r>
              <a:rPr lang="en-US" sz="900" dirty="0">
                <a:solidFill>
                  <a:srgbClr val="64748B"/>
                </a:solidFill>
                <a:latin typeface="Noto Sans JP" pitchFamily="34" charset="0"/>
                <a:ea typeface="Noto Sans JP" pitchFamily="34" charset="-122"/>
                <a:cs typeface="Noto Sans JP" pitchFamily="34" charset="-120"/>
              </a:rPr>
              <a:t>指示実行</a:t>
            </a:r>
            <a:endParaRPr lang="en-US" sz="900" dirty="0"/>
          </a:p>
        </p:txBody>
      </p:sp>
      <p:sp>
        <p:nvSpPr>
          <p:cNvPr id="31" name="Text 27"/>
          <p:cNvSpPr txBox="1"/>
          <p:nvPr/>
        </p:nvSpPr>
        <p:spPr>
          <a:xfrm>
            <a:off x="847649" y="5419649"/>
            <a:ext cx="4920386" cy="381305"/>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中央組織： 全社的なAI戦略、ガバナンス、技術支援を一元的に管理・決定します。</a:t>
            </a:r>
            <a:endParaRPr lang="en-US" sz="1000" dirty="0"/>
          </a:p>
        </p:txBody>
      </p:sp>
      <p:sp>
        <p:nvSpPr>
          <p:cNvPr id="32" name="Text 28"/>
          <p:cNvSpPr txBox="1"/>
          <p:nvPr/>
        </p:nvSpPr>
        <p:spPr>
          <a:xfrm>
            <a:off x="847649" y="5915254"/>
            <a:ext cx="4253789"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事業部： 中央組織からの指示・方針に従い、実装のみを担当します。</a:t>
            </a:r>
            <a:endParaRPr lang="en-US" sz="1000" dirty="0"/>
          </a:p>
        </p:txBody>
      </p:sp>
      <p:sp>
        <p:nvSpPr>
          <p:cNvPr id="33" name="Text 29"/>
          <p:cNvSpPr txBox="1"/>
          <p:nvPr/>
        </p:nvSpPr>
        <p:spPr>
          <a:xfrm>
            <a:off x="847649" y="6219749"/>
            <a:ext cx="4910328"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意思決定： トップダウン型で、中央組織が強力なリーダーシップを発揮します。</a:t>
            </a:r>
            <a:endParaRPr lang="en-US" sz="1000" dirty="0"/>
          </a:p>
        </p:txBody>
      </p:sp>
      <p:sp>
        <p:nvSpPr>
          <p:cNvPr id="34" name="Shape 30"/>
          <p:cNvSpPr/>
          <p:nvPr/>
        </p:nvSpPr>
        <p:spPr>
          <a:xfrm>
            <a:off x="6286500" y="1591056"/>
            <a:ext cx="5296205" cy="1676095"/>
          </a:xfrm>
          <a:prstGeom prst="roundRect">
            <a:avLst>
              <a:gd name="adj" fmla="val 3720"/>
            </a:avLst>
          </a:prstGeom>
          <a:solidFill>
            <a:srgbClr val="FFFFFF"/>
          </a:solidFill>
          <a:ln/>
          <a:effectLst>
            <a:outerShdw blurRad="38100" dist="25400" dir="5400000" algn="bl" rotWithShape="0">
              <a:srgbClr val="000000">
                <a:alpha val="3000"/>
              </a:srgbClr>
            </a:outerShdw>
          </a:effectLst>
        </p:spPr>
        <p:txBody>
          <a:bodyPr/>
          <a:lstStyle/>
          <a:p>
            <a:endParaRPr lang="ja-JP" altLang="en-US"/>
          </a:p>
        </p:txBody>
      </p:sp>
      <p:sp>
        <p:nvSpPr>
          <p:cNvPr id="35" name="Shape 31"/>
          <p:cNvSpPr/>
          <p:nvPr/>
        </p:nvSpPr>
        <p:spPr>
          <a:xfrm>
            <a:off x="6286500" y="1591056"/>
            <a:ext cx="47549" cy="1676095"/>
          </a:xfrm>
          <a:prstGeom prst="rect">
            <a:avLst/>
          </a:prstGeom>
          <a:solidFill>
            <a:srgbClr val="10B981"/>
          </a:solidFill>
          <a:ln/>
        </p:spPr>
        <p:txBody>
          <a:bodyPr/>
          <a:lstStyle/>
          <a:p>
            <a:endParaRPr lang="ja-JP" altLang="en-US"/>
          </a:p>
        </p:txBody>
      </p:sp>
      <p:pic>
        <p:nvPicPr>
          <p:cNvPr id="36" name="Image 2" descr="preencoded.png"/>
          <p:cNvPicPr>
            <a:picLocks noChangeAspect="1"/>
          </p:cNvPicPr>
          <p:nvPr/>
        </p:nvPicPr>
        <p:blipFill>
          <a:blip r:embed="rId5"/>
          <a:srcRect/>
          <a:stretch/>
        </p:blipFill>
        <p:spPr>
          <a:xfrm>
            <a:off x="6524244" y="1819656"/>
            <a:ext cx="152705" cy="152705"/>
          </a:xfrm>
          <a:prstGeom prst="rect">
            <a:avLst/>
          </a:prstGeom>
        </p:spPr>
      </p:pic>
      <p:sp>
        <p:nvSpPr>
          <p:cNvPr id="37" name="Text 32"/>
          <p:cNvSpPr txBox="1"/>
          <p:nvPr/>
        </p:nvSpPr>
        <p:spPr>
          <a:xfrm>
            <a:off x="6752844" y="1781251"/>
            <a:ext cx="734263"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メリット</a:t>
            </a:r>
            <a:endParaRPr lang="en-US" sz="1200" dirty="0"/>
          </a:p>
        </p:txBody>
      </p:sp>
      <p:sp>
        <p:nvSpPr>
          <p:cNvPr id="38" name="Text 33"/>
          <p:cNvSpPr txBox="1"/>
          <p:nvPr/>
        </p:nvSpPr>
        <p:spPr>
          <a:xfrm>
            <a:off x="6524244" y="2124151"/>
            <a:ext cx="4253789" cy="200254"/>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一貫性の確保： 全社で統一されたルールと技術標準を徹底できます。</a:t>
            </a:r>
            <a:endParaRPr lang="en-US" sz="1000" dirty="0"/>
          </a:p>
        </p:txBody>
      </p:sp>
      <p:sp>
        <p:nvSpPr>
          <p:cNvPr id="39" name="Text 34"/>
          <p:cNvSpPr txBox="1"/>
          <p:nvPr/>
        </p:nvSpPr>
        <p:spPr>
          <a:xfrm>
            <a:off x="6524244" y="2400300"/>
            <a:ext cx="4967935" cy="400507"/>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リソース効率： AI専門人材やインフラ投資を中央に集中させ、重複を排除できます。</a:t>
            </a:r>
            <a:endParaRPr lang="en-US" sz="1000" dirty="0"/>
          </a:p>
        </p:txBody>
      </p:sp>
      <p:sp>
        <p:nvSpPr>
          <p:cNvPr id="40" name="Text 35"/>
          <p:cNvSpPr txBox="1"/>
          <p:nvPr/>
        </p:nvSpPr>
        <p:spPr>
          <a:xfrm>
            <a:off x="6524244" y="2876702"/>
            <a:ext cx="4767682" cy="200254"/>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ガバナンス徹底： セキュリティやコンプライアンスのリスク管理が容易です。</a:t>
            </a:r>
            <a:endParaRPr lang="en-US" sz="1000" dirty="0"/>
          </a:p>
        </p:txBody>
      </p:sp>
      <p:sp>
        <p:nvSpPr>
          <p:cNvPr id="41" name="Shape 36"/>
          <p:cNvSpPr/>
          <p:nvPr/>
        </p:nvSpPr>
        <p:spPr>
          <a:xfrm>
            <a:off x="6286500" y="3457346"/>
            <a:ext cx="5296205" cy="1399946"/>
          </a:xfrm>
          <a:prstGeom prst="roundRect">
            <a:avLst>
              <a:gd name="adj" fmla="val 5332"/>
            </a:avLst>
          </a:prstGeom>
          <a:solidFill>
            <a:srgbClr val="FFFFFF"/>
          </a:solidFill>
          <a:ln/>
          <a:effectLst>
            <a:outerShdw blurRad="38100" dist="25400" dir="5400000" algn="bl" rotWithShape="0">
              <a:srgbClr val="000000">
                <a:alpha val="3000"/>
              </a:srgbClr>
            </a:outerShdw>
          </a:effectLst>
        </p:spPr>
        <p:txBody>
          <a:bodyPr/>
          <a:lstStyle/>
          <a:p>
            <a:endParaRPr lang="ja-JP" altLang="en-US"/>
          </a:p>
        </p:txBody>
      </p:sp>
      <p:sp>
        <p:nvSpPr>
          <p:cNvPr id="42" name="Shape 37"/>
          <p:cNvSpPr/>
          <p:nvPr/>
        </p:nvSpPr>
        <p:spPr>
          <a:xfrm>
            <a:off x="6286500" y="3457346"/>
            <a:ext cx="47549" cy="1399946"/>
          </a:xfrm>
          <a:prstGeom prst="rect">
            <a:avLst/>
          </a:prstGeom>
          <a:solidFill>
            <a:srgbClr val="EF4444"/>
          </a:solidFill>
          <a:ln/>
        </p:spPr>
        <p:txBody>
          <a:bodyPr/>
          <a:lstStyle/>
          <a:p>
            <a:endParaRPr lang="ja-JP" altLang="en-US"/>
          </a:p>
        </p:txBody>
      </p:sp>
      <p:pic>
        <p:nvPicPr>
          <p:cNvPr id="43" name="Image 3" descr="preencoded.png"/>
          <p:cNvPicPr>
            <a:picLocks noChangeAspect="1"/>
          </p:cNvPicPr>
          <p:nvPr/>
        </p:nvPicPr>
        <p:blipFill>
          <a:blip r:embed="rId6"/>
          <a:srcRect/>
          <a:stretch/>
        </p:blipFill>
        <p:spPr>
          <a:xfrm>
            <a:off x="6524244" y="3685946"/>
            <a:ext cx="152705" cy="152705"/>
          </a:xfrm>
          <a:prstGeom prst="rect">
            <a:avLst/>
          </a:prstGeom>
        </p:spPr>
      </p:pic>
      <p:sp>
        <p:nvSpPr>
          <p:cNvPr id="44" name="Text 38"/>
          <p:cNvSpPr txBox="1"/>
          <p:nvPr/>
        </p:nvSpPr>
        <p:spPr>
          <a:xfrm>
            <a:off x="6752844" y="3648456"/>
            <a:ext cx="886054"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デメリット</a:t>
            </a:r>
            <a:endParaRPr lang="en-US" sz="1200" dirty="0"/>
          </a:p>
        </p:txBody>
      </p:sp>
      <p:sp>
        <p:nvSpPr>
          <p:cNvPr id="45" name="Text 39"/>
          <p:cNvSpPr txBox="1"/>
          <p:nvPr/>
        </p:nvSpPr>
        <p:spPr>
          <a:xfrm>
            <a:off x="6524244" y="3991356"/>
            <a:ext cx="4653382" cy="200254"/>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対応スピードの遅延： 現場固有のニーズへの対応が後回しになりがちです。</a:t>
            </a:r>
            <a:endParaRPr lang="en-US" sz="1000" dirty="0"/>
          </a:p>
        </p:txBody>
      </p:sp>
      <p:sp>
        <p:nvSpPr>
          <p:cNvPr id="46" name="Text 40"/>
          <p:cNvSpPr txBox="1"/>
          <p:nvPr/>
        </p:nvSpPr>
        <p:spPr>
          <a:xfrm>
            <a:off x="6524244" y="4267505"/>
            <a:ext cx="4967935" cy="400507"/>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主体性の欠如： 事業部が「やらされ仕事」になりやすく、定着率が低下する恐れがあります。</a:t>
            </a:r>
            <a:endParaRPr lang="en-US" sz="1000" dirty="0"/>
          </a:p>
        </p:txBody>
      </p:sp>
      <p:sp>
        <p:nvSpPr>
          <p:cNvPr id="47" name="Shape 41"/>
          <p:cNvSpPr/>
          <p:nvPr/>
        </p:nvSpPr>
        <p:spPr>
          <a:xfrm>
            <a:off x="6286500" y="5048402"/>
            <a:ext cx="5296205" cy="1200607"/>
          </a:xfrm>
          <a:prstGeom prst="roundRect">
            <a:avLst>
              <a:gd name="adj" fmla="val 7253"/>
            </a:avLst>
          </a:prstGeom>
          <a:solidFill>
            <a:srgbClr val="FFFFFF"/>
          </a:solidFill>
          <a:ln/>
          <a:effectLst>
            <a:outerShdw blurRad="38100" dist="25400" dir="5400000" algn="bl" rotWithShape="0">
              <a:srgbClr val="000000">
                <a:alpha val="3000"/>
              </a:srgbClr>
            </a:outerShdw>
          </a:effectLst>
        </p:spPr>
        <p:txBody>
          <a:bodyPr/>
          <a:lstStyle/>
          <a:p>
            <a:endParaRPr lang="ja-JP" altLang="en-US"/>
          </a:p>
        </p:txBody>
      </p:sp>
      <p:sp>
        <p:nvSpPr>
          <p:cNvPr id="48" name="Shape 42"/>
          <p:cNvSpPr/>
          <p:nvPr/>
        </p:nvSpPr>
        <p:spPr>
          <a:xfrm>
            <a:off x="6286500" y="5048402"/>
            <a:ext cx="47549" cy="1200607"/>
          </a:xfrm>
          <a:prstGeom prst="rect">
            <a:avLst/>
          </a:prstGeom>
          <a:solidFill>
            <a:srgbClr val="3B82F6"/>
          </a:solidFill>
          <a:ln/>
        </p:spPr>
        <p:txBody>
          <a:bodyPr/>
          <a:lstStyle/>
          <a:p>
            <a:endParaRPr lang="ja-JP" altLang="en-US"/>
          </a:p>
        </p:txBody>
      </p:sp>
      <p:pic>
        <p:nvPicPr>
          <p:cNvPr id="49" name="Image 4" descr="preencoded.png"/>
          <p:cNvPicPr>
            <a:picLocks noChangeAspect="1"/>
          </p:cNvPicPr>
          <p:nvPr/>
        </p:nvPicPr>
        <p:blipFill>
          <a:blip r:embed="rId7"/>
          <a:srcRect t="-100" b="-100"/>
          <a:stretch/>
        </p:blipFill>
        <p:spPr>
          <a:xfrm>
            <a:off x="6524244" y="5277002"/>
            <a:ext cx="114300" cy="152705"/>
          </a:xfrm>
          <a:prstGeom prst="rect">
            <a:avLst/>
          </a:prstGeom>
        </p:spPr>
      </p:pic>
      <p:sp>
        <p:nvSpPr>
          <p:cNvPr id="50" name="Text 43"/>
          <p:cNvSpPr txBox="1"/>
          <p:nvPr/>
        </p:nvSpPr>
        <p:spPr>
          <a:xfrm>
            <a:off x="6715354" y="5238598"/>
            <a:ext cx="876910"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適用ケース</a:t>
            </a:r>
            <a:endParaRPr lang="en-US" sz="1200" dirty="0"/>
          </a:p>
        </p:txBody>
      </p:sp>
      <p:pic>
        <p:nvPicPr>
          <p:cNvPr id="51" name="Image 5" descr="preencoded.png"/>
          <p:cNvPicPr>
            <a:picLocks noChangeAspect="1"/>
          </p:cNvPicPr>
          <p:nvPr/>
        </p:nvPicPr>
        <p:blipFill>
          <a:blip r:embed="rId8"/>
          <a:srcRect/>
          <a:stretch/>
        </p:blipFill>
        <p:spPr>
          <a:xfrm>
            <a:off x="6524244" y="5619902"/>
            <a:ext cx="133502" cy="133502"/>
          </a:xfrm>
          <a:prstGeom prst="rect">
            <a:avLst/>
          </a:prstGeom>
        </p:spPr>
      </p:pic>
      <p:sp>
        <p:nvSpPr>
          <p:cNvPr id="52" name="Text 44"/>
          <p:cNvSpPr txBox="1"/>
          <p:nvPr/>
        </p:nvSpPr>
        <p:spPr>
          <a:xfrm>
            <a:off x="6752844" y="5581498"/>
            <a:ext cx="3557930"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小規模組織や、リソースが極端に限られている初期段階。</a:t>
            </a:r>
            <a:endParaRPr lang="en-US" sz="1000" dirty="0"/>
          </a:p>
        </p:txBody>
      </p:sp>
      <p:pic>
        <p:nvPicPr>
          <p:cNvPr id="53" name="Image 6" descr="preencoded.png"/>
          <p:cNvPicPr>
            <a:picLocks noChangeAspect="1"/>
          </p:cNvPicPr>
          <p:nvPr/>
        </p:nvPicPr>
        <p:blipFill>
          <a:blip r:embed="rId8"/>
          <a:srcRect/>
          <a:stretch/>
        </p:blipFill>
        <p:spPr>
          <a:xfrm>
            <a:off x="6524244" y="5896051"/>
            <a:ext cx="133502" cy="133502"/>
          </a:xfrm>
          <a:prstGeom prst="rect">
            <a:avLst/>
          </a:prstGeom>
        </p:spPr>
      </p:pic>
      <p:sp>
        <p:nvSpPr>
          <p:cNvPr id="54" name="Text 45"/>
          <p:cNvSpPr txBox="1"/>
          <p:nvPr/>
        </p:nvSpPr>
        <p:spPr>
          <a:xfrm>
            <a:off x="6752844" y="5857646"/>
            <a:ext cx="3033979"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全社的な標準化や統制が最優先事項である場合。</a:t>
            </a:r>
            <a:endParaRPr lang="en-US" sz="1000" dirty="0"/>
          </a:p>
        </p:txBody>
      </p:sp>
      <p:sp>
        <p:nvSpPr>
          <p:cNvPr id="55" name="Text 46"/>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19</a:t>
            </a:r>
            <a:endParaRPr lang="en-US" sz="900" dirty="0"/>
          </a:p>
        </p:txBody>
      </p:sp>
      <p:sp>
        <p:nvSpPr>
          <p:cNvPr id="56" name="Shape 47"/>
          <p:cNvSpPr/>
          <p:nvPr/>
        </p:nvSpPr>
        <p:spPr>
          <a:xfrm>
            <a:off x="1482242" y="2714854"/>
            <a:ext cx="3552444" cy="914400"/>
          </a:xfrm>
          <a:prstGeom prst="roundRect">
            <a:avLst>
              <a:gd name="adj" fmla="val 8333"/>
            </a:avLst>
          </a:prstGeom>
          <a:solidFill>
            <a:srgbClr val="1E3A8A"/>
          </a:solidFill>
          <a:ln/>
          <a:effectLst>
            <a:outerShdw blurRad="63500" dist="38100" dir="5400000" algn="bl" rotWithShape="0">
              <a:srgbClr val="000000">
                <a:alpha val="10000"/>
              </a:srgbClr>
            </a:outerShdw>
          </a:effectLst>
        </p:spPr>
        <p:txBody>
          <a:bodyPr/>
          <a:lstStyle/>
          <a:p>
            <a:endParaRPr lang="ja-JP" altLang="en-US"/>
          </a:p>
        </p:txBody>
      </p:sp>
      <p:pic>
        <p:nvPicPr>
          <p:cNvPr id="57" name="Image 7" descr="preencoded.png"/>
          <p:cNvPicPr>
            <a:picLocks noChangeAspect="1"/>
          </p:cNvPicPr>
          <p:nvPr/>
        </p:nvPicPr>
        <p:blipFill>
          <a:blip r:embed="rId9"/>
          <a:srcRect l="-1282" r="-1282"/>
          <a:stretch/>
        </p:blipFill>
        <p:spPr>
          <a:xfrm>
            <a:off x="1786738" y="2866644"/>
            <a:ext cx="219456" cy="190195"/>
          </a:xfrm>
          <a:prstGeom prst="rect">
            <a:avLst/>
          </a:prstGeom>
        </p:spPr>
      </p:pic>
      <p:sp>
        <p:nvSpPr>
          <p:cNvPr id="58" name="Text 48"/>
          <p:cNvSpPr txBox="1"/>
          <p:nvPr/>
        </p:nvSpPr>
        <p:spPr>
          <a:xfrm>
            <a:off x="2723998" y="3133649"/>
            <a:ext cx="1167689" cy="191110"/>
          </a:xfrm>
          <a:prstGeom prst="rect">
            <a:avLst/>
          </a:prstGeom>
          <a:noFill/>
          <a:ln/>
        </p:spPr>
        <p:txBody>
          <a:bodyPr wrap="square" lIns="0" tIns="0" rIns="0" bIns="0" rtlCol="0" anchor="ctr"/>
          <a:lstStyle/>
          <a:p>
            <a:pPr marL="0" indent="0" algn="ctr">
              <a:buNone/>
            </a:pPr>
            <a:r>
              <a:rPr lang="en-US" sz="1000" b="1" dirty="0">
                <a:solidFill>
                  <a:srgbClr val="FFFFFF"/>
                </a:solidFill>
                <a:latin typeface="Noto Sans JP" pitchFamily="34" charset="0"/>
                <a:ea typeface="Noto Sans JP" pitchFamily="34" charset="-122"/>
                <a:cs typeface="Noto Sans JP" pitchFamily="34" charset="-120"/>
              </a:rPr>
              <a:t>中央組織（本社）</a:t>
            </a:r>
            <a:endParaRPr lang="en-US" sz="1000" dirty="0"/>
          </a:p>
        </p:txBody>
      </p:sp>
      <p:sp>
        <p:nvSpPr>
          <p:cNvPr id="59" name="Text 49"/>
          <p:cNvSpPr txBox="1"/>
          <p:nvPr/>
        </p:nvSpPr>
        <p:spPr>
          <a:xfrm>
            <a:off x="2685593" y="3314700"/>
            <a:ext cx="1239012" cy="162763"/>
          </a:xfrm>
          <a:prstGeom prst="rect">
            <a:avLst/>
          </a:prstGeom>
          <a:noFill/>
          <a:ln/>
        </p:spPr>
        <p:txBody>
          <a:bodyPr wrap="square" lIns="0" tIns="0" rIns="0" bIns="0" rtlCol="0" anchor="ctr"/>
          <a:lstStyle/>
          <a:p>
            <a:pPr marL="0" indent="0" algn="ctr">
              <a:buNone/>
            </a:pPr>
            <a:r>
              <a:rPr lang="en-US" sz="900" dirty="0">
                <a:solidFill>
                  <a:srgbClr val="FFFFFF">
                    <a:alpha val="90000"/>
                  </a:srgbClr>
                </a:solidFill>
                <a:latin typeface="Noto Sans JP" pitchFamily="34" charset="0"/>
                <a:ea typeface="Noto Sans JP" pitchFamily="34" charset="-122"/>
                <a:cs typeface="Noto Sans JP" pitchFamily="34" charset="-120"/>
              </a:rPr>
              <a:t>戦略・権限を一元管理</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285646"/>
          </a:xfrm>
          <a:prstGeom prst="rect">
            <a:avLst/>
          </a:prstGeom>
          <a:solidFill>
            <a:srgbClr val="FFFFFF"/>
          </a:solidFill>
          <a:ln/>
        </p:spPr>
        <p:txBody>
          <a:bodyPr/>
          <a:lstStyle/>
          <a:p>
            <a:endParaRPr lang="ja-JP" altLang="en-US"/>
          </a:p>
        </p:txBody>
      </p:sp>
      <p:sp>
        <p:nvSpPr>
          <p:cNvPr id="5" name="Shape 3"/>
          <p:cNvSpPr/>
          <p:nvPr/>
        </p:nvSpPr>
        <p:spPr>
          <a:xfrm>
            <a:off x="0" y="1276502"/>
            <a:ext cx="12191695" cy="9144"/>
          </a:xfrm>
          <a:prstGeom prst="rect">
            <a:avLst/>
          </a:prstGeom>
          <a:solidFill>
            <a:srgbClr val="E5E7EB"/>
          </a:solidFill>
          <a:ln/>
        </p:spPr>
        <p:txBody>
          <a:bodyPr/>
          <a:lstStyle/>
          <a:p>
            <a:endParaRPr lang="ja-JP" altLang="en-US"/>
          </a:p>
        </p:txBody>
      </p:sp>
      <p:sp>
        <p:nvSpPr>
          <p:cNvPr id="6" name="Shape 4"/>
          <p:cNvSpPr/>
          <p:nvPr/>
        </p:nvSpPr>
        <p:spPr>
          <a:xfrm>
            <a:off x="609905" y="448056"/>
            <a:ext cx="457200" cy="457200"/>
          </a:xfrm>
          <a:prstGeom prst="ellipse">
            <a:avLst/>
          </a:prstGeom>
          <a:solidFill>
            <a:srgbClr val="475569"/>
          </a:solidFill>
          <a:ln/>
          <a:effectLst>
            <a:outerShdw blurRad="63500" dist="38100" dir="5400000" algn="bl" rotWithShape="0">
              <a:srgbClr val="000000">
                <a:alpha val="10000"/>
              </a:srgbClr>
            </a:outerShdw>
          </a:effectLst>
        </p:spPr>
        <p:txBody>
          <a:bodyPr/>
          <a:lstStyle/>
          <a:p>
            <a:endParaRPr lang="ja-JP" altLang="en-US"/>
          </a:p>
        </p:txBody>
      </p:sp>
      <p:pic>
        <p:nvPicPr>
          <p:cNvPr id="7" name="Image 0" descr="preencoded.png"/>
          <p:cNvPicPr>
            <a:picLocks noChangeAspect="1"/>
          </p:cNvPicPr>
          <p:nvPr/>
        </p:nvPicPr>
        <p:blipFill>
          <a:blip r:embed="rId3"/>
          <a:srcRect/>
          <a:stretch/>
        </p:blipFill>
        <p:spPr>
          <a:xfrm>
            <a:off x="718718" y="580644"/>
            <a:ext cx="237744" cy="190195"/>
          </a:xfrm>
          <a:prstGeom prst="rect">
            <a:avLst/>
          </a:prstGeom>
        </p:spPr>
      </p:pic>
      <p:sp>
        <p:nvSpPr>
          <p:cNvPr id="8" name="Shape 5"/>
          <p:cNvSpPr/>
          <p:nvPr/>
        </p:nvSpPr>
        <p:spPr>
          <a:xfrm>
            <a:off x="1295705" y="321869"/>
            <a:ext cx="1200607" cy="200254"/>
          </a:xfrm>
          <a:prstGeom prst="roundRect">
            <a:avLst>
              <a:gd name="adj" fmla="val 86975"/>
            </a:avLst>
          </a:prstGeom>
          <a:solidFill>
            <a:srgbClr val="64748B"/>
          </a:solidFill>
          <a:ln/>
        </p:spPr>
        <p:txBody>
          <a:bodyPr/>
          <a:lstStyle/>
          <a:p>
            <a:endParaRPr lang="ja-JP" altLang="en-US"/>
          </a:p>
        </p:txBody>
      </p:sp>
      <p:sp>
        <p:nvSpPr>
          <p:cNvPr id="9" name="Text 6"/>
          <p:cNvSpPr txBox="1"/>
          <p:nvPr/>
        </p:nvSpPr>
        <p:spPr>
          <a:xfrm>
            <a:off x="1371600" y="340157"/>
            <a:ext cx="1126541"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組織体制・役割分担編</a:t>
            </a:r>
            <a:endParaRPr lang="en-US" sz="800" dirty="0"/>
          </a:p>
        </p:txBody>
      </p:sp>
      <p:sp>
        <p:nvSpPr>
          <p:cNvPr id="10" name="Text 7"/>
          <p:cNvSpPr txBox="1"/>
          <p:nvPr/>
        </p:nvSpPr>
        <p:spPr>
          <a:xfrm>
            <a:off x="2572207" y="304495"/>
            <a:ext cx="1858061" cy="228600"/>
          </a:xfrm>
          <a:prstGeom prst="rect">
            <a:avLst/>
          </a:prstGeom>
          <a:noFill/>
          <a:ln/>
        </p:spPr>
        <p:txBody>
          <a:bodyPr wrap="square" lIns="0" tIns="0" rIns="0" bIns="0" rtlCol="0" anchor="ctr"/>
          <a:lstStyle/>
          <a:p>
            <a:pPr marL="0" indent="0" algn="l">
              <a:buNone/>
            </a:pPr>
            <a:r>
              <a:rPr lang="en-US" sz="1200" dirty="0">
                <a:solidFill>
                  <a:srgbClr val="64748B"/>
                </a:solidFill>
                <a:latin typeface="Noto Sans JP" pitchFamily="34" charset="0"/>
                <a:ea typeface="Noto Sans JP" pitchFamily="34" charset="-122"/>
                <a:cs typeface="Noto Sans JP" pitchFamily="34" charset="-120"/>
              </a:rPr>
              <a:t>Organizational Structure</a:t>
            </a:r>
            <a:endParaRPr lang="en-US" sz="1200" dirty="0"/>
          </a:p>
        </p:txBody>
      </p:sp>
      <p:sp>
        <p:nvSpPr>
          <p:cNvPr id="11" name="Text 8"/>
          <p:cNvSpPr txBox="1"/>
          <p:nvPr/>
        </p:nvSpPr>
        <p:spPr>
          <a:xfrm>
            <a:off x="1295705" y="543154"/>
            <a:ext cx="5000854" cy="438912"/>
          </a:xfrm>
          <a:prstGeom prst="rect">
            <a:avLst/>
          </a:prstGeom>
          <a:noFill/>
          <a:ln/>
        </p:spPr>
        <p:txBody>
          <a:bodyPr wrap="square" lIns="0" tIns="0" rIns="0" bIns="0" rtlCol="0" anchor="ctr"/>
          <a:lstStyle/>
          <a:p>
            <a:pPr marL="0" indent="0" algn="l">
              <a:buNone/>
            </a:pPr>
            <a:r>
              <a:rPr lang="en-US" sz="2400" b="1" dirty="0" err="1">
                <a:solidFill>
                  <a:srgbClr val="1E3A8A"/>
                </a:solidFill>
                <a:latin typeface="Noto Sans JP" pitchFamily="34" charset="0"/>
                <a:ea typeface="Noto Sans JP" pitchFamily="34" charset="-122"/>
                <a:cs typeface="Noto Sans JP" pitchFamily="34" charset="-120"/>
              </a:rPr>
              <a:t>分散型モデル</a:t>
            </a:r>
            <a:endParaRPr lang="en-US" sz="2400" dirty="0"/>
          </a:p>
        </p:txBody>
      </p:sp>
      <p:sp>
        <p:nvSpPr>
          <p:cNvPr id="13" name="Shape 10"/>
          <p:cNvSpPr/>
          <p:nvPr/>
        </p:nvSpPr>
        <p:spPr>
          <a:xfrm>
            <a:off x="609905" y="1923898"/>
            <a:ext cx="5553151" cy="19202"/>
          </a:xfrm>
          <a:prstGeom prst="rect">
            <a:avLst/>
          </a:prstGeom>
          <a:solidFill>
            <a:srgbClr val="BFDBFE"/>
          </a:solidFill>
          <a:ln/>
        </p:spPr>
        <p:txBody>
          <a:bodyPr/>
          <a:lstStyle/>
          <a:p>
            <a:endParaRPr lang="ja-JP" altLang="en-US"/>
          </a:p>
        </p:txBody>
      </p:sp>
      <p:pic>
        <p:nvPicPr>
          <p:cNvPr id="14" name="Image 1" descr="preencoded.png"/>
          <p:cNvPicPr>
            <a:picLocks noChangeAspect="1"/>
          </p:cNvPicPr>
          <p:nvPr/>
        </p:nvPicPr>
        <p:blipFill>
          <a:blip r:embed="rId4"/>
          <a:srcRect t="-842" b="-842"/>
          <a:stretch/>
        </p:blipFill>
        <p:spPr>
          <a:xfrm>
            <a:off x="609905" y="1633118"/>
            <a:ext cx="190195" cy="171907"/>
          </a:xfrm>
          <a:prstGeom prst="rect">
            <a:avLst/>
          </a:prstGeom>
        </p:spPr>
      </p:pic>
      <p:sp>
        <p:nvSpPr>
          <p:cNvPr id="15" name="Text 11"/>
          <p:cNvSpPr txBox="1"/>
          <p:nvPr/>
        </p:nvSpPr>
        <p:spPr>
          <a:xfrm>
            <a:off x="895198" y="1591056"/>
            <a:ext cx="986638" cy="257861"/>
          </a:xfrm>
          <a:prstGeom prst="rect">
            <a:avLst/>
          </a:prstGeom>
          <a:noFill/>
          <a:ln/>
        </p:spPr>
        <p:txBody>
          <a:bodyPr wrap="square" lIns="0" tIns="0" rIns="0" bIns="0" rtlCol="0" anchor="ctr"/>
          <a:lstStyle/>
          <a:p>
            <a:pPr marL="0" indent="0" algn="l">
              <a:buNone/>
            </a:pPr>
            <a:r>
              <a:rPr lang="en-US" sz="1300" b="1" dirty="0">
                <a:solidFill>
                  <a:srgbClr val="1E3A8A"/>
                </a:solidFill>
                <a:latin typeface="Noto Sans JP" pitchFamily="34" charset="0"/>
                <a:ea typeface="Noto Sans JP" pitchFamily="34" charset="-122"/>
                <a:cs typeface="Noto Sans JP" pitchFamily="34" charset="-120"/>
              </a:rPr>
              <a:t>特徴と構造</a:t>
            </a:r>
            <a:endParaRPr lang="en-US" sz="1300" dirty="0"/>
          </a:p>
        </p:txBody>
      </p:sp>
      <p:sp>
        <p:nvSpPr>
          <p:cNvPr id="16" name="Shape 12"/>
          <p:cNvSpPr/>
          <p:nvPr/>
        </p:nvSpPr>
        <p:spPr>
          <a:xfrm>
            <a:off x="609905" y="2057400"/>
            <a:ext cx="809244" cy="247802"/>
          </a:xfrm>
          <a:prstGeom prst="roundRect">
            <a:avLst>
              <a:gd name="adj" fmla="val 283849"/>
            </a:avLst>
          </a:prstGeom>
          <a:solidFill>
            <a:srgbClr val="E2E8F0"/>
          </a:solidFill>
          <a:ln/>
        </p:spPr>
        <p:txBody>
          <a:bodyPr/>
          <a:lstStyle/>
          <a:p>
            <a:endParaRPr lang="ja-JP" altLang="en-US"/>
          </a:p>
        </p:txBody>
      </p:sp>
      <p:sp>
        <p:nvSpPr>
          <p:cNvPr id="17" name="Text 13"/>
          <p:cNvSpPr txBox="1"/>
          <p:nvPr/>
        </p:nvSpPr>
        <p:spPr>
          <a:xfrm>
            <a:off x="724205" y="2095805"/>
            <a:ext cx="667512" cy="162763"/>
          </a:xfrm>
          <a:prstGeom prst="rect">
            <a:avLst/>
          </a:prstGeom>
          <a:noFill/>
          <a:ln/>
        </p:spPr>
        <p:txBody>
          <a:bodyPr wrap="square" lIns="0" tIns="0" rIns="0" bIns="0" rtlCol="0" anchor="ctr"/>
          <a:lstStyle/>
          <a:p>
            <a:pPr marL="0" indent="0" algn="l">
              <a:buNone/>
            </a:pPr>
            <a:r>
              <a:rPr lang="en-US" sz="900" b="1" dirty="0">
                <a:solidFill>
                  <a:srgbClr val="475569"/>
                </a:solidFill>
                <a:latin typeface="Noto Sans JP" pitchFamily="34" charset="0"/>
                <a:ea typeface="Noto Sans JP" pitchFamily="34" charset="-122"/>
                <a:cs typeface="Noto Sans JP" pitchFamily="34" charset="-120"/>
              </a:rPr>
              <a:t>事業部主導</a:t>
            </a:r>
            <a:endParaRPr lang="en-US" sz="900" dirty="0"/>
          </a:p>
        </p:txBody>
      </p:sp>
      <p:sp>
        <p:nvSpPr>
          <p:cNvPr id="18" name="Shape 14"/>
          <p:cNvSpPr/>
          <p:nvPr/>
        </p:nvSpPr>
        <p:spPr>
          <a:xfrm>
            <a:off x="1485900" y="2057400"/>
            <a:ext cx="694944" cy="247802"/>
          </a:xfrm>
          <a:prstGeom prst="roundRect">
            <a:avLst>
              <a:gd name="adj" fmla="val 283849"/>
            </a:avLst>
          </a:prstGeom>
          <a:solidFill>
            <a:srgbClr val="E2E8F0"/>
          </a:solidFill>
          <a:ln/>
        </p:spPr>
        <p:txBody>
          <a:bodyPr/>
          <a:lstStyle/>
          <a:p>
            <a:endParaRPr lang="ja-JP" altLang="en-US"/>
          </a:p>
        </p:txBody>
      </p:sp>
      <p:sp>
        <p:nvSpPr>
          <p:cNvPr id="19" name="Text 15"/>
          <p:cNvSpPr txBox="1"/>
          <p:nvPr/>
        </p:nvSpPr>
        <p:spPr>
          <a:xfrm>
            <a:off x="1600200" y="2095805"/>
            <a:ext cx="553212" cy="162763"/>
          </a:xfrm>
          <a:prstGeom prst="rect">
            <a:avLst/>
          </a:prstGeom>
          <a:noFill/>
          <a:ln/>
        </p:spPr>
        <p:txBody>
          <a:bodyPr wrap="square" lIns="0" tIns="0" rIns="0" bIns="0" rtlCol="0" anchor="ctr"/>
          <a:lstStyle/>
          <a:p>
            <a:pPr marL="0" indent="0" algn="l">
              <a:buNone/>
            </a:pPr>
            <a:r>
              <a:rPr lang="en-US" sz="900" b="1" dirty="0">
                <a:solidFill>
                  <a:srgbClr val="475569"/>
                </a:solidFill>
                <a:latin typeface="Noto Sans JP" pitchFamily="34" charset="0"/>
                <a:ea typeface="Noto Sans JP" pitchFamily="34" charset="-122"/>
                <a:cs typeface="Noto Sans JP" pitchFamily="34" charset="-120"/>
              </a:rPr>
              <a:t>個別最適</a:t>
            </a:r>
            <a:endParaRPr lang="en-US" sz="900" dirty="0"/>
          </a:p>
        </p:txBody>
      </p:sp>
      <p:sp>
        <p:nvSpPr>
          <p:cNvPr id="20" name="Shape 16"/>
          <p:cNvSpPr/>
          <p:nvPr/>
        </p:nvSpPr>
        <p:spPr>
          <a:xfrm>
            <a:off x="2248510" y="2057400"/>
            <a:ext cx="1152144" cy="247802"/>
          </a:xfrm>
          <a:prstGeom prst="roundRect">
            <a:avLst>
              <a:gd name="adj" fmla="val 283849"/>
            </a:avLst>
          </a:prstGeom>
          <a:solidFill>
            <a:srgbClr val="E2E8F0"/>
          </a:solidFill>
          <a:ln/>
        </p:spPr>
        <p:txBody>
          <a:bodyPr/>
          <a:lstStyle/>
          <a:p>
            <a:endParaRPr lang="ja-JP" altLang="en-US"/>
          </a:p>
        </p:txBody>
      </p:sp>
      <p:sp>
        <p:nvSpPr>
          <p:cNvPr id="21" name="Text 17"/>
          <p:cNvSpPr txBox="1"/>
          <p:nvPr/>
        </p:nvSpPr>
        <p:spPr>
          <a:xfrm>
            <a:off x="2362810" y="2095805"/>
            <a:ext cx="1010412" cy="162763"/>
          </a:xfrm>
          <a:prstGeom prst="rect">
            <a:avLst/>
          </a:prstGeom>
          <a:noFill/>
          <a:ln/>
        </p:spPr>
        <p:txBody>
          <a:bodyPr wrap="square" lIns="0" tIns="0" rIns="0" bIns="0" rtlCol="0" anchor="ctr"/>
          <a:lstStyle/>
          <a:p>
            <a:pPr marL="0" indent="0" algn="l">
              <a:buNone/>
            </a:pPr>
            <a:r>
              <a:rPr lang="en-US" sz="900" b="1" dirty="0">
                <a:solidFill>
                  <a:srgbClr val="475569"/>
                </a:solidFill>
                <a:latin typeface="Noto Sans JP" pitchFamily="34" charset="0"/>
                <a:ea typeface="Noto Sans JP" pitchFamily="34" charset="-122"/>
                <a:cs typeface="Noto Sans JP" pitchFamily="34" charset="-120"/>
              </a:rPr>
              <a:t>中央関与：最小限</a:t>
            </a:r>
            <a:endParaRPr lang="en-US" sz="900" dirty="0"/>
          </a:p>
        </p:txBody>
      </p:sp>
      <p:sp>
        <p:nvSpPr>
          <p:cNvPr id="22" name="Shape 18"/>
          <p:cNvSpPr/>
          <p:nvPr/>
        </p:nvSpPr>
        <p:spPr>
          <a:xfrm>
            <a:off x="609905" y="2648102"/>
            <a:ext cx="5553151" cy="3905402"/>
          </a:xfrm>
          <a:prstGeom prst="roundRect">
            <a:avLst>
              <a:gd name="adj" fmla="val 914"/>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23" name="Text 19"/>
          <p:cNvSpPr txBox="1"/>
          <p:nvPr/>
        </p:nvSpPr>
        <p:spPr>
          <a:xfrm>
            <a:off x="3007462" y="2897734"/>
            <a:ext cx="838505" cy="162763"/>
          </a:xfrm>
          <a:prstGeom prst="rect">
            <a:avLst/>
          </a:prstGeom>
          <a:noFill/>
          <a:ln/>
        </p:spPr>
        <p:txBody>
          <a:bodyPr wrap="square" lIns="0" tIns="0" rIns="0" bIns="0" rtlCol="0" anchor="ctr"/>
          <a:lstStyle/>
          <a:p>
            <a:pPr marL="0" indent="0" algn="ctr">
              <a:buNone/>
            </a:pPr>
            <a:r>
              <a:rPr lang="en-US" sz="900" b="1" dirty="0">
                <a:solidFill>
                  <a:srgbClr val="9CA3AF"/>
                </a:solidFill>
                <a:latin typeface="Noto Sans JP" pitchFamily="34" charset="0"/>
                <a:ea typeface="Noto Sans JP" pitchFamily="34" charset="-122"/>
                <a:cs typeface="Noto Sans JP" pitchFamily="34" charset="-120"/>
              </a:rPr>
              <a:t>構造イメージ</a:t>
            </a:r>
            <a:endParaRPr lang="en-US" sz="900" dirty="0"/>
          </a:p>
        </p:txBody>
      </p:sp>
      <p:sp>
        <p:nvSpPr>
          <p:cNvPr id="24" name="Shape 20"/>
          <p:cNvSpPr/>
          <p:nvPr/>
        </p:nvSpPr>
        <p:spPr>
          <a:xfrm>
            <a:off x="2811780" y="3288182"/>
            <a:ext cx="1143000" cy="590702"/>
          </a:xfrm>
          <a:prstGeom prst="roundRect">
            <a:avLst>
              <a:gd name="adj" fmla="val 19974"/>
            </a:avLst>
          </a:prstGeom>
          <a:solidFill>
            <a:srgbClr val="F8FAFC"/>
          </a:solidFill>
          <a:ln w="25400">
            <a:solidFill>
              <a:srgbClr val="CBD5E1"/>
            </a:solidFill>
            <a:prstDash val="solid"/>
          </a:ln>
        </p:spPr>
        <p:txBody>
          <a:bodyPr/>
          <a:lstStyle/>
          <a:p>
            <a:endParaRPr lang="ja-JP" altLang="en-US"/>
          </a:p>
        </p:txBody>
      </p:sp>
      <p:sp>
        <p:nvSpPr>
          <p:cNvPr id="25" name="Text 21"/>
          <p:cNvSpPr txBox="1"/>
          <p:nvPr/>
        </p:nvSpPr>
        <p:spPr>
          <a:xfrm>
            <a:off x="3154680" y="3392424"/>
            <a:ext cx="553212" cy="162763"/>
          </a:xfrm>
          <a:prstGeom prst="rect">
            <a:avLst/>
          </a:prstGeom>
          <a:noFill/>
          <a:ln/>
        </p:spPr>
        <p:txBody>
          <a:bodyPr wrap="square" lIns="0" tIns="0" rIns="0" bIns="0" rtlCol="0" anchor="ctr"/>
          <a:lstStyle/>
          <a:p>
            <a:pPr marL="0" indent="0" algn="ctr">
              <a:buNone/>
            </a:pPr>
            <a:r>
              <a:rPr lang="en-US" sz="900" b="1" dirty="0">
                <a:solidFill>
                  <a:srgbClr val="94A3B8"/>
                </a:solidFill>
                <a:latin typeface="Noto Sans JP" pitchFamily="34" charset="0"/>
                <a:ea typeface="Noto Sans JP" pitchFamily="34" charset="-122"/>
                <a:cs typeface="Noto Sans JP" pitchFamily="34" charset="-120"/>
              </a:rPr>
              <a:t>中央組織</a:t>
            </a:r>
            <a:endParaRPr lang="en-US" sz="900" dirty="0"/>
          </a:p>
        </p:txBody>
      </p:sp>
      <p:sp>
        <p:nvSpPr>
          <p:cNvPr id="26" name="Text 22"/>
          <p:cNvSpPr txBox="1"/>
          <p:nvPr/>
        </p:nvSpPr>
        <p:spPr>
          <a:xfrm>
            <a:off x="3040380" y="3592678"/>
            <a:ext cx="781812" cy="162763"/>
          </a:xfrm>
          <a:prstGeom prst="rect">
            <a:avLst/>
          </a:prstGeom>
          <a:noFill/>
          <a:ln/>
        </p:spPr>
        <p:txBody>
          <a:bodyPr wrap="square" lIns="0" tIns="0" rIns="0" bIns="0" rtlCol="0" anchor="ctr"/>
          <a:lstStyle/>
          <a:p>
            <a:pPr marL="0" indent="0" algn="ctr">
              <a:buNone/>
            </a:pPr>
            <a:r>
              <a:rPr lang="en-US" sz="900" b="1" dirty="0">
                <a:solidFill>
                  <a:srgbClr val="94A3B8"/>
                </a:solidFill>
                <a:latin typeface="Noto Sans JP" pitchFamily="34" charset="0"/>
                <a:ea typeface="Noto Sans JP" pitchFamily="34" charset="-122"/>
                <a:cs typeface="Noto Sans JP" pitchFamily="34" charset="-120"/>
              </a:rPr>
              <a:t>最小限の支援</a:t>
            </a:r>
            <a:endParaRPr lang="en-US" sz="900" dirty="0"/>
          </a:p>
        </p:txBody>
      </p:sp>
      <p:sp>
        <p:nvSpPr>
          <p:cNvPr id="27" name="Shape 23"/>
          <p:cNvSpPr/>
          <p:nvPr/>
        </p:nvSpPr>
        <p:spPr>
          <a:xfrm>
            <a:off x="847649" y="4259275"/>
            <a:ext cx="1591056" cy="1429207"/>
          </a:xfrm>
          <a:prstGeom prst="roundRect">
            <a:avLst>
              <a:gd name="adj" fmla="val 5118"/>
            </a:avLst>
          </a:prstGeom>
          <a:solidFill>
            <a:srgbClr val="EFF6FF"/>
          </a:solidFill>
          <a:ln w="25400">
            <a:solidFill>
              <a:srgbClr val="3B82F6"/>
            </a:solidFill>
            <a:prstDash val="solid"/>
          </a:ln>
          <a:effectLst>
            <a:outerShdw blurRad="63500" dist="38100" dir="5400000" algn="bl" rotWithShape="0">
              <a:srgbClr val="3B82F6">
                <a:alpha val="10000"/>
              </a:srgbClr>
            </a:outerShdw>
          </a:effectLst>
        </p:spPr>
        <p:txBody>
          <a:bodyPr/>
          <a:lstStyle/>
          <a:p>
            <a:endParaRPr lang="ja-JP" altLang="en-US"/>
          </a:p>
        </p:txBody>
      </p:sp>
      <p:sp>
        <p:nvSpPr>
          <p:cNvPr id="28" name="Shape 24"/>
          <p:cNvSpPr/>
          <p:nvPr/>
        </p:nvSpPr>
        <p:spPr>
          <a:xfrm>
            <a:off x="1413662" y="4431182"/>
            <a:ext cx="457200" cy="457200"/>
          </a:xfrm>
          <a:prstGeom prst="ellipse">
            <a:avLst/>
          </a:prstGeom>
          <a:solidFill>
            <a:srgbClr val="FFFFFF"/>
          </a:solidFill>
          <a:ln w="12700">
            <a:solidFill>
              <a:srgbClr val="BFDBFE"/>
            </a:solidFill>
            <a:prstDash val="solid"/>
          </a:ln>
        </p:spPr>
        <p:txBody>
          <a:bodyPr/>
          <a:lstStyle/>
          <a:p>
            <a:endParaRPr lang="ja-JP" altLang="en-US"/>
          </a:p>
        </p:txBody>
      </p:sp>
      <p:pic>
        <p:nvPicPr>
          <p:cNvPr id="29" name="Image 2" descr="preencoded.png"/>
          <p:cNvPicPr>
            <a:picLocks noChangeAspect="1"/>
          </p:cNvPicPr>
          <p:nvPr/>
        </p:nvPicPr>
        <p:blipFill>
          <a:blip r:embed="rId5"/>
          <a:srcRect/>
          <a:stretch/>
        </p:blipFill>
        <p:spPr>
          <a:xfrm>
            <a:off x="1527962" y="4545482"/>
            <a:ext cx="228600" cy="228600"/>
          </a:xfrm>
          <a:prstGeom prst="rect">
            <a:avLst/>
          </a:prstGeom>
        </p:spPr>
      </p:pic>
      <p:sp>
        <p:nvSpPr>
          <p:cNvPr id="30" name="Text 25"/>
          <p:cNvSpPr txBox="1"/>
          <p:nvPr/>
        </p:nvSpPr>
        <p:spPr>
          <a:xfrm>
            <a:off x="1384402" y="4964278"/>
            <a:ext cx="624535" cy="191110"/>
          </a:xfrm>
          <a:prstGeom prst="rect">
            <a:avLst/>
          </a:prstGeom>
          <a:noFill/>
          <a:ln/>
        </p:spPr>
        <p:txBody>
          <a:bodyPr wrap="square" lIns="0" tIns="0" rIns="0" bIns="0" rtlCol="0" anchor="ctr"/>
          <a:lstStyle/>
          <a:p>
            <a:pPr marL="0" indent="0" algn="ctr">
              <a:buNone/>
            </a:pPr>
            <a:r>
              <a:rPr lang="en-US" sz="1000" b="1" dirty="0">
                <a:solidFill>
                  <a:srgbClr val="1E40AF"/>
                </a:solidFill>
                <a:latin typeface="Noto Sans JP" pitchFamily="34" charset="0"/>
                <a:ea typeface="Noto Sans JP" pitchFamily="34" charset="-122"/>
                <a:cs typeface="Noto Sans JP" pitchFamily="34" charset="-120"/>
              </a:rPr>
              <a:t>事業部 A</a:t>
            </a:r>
            <a:endParaRPr lang="en-US" sz="1000" dirty="0"/>
          </a:p>
        </p:txBody>
      </p:sp>
      <p:sp>
        <p:nvSpPr>
          <p:cNvPr id="31" name="Text 26"/>
          <p:cNvSpPr txBox="1"/>
          <p:nvPr/>
        </p:nvSpPr>
        <p:spPr>
          <a:xfrm>
            <a:off x="1018642" y="5231282"/>
            <a:ext cx="1326794" cy="152705"/>
          </a:xfrm>
          <a:prstGeom prst="rect">
            <a:avLst/>
          </a:prstGeom>
          <a:noFill/>
          <a:ln/>
        </p:spPr>
        <p:txBody>
          <a:bodyPr wrap="square" lIns="0" tIns="0" rIns="0" bIns="0" rtlCol="0" anchor="ctr"/>
          <a:lstStyle/>
          <a:p>
            <a:pPr marL="0" indent="0" algn="ctr">
              <a:buNone/>
            </a:pPr>
            <a:r>
              <a:rPr lang="en-US" sz="800" dirty="0">
                <a:solidFill>
                  <a:srgbClr val="64748B"/>
                </a:solidFill>
                <a:latin typeface="Noto Sans JP" pitchFamily="34" charset="0"/>
                <a:ea typeface="Noto Sans JP" pitchFamily="34" charset="-122"/>
                <a:cs typeface="Noto Sans JP" pitchFamily="34" charset="-120"/>
              </a:rPr>
              <a:t>独自のAIツール選定と実装</a:t>
            </a:r>
            <a:endParaRPr lang="en-US" sz="800" dirty="0"/>
          </a:p>
        </p:txBody>
      </p:sp>
      <p:sp>
        <p:nvSpPr>
          <p:cNvPr id="32" name="Shape 27"/>
          <p:cNvSpPr/>
          <p:nvPr/>
        </p:nvSpPr>
        <p:spPr>
          <a:xfrm>
            <a:off x="2589581" y="4259275"/>
            <a:ext cx="1591056" cy="1429207"/>
          </a:xfrm>
          <a:prstGeom prst="roundRect">
            <a:avLst>
              <a:gd name="adj" fmla="val 5118"/>
            </a:avLst>
          </a:prstGeom>
          <a:solidFill>
            <a:srgbClr val="EFF6FF"/>
          </a:solidFill>
          <a:ln w="25400">
            <a:solidFill>
              <a:srgbClr val="3B82F6"/>
            </a:solidFill>
            <a:prstDash val="solid"/>
          </a:ln>
          <a:effectLst>
            <a:outerShdw blurRad="63500" dist="38100" dir="5400000" algn="bl" rotWithShape="0">
              <a:srgbClr val="3B82F6">
                <a:alpha val="10000"/>
              </a:srgbClr>
            </a:outerShdw>
          </a:effectLst>
        </p:spPr>
        <p:txBody>
          <a:bodyPr/>
          <a:lstStyle/>
          <a:p>
            <a:endParaRPr lang="ja-JP" altLang="en-US"/>
          </a:p>
        </p:txBody>
      </p:sp>
      <p:sp>
        <p:nvSpPr>
          <p:cNvPr id="33" name="Shape 28"/>
          <p:cNvSpPr/>
          <p:nvPr/>
        </p:nvSpPr>
        <p:spPr>
          <a:xfrm>
            <a:off x="3154680" y="4431182"/>
            <a:ext cx="457200" cy="457200"/>
          </a:xfrm>
          <a:prstGeom prst="ellipse">
            <a:avLst/>
          </a:prstGeom>
          <a:solidFill>
            <a:srgbClr val="FFFFFF"/>
          </a:solidFill>
          <a:ln w="12700">
            <a:solidFill>
              <a:srgbClr val="BFDBFE"/>
            </a:solidFill>
            <a:prstDash val="solid"/>
          </a:ln>
        </p:spPr>
        <p:txBody>
          <a:bodyPr/>
          <a:lstStyle/>
          <a:p>
            <a:endParaRPr lang="ja-JP" altLang="en-US"/>
          </a:p>
        </p:txBody>
      </p:sp>
      <p:pic>
        <p:nvPicPr>
          <p:cNvPr id="34" name="Image 3" descr="preencoded.png"/>
          <p:cNvPicPr>
            <a:picLocks noChangeAspect="1"/>
          </p:cNvPicPr>
          <p:nvPr/>
        </p:nvPicPr>
        <p:blipFill>
          <a:blip r:embed="rId6"/>
          <a:srcRect l="-57" r="-57"/>
          <a:stretch/>
        </p:blipFill>
        <p:spPr>
          <a:xfrm>
            <a:off x="3283610" y="4545482"/>
            <a:ext cx="200254" cy="228600"/>
          </a:xfrm>
          <a:prstGeom prst="rect">
            <a:avLst/>
          </a:prstGeom>
        </p:spPr>
      </p:pic>
      <p:sp>
        <p:nvSpPr>
          <p:cNvPr id="35" name="Text 29"/>
          <p:cNvSpPr txBox="1"/>
          <p:nvPr/>
        </p:nvSpPr>
        <p:spPr>
          <a:xfrm>
            <a:off x="3122676" y="4964278"/>
            <a:ext cx="624535" cy="191110"/>
          </a:xfrm>
          <a:prstGeom prst="rect">
            <a:avLst/>
          </a:prstGeom>
          <a:noFill/>
          <a:ln/>
        </p:spPr>
        <p:txBody>
          <a:bodyPr wrap="square" lIns="0" tIns="0" rIns="0" bIns="0" rtlCol="0" anchor="ctr"/>
          <a:lstStyle/>
          <a:p>
            <a:pPr marL="0" indent="0" algn="ctr">
              <a:buNone/>
            </a:pPr>
            <a:r>
              <a:rPr lang="en-US" sz="1000" b="1" dirty="0">
                <a:solidFill>
                  <a:srgbClr val="1E40AF"/>
                </a:solidFill>
                <a:latin typeface="Noto Sans JP" pitchFamily="34" charset="0"/>
                <a:ea typeface="Noto Sans JP" pitchFamily="34" charset="-122"/>
                <a:cs typeface="Noto Sans JP" pitchFamily="34" charset="-120"/>
              </a:rPr>
              <a:t>事業部 B</a:t>
            </a:r>
            <a:endParaRPr lang="en-US" sz="1000" dirty="0"/>
          </a:p>
        </p:txBody>
      </p:sp>
      <p:sp>
        <p:nvSpPr>
          <p:cNvPr id="36" name="Text 30"/>
          <p:cNvSpPr txBox="1"/>
          <p:nvPr/>
        </p:nvSpPr>
        <p:spPr>
          <a:xfrm>
            <a:off x="2704795" y="5231282"/>
            <a:ext cx="1441094" cy="295351"/>
          </a:xfrm>
          <a:prstGeom prst="rect">
            <a:avLst/>
          </a:prstGeom>
          <a:noFill/>
          <a:ln/>
        </p:spPr>
        <p:txBody>
          <a:bodyPr wrap="square" lIns="0" tIns="0" rIns="0" bIns="0" rtlCol="0" anchor="ctr"/>
          <a:lstStyle/>
          <a:p>
            <a:pPr marL="0" indent="0" algn="ctr">
              <a:buNone/>
            </a:pPr>
            <a:r>
              <a:rPr lang="en-US" sz="800" dirty="0">
                <a:solidFill>
                  <a:srgbClr val="64748B"/>
                </a:solidFill>
                <a:latin typeface="Noto Sans JP" pitchFamily="34" charset="0"/>
                <a:ea typeface="Noto Sans JP" pitchFamily="34" charset="-122"/>
                <a:cs typeface="Noto Sans JP" pitchFamily="34" charset="-120"/>
              </a:rPr>
              <a:t>現場ニーズに即した迅速な導入</a:t>
            </a:r>
            <a:endParaRPr lang="en-US" sz="800" dirty="0"/>
          </a:p>
        </p:txBody>
      </p:sp>
      <p:sp>
        <p:nvSpPr>
          <p:cNvPr id="37" name="Shape 31"/>
          <p:cNvSpPr/>
          <p:nvPr/>
        </p:nvSpPr>
        <p:spPr>
          <a:xfrm>
            <a:off x="4330598" y="4259275"/>
            <a:ext cx="1591056" cy="1429207"/>
          </a:xfrm>
          <a:prstGeom prst="roundRect">
            <a:avLst>
              <a:gd name="adj" fmla="val 5118"/>
            </a:avLst>
          </a:prstGeom>
          <a:solidFill>
            <a:srgbClr val="EFF6FF"/>
          </a:solidFill>
          <a:ln w="25400">
            <a:solidFill>
              <a:srgbClr val="3B82F6"/>
            </a:solidFill>
            <a:prstDash val="solid"/>
          </a:ln>
          <a:effectLst>
            <a:outerShdw blurRad="63500" dist="38100" dir="5400000" algn="bl" rotWithShape="0">
              <a:srgbClr val="3B82F6">
                <a:alpha val="10000"/>
              </a:srgbClr>
            </a:outerShdw>
          </a:effectLst>
        </p:spPr>
        <p:txBody>
          <a:bodyPr/>
          <a:lstStyle/>
          <a:p>
            <a:endParaRPr lang="ja-JP" altLang="en-US"/>
          </a:p>
        </p:txBody>
      </p:sp>
      <p:sp>
        <p:nvSpPr>
          <p:cNvPr id="38" name="Shape 32"/>
          <p:cNvSpPr/>
          <p:nvPr/>
        </p:nvSpPr>
        <p:spPr>
          <a:xfrm>
            <a:off x="4896612" y="4431182"/>
            <a:ext cx="457200" cy="457200"/>
          </a:xfrm>
          <a:prstGeom prst="ellipse">
            <a:avLst/>
          </a:prstGeom>
          <a:solidFill>
            <a:srgbClr val="FFFFFF"/>
          </a:solidFill>
          <a:ln w="12700">
            <a:solidFill>
              <a:srgbClr val="BFDBFE"/>
            </a:solidFill>
            <a:prstDash val="solid"/>
          </a:ln>
        </p:spPr>
        <p:txBody>
          <a:bodyPr/>
          <a:lstStyle/>
          <a:p>
            <a:endParaRPr lang="ja-JP" altLang="en-US"/>
          </a:p>
        </p:txBody>
      </p:sp>
      <p:pic>
        <p:nvPicPr>
          <p:cNvPr id="39" name="Image 4" descr="preencoded.png"/>
          <p:cNvPicPr>
            <a:picLocks noChangeAspect="1"/>
          </p:cNvPicPr>
          <p:nvPr/>
        </p:nvPicPr>
        <p:blipFill>
          <a:blip r:embed="rId7"/>
          <a:srcRect t="-45" b="-45"/>
          <a:stretch/>
        </p:blipFill>
        <p:spPr>
          <a:xfrm>
            <a:off x="4996282" y="4545482"/>
            <a:ext cx="256946" cy="228600"/>
          </a:xfrm>
          <a:prstGeom prst="rect">
            <a:avLst/>
          </a:prstGeom>
        </p:spPr>
      </p:pic>
      <p:sp>
        <p:nvSpPr>
          <p:cNvPr id="40" name="Text 33"/>
          <p:cNvSpPr txBox="1"/>
          <p:nvPr/>
        </p:nvSpPr>
        <p:spPr>
          <a:xfrm>
            <a:off x="4866437" y="4964278"/>
            <a:ext cx="624535" cy="191110"/>
          </a:xfrm>
          <a:prstGeom prst="rect">
            <a:avLst/>
          </a:prstGeom>
          <a:noFill/>
          <a:ln/>
        </p:spPr>
        <p:txBody>
          <a:bodyPr wrap="square" lIns="0" tIns="0" rIns="0" bIns="0" rtlCol="0" anchor="ctr"/>
          <a:lstStyle/>
          <a:p>
            <a:pPr marL="0" indent="0" algn="ctr">
              <a:buNone/>
            </a:pPr>
            <a:r>
              <a:rPr lang="en-US" sz="1000" b="1" dirty="0">
                <a:solidFill>
                  <a:srgbClr val="1E40AF"/>
                </a:solidFill>
                <a:latin typeface="Noto Sans JP" pitchFamily="34" charset="0"/>
                <a:ea typeface="Noto Sans JP" pitchFamily="34" charset="-122"/>
                <a:cs typeface="Noto Sans JP" pitchFamily="34" charset="-120"/>
              </a:rPr>
              <a:t>事業部 C</a:t>
            </a:r>
            <a:endParaRPr lang="en-US" sz="1000" dirty="0"/>
          </a:p>
        </p:txBody>
      </p:sp>
      <p:sp>
        <p:nvSpPr>
          <p:cNvPr id="41" name="Text 34"/>
          <p:cNvSpPr txBox="1"/>
          <p:nvPr/>
        </p:nvSpPr>
        <p:spPr>
          <a:xfrm>
            <a:off x="4549140" y="5231282"/>
            <a:ext cx="1231697" cy="152705"/>
          </a:xfrm>
          <a:prstGeom prst="rect">
            <a:avLst/>
          </a:prstGeom>
          <a:noFill/>
          <a:ln/>
        </p:spPr>
        <p:txBody>
          <a:bodyPr wrap="square" lIns="0" tIns="0" rIns="0" bIns="0" rtlCol="0" anchor="ctr"/>
          <a:lstStyle/>
          <a:p>
            <a:pPr marL="0" indent="0" algn="ctr">
              <a:buNone/>
            </a:pPr>
            <a:r>
              <a:rPr lang="en-US" sz="800" dirty="0">
                <a:solidFill>
                  <a:srgbClr val="64748B"/>
                </a:solidFill>
                <a:latin typeface="Noto Sans JP" pitchFamily="34" charset="0"/>
                <a:ea typeface="Noto Sans JP" pitchFamily="34" charset="-122"/>
                <a:cs typeface="Noto Sans JP" pitchFamily="34" charset="-120"/>
              </a:rPr>
              <a:t>独自予算での推進・運用</a:t>
            </a:r>
            <a:endParaRPr lang="en-US" sz="800" dirty="0"/>
          </a:p>
        </p:txBody>
      </p:sp>
      <p:sp>
        <p:nvSpPr>
          <p:cNvPr id="42" name="Text 35"/>
          <p:cNvSpPr txBox="1"/>
          <p:nvPr/>
        </p:nvSpPr>
        <p:spPr>
          <a:xfrm>
            <a:off x="2382926" y="5913425"/>
            <a:ext cx="2100377" cy="191110"/>
          </a:xfrm>
          <a:prstGeom prst="rect">
            <a:avLst/>
          </a:prstGeom>
          <a:noFill/>
          <a:ln/>
        </p:spPr>
        <p:txBody>
          <a:bodyPr wrap="square" lIns="0" tIns="0" rIns="0" bIns="0" rtlCol="0" anchor="ctr"/>
          <a:lstStyle/>
          <a:p>
            <a:pPr marL="0" indent="0" algn="ctr">
              <a:buNone/>
            </a:pPr>
            <a:r>
              <a:rPr lang="en-US" sz="1000" dirty="0">
                <a:solidFill>
                  <a:srgbClr val="4B5563"/>
                </a:solidFill>
                <a:latin typeface="Noto Sans JP" pitchFamily="34" charset="0"/>
                <a:ea typeface="Noto Sans JP" pitchFamily="34" charset="-122"/>
                <a:cs typeface="Noto Sans JP" pitchFamily="34" charset="-120"/>
              </a:rPr>
              <a:t>意思決定プロセス：事業部が主導</a:t>
            </a:r>
            <a:endParaRPr lang="en-US" sz="1000" dirty="0"/>
          </a:p>
        </p:txBody>
      </p:sp>
      <p:sp>
        <p:nvSpPr>
          <p:cNvPr id="43" name="Text 36"/>
          <p:cNvSpPr txBox="1"/>
          <p:nvPr/>
        </p:nvSpPr>
        <p:spPr>
          <a:xfrm>
            <a:off x="1677924" y="6131966"/>
            <a:ext cx="3505810" cy="162763"/>
          </a:xfrm>
          <a:prstGeom prst="rect">
            <a:avLst/>
          </a:prstGeom>
          <a:noFill/>
          <a:ln/>
        </p:spPr>
        <p:txBody>
          <a:bodyPr wrap="square" lIns="0" tIns="0" rIns="0" bIns="0" rtlCol="0" anchor="ctr"/>
          <a:lstStyle/>
          <a:p>
            <a:pPr marL="0" indent="0" algn="ctr">
              <a:buNone/>
            </a:pPr>
            <a:r>
              <a:rPr lang="en-US" sz="900" dirty="0">
                <a:solidFill>
                  <a:srgbClr val="6B7280"/>
                </a:solidFill>
                <a:latin typeface="Noto Sans JP" pitchFamily="34" charset="0"/>
                <a:ea typeface="Noto Sans JP" pitchFamily="34" charset="-122"/>
                <a:cs typeface="Noto Sans JP" pitchFamily="34" charset="-120"/>
              </a:rPr>
              <a:t>中央からのガバナンスは限定的で、各部が自律的にAI活用を進める</a:t>
            </a:r>
            <a:endParaRPr lang="en-US" sz="900" dirty="0"/>
          </a:p>
        </p:txBody>
      </p:sp>
      <p:sp>
        <p:nvSpPr>
          <p:cNvPr id="44" name="Shape 37"/>
          <p:cNvSpPr/>
          <p:nvPr/>
        </p:nvSpPr>
        <p:spPr>
          <a:xfrm>
            <a:off x="6538874" y="1591056"/>
            <a:ext cx="5048402" cy="1457554"/>
          </a:xfrm>
          <a:prstGeom prst="roundRect">
            <a:avLst>
              <a:gd name="adj" fmla="val 4920"/>
            </a:avLst>
          </a:prstGeom>
          <a:solidFill>
            <a:srgbClr val="FFFFFF"/>
          </a:solidFill>
          <a:ln/>
          <a:effectLst>
            <a:outerShdw blurRad="38100" dist="25400" dir="5400000" algn="bl" rotWithShape="0">
              <a:srgbClr val="000000">
                <a:alpha val="3000"/>
              </a:srgbClr>
            </a:outerShdw>
          </a:effectLst>
        </p:spPr>
        <p:txBody>
          <a:bodyPr/>
          <a:lstStyle/>
          <a:p>
            <a:endParaRPr lang="ja-JP" altLang="en-US"/>
          </a:p>
        </p:txBody>
      </p:sp>
      <p:sp>
        <p:nvSpPr>
          <p:cNvPr id="45" name="Shape 38"/>
          <p:cNvSpPr/>
          <p:nvPr/>
        </p:nvSpPr>
        <p:spPr>
          <a:xfrm>
            <a:off x="6538874" y="1591056"/>
            <a:ext cx="47549" cy="1457554"/>
          </a:xfrm>
          <a:prstGeom prst="rect">
            <a:avLst/>
          </a:prstGeom>
          <a:solidFill>
            <a:srgbClr val="10B981"/>
          </a:solidFill>
          <a:ln/>
        </p:spPr>
        <p:txBody>
          <a:bodyPr/>
          <a:lstStyle/>
          <a:p>
            <a:endParaRPr lang="ja-JP" altLang="en-US"/>
          </a:p>
        </p:txBody>
      </p:sp>
      <p:pic>
        <p:nvPicPr>
          <p:cNvPr id="46" name="Image 5" descr="preencoded.png"/>
          <p:cNvPicPr>
            <a:picLocks noChangeAspect="1"/>
          </p:cNvPicPr>
          <p:nvPr/>
        </p:nvPicPr>
        <p:blipFill>
          <a:blip r:embed="rId8"/>
          <a:srcRect/>
          <a:stretch/>
        </p:blipFill>
        <p:spPr>
          <a:xfrm>
            <a:off x="6776618" y="1797710"/>
            <a:ext cx="142646" cy="142646"/>
          </a:xfrm>
          <a:prstGeom prst="rect">
            <a:avLst/>
          </a:prstGeom>
        </p:spPr>
      </p:pic>
      <p:sp>
        <p:nvSpPr>
          <p:cNvPr id="47" name="Text 39"/>
          <p:cNvSpPr txBox="1"/>
          <p:nvPr/>
        </p:nvSpPr>
        <p:spPr>
          <a:xfrm>
            <a:off x="6996074" y="1762049"/>
            <a:ext cx="688543"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メリット</a:t>
            </a:r>
            <a:endParaRPr lang="en-US" sz="1100" dirty="0"/>
          </a:p>
        </p:txBody>
      </p:sp>
      <p:sp>
        <p:nvSpPr>
          <p:cNvPr id="48" name="Text 40"/>
          <p:cNvSpPr txBox="1"/>
          <p:nvPr/>
        </p:nvSpPr>
        <p:spPr>
          <a:xfrm>
            <a:off x="6776618" y="2072030"/>
            <a:ext cx="4712818" cy="37216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高い主体性とスピード： 現場がオーナーシップを持ち、稟議や調整を最小限に抑えて迅速に実装可能。</a:t>
            </a:r>
            <a:endParaRPr lang="en-US" sz="900" dirty="0"/>
          </a:p>
        </p:txBody>
      </p:sp>
      <p:sp>
        <p:nvSpPr>
          <p:cNvPr id="49" name="Text 41"/>
          <p:cNvSpPr txBox="1"/>
          <p:nvPr/>
        </p:nvSpPr>
        <p:spPr>
          <a:xfrm>
            <a:off x="6776618" y="2499970"/>
            <a:ext cx="4712818" cy="37216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固有ニーズへの適合： 各事業部特有の業務フローや専門用語に最適化されたAI活用ができる。</a:t>
            </a:r>
            <a:endParaRPr lang="en-US" sz="900" dirty="0"/>
          </a:p>
        </p:txBody>
      </p:sp>
      <p:sp>
        <p:nvSpPr>
          <p:cNvPr id="50" name="Shape 42"/>
          <p:cNvSpPr/>
          <p:nvPr/>
        </p:nvSpPr>
        <p:spPr>
          <a:xfrm>
            <a:off x="6538874" y="3233318"/>
            <a:ext cx="5048402" cy="1457554"/>
          </a:xfrm>
          <a:prstGeom prst="roundRect">
            <a:avLst>
              <a:gd name="adj" fmla="val 4920"/>
            </a:avLst>
          </a:prstGeom>
          <a:solidFill>
            <a:srgbClr val="FFFFFF"/>
          </a:solidFill>
          <a:ln/>
          <a:effectLst>
            <a:outerShdw blurRad="38100" dist="25400" dir="5400000" algn="bl" rotWithShape="0">
              <a:srgbClr val="000000">
                <a:alpha val="3000"/>
              </a:srgbClr>
            </a:outerShdw>
          </a:effectLst>
        </p:spPr>
        <p:txBody>
          <a:bodyPr/>
          <a:lstStyle/>
          <a:p>
            <a:endParaRPr lang="ja-JP" altLang="en-US"/>
          </a:p>
        </p:txBody>
      </p:sp>
      <p:sp>
        <p:nvSpPr>
          <p:cNvPr id="51" name="Shape 43"/>
          <p:cNvSpPr/>
          <p:nvPr/>
        </p:nvSpPr>
        <p:spPr>
          <a:xfrm>
            <a:off x="6538874" y="3233318"/>
            <a:ext cx="47549" cy="1457554"/>
          </a:xfrm>
          <a:prstGeom prst="rect">
            <a:avLst/>
          </a:prstGeom>
          <a:solidFill>
            <a:srgbClr val="EF4444"/>
          </a:solidFill>
          <a:ln/>
        </p:spPr>
        <p:txBody>
          <a:bodyPr/>
          <a:lstStyle/>
          <a:p>
            <a:endParaRPr lang="ja-JP" altLang="en-US"/>
          </a:p>
        </p:txBody>
      </p:sp>
      <p:pic>
        <p:nvPicPr>
          <p:cNvPr id="52" name="Image 6" descr="preencoded.png"/>
          <p:cNvPicPr>
            <a:picLocks noChangeAspect="1"/>
          </p:cNvPicPr>
          <p:nvPr/>
        </p:nvPicPr>
        <p:blipFill>
          <a:blip r:embed="rId9"/>
          <a:srcRect/>
          <a:stretch/>
        </p:blipFill>
        <p:spPr>
          <a:xfrm>
            <a:off x="6776618" y="3440887"/>
            <a:ext cx="142646" cy="142646"/>
          </a:xfrm>
          <a:prstGeom prst="rect">
            <a:avLst/>
          </a:prstGeom>
        </p:spPr>
      </p:pic>
      <p:sp>
        <p:nvSpPr>
          <p:cNvPr id="53" name="Text 44"/>
          <p:cNvSpPr txBox="1"/>
          <p:nvPr/>
        </p:nvSpPr>
        <p:spPr>
          <a:xfrm>
            <a:off x="6996074" y="3405226"/>
            <a:ext cx="831190"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デメリット</a:t>
            </a:r>
            <a:endParaRPr lang="en-US" sz="1100" dirty="0"/>
          </a:p>
        </p:txBody>
      </p:sp>
      <p:sp>
        <p:nvSpPr>
          <p:cNvPr id="54" name="Text 45"/>
          <p:cNvSpPr txBox="1"/>
          <p:nvPr/>
        </p:nvSpPr>
        <p:spPr>
          <a:xfrm>
            <a:off x="6776618" y="3715207"/>
            <a:ext cx="4712818" cy="37216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全社的な一貫性の欠如： セキュリティ基準や利用ガイドラインがバラバラになり、ガバナンスリスクが増大。</a:t>
            </a:r>
            <a:endParaRPr lang="en-US" sz="900" dirty="0"/>
          </a:p>
        </p:txBody>
      </p:sp>
      <p:sp>
        <p:nvSpPr>
          <p:cNvPr id="55" name="Text 46"/>
          <p:cNvSpPr txBox="1"/>
          <p:nvPr/>
        </p:nvSpPr>
        <p:spPr>
          <a:xfrm>
            <a:off x="6776618" y="4143146"/>
            <a:ext cx="4712818" cy="37216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リソースの重複と非効率： 同じような検証や開発を各部で行い、ナレッジが共有されず車輪の再発明が起きる。</a:t>
            </a:r>
            <a:endParaRPr lang="en-US" sz="900" dirty="0"/>
          </a:p>
        </p:txBody>
      </p:sp>
      <p:sp>
        <p:nvSpPr>
          <p:cNvPr id="56" name="Shape 47"/>
          <p:cNvSpPr/>
          <p:nvPr/>
        </p:nvSpPr>
        <p:spPr>
          <a:xfrm>
            <a:off x="6538874" y="4876495"/>
            <a:ext cx="5048402" cy="1457554"/>
          </a:xfrm>
          <a:prstGeom prst="roundRect">
            <a:avLst>
              <a:gd name="adj" fmla="val 4920"/>
            </a:avLst>
          </a:prstGeom>
          <a:solidFill>
            <a:srgbClr val="FFFFFF"/>
          </a:solidFill>
          <a:ln/>
          <a:effectLst>
            <a:outerShdw blurRad="38100" dist="25400" dir="5400000" algn="bl" rotWithShape="0">
              <a:srgbClr val="000000">
                <a:alpha val="3000"/>
              </a:srgbClr>
            </a:outerShdw>
          </a:effectLst>
        </p:spPr>
        <p:txBody>
          <a:bodyPr/>
          <a:lstStyle/>
          <a:p>
            <a:endParaRPr lang="ja-JP" altLang="en-US"/>
          </a:p>
        </p:txBody>
      </p:sp>
      <p:sp>
        <p:nvSpPr>
          <p:cNvPr id="57" name="Shape 48"/>
          <p:cNvSpPr/>
          <p:nvPr/>
        </p:nvSpPr>
        <p:spPr>
          <a:xfrm>
            <a:off x="6538874" y="4876495"/>
            <a:ext cx="47549" cy="1457554"/>
          </a:xfrm>
          <a:prstGeom prst="rect">
            <a:avLst/>
          </a:prstGeom>
          <a:solidFill>
            <a:srgbClr val="64748B"/>
          </a:solidFill>
          <a:ln/>
        </p:spPr>
        <p:txBody>
          <a:bodyPr/>
          <a:lstStyle/>
          <a:p>
            <a:endParaRPr lang="ja-JP" altLang="en-US"/>
          </a:p>
        </p:txBody>
      </p:sp>
      <p:pic>
        <p:nvPicPr>
          <p:cNvPr id="58" name="Image 7" descr="preencoded.png"/>
          <p:cNvPicPr>
            <a:picLocks noChangeAspect="1"/>
          </p:cNvPicPr>
          <p:nvPr/>
        </p:nvPicPr>
        <p:blipFill>
          <a:blip r:embed="rId10"/>
          <a:srcRect t="-870" b="-870"/>
          <a:stretch/>
        </p:blipFill>
        <p:spPr>
          <a:xfrm>
            <a:off x="6776618" y="5084064"/>
            <a:ext cx="105156" cy="142646"/>
          </a:xfrm>
          <a:prstGeom prst="rect">
            <a:avLst/>
          </a:prstGeom>
        </p:spPr>
      </p:pic>
      <p:sp>
        <p:nvSpPr>
          <p:cNvPr id="59" name="Text 49"/>
          <p:cNvSpPr txBox="1"/>
          <p:nvPr/>
        </p:nvSpPr>
        <p:spPr>
          <a:xfrm>
            <a:off x="6957670" y="5048402"/>
            <a:ext cx="1250899"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適用ケース・要件</a:t>
            </a:r>
            <a:endParaRPr lang="en-US" sz="1100" dirty="0"/>
          </a:p>
        </p:txBody>
      </p:sp>
      <p:sp>
        <p:nvSpPr>
          <p:cNvPr id="60" name="Text 50"/>
          <p:cNvSpPr txBox="1"/>
          <p:nvPr/>
        </p:nvSpPr>
        <p:spPr>
          <a:xfrm>
            <a:off x="6776618" y="5357470"/>
            <a:ext cx="4712818" cy="37216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大規模かつ独立性が高い組織： 事業部ごとのビジネスモデルが全く異なり、共通化のメリットが薄い場合。</a:t>
            </a:r>
            <a:endParaRPr lang="en-US" sz="900" dirty="0"/>
          </a:p>
        </p:txBody>
      </p:sp>
      <p:sp>
        <p:nvSpPr>
          <p:cNvPr id="61" name="Text 51"/>
          <p:cNvSpPr txBox="1"/>
          <p:nvPr/>
        </p:nvSpPr>
        <p:spPr>
          <a:xfrm>
            <a:off x="6776618" y="5786323"/>
            <a:ext cx="4712818" cy="37216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イノベーション速度最優先： ガバナンスよりも、まずは各所での実験と成果創出を最優先するフェーズ。</a:t>
            </a:r>
            <a:endParaRPr lang="en-US" sz="900" dirty="0"/>
          </a:p>
        </p:txBody>
      </p:sp>
      <p:sp>
        <p:nvSpPr>
          <p:cNvPr id="62" name="Text 52"/>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285646"/>
          </a:xfrm>
          <a:prstGeom prst="rect">
            <a:avLst/>
          </a:prstGeom>
          <a:solidFill>
            <a:srgbClr val="FFFFFF"/>
          </a:solidFill>
          <a:ln/>
        </p:spPr>
        <p:txBody>
          <a:bodyPr/>
          <a:lstStyle/>
          <a:p>
            <a:endParaRPr lang="ja-JP" altLang="en-US"/>
          </a:p>
        </p:txBody>
      </p:sp>
      <p:sp>
        <p:nvSpPr>
          <p:cNvPr id="5" name="Shape 3"/>
          <p:cNvSpPr/>
          <p:nvPr/>
        </p:nvSpPr>
        <p:spPr>
          <a:xfrm>
            <a:off x="0" y="1276502"/>
            <a:ext cx="12191695" cy="9144"/>
          </a:xfrm>
          <a:prstGeom prst="rect">
            <a:avLst/>
          </a:prstGeom>
          <a:solidFill>
            <a:srgbClr val="E5E7EB"/>
          </a:solidFill>
          <a:ln/>
        </p:spPr>
        <p:txBody>
          <a:bodyPr/>
          <a:lstStyle/>
          <a:p>
            <a:endParaRPr lang="ja-JP" altLang="en-US"/>
          </a:p>
        </p:txBody>
      </p:sp>
      <p:sp>
        <p:nvSpPr>
          <p:cNvPr id="6" name="Shape 4"/>
          <p:cNvSpPr/>
          <p:nvPr/>
        </p:nvSpPr>
        <p:spPr>
          <a:xfrm>
            <a:off x="609905" y="448056"/>
            <a:ext cx="457200" cy="457200"/>
          </a:xfrm>
          <a:prstGeom prst="ellipse">
            <a:avLst/>
          </a:prstGeom>
          <a:solidFill>
            <a:srgbClr val="1E40AF"/>
          </a:solidFill>
          <a:ln/>
          <a:effectLst>
            <a:outerShdw blurRad="63500" dist="38100" dir="5400000" algn="bl" rotWithShape="0">
              <a:srgbClr val="000000">
                <a:alpha val="10000"/>
              </a:srgbClr>
            </a:outerShdw>
          </a:effectLst>
        </p:spPr>
        <p:txBody>
          <a:bodyPr/>
          <a:lstStyle/>
          <a:p>
            <a:endParaRPr lang="ja-JP" altLang="en-US"/>
          </a:p>
        </p:txBody>
      </p:sp>
      <p:pic>
        <p:nvPicPr>
          <p:cNvPr id="7" name="Image 0" descr="preencoded.png"/>
          <p:cNvPicPr>
            <a:picLocks noChangeAspect="1"/>
          </p:cNvPicPr>
          <p:nvPr/>
        </p:nvPicPr>
        <p:blipFill>
          <a:blip r:embed="rId3"/>
          <a:srcRect l="-1282" r="-1282"/>
          <a:stretch/>
        </p:blipFill>
        <p:spPr>
          <a:xfrm>
            <a:off x="728777" y="580644"/>
            <a:ext cx="219456" cy="190195"/>
          </a:xfrm>
          <a:prstGeom prst="rect">
            <a:avLst/>
          </a:prstGeom>
        </p:spPr>
      </p:pic>
      <p:sp>
        <p:nvSpPr>
          <p:cNvPr id="8" name="Shape 5"/>
          <p:cNvSpPr/>
          <p:nvPr/>
        </p:nvSpPr>
        <p:spPr>
          <a:xfrm>
            <a:off x="1295705" y="321869"/>
            <a:ext cx="972007" cy="200254"/>
          </a:xfrm>
          <a:prstGeom prst="roundRect">
            <a:avLst>
              <a:gd name="adj" fmla="val 86975"/>
            </a:avLst>
          </a:prstGeom>
          <a:solidFill>
            <a:srgbClr val="059669"/>
          </a:solidFill>
          <a:ln/>
        </p:spPr>
        <p:txBody>
          <a:bodyPr/>
          <a:lstStyle/>
          <a:p>
            <a:endParaRPr lang="ja-JP" altLang="en-US"/>
          </a:p>
        </p:txBody>
      </p:sp>
      <p:sp>
        <p:nvSpPr>
          <p:cNvPr id="9" name="Text 6"/>
          <p:cNvSpPr txBox="1"/>
          <p:nvPr/>
        </p:nvSpPr>
        <p:spPr>
          <a:xfrm>
            <a:off x="1371600" y="340157"/>
            <a:ext cx="897941"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RECOMMENDED</a:t>
            </a:r>
            <a:endParaRPr lang="en-US" sz="800" dirty="0"/>
          </a:p>
        </p:txBody>
      </p:sp>
      <p:sp>
        <p:nvSpPr>
          <p:cNvPr id="10" name="Text 7"/>
          <p:cNvSpPr txBox="1"/>
          <p:nvPr/>
        </p:nvSpPr>
        <p:spPr>
          <a:xfrm>
            <a:off x="2340864" y="304495"/>
            <a:ext cx="1781251" cy="228600"/>
          </a:xfrm>
          <a:prstGeom prst="rect">
            <a:avLst/>
          </a:prstGeom>
          <a:noFill/>
          <a:ln/>
        </p:spPr>
        <p:txBody>
          <a:bodyPr wrap="square" lIns="0" tIns="0" rIns="0" bIns="0" rtlCol="0" anchor="ctr"/>
          <a:lstStyle/>
          <a:p>
            <a:pPr marL="0" indent="0" algn="l">
              <a:buNone/>
            </a:pPr>
            <a:r>
              <a:rPr lang="en-US" sz="1200" dirty="0">
                <a:solidFill>
                  <a:srgbClr val="64748B"/>
                </a:solidFill>
                <a:latin typeface="Noto Sans JP" pitchFamily="34" charset="0"/>
                <a:ea typeface="Noto Sans JP" pitchFamily="34" charset="-122"/>
                <a:cs typeface="Noto Sans JP" pitchFamily="34" charset="-120"/>
              </a:rPr>
              <a:t>Organization Pattern 03</a:t>
            </a:r>
            <a:endParaRPr lang="en-US" sz="1200" dirty="0"/>
          </a:p>
        </p:txBody>
      </p:sp>
      <p:sp>
        <p:nvSpPr>
          <p:cNvPr id="11" name="Text 8"/>
          <p:cNvSpPr txBox="1"/>
          <p:nvPr/>
        </p:nvSpPr>
        <p:spPr>
          <a:xfrm>
            <a:off x="1295705" y="543154"/>
            <a:ext cx="6449263" cy="438912"/>
          </a:xfrm>
          <a:prstGeom prst="rect">
            <a:avLst/>
          </a:prstGeom>
          <a:noFill/>
          <a:ln/>
        </p:spPr>
        <p:txBody>
          <a:bodyPr wrap="square" lIns="0" tIns="0" rIns="0" bIns="0" rtlCol="0" anchor="ctr"/>
          <a:lstStyle/>
          <a:p>
            <a:pPr marL="0" indent="0" algn="l">
              <a:buNone/>
            </a:pPr>
            <a:r>
              <a:rPr lang="en-US" sz="2400" b="1" dirty="0" err="1">
                <a:solidFill>
                  <a:srgbClr val="1E3A8A"/>
                </a:solidFill>
                <a:latin typeface="Noto Sans JP" pitchFamily="34" charset="0"/>
                <a:ea typeface="Noto Sans JP" pitchFamily="34" charset="-122"/>
                <a:cs typeface="Noto Sans JP" pitchFamily="34" charset="-120"/>
              </a:rPr>
              <a:t>ハイブリッド型（CoE</a:t>
            </a:r>
            <a:r>
              <a:rPr lang="en-US" sz="2400" b="1" dirty="0">
                <a:solidFill>
                  <a:srgbClr val="1E3A8A"/>
                </a:solidFill>
                <a:latin typeface="Noto Sans JP" pitchFamily="34" charset="0"/>
                <a:ea typeface="Noto Sans JP" pitchFamily="34" charset="-122"/>
                <a:cs typeface="Noto Sans JP" pitchFamily="34" charset="-120"/>
              </a:rPr>
              <a:t>）</a:t>
            </a:r>
            <a:endParaRPr lang="en-US" sz="2400" dirty="0"/>
          </a:p>
        </p:txBody>
      </p:sp>
      <p:sp>
        <p:nvSpPr>
          <p:cNvPr id="13" name="Shape 10"/>
          <p:cNvSpPr/>
          <p:nvPr/>
        </p:nvSpPr>
        <p:spPr>
          <a:xfrm>
            <a:off x="609905" y="1923898"/>
            <a:ext cx="5781751" cy="19202"/>
          </a:xfrm>
          <a:prstGeom prst="rect">
            <a:avLst/>
          </a:prstGeom>
          <a:solidFill>
            <a:srgbClr val="BFDBFE"/>
          </a:solidFill>
          <a:ln/>
        </p:spPr>
        <p:txBody>
          <a:bodyPr/>
          <a:lstStyle/>
          <a:p>
            <a:endParaRPr lang="ja-JP" altLang="en-US"/>
          </a:p>
        </p:txBody>
      </p:sp>
      <p:pic>
        <p:nvPicPr>
          <p:cNvPr id="14" name="Image 1" descr="preencoded.png"/>
          <p:cNvPicPr>
            <a:picLocks noChangeAspect="1"/>
          </p:cNvPicPr>
          <p:nvPr/>
        </p:nvPicPr>
        <p:blipFill>
          <a:blip r:embed="rId4"/>
          <a:srcRect/>
          <a:stretch/>
        </p:blipFill>
        <p:spPr>
          <a:xfrm>
            <a:off x="609905" y="1633118"/>
            <a:ext cx="171907" cy="171907"/>
          </a:xfrm>
          <a:prstGeom prst="rect">
            <a:avLst/>
          </a:prstGeom>
        </p:spPr>
      </p:pic>
      <p:sp>
        <p:nvSpPr>
          <p:cNvPr id="15" name="Text 11"/>
          <p:cNvSpPr txBox="1"/>
          <p:nvPr/>
        </p:nvSpPr>
        <p:spPr>
          <a:xfrm>
            <a:off x="875995" y="1591056"/>
            <a:ext cx="1329538" cy="257861"/>
          </a:xfrm>
          <a:prstGeom prst="rect">
            <a:avLst/>
          </a:prstGeom>
          <a:noFill/>
          <a:ln/>
        </p:spPr>
        <p:txBody>
          <a:bodyPr wrap="square" lIns="0" tIns="0" rIns="0" bIns="0" rtlCol="0" anchor="ctr"/>
          <a:lstStyle/>
          <a:p>
            <a:pPr marL="0" indent="0" algn="l">
              <a:buNone/>
            </a:pPr>
            <a:r>
              <a:rPr lang="en-US" sz="1300" b="1" dirty="0">
                <a:solidFill>
                  <a:srgbClr val="1E3A8A"/>
                </a:solidFill>
                <a:latin typeface="Noto Sans JP" pitchFamily="34" charset="0"/>
                <a:ea typeface="Noto Sans JP" pitchFamily="34" charset="-122"/>
                <a:cs typeface="Noto Sans JP" pitchFamily="34" charset="-120"/>
              </a:rPr>
              <a:t>特徴と役割分担</a:t>
            </a:r>
            <a:endParaRPr lang="en-US" sz="1300" dirty="0"/>
          </a:p>
        </p:txBody>
      </p:sp>
      <p:sp>
        <p:nvSpPr>
          <p:cNvPr id="16" name="Shape 12"/>
          <p:cNvSpPr/>
          <p:nvPr/>
        </p:nvSpPr>
        <p:spPr>
          <a:xfrm>
            <a:off x="609905" y="2247595"/>
            <a:ext cx="5781751" cy="4304995"/>
          </a:xfrm>
          <a:prstGeom prst="roundRect">
            <a:avLst>
              <a:gd name="adj" fmla="val 752"/>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17" name="Shape 13"/>
          <p:cNvSpPr/>
          <p:nvPr/>
        </p:nvSpPr>
        <p:spPr>
          <a:xfrm>
            <a:off x="847649" y="2486254"/>
            <a:ext cx="457200" cy="457200"/>
          </a:xfrm>
          <a:prstGeom prst="roundRect">
            <a:avLst>
              <a:gd name="adj" fmla="val 50000"/>
            </a:avLst>
          </a:prstGeom>
          <a:solidFill>
            <a:srgbClr val="EFF6FF"/>
          </a:solidFill>
          <a:ln/>
        </p:spPr>
        <p:txBody>
          <a:bodyPr/>
          <a:lstStyle/>
          <a:p>
            <a:endParaRPr lang="ja-JP" altLang="en-US"/>
          </a:p>
        </p:txBody>
      </p:sp>
      <p:pic>
        <p:nvPicPr>
          <p:cNvPr id="18" name="Image 2" descr="preencoded.png"/>
          <p:cNvPicPr>
            <a:picLocks noChangeAspect="1"/>
          </p:cNvPicPr>
          <p:nvPr/>
        </p:nvPicPr>
        <p:blipFill>
          <a:blip r:embed="rId5"/>
          <a:srcRect/>
          <a:stretch/>
        </p:blipFill>
        <p:spPr>
          <a:xfrm>
            <a:off x="981151" y="2619756"/>
            <a:ext cx="190195" cy="190195"/>
          </a:xfrm>
          <a:prstGeom prst="rect">
            <a:avLst/>
          </a:prstGeom>
        </p:spPr>
      </p:pic>
      <p:sp>
        <p:nvSpPr>
          <p:cNvPr id="19" name="Text 14"/>
          <p:cNvSpPr txBox="1"/>
          <p:nvPr/>
        </p:nvSpPr>
        <p:spPr>
          <a:xfrm>
            <a:off x="1457554" y="2486254"/>
            <a:ext cx="1781251"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中央組織（CoE）の役割</a:t>
            </a:r>
            <a:endParaRPr lang="en-US" sz="1200" dirty="0"/>
          </a:p>
        </p:txBody>
      </p:sp>
      <p:sp>
        <p:nvSpPr>
          <p:cNvPr id="20" name="Text 15"/>
          <p:cNvSpPr txBox="1"/>
          <p:nvPr/>
        </p:nvSpPr>
        <p:spPr>
          <a:xfrm>
            <a:off x="1457554" y="2752344"/>
            <a:ext cx="4779569" cy="37216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全社的なAI戦略、ガバナンス策定、技術標準化、共通基盤の整備を一元的に担う。事業部への技術支援と教育プログラムも提供。</a:t>
            </a:r>
            <a:endParaRPr lang="en-US" sz="900" dirty="0"/>
          </a:p>
        </p:txBody>
      </p:sp>
      <p:sp>
        <p:nvSpPr>
          <p:cNvPr id="21" name="Shape 16"/>
          <p:cNvSpPr/>
          <p:nvPr/>
        </p:nvSpPr>
        <p:spPr>
          <a:xfrm>
            <a:off x="847649" y="3314700"/>
            <a:ext cx="457200" cy="457200"/>
          </a:xfrm>
          <a:prstGeom prst="roundRect">
            <a:avLst>
              <a:gd name="adj" fmla="val 50000"/>
            </a:avLst>
          </a:prstGeom>
          <a:solidFill>
            <a:srgbClr val="F0FDF4"/>
          </a:solidFill>
          <a:ln/>
        </p:spPr>
        <p:txBody>
          <a:bodyPr/>
          <a:lstStyle/>
          <a:p>
            <a:endParaRPr lang="ja-JP" altLang="en-US"/>
          </a:p>
        </p:txBody>
      </p:sp>
      <p:pic>
        <p:nvPicPr>
          <p:cNvPr id="22" name="Image 3" descr="preencoded.png"/>
          <p:cNvPicPr>
            <a:picLocks noChangeAspect="1"/>
          </p:cNvPicPr>
          <p:nvPr/>
        </p:nvPicPr>
        <p:blipFill>
          <a:blip r:embed="rId6"/>
          <a:srcRect l="-1282" r="-1282"/>
          <a:stretch/>
        </p:blipFill>
        <p:spPr>
          <a:xfrm>
            <a:off x="966521" y="3448202"/>
            <a:ext cx="219456" cy="190195"/>
          </a:xfrm>
          <a:prstGeom prst="rect">
            <a:avLst/>
          </a:prstGeom>
        </p:spPr>
      </p:pic>
      <p:sp>
        <p:nvSpPr>
          <p:cNvPr id="23" name="Text 17"/>
          <p:cNvSpPr txBox="1"/>
          <p:nvPr/>
        </p:nvSpPr>
        <p:spPr>
          <a:xfrm>
            <a:off x="1457554" y="3314700"/>
            <a:ext cx="1038758"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事業部の役割</a:t>
            </a:r>
            <a:endParaRPr lang="en-US" sz="1200" dirty="0"/>
          </a:p>
        </p:txBody>
      </p:sp>
      <p:sp>
        <p:nvSpPr>
          <p:cNvPr id="24" name="Text 18"/>
          <p:cNvSpPr txBox="1"/>
          <p:nvPr/>
        </p:nvSpPr>
        <p:spPr>
          <a:xfrm>
            <a:off x="1457554" y="3581705"/>
            <a:ext cx="4770425" cy="37216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現場課題に基づくユースケースの発掘、実装、運用を担当。CoEの支援を受けつつ、事業特性に合わせた活用を推進。</a:t>
            </a:r>
            <a:endParaRPr lang="en-US" sz="900" dirty="0"/>
          </a:p>
        </p:txBody>
      </p:sp>
      <p:sp>
        <p:nvSpPr>
          <p:cNvPr id="25" name="Shape 19"/>
          <p:cNvSpPr/>
          <p:nvPr/>
        </p:nvSpPr>
        <p:spPr>
          <a:xfrm>
            <a:off x="847649" y="4143146"/>
            <a:ext cx="457200" cy="457200"/>
          </a:xfrm>
          <a:prstGeom prst="roundRect">
            <a:avLst>
              <a:gd name="adj" fmla="val 50000"/>
            </a:avLst>
          </a:prstGeom>
          <a:solidFill>
            <a:srgbClr val="FAF5FF"/>
          </a:solidFill>
          <a:ln/>
        </p:spPr>
        <p:txBody>
          <a:bodyPr/>
          <a:lstStyle/>
          <a:p>
            <a:endParaRPr lang="ja-JP" altLang="en-US"/>
          </a:p>
        </p:txBody>
      </p:sp>
      <p:pic>
        <p:nvPicPr>
          <p:cNvPr id="26" name="Image 4" descr="preencoded.png"/>
          <p:cNvPicPr>
            <a:picLocks noChangeAspect="1"/>
          </p:cNvPicPr>
          <p:nvPr/>
        </p:nvPicPr>
        <p:blipFill>
          <a:blip r:embed="rId7"/>
          <a:srcRect/>
          <a:stretch/>
        </p:blipFill>
        <p:spPr>
          <a:xfrm>
            <a:off x="957377" y="4276649"/>
            <a:ext cx="237744" cy="190195"/>
          </a:xfrm>
          <a:prstGeom prst="rect">
            <a:avLst/>
          </a:prstGeom>
        </p:spPr>
      </p:pic>
      <p:sp>
        <p:nvSpPr>
          <p:cNvPr id="27" name="Text 20"/>
          <p:cNvSpPr txBox="1"/>
          <p:nvPr/>
        </p:nvSpPr>
        <p:spPr>
          <a:xfrm>
            <a:off x="1457554" y="4143146"/>
            <a:ext cx="1343254"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意思決定プロセス</a:t>
            </a:r>
            <a:endParaRPr lang="en-US" sz="1200" dirty="0"/>
          </a:p>
        </p:txBody>
      </p:sp>
      <p:sp>
        <p:nvSpPr>
          <p:cNvPr id="28" name="Text 21"/>
          <p:cNvSpPr txBox="1"/>
          <p:nvPr/>
        </p:nvSpPr>
        <p:spPr>
          <a:xfrm>
            <a:off x="1457554" y="4410151"/>
            <a:ext cx="4684471" cy="37216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中央と事業部が協働。戦略的な方向性は中央が示し、具体的な適用判断は事業部が行う相互補完的な体制。</a:t>
            </a:r>
            <a:endParaRPr lang="en-US" sz="900" dirty="0"/>
          </a:p>
        </p:txBody>
      </p:sp>
      <p:sp>
        <p:nvSpPr>
          <p:cNvPr id="29" name="Shape 22"/>
          <p:cNvSpPr/>
          <p:nvPr/>
        </p:nvSpPr>
        <p:spPr>
          <a:xfrm>
            <a:off x="6768389" y="1591056"/>
            <a:ext cx="4819802" cy="2009851"/>
          </a:xfrm>
          <a:prstGeom prst="roundRect">
            <a:avLst>
              <a:gd name="adj" fmla="val 2587"/>
            </a:avLst>
          </a:prstGeom>
          <a:solidFill>
            <a:srgbClr val="EFF6FF"/>
          </a:solidFill>
          <a:ln w="25400">
            <a:solidFill>
              <a:srgbClr val="3B82F6"/>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30" name="Shape 23"/>
          <p:cNvSpPr/>
          <p:nvPr/>
        </p:nvSpPr>
        <p:spPr>
          <a:xfrm>
            <a:off x="6977786" y="1809598"/>
            <a:ext cx="1485900" cy="247802"/>
          </a:xfrm>
          <a:prstGeom prst="roundRect">
            <a:avLst>
              <a:gd name="adj" fmla="val 170310"/>
            </a:avLst>
          </a:prstGeom>
          <a:solidFill>
            <a:srgbClr val="3B82F6"/>
          </a:solidFill>
          <a:ln/>
        </p:spPr>
        <p:txBody>
          <a:bodyPr/>
          <a:lstStyle/>
          <a:p>
            <a:endParaRPr lang="ja-JP" altLang="en-US"/>
          </a:p>
        </p:txBody>
      </p:sp>
      <p:sp>
        <p:nvSpPr>
          <p:cNvPr id="31" name="Text 24"/>
          <p:cNvSpPr txBox="1"/>
          <p:nvPr/>
        </p:nvSpPr>
        <p:spPr>
          <a:xfrm>
            <a:off x="7092086" y="1848002"/>
            <a:ext cx="1343254" cy="162763"/>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アイリスオーヤマに最適</a:t>
            </a:r>
            <a:endParaRPr lang="en-US" sz="900" dirty="0"/>
          </a:p>
        </p:txBody>
      </p:sp>
      <p:pic>
        <p:nvPicPr>
          <p:cNvPr id="32" name="Image 5" descr="preencoded.png"/>
          <p:cNvPicPr>
            <a:picLocks noChangeAspect="1"/>
          </p:cNvPicPr>
          <p:nvPr/>
        </p:nvPicPr>
        <p:blipFill>
          <a:blip r:embed="rId8"/>
          <a:srcRect l="-428" r="-428"/>
          <a:stretch/>
        </p:blipFill>
        <p:spPr>
          <a:xfrm>
            <a:off x="6977786" y="2168957"/>
            <a:ext cx="161849" cy="142646"/>
          </a:xfrm>
          <a:prstGeom prst="rect">
            <a:avLst/>
          </a:prstGeom>
        </p:spPr>
      </p:pic>
      <p:sp>
        <p:nvSpPr>
          <p:cNvPr id="33" name="Text 25"/>
          <p:cNvSpPr txBox="1"/>
          <p:nvPr/>
        </p:nvSpPr>
        <p:spPr>
          <a:xfrm>
            <a:off x="7215530" y="2133295"/>
            <a:ext cx="1536192"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適用ケース・推奨理由</a:t>
            </a:r>
            <a:endParaRPr lang="en-US" sz="1100" dirty="0"/>
          </a:p>
        </p:txBody>
      </p:sp>
      <p:sp>
        <p:nvSpPr>
          <p:cNvPr id="34" name="Text 26"/>
          <p:cNvSpPr txBox="1"/>
          <p:nvPr/>
        </p:nvSpPr>
        <p:spPr>
          <a:xfrm>
            <a:off x="6977786" y="2471623"/>
            <a:ext cx="2214677"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中〜大規模組織 / 段階的なAI民主化</a:t>
            </a:r>
            <a:endParaRPr lang="en-US" sz="1000" dirty="0"/>
          </a:p>
        </p:txBody>
      </p:sp>
      <p:sp>
        <p:nvSpPr>
          <p:cNvPr id="35" name="Text 27"/>
          <p:cNvSpPr txBox="1"/>
          <p:nvPr/>
        </p:nvSpPr>
        <p:spPr>
          <a:xfrm>
            <a:off x="6977786" y="2755087"/>
            <a:ext cx="3446374"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全社的一貫性：物流や製造など共通基盤の強みを活かせる。</a:t>
            </a:r>
            <a:endParaRPr lang="en-US" sz="900" dirty="0"/>
          </a:p>
        </p:txBody>
      </p:sp>
      <p:sp>
        <p:nvSpPr>
          <p:cNvPr id="36" name="Text 28"/>
          <p:cNvSpPr txBox="1"/>
          <p:nvPr/>
        </p:nvSpPr>
        <p:spPr>
          <a:xfrm>
            <a:off x="6977786" y="3016606"/>
            <a:ext cx="4494276" cy="37216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事業部の主体性：多角的な事業展開（家電、生活用品等）に即した個別最適が可能。</a:t>
            </a:r>
            <a:endParaRPr lang="en-US" sz="900" dirty="0"/>
          </a:p>
        </p:txBody>
      </p:sp>
      <p:sp>
        <p:nvSpPr>
          <p:cNvPr id="37" name="Shape 29"/>
          <p:cNvSpPr/>
          <p:nvPr/>
        </p:nvSpPr>
        <p:spPr>
          <a:xfrm>
            <a:off x="6768389" y="3788359"/>
            <a:ext cx="4819802" cy="1162202"/>
          </a:xfrm>
          <a:prstGeom prst="roundRect">
            <a:avLst>
              <a:gd name="adj" fmla="val 7739"/>
            </a:avLst>
          </a:prstGeom>
          <a:solidFill>
            <a:srgbClr val="FFFFFF"/>
          </a:solidFill>
          <a:ln/>
          <a:effectLst>
            <a:outerShdw blurRad="38100" dist="25400" dir="5400000" algn="bl" rotWithShape="0">
              <a:srgbClr val="000000">
                <a:alpha val="3000"/>
              </a:srgbClr>
            </a:outerShdw>
          </a:effectLst>
        </p:spPr>
        <p:txBody>
          <a:bodyPr/>
          <a:lstStyle/>
          <a:p>
            <a:endParaRPr lang="ja-JP" altLang="en-US"/>
          </a:p>
        </p:txBody>
      </p:sp>
      <p:sp>
        <p:nvSpPr>
          <p:cNvPr id="38" name="Shape 30"/>
          <p:cNvSpPr/>
          <p:nvPr/>
        </p:nvSpPr>
        <p:spPr>
          <a:xfrm>
            <a:off x="6768389" y="3788359"/>
            <a:ext cx="47549" cy="1162202"/>
          </a:xfrm>
          <a:prstGeom prst="rect">
            <a:avLst/>
          </a:prstGeom>
          <a:solidFill>
            <a:srgbClr val="10B981"/>
          </a:solidFill>
          <a:ln/>
        </p:spPr>
        <p:txBody>
          <a:bodyPr/>
          <a:lstStyle/>
          <a:p>
            <a:endParaRPr lang="ja-JP" altLang="en-US"/>
          </a:p>
        </p:txBody>
      </p:sp>
      <p:pic>
        <p:nvPicPr>
          <p:cNvPr id="39" name="Image 6" descr="preencoded.png"/>
          <p:cNvPicPr>
            <a:picLocks noChangeAspect="1"/>
          </p:cNvPicPr>
          <p:nvPr/>
        </p:nvPicPr>
        <p:blipFill>
          <a:blip r:embed="rId9"/>
          <a:srcRect/>
          <a:stretch/>
        </p:blipFill>
        <p:spPr>
          <a:xfrm>
            <a:off x="7006133" y="4015130"/>
            <a:ext cx="142646" cy="142646"/>
          </a:xfrm>
          <a:prstGeom prst="rect">
            <a:avLst/>
          </a:prstGeom>
        </p:spPr>
      </p:pic>
      <p:sp>
        <p:nvSpPr>
          <p:cNvPr id="40" name="Text 31"/>
          <p:cNvSpPr txBox="1"/>
          <p:nvPr/>
        </p:nvSpPr>
        <p:spPr>
          <a:xfrm>
            <a:off x="7225589" y="3979469"/>
            <a:ext cx="688543"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メリット</a:t>
            </a:r>
            <a:endParaRPr lang="en-US" sz="1100" dirty="0"/>
          </a:p>
        </p:txBody>
      </p:sp>
      <p:sp>
        <p:nvSpPr>
          <p:cNvPr id="41" name="Text 32"/>
          <p:cNvSpPr txBox="1"/>
          <p:nvPr/>
        </p:nvSpPr>
        <p:spPr>
          <a:xfrm>
            <a:off x="7006133" y="4307738"/>
            <a:ext cx="3312871"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バランスの最適化：ガバナンスとイノベーションを両立。</a:t>
            </a:r>
            <a:endParaRPr lang="en-US" sz="900" dirty="0"/>
          </a:p>
        </p:txBody>
      </p:sp>
      <p:sp>
        <p:nvSpPr>
          <p:cNvPr id="42" name="Text 33"/>
          <p:cNvSpPr txBox="1"/>
          <p:nvPr/>
        </p:nvSpPr>
        <p:spPr>
          <a:xfrm>
            <a:off x="7006133" y="4569257"/>
            <a:ext cx="3179369"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リソース効率：共通機能の集約による重複投資の回避。</a:t>
            </a:r>
            <a:endParaRPr lang="en-US" sz="900" dirty="0"/>
          </a:p>
        </p:txBody>
      </p:sp>
      <p:sp>
        <p:nvSpPr>
          <p:cNvPr id="43" name="Shape 34"/>
          <p:cNvSpPr/>
          <p:nvPr/>
        </p:nvSpPr>
        <p:spPr>
          <a:xfrm>
            <a:off x="6768389" y="5136185"/>
            <a:ext cx="4819802" cy="1162202"/>
          </a:xfrm>
          <a:prstGeom prst="roundRect">
            <a:avLst>
              <a:gd name="adj" fmla="val 7739"/>
            </a:avLst>
          </a:prstGeom>
          <a:solidFill>
            <a:srgbClr val="FFFFFF"/>
          </a:solidFill>
          <a:ln/>
          <a:effectLst>
            <a:outerShdw blurRad="38100" dist="25400" dir="5400000" algn="bl" rotWithShape="0">
              <a:srgbClr val="000000">
                <a:alpha val="3000"/>
              </a:srgbClr>
            </a:outerShdw>
          </a:effectLst>
        </p:spPr>
        <p:txBody>
          <a:bodyPr/>
          <a:lstStyle/>
          <a:p>
            <a:endParaRPr lang="ja-JP" altLang="en-US"/>
          </a:p>
        </p:txBody>
      </p:sp>
      <p:sp>
        <p:nvSpPr>
          <p:cNvPr id="44" name="Shape 35"/>
          <p:cNvSpPr/>
          <p:nvPr/>
        </p:nvSpPr>
        <p:spPr>
          <a:xfrm>
            <a:off x="6768389" y="5136185"/>
            <a:ext cx="47549" cy="1162202"/>
          </a:xfrm>
          <a:prstGeom prst="rect">
            <a:avLst/>
          </a:prstGeom>
          <a:solidFill>
            <a:srgbClr val="F59E0B"/>
          </a:solidFill>
          <a:ln/>
        </p:spPr>
        <p:txBody>
          <a:bodyPr/>
          <a:lstStyle/>
          <a:p>
            <a:endParaRPr lang="ja-JP" altLang="en-US"/>
          </a:p>
        </p:txBody>
      </p:sp>
      <p:pic>
        <p:nvPicPr>
          <p:cNvPr id="45" name="Image 7" descr="preencoded.png"/>
          <p:cNvPicPr>
            <a:picLocks noChangeAspect="1"/>
          </p:cNvPicPr>
          <p:nvPr/>
        </p:nvPicPr>
        <p:blipFill>
          <a:blip r:embed="rId10"/>
          <a:srcRect/>
          <a:stretch/>
        </p:blipFill>
        <p:spPr>
          <a:xfrm>
            <a:off x="7006133" y="5362956"/>
            <a:ext cx="142646" cy="142646"/>
          </a:xfrm>
          <a:prstGeom prst="rect">
            <a:avLst/>
          </a:prstGeom>
        </p:spPr>
      </p:pic>
      <p:sp>
        <p:nvSpPr>
          <p:cNvPr id="46" name="Text 36"/>
          <p:cNvSpPr txBox="1"/>
          <p:nvPr/>
        </p:nvSpPr>
        <p:spPr>
          <a:xfrm>
            <a:off x="7225589" y="5327294"/>
            <a:ext cx="1260043" cy="219456"/>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デメリット・課題</a:t>
            </a:r>
            <a:endParaRPr lang="en-US" sz="1100" dirty="0"/>
          </a:p>
        </p:txBody>
      </p:sp>
      <p:sp>
        <p:nvSpPr>
          <p:cNvPr id="47" name="Text 37"/>
          <p:cNvSpPr txBox="1"/>
          <p:nvPr/>
        </p:nvSpPr>
        <p:spPr>
          <a:xfrm>
            <a:off x="7006133" y="5655564"/>
            <a:ext cx="2950769"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調整コスト：役割分担の明確化と密な連携が必要。</a:t>
            </a:r>
            <a:endParaRPr lang="en-US" sz="900" dirty="0"/>
          </a:p>
        </p:txBody>
      </p:sp>
      <p:sp>
        <p:nvSpPr>
          <p:cNvPr id="48" name="Text 38"/>
          <p:cNvSpPr txBox="1"/>
          <p:nvPr/>
        </p:nvSpPr>
        <p:spPr>
          <a:xfrm>
            <a:off x="7006133" y="5917082"/>
            <a:ext cx="2551176" cy="191110"/>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体制構築：CoEへの専門人材配置が不可欠。</a:t>
            </a:r>
            <a:endParaRPr lang="en-US" sz="900" dirty="0"/>
          </a:p>
        </p:txBody>
      </p:sp>
      <p:sp>
        <p:nvSpPr>
          <p:cNvPr id="49" name="Text 39"/>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21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4" name="Shape 2"/>
          <p:cNvSpPr/>
          <p:nvPr/>
        </p:nvSpPr>
        <p:spPr>
          <a:xfrm>
            <a:off x="0" y="0"/>
            <a:ext cx="12191695" cy="1047902"/>
          </a:xfrm>
          <a:prstGeom prst="rect">
            <a:avLst/>
          </a:prstGeom>
          <a:solidFill>
            <a:srgbClr val="FFFFFF"/>
          </a:solidFill>
          <a:ln/>
        </p:spPr>
        <p:txBody>
          <a:bodyPr/>
          <a:lstStyle/>
          <a:p>
            <a:endParaRPr lang="ja-JP" altLang="en-US"/>
          </a:p>
        </p:txBody>
      </p:sp>
      <p:sp>
        <p:nvSpPr>
          <p:cNvPr id="5" name="Shape 3"/>
          <p:cNvSpPr/>
          <p:nvPr/>
        </p:nvSpPr>
        <p:spPr>
          <a:xfrm>
            <a:off x="0" y="1038758"/>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190195"/>
            <a:ext cx="5234026" cy="419710"/>
          </a:xfrm>
          <a:prstGeom prst="rect">
            <a:avLst/>
          </a:prstGeom>
          <a:noFill/>
          <a:ln/>
        </p:spPr>
        <p:txBody>
          <a:bodyPr wrap="square" lIns="0" tIns="0" rIns="0" bIns="0" rtlCol="0" anchor="ctr"/>
          <a:lstStyle/>
          <a:p>
            <a:pPr marL="0" indent="0" algn="l">
              <a:buNone/>
            </a:pPr>
            <a:r>
              <a:rPr lang="en-US" sz="2200" b="1" dirty="0">
                <a:solidFill>
                  <a:srgbClr val="1E3A8A"/>
                </a:solidFill>
                <a:latin typeface="Noto Sans JP" pitchFamily="34" charset="0"/>
                <a:ea typeface="Noto Sans JP" pitchFamily="34" charset="-122"/>
                <a:cs typeface="Noto Sans JP" pitchFamily="34" charset="-120"/>
              </a:rPr>
              <a:t>フェーズ1：現状分析と優先課題の特定</a:t>
            </a:r>
            <a:endParaRPr lang="en-US" sz="2200" dirty="0"/>
          </a:p>
        </p:txBody>
      </p:sp>
      <p:sp>
        <p:nvSpPr>
          <p:cNvPr id="7" name="Text 5"/>
          <p:cNvSpPr txBox="1"/>
          <p:nvPr/>
        </p:nvSpPr>
        <p:spPr>
          <a:xfrm>
            <a:off x="609905" y="629107"/>
            <a:ext cx="4927702" cy="219456"/>
          </a:xfrm>
          <a:prstGeom prst="rect">
            <a:avLst/>
          </a:prstGeom>
          <a:noFill/>
          <a:ln/>
        </p:spPr>
        <p:txBody>
          <a:bodyPr wrap="square" lIns="0" tIns="0" rIns="0" bIns="0" rtlCol="0" anchor="ctr"/>
          <a:lstStyle/>
          <a:p>
            <a:pPr marL="0" indent="0" algn="l">
              <a:buNone/>
            </a:pPr>
            <a:r>
              <a:rPr lang="en-US" sz="1100" dirty="0">
                <a:solidFill>
                  <a:srgbClr val="64748B"/>
                </a:solidFill>
                <a:latin typeface="Noto Sans JP" pitchFamily="34" charset="0"/>
                <a:ea typeface="Noto Sans JP" pitchFamily="34" charset="-122"/>
                <a:cs typeface="Noto Sans JP" pitchFamily="34" charset="-120"/>
              </a:rPr>
              <a:t>期間：1-2ヶ月 導入初期における徹底的な現状把握とボトルネックの可視化</a:t>
            </a:r>
            <a:endParaRPr lang="en-US" sz="1100" dirty="0"/>
          </a:p>
        </p:txBody>
      </p:sp>
      <p:sp>
        <p:nvSpPr>
          <p:cNvPr id="8" name="Shape 6"/>
          <p:cNvSpPr/>
          <p:nvPr/>
        </p:nvSpPr>
        <p:spPr>
          <a:xfrm>
            <a:off x="10337292" y="543154"/>
            <a:ext cx="1248156" cy="304495"/>
          </a:xfrm>
          <a:prstGeom prst="roundRect">
            <a:avLst>
              <a:gd name="adj" fmla="val 187688"/>
            </a:avLst>
          </a:prstGeom>
          <a:solidFill>
            <a:srgbClr val="2563EB"/>
          </a:solidFill>
          <a:ln/>
        </p:spPr>
        <p:txBody>
          <a:bodyPr/>
          <a:lstStyle/>
          <a:p>
            <a:endParaRPr lang="ja-JP" altLang="en-US"/>
          </a:p>
        </p:txBody>
      </p:sp>
      <p:sp>
        <p:nvSpPr>
          <p:cNvPr id="9" name="Text 7"/>
          <p:cNvSpPr txBox="1"/>
          <p:nvPr/>
        </p:nvSpPr>
        <p:spPr>
          <a:xfrm>
            <a:off x="10489082" y="599846"/>
            <a:ext cx="1036015" cy="181051"/>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Phase 1 Detail</a:t>
            </a:r>
            <a:endParaRPr lang="en-US" sz="900" dirty="0"/>
          </a:p>
        </p:txBody>
      </p:sp>
      <p:pic>
        <p:nvPicPr>
          <p:cNvPr id="11" name="Image 0" descr="preencoded.png"/>
          <p:cNvPicPr>
            <a:picLocks noChangeAspect="1"/>
          </p:cNvPicPr>
          <p:nvPr/>
        </p:nvPicPr>
        <p:blipFill>
          <a:blip r:embed="rId3"/>
          <a:srcRect/>
          <a:stretch/>
        </p:blipFill>
        <p:spPr>
          <a:xfrm>
            <a:off x="609905" y="1386230"/>
            <a:ext cx="152705" cy="152705"/>
          </a:xfrm>
          <a:prstGeom prst="rect">
            <a:avLst/>
          </a:prstGeom>
        </p:spPr>
      </p:pic>
      <p:sp>
        <p:nvSpPr>
          <p:cNvPr id="12" name="Text 9"/>
          <p:cNvSpPr txBox="1"/>
          <p:nvPr/>
        </p:nvSpPr>
        <p:spPr>
          <a:xfrm>
            <a:off x="838505" y="1347826"/>
            <a:ext cx="1638605"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現状把握のアクション</a:t>
            </a:r>
            <a:endParaRPr lang="en-US" sz="1200" dirty="0"/>
          </a:p>
        </p:txBody>
      </p:sp>
      <p:sp>
        <p:nvSpPr>
          <p:cNvPr id="13" name="Shape 10"/>
          <p:cNvSpPr/>
          <p:nvPr/>
        </p:nvSpPr>
        <p:spPr>
          <a:xfrm>
            <a:off x="609905" y="1880921"/>
            <a:ext cx="5333695" cy="2124151"/>
          </a:xfrm>
          <a:prstGeom prst="roundRect">
            <a:avLst>
              <a:gd name="adj" fmla="val 2316"/>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14" name="Shape 11"/>
          <p:cNvSpPr/>
          <p:nvPr/>
        </p:nvSpPr>
        <p:spPr>
          <a:xfrm>
            <a:off x="609905" y="1880921"/>
            <a:ext cx="38405" cy="2104949"/>
          </a:xfrm>
          <a:prstGeom prst="rect">
            <a:avLst/>
          </a:prstGeom>
          <a:solidFill>
            <a:srgbClr val="3B82F6"/>
          </a:solidFill>
          <a:ln/>
        </p:spPr>
        <p:txBody>
          <a:bodyPr/>
          <a:lstStyle/>
          <a:p>
            <a:endParaRPr lang="ja-JP" altLang="en-US"/>
          </a:p>
        </p:txBody>
      </p:sp>
      <p:sp>
        <p:nvSpPr>
          <p:cNvPr id="15" name="Shape 12"/>
          <p:cNvSpPr/>
          <p:nvPr/>
        </p:nvSpPr>
        <p:spPr>
          <a:xfrm>
            <a:off x="809244" y="2481682"/>
            <a:ext cx="4934102" cy="9144"/>
          </a:xfrm>
          <a:prstGeom prst="rect">
            <a:avLst/>
          </a:prstGeom>
          <a:solidFill>
            <a:srgbClr val="F1F5F9"/>
          </a:solidFill>
          <a:ln/>
        </p:spPr>
        <p:txBody>
          <a:bodyPr/>
          <a:lstStyle/>
          <a:p>
            <a:endParaRPr lang="ja-JP" altLang="en-US"/>
          </a:p>
        </p:txBody>
      </p:sp>
      <p:sp>
        <p:nvSpPr>
          <p:cNvPr id="16" name="Shape 13"/>
          <p:cNvSpPr/>
          <p:nvPr/>
        </p:nvSpPr>
        <p:spPr>
          <a:xfrm>
            <a:off x="809244" y="2081174"/>
            <a:ext cx="304495" cy="304495"/>
          </a:xfrm>
          <a:prstGeom prst="roundRect">
            <a:avLst>
              <a:gd name="adj" fmla="val 75075"/>
            </a:avLst>
          </a:prstGeom>
          <a:solidFill>
            <a:srgbClr val="EFF6FF"/>
          </a:solidFill>
          <a:ln/>
        </p:spPr>
        <p:txBody>
          <a:bodyPr/>
          <a:lstStyle/>
          <a:p>
            <a:endParaRPr lang="ja-JP" altLang="en-US"/>
          </a:p>
        </p:txBody>
      </p:sp>
      <p:pic>
        <p:nvPicPr>
          <p:cNvPr id="17" name="Image 1" descr="preencoded.png"/>
          <p:cNvPicPr>
            <a:picLocks noChangeAspect="1"/>
          </p:cNvPicPr>
          <p:nvPr/>
        </p:nvPicPr>
        <p:blipFill>
          <a:blip r:embed="rId4"/>
          <a:srcRect l="-33" r="-33"/>
          <a:stretch/>
        </p:blipFill>
        <p:spPr>
          <a:xfrm>
            <a:off x="875995" y="2157070"/>
            <a:ext cx="171907" cy="152705"/>
          </a:xfrm>
          <a:prstGeom prst="rect">
            <a:avLst/>
          </a:prstGeom>
        </p:spPr>
      </p:pic>
      <p:sp>
        <p:nvSpPr>
          <p:cNvPr id="18" name="Text 14"/>
          <p:cNvSpPr txBox="1"/>
          <p:nvPr/>
        </p:nvSpPr>
        <p:spPr>
          <a:xfrm>
            <a:off x="1209751" y="2119579"/>
            <a:ext cx="1648663" cy="228600"/>
          </a:xfrm>
          <a:prstGeom prst="rect">
            <a:avLst/>
          </a:prstGeom>
          <a:noFill/>
          <a:ln/>
        </p:spPr>
        <p:txBody>
          <a:bodyPr wrap="square" lIns="0" tIns="0" rIns="0" bIns="0" rtlCol="0" anchor="ctr"/>
          <a:lstStyle/>
          <a:p>
            <a:pPr marL="0" indent="0" algn="l">
              <a:buNone/>
            </a:pPr>
            <a:r>
              <a:rPr lang="en-US" sz="1200" b="1" dirty="0">
                <a:solidFill>
                  <a:srgbClr val="1E40AF"/>
                </a:solidFill>
                <a:latin typeface="Noto Sans JP" pitchFamily="34" charset="0"/>
                <a:ea typeface="Noto Sans JP" pitchFamily="34" charset="-122"/>
                <a:cs typeface="Noto Sans JP" pitchFamily="34" charset="-120"/>
              </a:rPr>
              <a:t>利用状況の定量的分析</a:t>
            </a:r>
            <a:endParaRPr lang="en-US" sz="1200" dirty="0"/>
          </a:p>
        </p:txBody>
      </p:sp>
      <p:pic>
        <p:nvPicPr>
          <p:cNvPr id="19" name="Image 2" descr="preencoded.png"/>
          <p:cNvPicPr>
            <a:picLocks noChangeAspect="1"/>
          </p:cNvPicPr>
          <p:nvPr/>
        </p:nvPicPr>
        <p:blipFill>
          <a:blip r:embed="rId5"/>
          <a:srcRect/>
          <a:stretch/>
        </p:blipFill>
        <p:spPr>
          <a:xfrm>
            <a:off x="809244" y="2661818"/>
            <a:ext cx="95098" cy="95098"/>
          </a:xfrm>
          <a:prstGeom prst="rect">
            <a:avLst/>
          </a:prstGeom>
        </p:spPr>
      </p:pic>
      <p:sp>
        <p:nvSpPr>
          <p:cNvPr id="20" name="Text 15"/>
          <p:cNvSpPr txBox="1"/>
          <p:nvPr/>
        </p:nvSpPr>
        <p:spPr>
          <a:xfrm>
            <a:off x="1000354" y="2605126"/>
            <a:ext cx="1433779"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部門別利用率の可視化</a:t>
            </a:r>
            <a:endParaRPr lang="en-US" sz="1000" dirty="0"/>
          </a:p>
        </p:txBody>
      </p:sp>
      <p:sp>
        <p:nvSpPr>
          <p:cNvPr id="21" name="Text 16"/>
          <p:cNvSpPr txBox="1"/>
          <p:nvPr/>
        </p:nvSpPr>
        <p:spPr>
          <a:xfrm>
            <a:off x="1000354" y="2824582"/>
            <a:ext cx="4810658" cy="333756"/>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M365管理センターのログを活用し、部署ごとのアクティブユーザー率を算出。利用が進んでいる部門と停滞している部門を特定。</a:t>
            </a:r>
            <a:endParaRPr lang="en-US" sz="900" dirty="0"/>
          </a:p>
        </p:txBody>
      </p:sp>
      <p:pic>
        <p:nvPicPr>
          <p:cNvPr id="22" name="Image 3" descr="preencoded.png"/>
          <p:cNvPicPr>
            <a:picLocks noChangeAspect="1"/>
          </p:cNvPicPr>
          <p:nvPr/>
        </p:nvPicPr>
        <p:blipFill>
          <a:blip r:embed="rId5"/>
          <a:srcRect/>
          <a:stretch/>
        </p:blipFill>
        <p:spPr>
          <a:xfrm>
            <a:off x="809244" y="3300070"/>
            <a:ext cx="95098" cy="95098"/>
          </a:xfrm>
          <a:prstGeom prst="rect">
            <a:avLst/>
          </a:prstGeom>
        </p:spPr>
      </p:pic>
      <p:sp>
        <p:nvSpPr>
          <p:cNvPr id="23" name="Text 17"/>
          <p:cNvSpPr txBox="1"/>
          <p:nvPr/>
        </p:nvSpPr>
        <p:spPr>
          <a:xfrm>
            <a:off x="1000354" y="3243377"/>
            <a:ext cx="1300277"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利用頻度・機能分析</a:t>
            </a:r>
            <a:endParaRPr lang="en-US" sz="1000" dirty="0"/>
          </a:p>
        </p:txBody>
      </p:sp>
      <p:sp>
        <p:nvSpPr>
          <p:cNvPr id="24" name="Text 18"/>
          <p:cNvSpPr txBox="1"/>
          <p:nvPr/>
        </p:nvSpPr>
        <p:spPr>
          <a:xfrm>
            <a:off x="1000354" y="3461918"/>
            <a:ext cx="4763110" cy="333756"/>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週次・日次の利用頻度や、Teams/Outlook/Excel等のアプリ別利用状況を分析し、活用スタイルを把握。</a:t>
            </a:r>
            <a:endParaRPr lang="en-US" sz="900" dirty="0"/>
          </a:p>
        </p:txBody>
      </p:sp>
      <p:sp>
        <p:nvSpPr>
          <p:cNvPr id="25" name="Shape 19"/>
          <p:cNvSpPr/>
          <p:nvPr/>
        </p:nvSpPr>
        <p:spPr>
          <a:xfrm>
            <a:off x="609905" y="4233672"/>
            <a:ext cx="5333695" cy="2124151"/>
          </a:xfrm>
          <a:prstGeom prst="roundRect">
            <a:avLst>
              <a:gd name="adj" fmla="val 2316"/>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26" name="Shape 20"/>
          <p:cNvSpPr/>
          <p:nvPr/>
        </p:nvSpPr>
        <p:spPr>
          <a:xfrm>
            <a:off x="609905" y="4233672"/>
            <a:ext cx="38405" cy="2104949"/>
          </a:xfrm>
          <a:prstGeom prst="rect">
            <a:avLst/>
          </a:prstGeom>
          <a:solidFill>
            <a:srgbClr val="3B82F6"/>
          </a:solidFill>
          <a:ln/>
        </p:spPr>
        <p:txBody>
          <a:bodyPr/>
          <a:lstStyle/>
          <a:p>
            <a:endParaRPr lang="ja-JP" altLang="en-US"/>
          </a:p>
        </p:txBody>
      </p:sp>
      <p:sp>
        <p:nvSpPr>
          <p:cNvPr id="27" name="Shape 21"/>
          <p:cNvSpPr/>
          <p:nvPr/>
        </p:nvSpPr>
        <p:spPr>
          <a:xfrm>
            <a:off x="809244" y="4834433"/>
            <a:ext cx="4934102" cy="9144"/>
          </a:xfrm>
          <a:prstGeom prst="rect">
            <a:avLst/>
          </a:prstGeom>
          <a:solidFill>
            <a:srgbClr val="F1F5F9"/>
          </a:solidFill>
          <a:ln/>
        </p:spPr>
        <p:txBody>
          <a:bodyPr/>
          <a:lstStyle/>
          <a:p>
            <a:endParaRPr lang="ja-JP" altLang="en-US"/>
          </a:p>
        </p:txBody>
      </p:sp>
      <p:sp>
        <p:nvSpPr>
          <p:cNvPr id="28" name="Shape 22"/>
          <p:cNvSpPr/>
          <p:nvPr/>
        </p:nvSpPr>
        <p:spPr>
          <a:xfrm>
            <a:off x="809244" y="4433926"/>
            <a:ext cx="304495" cy="304495"/>
          </a:xfrm>
          <a:prstGeom prst="roundRect">
            <a:avLst>
              <a:gd name="adj" fmla="val 75075"/>
            </a:avLst>
          </a:prstGeom>
          <a:solidFill>
            <a:srgbClr val="EFF6FF"/>
          </a:solidFill>
          <a:ln/>
        </p:spPr>
        <p:txBody>
          <a:bodyPr/>
          <a:lstStyle/>
          <a:p>
            <a:endParaRPr lang="ja-JP" altLang="en-US"/>
          </a:p>
        </p:txBody>
      </p:sp>
      <p:pic>
        <p:nvPicPr>
          <p:cNvPr id="29" name="Image 4" descr="preencoded.png"/>
          <p:cNvPicPr>
            <a:picLocks noChangeAspect="1"/>
          </p:cNvPicPr>
          <p:nvPr/>
        </p:nvPicPr>
        <p:blipFill>
          <a:blip r:embed="rId6"/>
          <a:srcRect t="-180" b="-180"/>
          <a:stretch/>
        </p:blipFill>
        <p:spPr>
          <a:xfrm>
            <a:off x="866851" y="4509821"/>
            <a:ext cx="190195" cy="152705"/>
          </a:xfrm>
          <a:prstGeom prst="rect">
            <a:avLst/>
          </a:prstGeom>
        </p:spPr>
      </p:pic>
      <p:sp>
        <p:nvSpPr>
          <p:cNvPr id="30" name="Text 23"/>
          <p:cNvSpPr txBox="1"/>
          <p:nvPr/>
        </p:nvSpPr>
        <p:spPr>
          <a:xfrm>
            <a:off x="1209751" y="4472330"/>
            <a:ext cx="1800454" cy="228600"/>
          </a:xfrm>
          <a:prstGeom prst="rect">
            <a:avLst/>
          </a:prstGeom>
          <a:noFill/>
          <a:ln/>
        </p:spPr>
        <p:txBody>
          <a:bodyPr wrap="square" lIns="0" tIns="0" rIns="0" bIns="0" rtlCol="0" anchor="ctr"/>
          <a:lstStyle/>
          <a:p>
            <a:pPr marL="0" indent="0" algn="l">
              <a:buNone/>
            </a:pPr>
            <a:r>
              <a:rPr lang="en-US" sz="1200" b="1" dirty="0">
                <a:solidFill>
                  <a:srgbClr val="1E40AF"/>
                </a:solidFill>
                <a:latin typeface="Noto Sans JP" pitchFamily="34" charset="0"/>
                <a:ea typeface="Noto Sans JP" pitchFamily="34" charset="-122"/>
                <a:cs typeface="Noto Sans JP" pitchFamily="34" charset="-120"/>
              </a:rPr>
              <a:t>定性課題の抽出（VOC）</a:t>
            </a:r>
            <a:endParaRPr lang="en-US" sz="1200" dirty="0"/>
          </a:p>
        </p:txBody>
      </p:sp>
      <p:pic>
        <p:nvPicPr>
          <p:cNvPr id="31" name="Image 5" descr="preencoded.png"/>
          <p:cNvPicPr>
            <a:picLocks noChangeAspect="1"/>
          </p:cNvPicPr>
          <p:nvPr/>
        </p:nvPicPr>
        <p:blipFill>
          <a:blip r:embed="rId5"/>
          <a:srcRect/>
          <a:stretch/>
        </p:blipFill>
        <p:spPr>
          <a:xfrm>
            <a:off x="809244" y="5014570"/>
            <a:ext cx="95098" cy="95098"/>
          </a:xfrm>
          <a:prstGeom prst="rect">
            <a:avLst/>
          </a:prstGeom>
        </p:spPr>
      </p:pic>
      <p:sp>
        <p:nvSpPr>
          <p:cNvPr id="32" name="Text 24"/>
          <p:cNvSpPr txBox="1"/>
          <p:nvPr/>
        </p:nvSpPr>
        <p:spPr>
          <a:xfrm>
            <a:off x="1000354" y="4957877"/>
            <a:ext cx="1300277"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全社アンケート実施</a:t>
            </a:r>
            <a:endParaRPr lang="en-US" sz="1000" dirty="0"/>
          </a:p>
        </p:txBody>
      </p:sp>
      <p:sp>
        <p:nvSpPr>
          <p:cNvPr id="33" name="Text 25"/>
          <p:cNvSpPr txBox="1"/>
          <p:nvPr/>
        </p:nvSpPr>
        <p:spPr>
          <a:xfrm>
            <a:off x="1000354" y="5176418"/>
            <a:ext cx="4829861" cy="333756"/>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利用者には「効果・満足度」、未利用者には「障壁・理由」を問うアンケートを実施し、現場の生声を収集。</a:t>
            </a:r>
            <a:endParaRPr lang="en-US" sz="900" dirty="0"/>
          </a:p>
        </p:txBody>
      </p:sp>
      <p:pic>
        <p:nvPicPr>
          <p:cNvPr id="34" name="Image 6" descr="preencoded.png"/>
          <p:cNvPicPr>
            <a:picLocks noChangeAspect="1"/>
          </p:cNvPicPr>
          <p:nvPr/>
        </p:nvPicPr>
        <p:blipFill>
          <a:blip r:embed="rId5"/>
          <a:srcRect/>
          <a:stretch/>
        </p:blipFill>
        <p:spPr>
          <a:xfrm>
            <a:off x="809244" y="5652821"/>
            <a:ext cx="95098" cy="95098"/>
          </a:xfrm>
          <a:prstGeom prst="rect">
            <a:avLst/>
          </a:prstGeom>
        </p:spPr>
      </p:pic>
      <p:sp>
        <p:nvSpPr>
          <p:cNvPr id="35" name="Text 26"/>
          <p:cNvSpPr txBox="1"/>
          <p:nvPr/>
        </p:nvSpPr>
        <p:spPr>
          <a:xfrm>
            <a:off x="1000354" y="5596128"/>
            <a:ext cx="1300277"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デプスインタビュー</a:t>
            </a:r>
            <a:endParaRPr lang="en-US" sz="1000" dirty="0"/>
          </a:p>
        </p:txBody>
      </p:sp>
      <p:sp>
        <p:nvSpPr>
          <p:cNvPr id="36" name="Text 27"/>
          <p:cNvSpPr txBox="1"/>
          <p:nvPr/>
        </p:nvSpPr>
        <p:spPr>
          <a:xfrm>
            <a:off x="1000354" y="5814670"/>
            <a:ext cx="4782312" cy="333756"/>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キーマンへのインタビューを通じ、数字には表れない業務フロー上の課題や心理的抵抗感を深掘り。</a:t>
            </a:r>
            <a:endParaRPr lang="en-US" sz="900" dirty="0"/>
          </a:p>
        </p:txBody>
      </p:sp>
      <p:sp>
        <p:nvSpPr>
          <p:cNvPr id="37" name="Shape 28"/>
          <p:cNvSpPr/>
          <p:nvPr/>
        </p:nvSpPr>
        <p:spPr>
          <a:xfrm>
            <a:off x="609905" y="6586423"/>
            <a:ext cx="5333695" cy="1485900"/>
          </a:xfrm>
          <a:prstGeom prst="roundRect">
            <a:avLst>
              <a:gd name="adj" fmla="val 4734"/>
            </a:avLst>
          </a:prstGeom>
          <a:solidFill>
            <a:srgbClr val="FFFFFF"/>
          </a:solidFill>
          <a:ln w="12700">
            <a:solidFill>
              <a:srgbClr val="E2E8F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38" name="Shape 29"/>
          <p:cNvSpPr/>
          <p:nvPr/>
        </p:nvSpPr>
        <p:spPr>
          <a:xfrm>
            <a:off x="609905" y="6586423"/>
            <a:ext cx="38405" cy="1466698"/>
          </a:xfrm>
          <a:prstGeom prst="rect">
            <a:avLst/>
          </a:prstGeom>
          <a:solidFill>
            <a:srgbClr val="3B82F6"/>
          </a:solidFill>
          <a:ln/>
        </p:spPr>
        <p:txBody>
          <a:bodyPr/>
          <a:lstStyle/>
          <a:p>
            <a:endParaRPr lang="ja-JP" altLang="en-US"/>
          </a:p>
        </p:txBody>
      </p:sp>
      <p:sp>
        <p:nvSpPr>
          <p:cNvPr id="39" name="Shape 30"/>
          <p:cNvSpPr/>
          <p:nvPr/>
        </p:nvSpPr>
        <p:spPr>
          <a:xfrm>
            <a:off x="809244" y="7187184"/>
            <a:ext cx="4934102" cy="9144"/>
          </a:xfrm>
          <a:prstGeom prst="rect">
            <a:avLst/>
          </a:prstGeom>
          <a:solidFill>
            <a:srgbClr val="F1F5F9"/>
          </a:solidFill>
          <a:ln/>
        </p:spPr>
        <p:txBody>
          <a:bodyPr/>
          <a:lstStyle/>
          <a:p>
            <a:endParaRPr lang="ja-JP" altLang="en-US"/>
          </a:p>
        </p:txBody>
      </p:sp>
      <p:sp>
        <p:nvSpPr>
          <p:cNvPr id="40" name="Shape 31"/>
          <p:cNvSpPr/>
          <p:nvPr/>
        </p:nvSpPr>
        <p:spPr>
          <a:xfrm>
            <a:off x="809244" y="6786677"/>
            <a:ext cx="304495" cy="304495"/>
          </a:xfrm>
          <a:prstGeom prst="roundRect">
            <a:avLst>
              <a:gd name="adj" fmla="val 75075"/>
            </a:avLst>
          </a:prstGeom>
          <a:solidFill>
            <a:srgbClr val="EFF6FF"/>
          </a:solidFill>
          <a:ln/>
        </p:spPr>
        <p:txBody>
          <a:bodyPr/>
          <a:lstStyle/>
          <a:p>
            <a:endParaRPr lang="ja-JP" altLang="en-US"/>
          </a:p>
        </p:txBody>
      </p:sp>
      <p:pic>
        <p:nvPicPr>
          <p:cNvPr id="41" name="Image 7" descr="preencoded.png"/>
          <p:cNvPicPr>
            <a:picLocks noChangeAspect="1"/>
          </p:cNvPicPr>
          <p:nvPr/>
        </p:nvPicPr>
        <p:blipFill>
          <a:blip r:embed="rId7"/>
          <a:srcRect/>
          <a:stretch/>
        </p:blipFill>
        <p:spPr>
          <a:xfrm>
            <a:off x="886054" y="6862572"/>
            <a:ext cx="152705" cy="152705"/>
          </a:xfrm>
          <a:prstGeom prst="rect">
            <a:avLst/>
          </a:prstGeom>
        </p:spPr>
      </p:pic>
      <p:sp>
        <p:nvSpPr>
          <p:cNvPr id="42" name="Text 32"/>
          <p:cNvSpPr txBox="1"/>
          <p:nvPr/>
        </p:nvSpPr>
        <p:spPr>
          <a:xfrm>
            <a:off x="1209751" y="6825082"/>
            <a:ext cx="1800454" cy="228600"/>
          </a:xfrm>
          <a:prstGeom prst="rect">
            <a:avLst/>
          </a:prstGeom>
          <a:noFill/>
          <a:ln/>
        </p:spPr>
        <p:txBody>
          <a:bodyPr wrap="square" lIns="0" tIns="0" rIns="0" bIns="0" rtlCol="0" anchor="ctr"/>
          <a:lstStyle/>
          <a:p>
            <a:pPr marL="0" indent="0" algn="l">
              <a:buNone/>
            </a:pPr>
            <a:r>
              <a:rPr lang="en-US" sz="1200" b="1" dirty="0">
                <a:solidFill>
                  <a:srgbClr val="1E40AF"/>
                </a:solidFill>
                <a:latin typeface="Noto Sans JP" pitchFamily="34" charset="0"/>
                <a:ea typeface="Noto Sans JP" pitchFamily="34" charset="-122"/>
                <a:cs typeface="Noto Sans JP" pitchFamily="34" charset="-120"/>
              </a:rPr>
              <a:t>成功事例（萌芽）の発掘</a:t>
            </a:r>
            <a:endParaRPr lang="en-US" sz="1200" dirty="0"/>
          </a:p>
        </p:txBody>
      </p:sp>
      <p:pic>
        <p:nvPicPr>
          <p:cNvPr id="43" name="Image 8" descr="preencoded.png"/>
          <p:cNvPicPr>
            <a:picLocks noChangeAspect="1"/>
          </p:cNvPicPr>
          <p:nvPr/>
        </p:nvPicPr>
        <p:blipFill>
          <a:blip r:embed="rId5"/>
          <a:srcRect/>
          <a:stretch/>
        </p:blipFill>
        <p:spPr>
          <a:xfrm>
            <a:off x="809244" y="7367321"/>
            <a:ext cx="95098" cy="95098"/>
          </a:xfrm>
          <a:prstGeom prst="rect">
            <a:avLst/>
          </a:prstGeom>
        </p:spPr>
      </p:pic>
      <p:sp>
        <p:nvSpPr>
          <p:cNvPr id="44" name="Text 33"/>
          <p:cNvSpPr txBox="1"/>
          <p:nvPr/>
        </p:nvSpPr>
        <p:spPr>
          <a:xfrm>
            <a:off x="1000354" y="7310628"/>
            <a:ext cx="1300277"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先行ユーザーの特定</a:t>
            </a:r>
            <a:endParaRPr lang="en-US" sz="1000" dirty="0"/>
          </a:p>
        </p:txBody>
      </p:sp>
      <p:sp>
        <p:nvSpPr>
          <p:cNvPr id="45" name="Text 34"/>
          <p:cNvSpPr txBox="1"/>
          <p:nvPr/>
        </p:nvSpPr>
        <p:spPr>
          <a:xfrm>
            <a:off x="1000354" y="7529170"/>
            <a:ext cx="4763110" cy="333756"/>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既に独自に活用し効果を出している「隠れたパワーユーザー」を発掘し、具体的なユースケースを収集。</a:t>
            </a:r>
            <a:endParaRPr lang="en-US" sz="900" dirty="0"/>
          </a:p>
        </p:txBody>
      </p:sp>
      <p:pic>
        <p:nvPicPr>
          <p:cNvPr id="46" name="Image 9" descr="preencoded.png"/>
          <p:cNvPicPr>
            <a:picLocks noChangeAspect="1"/>
          </p:cNvPicPr>
          <p:nvPr/>
        </p:nvPicPr>
        <p:blipFill>
          <a:blip r:embed="rId8"/>
          <a:srcRect/>
          <a:stretch/>
        </p:blipFill>
        <p:spPr>
          <a:xfrm>
            <a:off x="6248095" y="1386230"/>
            <a:ext cx="152705" cy="152705"/>
          </a:xfrm>
          <a:prstGeom prst="rect">
            <a:avLst/>
          </a:prstGeom>
        </p:spPr>
      </p:pic>
      <p:sp>
        <p:nvSpPr>
          <p:cNvPr id="47" name="Text 35"/>
          <p:cNvSpPr txBox="1"/>
          <p:nvPr/>
        </p:nvSpPr>
        <p:spPr>
          <a:xfrm>
            <a:off x="6476695" y="1347826"/>
            <a:ext cx="2486254"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JP" pitchFamily="34" charset="0"/>
                <a:ea typeface="Noto Sans JP" pitchFamily="34" charset="-122"/>
                <a:cs typeface="Noto Sans JP" pitchFamily="34" charset="-120"/>
              </a:rPr>
              <a:t>優先的に解決すべき3つの課題領域</a:t>
            </a:r>
            <a:endParaRPr lang="en-US" sz="1200" dirty="0"/>
          </a:p>
        </p:txBody>
      </p:sp>
      <p:sp>
        <p:nvSpPr>
          <p:cNvPr id="48" name="Shape 36"/>
          <p:cNvSpPr/>
          <p:nvPr/>
        </p:nvSpPr>
        <p:spPr>
          <a:xfrm>
            <a:off x="6248095" y="1880921"/>
            <a:ext cx="5333695" cy="1333195"/>
          </a:xfrm>
          <a:prstGeom prst="roundRect">
            <a:avLst>
              <a:gd name="adj" fmla="val 5879"/>
            </a:avLst>
          </a:prstGeom>
          <a:solidFill>
            <a:srgbClr val="FFFFFF"/>
          </a:solidFill>
          <a:ln w="12700">
            <a:solidFill>
              <a:srgbClr val="E2E8F0"/>
            </a:solidFill>
            <a:prstDash val="solid"/>
          </a:ln>
        </p:spPr>
        <p:txBody>
          <a:bodyPr/>
          <a:lstStyle/>
          <a:p>
            <a:endParaRPr lang="ja-JP" altLang="en-US"/>
          </a:p>
        </p:txBody>
      </p:sp>
      <p:sp>
        <p:nvSpPr>
          <p:cNvPr id="49" name="Shape 37"/>
          <p:cNvSpPr/>
          <p:nvPr/>
        </p:nvSpPr>
        <p:spPr>
          <a:xfrm>
            <a:off x="6439205" y="2318918"/>
            <a:ext cx="457200" cy="457200"/>
          </a:xfrm>
          <a:prstGeom prst="roundRect">
            <a:avLst>
              <a:gd name="adj" fmla="val 50000"/>
            </a:avLst>
          </a:prstGeom>
          <a:solidFill>
            <a:srgbClr val="E0F2FE"/>
          </a:solidFill>
          <a:ln/>
        </p:spPr>
        <p:txBody>
          <a:bodyPr/>
          <a:lstStyle/>
          <a:p>
            <a:endParaRPr lang="ja-JP" altLang="en-US"/>
          </a:p>
        </p:txBody>
      </p:sp>
      <p:pic>
        <p:nvPicPr>
          <p:cNvPr id="50" name="Image 10" descr="preencoded.png"/>
          <p:cNvPicPr>
            <a:picLocks noChangeAspect="1"/>
          </p:cNvPicPr>
          <p:nvPr/>
        </p:nvPicPr>
        <p:blipFill>
          <a:blip r:embed="rId9"/>
          <a:srcRect/>
          <a:stretch/>
        </p:blipFill>
        <p:spPr>
          <a:xfrm>
            <a:off x="6548018" y="2452421"/>
            <a:ext cx="237744" cy="190195"/>
          </a:xfrm>
          <a:prstGeom prst="rect">
            <a:avLst/>
          </a:prstGeom>
        </p:spPr>
      </p:pic>
      <p:sp>
        <p:nvSpPr>
          <p:cNvPr id="51" name="Text 38"/>
          <p:cNvSpPr txBox="1"/>
          <p:nvPr/>
        </p:nvSpPr>
        <p:spPr>
          <a:xfrm>
            <a:off x="7048195" y="2250338"/>
            <a:ext cx="1793138"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1. 技術的課題 (Technical)</a:t>
            </a:r>
            <a:endParaRPr lang="en-US" sz="1100" dirty="0"/>
          </a:p>
        </p:txBody>
      </p:sp>
      <p:sp>
        <p:nvSpPr>
          <p:cNvPr id="52" name="Text 39"/>
          <p:cNvSpPr txBox="1"/>
          <p:nvPr/>
        </p:nvSpPr>
        <p:spPr>
          <a:xfrm>
            <a:off x="7048195" y="2502713"/>
            <a:ext cx="4372661" cy="333756"/>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「どのボタンを押せばいいかわからない」「どんなプロンプトを入力すれば意図通りの回答が得られるか不明」といった操作・スキル面の障壁。</a:t>
            </a:r>
            <a:endParaRPr lang="en-US" sz="900" dirty="0"/>
          </a:p>
        </p:txBody>
      </p:sp>
      <p:sp>
        <p:nvSpPr>
          <p:cNvPr id="53" name="Shape 40"/>
          <p:cNvSpPr/>
          <p:nvPr/>
        </p:nvSpPr>
        <p:spPr>
          <a:xfrm>
            <a:off x="6248095" y="3366821"/>
            <a:ext cx="5333695" cy="1333195"/>
          </a:xfrm>
          <a:prstGeom prst="roundRect">
            <a:avLst>
              <a:gd name="adj" fmla="val 5879"/>
            </a:avLst>
          </a:prstGeom>
          <a:solidFill>
            <a:srgbClr val="FFFFFF"/>
          </a:solidFill>
          <a:ln w="12700">
            <a:solidFill>
              <a:srgbClr val="E2E8F0"/>
            </a:solidFill>
            <a:prstDash val="solid"/>
          </a:ln>
        </p:spPr>
        <p:txBody>
          <a:bodyPr/>
          <a:lstStyle/>
          <a:p>
            <a:endParaRPr lang="ja-JP" altLang="en-US"/>
          </a:p>
        </p:txBody>
      </p:sp>
      <p:sp>
        <p:nvSpPr>
          <p:cNvPr id="54" name="Shape 41"/>
          <p:cNvSpPr/>
          <p:nvPr/>
        </p:nvSpPr>
        <p:spPr>
          <a:xfrm>
            <a:off x="6439205" y="3804818"/>
            <a:ext cx="457200" cy="457200"/>
          </a:xfrm>
          <a:prstGeom prst="roundRect">
            <a:avLst>
              <a:gd name="adj" fmla="val 50000"/>
            </a:avLst>
          </a:prstGeom>
          <a:solidFill>
            <a:srgbClr val="F3E8FF"/>
          </a:solidFill>
          <a:ln/>
        </p:spPr>
        <p:txBody>
          <a:bodyPr/>
          <a:lstStyle/>
          <a:p>
            <a:endParaRPr lang="ja-JP" altLang="en-US"/>
          </a:p>
        </p:txBody>
      </p:sp>
      <p:pic>
        <p:nvPicPr>
          <p:cNvPr id="55" name="Image 11" descr="preencoded.png"/>
          <p:cNvPicPr>
            <a:picLocks noChangeAspect="1"/>
          </p:cNvPicPr>
          <p:nvPr/>
        </p:nvPicPr>
        <p:blipFill>
          <a:blip r:embed="rId10"/>
          <a:srcRect l="-1282" r="-1282"/>
          <a:stretch/>
        </p:blipFill>
        <p:spPr>
          <a:xfrm>
            <a:off x="6558077" y="3938321"/>
            <a:ext cx="219456" cy="190195"/>
          </a:xfrm>
          <a:prstGeom prst="rect">
            <a:avLst/>
          </a:prstGeom>
        </p:spPr>
      </p:pic>
      <p:sp>
        <p:nvSpPr>
          <p:cNvPr id="56" name="Text 42"/>
          <p:cNvSpPr txBox="1"/>
          <p:nvPr/>
        </p:nvSpPr>
        <p:spPr>
          <a:xfrm>
            <a:off x="7048195" y="3735324"/>
            <a:ext cx="2165299"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2. 組織的課題 (Organizational)</a:t>
            </a:r>
            <a:endParaRPr lang="en-US" sz="1100" dirty="0"/>
          </a:p>
        </p:txBody>
      </p:sp>
      <p:sp>
        <p:nvSpPr>
          <p:cNvPr id="57" name="Text 43"/>
          <p:cNvSpPr txBox="1"/>
          <p:nvPr/>
        </p:nvSpPr>
        <p:spPr>
          <a:xfrm>
            <a:off x="7048195" y="3987698"/>
            <a:ext cx="4439412" cy="333756"/>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「部署間で温度差がある」「成功事例を横展開する仕組みがない」「業務での利用ルールが曖昧」といった体制・プロセス面の課題。</a:t>
            </a:r>
            <a:endParaRPr lang="en-US" sz="900" dirty="0"/>
          </a:p>
        </p:txBody>
      </p:sp>
      <p:sp>
        <p:nvSpPr>
          <p:cNvPr id="58" name="Shape 44"/>
          <p:cNvSpPr/>
          <p:nvPr/>
        </p:nvSpPr>
        <p:spPr>
          <a:xfrm>
            <a:off x="6248095" y="4852721"/>
            <a:ext cx="5333695" cy="1333195"/>
          </a:xfrm>
          <a:prstGeom prst="roundRect">
            <a:avLst>
              <a:gd name="adj" fmla="val 5879"/>
            </a:avLst>
          </a:prstGeom>
          <a:solidFill>
            <a:srgbClr val="FFFFFF"/>
          </a:solidFill>
          <a:ln w="12700">
            <a:solidFill>
              <a:srgbClr val="E2E8F0"/>
            </a:solidFill>
            <a:prstDash val="solid"/>
          </a:ln>
        </p:spPr>
        <p:txBody>
          <a:bodyPr/>
          <a:lstStyle/>
          <a:p>
            <a:endParaRPr lang="ja-JP" altLang="en-US"/>
          </a:p>
        </p:txBody>
      </p:sp>
      <p:sp>
        <p:nvSpPr>
          <p:cNvPr id="59" name="Shape 45"/>
          <p:cNvSpPr/>
          <p:nvPr/>
        </p:nvSpPr>
        <p:spPr>
          <a:xfrm>
            <a:off x="6439205" y="5290718"/>
            <a:ext cx="457200" cy="457200"/>
          </a:xfrm>
          <a:prstGeom prst="roundRect">
            <a:avLst>
              <a:gd name="adj" fmla="val 50000"/>
            </a:avLst>
          </a:prstGeom>
          <a:solidFill>
            <a:srgbClr val="FFEDD5"/>
          </a:solidFill>
          <a:ln/>
        </p:spPr>
        <p:txBody>
          <a:bodyPr/>
          <a:lstStyle/>
          <a:p>
            <a:endParaRPr lang="ja-JP" altLang="en-US"/>
          </a:p>
        </p:txBody>
      </p:sp>
      <p:pic>
        <p:nvPicPr>
          <p:cNvPr id="60" name="Image 12" descr="preencoded.png"/>
          <p:cNvPicPr>
            <a:picLocks noChangeAspect="1"/>
          </p:cNvPicPr>
          <p:nvPr/>
        </p:nvPicPr>
        <p:blipFill>
          <a:blip r:embed="rId11"/>
          <a:srcRect/>
          <a:stretch/>
        </p:blipFill>
        <p:spPr>
          <a:xfrm>
            <a:off x="6548018" y="5423306"/>
            <a:ext cx="237744" cy="190195"/>
          </a:xfrm>
          <a:prstGeom prst="rect">
            <a:avLst/>
          </a:prstGeom>
        </p:spPr>
      </p:pic>
      <p:sp>
        <p:nvSpPr>
          <p:cNvPr id="61" name="Text 46"/>
          <p:cNvSpPr txBox="1"/>
          <p:nvPr/>
        </p:nvSpPr>
        <p:spPr>
          <a:xfrm>
            <a:off x="7048195" y="5221224"/>
            <a:ext cx="1698041"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3. 文化的課題 (Cultural)</a:t>
            </a:r>
            <a:endParaRPr lang="en-US" sz="1100" dirty="0"/>
          </a:p>
        </p:txBody>
      </p:sp>
      <p:sp>
        <p:nvSpPr>
          <p:cNvPr id="62" name="Text 47"/>
          <p:cNvSpPr txBox="1"/>
          <p:nvPr/>
        </p:nvSpPr>
        <p:spPr>
          <a:xfrm>
            <a:off x="7048195" y="5473598"/>
            <a:ext cx="4362602" cy="333756"/>
          </a:xfrm>
          <a:prstGeom prst="rect">
            <a:avLst/>
          </a:prstGeom>
          <a:noFill/>
          <a:ln/>
        </p:spPr>
        <p:txBody>
          <a:bodyPr wrap="square" lIns="0" tIns="0" rIns="0" bIns="0" rtlCol="0" anchor="ctr"/>
          <a:lstStyle/>
          <a:p>
            <a:pPr marL="0" indent="0" algn="l">
              <a:buNone/>
            </a:pPr>
            <a:r>
              <a:rPr lang="en-US" sz="900" dirty="0">
                <a:solidFill>
                  <a:srgbClr val="64748B"/>
                </a:solidFill>
                <a:latin typeface="Noto Sans JP" pitchFamily="34" charset="0"/>
                <a:ea typeface="Noto Sans JP" pitchFamily="34" charset="-122"/>
                <a:cs typeface="Noto Sans JP" pitchFamily="34" charset="-120"/>
              </a:rPr>
              <a:t>「AIに仕事を奪われるのではないかという不安」「新しいツールへの心理的抵抗感」「従来業務を変えたくない現状維持バイアス」。</a:t>
            </a:r>
            <a:endParaRPr lang="en-US" sz="900" dirty="0"/>
          </a:p>
        </p:txBody>
      </p:sp>
      <p:sp>
        <p:nvSpPr>
          <p:cNvPr id="63" name="Shape 48"/>
          <p:cNvSpPr/>
          <p:nvPr/>
        </p:nvSpPr>
        <p:spPr>
          <a:xfrm>
            <a:off x="6248095" y="6751930"/>
            <a:ext cx="5333695" cy="1324051"/>
          </a:xfrm>
          <a:prstGeom prst="roundRect">
            <a:avLst>
              <a:gd name="adj" fmla="val 5962"/>
            </a:avLst>
          </a:prstGeom>
          <a:solidFill>
            <a:srgbClr val="F0FDF4"/>
          </a:solidFill>
          <a:ln w="12700">
            <a:solidFill>
              <a:srgbClr val="BBF7D0"/>
            </a:solidFill>
            <a:prstDash val="solid"/>
          </a:ln>
          <a:effectLst>
            <a:outerShdw blurRad="38100" dist="25400" dir="5400000" algn="bl" rotWithShape="0">
              <a:srgbClr val="000000">
                <a:alpha val="3000"/>
              </a:srgbClr>
            </a:outerShdw>
          </a:effectLst>
        </p:spPr>
        <p:txBody>
          <a:bodyPr/>
          <a:lstStyle/>
          <a:p>
            <a:endParaRPr lang="ja-JP" altLang="en-US"/>
          </a:p>
        </p:txBody>
      </p:sp>
      <p:sp>
        <p:nvSpPr>
          <p:cNvPr id="64" name="Shape 49"/>
          <p:cNvSpPr/>
          <p:nvPr/>
        </p:nvSpPr>
        <p:spPr>
          <a:xfrm>
            <a:off x="6248095" y="6751930"/>
            <a:ext cx="38405" cy="1301191"/>
          </a:xfrm>
          <a:prstGeom prst="rect">
            <a:avLst/>
          </a:prstGeom>
          <a:solidFill>
            <a:srgbClr val="3B82F6"/>
          </a:solidFill>
          <a:ln/>
        </p:spPr>
        <p:txBody>
          <a:bodyPr/>
          <a:lstStyle/>
          <a:p>
            <a:endParaRPr lang="ja-JP" altLang="en-US"/>
          </a:p>
        </p:txBody>
      </p:sp>
      <p:sp>
        <p:nvSpPr>
          <p:cNvPr id="65" name="Shape 50"/>
          <p:cNvSpPr/>
          <p:nvPr/>
        </p:nvSpPr>
        <p:spPr>
          <a:xfrm>
            <a:off x="6448349" y="7352690"/>
            <a:ext cx="4934102" cy="9144"/>
          </a:xfrm>
          <a:prstGeom prst="rect">
            <a:avLst/>
          </a:prstGeom>
          <a:solidFill>
            <a:srgbClr val="DCFCE7"/>
          </a:solidFill>
          <a:ln/>
        </p:spPr>
        <p:txBody>
          <a:bodyPr/>
          <a:lstStyle/>
          <a:p>
            <a:endParaRPr lang="ja-JP" altLang="en-US"/>
          </a:p>
        </p:txBody>
      </p:sp>
      <p:sp>
        <p:nvSpPr>
          <p:cNvPr id="66" name="Shape 51"/>
          <p:cNvSpPr/>
          <p:nvPr/>
        </p:nvSpPr>
        <p:spPr>
          <a:xfrm>
            <a:off x="6448349" y="6952183"/>
            <a:ext cx="304495" cy="304495"/>
          </a:xfrm>
          <a:prstGeom prst="roundRect">
            <a:avLst>
              <a:gd name="adj" fmla="val 75075"/>
            </a:avLst>
          </a:prstGeom>
          <a:solidFill>
            <a:srgbClr val="DCFCE7"/>
          </a:solidFill>
          <a:ln/>
        </p:spPr>
        <p:txBody>
          <a:bodyPr/>
          <a:lstStyle/>
          <a:p>
            <a:endParaRPr lang="ja-JP" altLang="en-US"/>
          </a:p>
        </p:txBody>
      </p:sp>
      <p:pic>
        <p:nvPicPr>
          <p:cNvPr id="67" name="Image 13" descr="preencoded.png"/>
          <p:cNvPicPr>
            <a:picLocks noChangeAspect="1"/>
          </p:cNvPicPr>
          <p:nvPr/>
        </p:nvPicPr>
        <p:blipFill>
          <a:blip r:embed="rId12"/>
          <a:srcRect t="-43" b="-43"/>
          <a:stretch/>
        </p:blipFill>
        <p:spPr>
          <a:xfrm>
            <a:off x="6534302" y="7028993"/>
            <a:ext cx="133502" cy="152705"/>
          </a:xfrm>
          <a:prstGeom prst="rect">
            <a:avLst/>
          </a:prstGeom>
        </p:spPr>
      </p:pic>
      <p:sp>
        <p:nvSpPr>
          <p:cNvPr id="68" name="Text 52"/>
          <p:cNvSpPr txBox="1"/>
          <p:nvPr/>
        </p:nvSpPr>
        <p:spPr>
          <a:xfrm>
            <a:off x="6848856" y="6990588"/>
            <a:ext cx="1724558" cy="228600"/>
          </a:xfrm>
          <a:prstGeom prst="rect">
            <a:avLst/>
          </a:prstGeom>
          <a:noFill/>
          <a:ln/>
        </p:spPr>
        <p:txBody>
          <a:bodyPr wrap="square" lIns="0" tIns="0" rIns="0" bIns="0" rtlCol="0" anchor="ctr"/>
          <a:lstStyle/>
          <a:p>
            <a:pPr marL="0" indent="0" algn="l">
              <a:buNone/>
            </a:pPr>
            <a:r>
              <a:rPr lang="en-US" sz="1200" b="1" dirty="0">
                <a:solidFill>
                  <a:srgbClr val="166534"/>
                </a:solidFill>
                <a:latin typeface="Noto Sans JP" pitchFamily="34" charset="0"/>
                <a:ea typeface="Noto Sans JP" pitchFamily="34" charset="-122"/>
                <a:cs typeface="Noto Sans JP" pitchFamily="34" charset="-120"/>
              </a:rPr>
              <a:t>フェーズ1の到達ゴール</a:t>
            </a:r>
            <a:endParaRPr lang="en-US" sz="1200" dirty="0"/>
          </a:p>
        </p:txBody>
      </p:sp>
      <p:sp>
        <p:nvSpPr>
          <p:cNvPr id="69" name="Text 53"/>
          <p:cNvSpPr txBox="1"/>
          <p:nvPr/>
        </p:nvSpPr>
        <p:spPr>
          <a:xfrm>
            <a:off x="6448349" y="7476134"/>
            <a:ext cx="4988966" cy="381305"/>
          </a:xfrm>
          <a:prstGeom prst="rect">
            <a:avLst/>
          </a:prstGeom>
          <a:noFill/>
          <a:ln/>
        </p:spPr>
        <p:txBody>
          <a:bodyPr wrap="square" lIns="0" tIns="0" rIns="0" bIns="0" rtlCol="0" anchor="ctr"/>
          <a:lstStyle/>
          <a:p>
            <a:pPr marL="0" indent="0" algn="l">
              <a:buNone/>
            </a:pPr>
            <a:r>
              <a:rPr lang="en-US" sz="900" dirty="0">
                <a:solidFill>
                  <a:srgbClr val="14532D"/>
                </a:solidFill>
                <a:latin typeface="Noto Sans JP" pitchFamily="34" charset="0"/>
                <a:ea typeface="Noto Sans JP" pitchFamily="34" charset="-122"/>
                <a:cs typeface="Noto Sans JP" pitchFamily="34" charset="-120"/>
              </a:rPr>
              <a:t>定量データと定性情報の両面から現状を可視化し、「なぜ利用が進まないのか」の真因を特定した上で、次フェーズの推進体制構築に向けた基礎情報を揃えること。</a:t>
            </a:r>
            <a:endParaRPr lang="en-US" sz="900" dirty="0"/>
          </a:p>
        </p:txBody>
      </p:sp>
      <p:sp>
        <p:nvSpPr>
          <p:cNvPr id="70" name="Text 54"/>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36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047902"/>
          </a:xfrm>
          <a:prstGeom prst="rect">
            <a:avLst/>
          </a:prstGeom>
          <a:solidFill>
            <a:srgbClr val="FFFFFF"/>
          </a:solidFill>
          <a:ln/>
        </p:spPr>
        <p:txBody>
          <a:bodyPr/>
          <a:lstStyle/>
          <a:p>
            <a:endParaRPr lang="ja-JP" altLang="en-US"/>
          </a:p>
        </p:txBody>
      </p:sp>
      <p:sp>
        <p:nvSpPr>
          <p:cNvPr id="5" name="Shape 3"/>
          <p:cNvSpPr/>
          <p:nvPr/>
        </p:nvSpPr>
        <p:spPr>
          <a:xfrm>
            <a:off x="0" y="1038758"/>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190195"/>
            <a:ext cx="3805733" cy="419710"/>
          </a:xfrm>
          <a:prstGeom prst="rect">
            <a:avLst/>
          </a:prstGeom>
          <a:noFill/>
          <a:ln/>
        </p:spPr>
        <p:txBody>
          <a:bodyPr wrap="square" lIns="0" tIns="0" rIns="0" bIns="0" rtlCol="0" anchor="ctr"/>
          <a:lstStyle/>
          <a:p>
            <a:pPr marL="0" indent="0" algn="l">
              <a:buNone/>
            </a:pPr>
            <a:r>
              <a:rPr lang="en-US" sz="2200" b="1" dirty="0">
                <a:solidFill>
                  <a:srgbClr val="1E3A8A"/>
                </a:solidFill>
                <a:latin typeface="Noto Sans JP" pitchFamily="34" charset="0"/>
                <a:ea typeface="Noto Sans JP" pitchFamily="34" charset="-122"/>
                <a:cs typeface="Noto Sans JP" pitchFamily="34" charset="-120"/>
              </a:rPr>
              <a:t>フェーズ2：推進体制の構築</a:t>
            </a:r>
            <a:endParaRPr lang="en-US" sz="2200" dirty="0"/>
          </a:p>
        </p:txBody>
      </p:sp>
      <p:sp>
        <p:nvSpPr>
          <p:cNvPr id="7" name="Text 5"/>
          <p:cNvSpPr txBox="1"/>
          <p:nvPr/>
        </p:nvSpPr>
        <p:spPr>
          <a:xfrm>
            <a:off x="609905" y="629107"/>
            <a:ext cx="5575097" cy="219456"/>
          </a:xfrm>
          <a:prstGeom prst="rect">
            <a:avLst/>
          </a:prstGeom>
          <a:noFill/>
          <a:ln/>
        </p:spPr>
        <p:txBody>
          <a:bodyPr wrap="square" lIns="0" tIns="0" rIns="0" bIns="0" rtlCol="0" anchor="ctr"/>
          <a:lstStyle/>
          <a:p>
            <a:pPr marL="0" indent="0" algn="l">
              <a:buNone/>
            </a:pPr>
            <a:r>
              <a:rPr lang="en-US" sz="1100" dirty="0">
                <a:solidFill>
                  <a:srgbClr val="64748B"/>
                </a:solidFill>
                <a:latin typeface="Noto Sans JP" pitchFamily="34" charset="0"/>
                <a:ea typeface="Noto Sans JP" pitchFamily="34" charset="-122"/>
                <a:cs typeface="Noto Sans JP" pitchFamily="34" charset="-120"/>
              </a:rPr>
              <a:t>期間：1ヶ月 全社的なAI活用を牽引・定着させるための強固な3層構造組織の立ち上げ</a:t>
            </a:r>
            <a:endParaRPr lang="en-US" sz="1100" dirty="0"/>
          </a:p>
        </p:txBody>
      </p:sp>
      <p:sp>
        <p:nvSpPr>
          <p:cNvPr id="8" name="Shape 6"/>
          <p:cNvSpPr/>
          <p:nvPr/>
        </p:nvSpPr>
        <p:spPr>
          <a:xfrm>
            <a:off x="10337292" y="543154"/>
            <a:ext cx="1248156" cy="304495"/>
          </a:xfrm>
          <a:prstGeom prst="roundRect">
            <a:avLst>
              <a:gd name="adj" fmla="val 187688"/>
            </a:avLst>
          </a:prstGeom>
          <a:solidFill>
            <a:srgbClr val="3B82F6"/>
          </a:solidFill>
          <a:ln/>
        </p:spPr>
        <p:txBody>
          <a:bodyPr/>
          <a:lstStyle/>
          <a:p>
            <a:endParaRPr lang="ja-JP" altLang="en-US"/>
          </a:p>
        </p:txBody>
      </p:sp>
      <p:sp>
        <p:nvSpPr>
          <p:cNvPr id="9" name="Text 7"/>
          <p:cNvSpPr txBox="1"/>
          <p:nvPr/>
        </p:nvSpPr>
        <p:spPr>
          <a:xfrm>
            <a:off x="10489082" y="599846"/>
            <a:ext cx="1036015" cy="181051"/>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Phase 2 Detail</a:t>
            </a:r>
            <a:endParaRPr lang="en-US" sz="900" dirty="0"/>
          </a:p>
        </p:txBody>
      </p:sp>
      <p:sp>
        <p:nvSpPr>
          <p:cNvPr id="11" name="Shape 9"/>
          <p:cNvSpPr/>
          <p:nvPr/>
        </p:nvSpPr>
        <p:spPr>
          <a:xfrm>
            <a:off x="609905" y="1347826"/>
            <a:ext cx="3504895" cy="5210251"/>
          </a:xfrm>
          <a:prstGeom prst="roundRect">
            <a:avLst>
              <a:gd name="adj" fmla="val 1134"/>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12" name="Shape 10"/>
          <p:cNvSpPr/>
          <p:nvPr/>
        </p:nvSpPr>
        <p:spPr>
          <a:xfrm>
            <a:off x="619049" y="1356970"/>
            <a:ext cx="3486607" cy="886054"/>
          </a:xfrm>
          <a:prstGeom prst="rect">
            <a:avLst/>
          </a:prstGeom>
          <a:solidFill>
            <a:srgbClr val="4F46E5"/>
          </a:solidFill>
          <a:ln/>
        </p:spPr>
        <p:txBody>
          <a:bodyPr/>
          <a:lstStyle/>
          <a:p>
            <a:endParaRPr lang="ja-JP" altLang="en-US"/>
          </a:p>
        </p:txBody>
      </p:sp>
      <p:pic>
        <p:nvPicPr>
          <p:cNvPr id="13" name="Image 0" descr="preencoded.png"/>
          <p:cNvPicPr>
            <a:picLocks noChangeAspect="1"/>
          </p:cNvPicPr>
          <p:nvPr/>
        </p:nvPicPr>
        <p:blipFill>
          <a:blip r:embed="rId3">
            <a:alphaModFix amt="90000"/>
          </a:blip>
          <a:srcRect l="-57" r="-57"/>
          <a:stretch/>
        </p:blipFill>
        <p:spPr>
          <a:xfrm>
            <a:off x="809244" y="1693469"/>
            <a:ext cx="200254" cy="228600"/>
          </a:xfrm>
          <a:prstGeom prst="rect">
            <a:avLst/>
          </a:prstGeom>
        </p:spPr>
      </p:pic>
      <p:sp>
        <p:nvSpPr>
          <p:cNvPr id="14" name="Text 11"/>
          <p:cNvSpPr txBox="1"/>
          <p:nvPr/>
        </p:nvSpPr>
        <p:spPr>
          <a:xfrm>
            <a:off x="1123798" y="1662379"/>
            <a:ext cx="1157630" cy="247802"/>
          </a:xfrm>
          <a:prstGeom prst="rect">
            <a:avLst/>
          </a:prstGeom>
          <a:noFill/>
          <a:ln/>
        </p:spPr>
        <p:txBody>
          <a:bodyPr wrap="square" lIns="0" tIns="0" rIns="0" bIns="0" rtlCol="0" anchor="ctr"/>
          <a:lstStyle/>
          <a:p>
            <a:pPr marL="0" indent="0" algn="l">
              <a:buNone/>
            </a:pPr>
            <a:r>
              <a:rPr lang="en-US" sz="1300" b="1" dirty="0">
                <a:solidFill>
                  <a:srgbClr val="FFFFFF"/>
                </a:solidFill>
                <a:latin typeface="Noto Sans JP" pitchFamily="34" charset="0"/>
                <a:ea typeface="Noto Sans JP" pitchFamily="34" charset="-122"/>
                <a:cs typeface="Noto Sans JP" pitchFamily="34" charset="-120"/>
              </a:rPr>
              <a:t>AI推進委員会</a:t>
            </a:r>
            <a:endParaRPr lang="en-US" sz="1300" dirty="0"/>
          </a:p>
        </p:txBody>
      </p:sp>
      <p:sp>
        <p:nvSpPr>
          <p:cNvPr id="15" name="Text 12"/>
          <p:cNvSpPr txBox="1"/>
          <p:nvPr/>
        </p:nvSpPr>
        <p:spPr>
          <a:xfrm>
            <a:off x="1123798" y="1915668"/>
            <a:ext cx="1124712" cy="162763"/>
          </a:xfrm>
          <a:prstGeom prst="rect">
            <a:avLst/>
          </a:prstGeom>
          <a:noFill/>
          <a:ln/>
        </p:spPr>
        <p:txBody>
          <a:bodyPr wrap="square" lIns="0" tIns="0" rIns="0" bIns="0" rtlCol="0" anchor="ctr"/>
          <a:lstStyle/>
          <a:p>
            <a:pPr marL="0" indent="0" algn="l">
              <a:buNone/>
            </a:pPr>
            <a:r>
              <a:rPr lang="en-US" sz="900" dirty="0">
                <a:solidFill>
                  <a:srgbClr val="FFFFFF">
                    <a:alpha val="90000"/>
                  </a:srgbClr>
                </a:solidFill>
                <a:latin typeface="Noto Sans JP" pitchFamily="34" charset="0"/>
                <a:ea typeface="Noto Sans JP" pitchFamily="34" charset="-122"/>
                <a:cs typeface="Noto Sans JP" pitchFamily="34" charset="-120"/>
              </a:rPr>
              <a:t>意思決定・権限委譲</a:t>
            </a:r>
            <a:endParaRPr lang="en-US" sz="900" dirty="0"/>
          </a:p>
        </p:txBody>
      </p:sp>
      <p:sp>
        <p:nvSpPr>
          <p:cNvPr id="16" name="Shape 13"/>
          <p:cNvSpPr/>
          <p:nvPr/>
        </p:nvSpPr>
        <p:spPr>
          <a:xfrm>
            <a:off x="809244" y="2629814"/>
            <a:ext cx="3105302" cy="9144"/>
          </a:xfrm>
          <a:prstGeom prst="rect">
            <a:avLst/>
          </a:prstGeom>
          <a:solidFill>
            <a:srgbClr val="F1F5F9"/>
          </a:solidFill>
          <a:ln/>
        </p:spPr>
        <p:txBody>
          <a:bodyPr/>
          <a:lstStyle/>
          <a:p>
            <a:endParaRPr lang="ja-JP" altLang="en-US"/>
          </a:p>
        </p:txBody>
      </p:sp>
      <p:sp>
        <p:nvSpPr>
          <p:cNvPr id="17" name="Text 14"/>
          <p:cNvSpPr txBox="1"/>
          <p:nvPr/>
        </p:nvSpPr>
        <p:spPr>
          <a:xfrm>
            <a:off x="809244" y="2429561"/>
            <a:ext cx="746150" cy="152705"/>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構成メンバー</a:t>
            </a:r>
            <a:endParaRPr lang="en-US" sz="800" dirty="0"/>
          </a:p>
        </p:txBody>
      </p:sp>
      <p:sp>
        <p:nvSpPr>
          <p:cNvPr id="18" name="Shape 15"/>
          <p:cNvSpPr/>
          <p:nvPr/>
        </p:nvSpPr>
        <p:spPr>
          <a:xfrm>
            <a:off x="809244" y="2748686"/>
            <a:ext cx="1228954" cy="267005"/>
          </a:xfrm>
          <a:prstGeom prst="roundRect">
            <a:avLst>
              <a:gd name="adj" fmla="val 73385"/>
            </a:avLst>
          </a:prstGeom>
          <a:solidFill>
            <a:srgbClr val="EEF2FF"/>
          </a:solidFill>
          <a:ln w="12700">
            <a:solidFill>
              <a:srgbClr val="C7D2FE"/>
            </a:solidFill>
            <a:prstDash val="solid"/>
          </a:ln>
        </p:spPr>
        <p:txBody>
          <a:bodyPr/>
          <a:lstStyle/>
          <a:p>
            <a:endParaRPr lang="ja-JP" altLang="en-US"/>
          </a:p>
        </p:txBody>
      </p:sp>
      <p:pic>
        <p:nvPicPr>
          <p:cNvPr id="19" name="Image 1" descr="preencoded.png"/>
          <p:cNvPicPr>
            <a:picLocks noChangeAspect="1"/>
          </p:cNvPicPr>
          <p:nvPr/>
        </p:nvPicPr>
        <p:blipFill>
          <a:blip r:embed="rId4"/>
          <a:srcRect l="-2571" r="-2571"/>
          <a:stretch/>
        </p:blipFill>
        <p:spPr>
          <a:xfrm>
            <a:off x="895198" y="2825496"/>
            <a:ext cx="105156" cy="114300"/>
          </a:xfrm>
          <a:prstGeom prst="rect">
            <a:avLst/>
          </a:prstGeom>
        </p:spPr>
      </p:pic>
      <p:sp>
        <p:nvSpPr>
          <p:cNvPr id="20" name="Text 16"/>
          <p:cNvSpPr txBox="1"/>
          <p:nvPr/>
        </p:nvSpPr>
        <p:spPr>
          <a:xfrm>
            <a:off x="1037844" y="2796235"/>
            <a:ext cx="1000354" cy="171907"/>
          </a:xfrm>
          <a:prstGeom prst="rect">
            <a:avLst/>
          </a:prstGeom>
          <a:noFill/>
          <a:ln/>
        </p:spPr>
        <p:txBody>
          <a:bodyPr wrap="square" lIns="0" tIns="0" rIns="0" bIns="0" rtlCol="0" anchor="ctr"/>
          <a:lstStyle/>
          <a:p>
            <a:pPr marL="0" indent="0" algn="l">
              <a:buNone/>
            </a:pPr>
            <a:r>
              <a:rPr lang="en-US" sz="900" dirty="0">
                <a:solidFill>
                  <a:srgbClr val="4338CA"/>
                </a:solidFill>
                <a:latin typeface="Noto Sans JP" pitchFamily="34" charset="0"/>
                <a:ea typeface="Noto Sans JP" pitchFamily="34" charset="-122"/>
                <a:cs typeface="Noto Sans JP" pitchFamily="34" charset="-120"/>
              </a:rPr>
              <a:t>会長：取締役CTO</a:t>
            </a:r>
            <a:endParaRPr lang="en-US" sz="900" dirty="0"/>
          </a:p>
        </p:txBody>
      </p:sp>
      <p:sp>
        <p:nvSpPr>
          <p:cNvPr id="21" name="Shape 17"/>
          <p:cNvSpPr/>
          <p:nvPr/>
        </p:nvSpPr>
        <p:spPr>
          <a:xfrm>
            <a:off x="2072030" y="2758745"/>
            <a:ext cx="638251" cy="267005"/>
          </a:xfrm>
          <a:prstGeom prst="roundRect">
            <a:avLst>
              <a:gd name="adj" fmla="val 73385"/>
            </a:avLst>
          </a:prstGeom>
          <a:solidFill>
            <a:srgbClr val="EEF2FF"/>
          </a:solidFill>
          <a:ln w="12700">
            <a:solidFill>
              <a:srgbClr val="C7D2FE"/>
            </a:solidFill>
            <a:prstDash val="solid"/>
          </a:ln>
        </p:spPr>
        <p:txBody>
          <a:bodyPr/>
          <a:lstStyle/>
          <a:p>
            <a:endParaRPr lang="ja-JP" altLang="en-US"/>
          </a:p>
        </p:txBody>
      </p:sp>
      <p:sp>
        <p:nvSpPr>
          <p:cNvPr id="22" name="Text 18"/>
          <p:cNvSpPr txBox="1"/>
          <p:nvPr/>
        </p:nvSpPr>
        <p:spPr>
          <a:xfrm>
            <a:off x="2157070" y="2806294"/>
            <a:ext cx="553212" cy="171907"/>
          </a:xfrm>
          <a:prstGeom prst="rect">
            <a:avLst/>
          </a:prstGeom>
          <a:noFill/>
          <a:ln/>
        </p:spPr>
        <p:txBody>
          <a:bodyPr wrap="square" lIns="0" tIns="0" rIns="0" bIns="0" rtlCol="0" anchor="ctr"/>
          <a:lstStyle/>
          <a:p>
            <a:pPr marL="0" indent="0" algn="l">
              <a:buNone/>
            </a:pPr>
            <a:r>
              <a:rPr lang="en-US" sz="900" dirty="0">
                <a:solidFill>
                  <a:srgbClr val="4338CA"/>
                </a:solidFill>
                <a:latin typeface="Noto Sans JP" pitchFamily="34" charset="0"/>
                <a:ea typeface="Noto Sans JP" pitchFamily="34" charset="-122"/>
                <a:cs typeface="Noto Sans JP" pitchFamily="34" charset="-120"/>
              </a:rPr>
              <a:t>各本部長</a:t>
            </a:r>
            <a:endParaRPr lang="en-US" sz="900" dirty="0"/>
          </a:p>
        </p:txBody>
      </p:sp>
      <p:sp>
        <p:nvSpPr>
          <p:cNvPr id="23" name="Shape 19"/>
          <p:cNvSpPr/>
          <p:nvPr/>
        </p:nvSpPr>
        <p:spPr>
          <a:xfrm>
            <a:off x="2738628" y="2758745"/>
            <a:ext cx="761695" cy="267005"/>
          </a:xfrm>
          <a:prstGeom prst="roundRect">
            <a:avLst>
              <a:gd name="adj" fmla="val 73385"/>
            </a:avLst>
          </a:prstGeom>
          <a:solidFill>
            <a:srgbClr val="EEF2FF"/>
          </a:solidFill>
          <a:ln w="12700">
            <a:solidFill>
              <a:srgbClr val="C7D2FE"/>
            </a:solidFill>
            <a:prstDash val="solid"/>
          </a:ln>
        </p:spPr>
        <p:txBody>
          <a:bodyPr/>
          <a:lstStyle/>
          <a:p>
            <a:endParaRPr lang="ja-JP" altLang="en-US"/>
          </a:p>
        </p:txBody>
      </p:sp>
      <p:sp>
        <p:nvSpPr>
          <p:cNvPr id="24" name="Text 20"/>
          <p:cNvSpPr txBox="1"/>
          <p:nvPr/>
        </p:nvSpPr>
        <p:spPr>
          <a:xfrm>
            <a:off x="2824582" y="2806294"/>
            <a:ext cx="676656" cy="171907"/>
          </a:xfrm>
          <a:prstGeom prst="rect">
            <a:avLst/>
          </a:prstGeom>
          <a:noFill/>
          <a:ln/>
        </p:spPr>
        <p:txBody>
          <a:bodyPr wrap="square" lIns="0" tIns="0" rIns="0" bIns="0" rtlCol="0" anchor="ctr"/>
          <a:lstStyle/>
          <a:p>
            <a:pPr marL="0" indent="0" algn="l">
              <a:buNone/>
            </a:pPr>
            <a:r>
              <a:rPr lang="en-US" sz="900" dirty="0">
                <a:solidFill>
                  <a:srgbClr val="4338CA"/>
                </a:solidFill>
                <a:latin typeface="Noto Sans JP" pitchFamily="34" charset="0"/>
                <a:ea typeface="Noto Sans JP" pitchFamily="34" charset="-122"/>
                <a:cs typeface="Noto Sans JP" pitchFamily="34" charset="-120"/>
              </a:rPr>
              <a:t>CFO/CHRO</a:t>
            </a:r>
            <a:endParaRPr lang="en-US" sz="900" dirty="0"/>
          </a:p>
        </p:txBody>
      </p:sp>
      <p:sp>
        <p:nvSpPr>
          <p:cNvPr id="25" name="Shape 21"/>
          <p:cNvSpPr/>
          <p:nvPr/>
        </p:nvSpPr>
        <p:spPr>
          <a:xfrm>
            <a:off x="809244" y="3492094"/>
            <a:ext cx="3105302" cy="9144"/>
          </a:xfrm>
          <a:prstGeom prst="rect">
            <a:avLst/>
          </a:prstGeom>
          <a:solidFill>
            <a:srgbClr val="F1F5F9"/>
          </a:solidFill>
          <a:ln/>
        </p:spPr>
        <p:txBody>
          <a:bodyPr/>
          <a:lstStyle/>
          <a:p>
            <a:endParaRPr lang="ja-JP" altLang="en-US"/>
          </a:p>
        </p:txBody>
      </p:sp>
      <p:sp>
        <p:nvSpPr>
          <p:cNvPr id="26" name="Text 22"/>
          <p:cNvSpPr txBox="1"/>
          <p:nvPr/>
        </p:nvSpPr>
        <p:spPr>
          <a:xfrm>
            <a:off x="809244" y="3291840"/>
            <a:ext cx="526694" cy="152705"/>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主な役割</a:t>
            </a:r>
            <a:endParaRPr lang="en-US" sz="800" dirty="0"/>
          </a:p>
        </p:txBody>
      </p:sp>
      <p:pic>
        <p:nvPicPr>
          <p:cNvPr id="27" name="Image 2" descr="preencoded.png"/>
          <p:cNvPicPr>
            <a:picLocks noChangeAspect="1"/>
          </p:cNvPicPr>
          <p:nvPr/>
        </p:nvPicPr>
        <p:blipFill>
          <a:blip r:embed="rId5"/>
          <a:srcRect/>
          <a:stretch/>
        </p:blipFill>
        <p:spPr>
          <a:xfrm>
            <a:off x="809244" y="3649370"/>
            <a:ext cx="114300" cy="114300"/>
          </a:xfrm>
          <a:prstGeom prst="rect">
            <a:avLst/>
          </a:prstGeom>
        </p:spPr>
      </p:pic>
      <p:sp>
        <p:nvSpPr>
          <p:cNvPr id="28" name="Text 23"/>
          <p:cNvSpPr txBox="1"/>
          <p:nvPr/>
        </p:nvSpPr>
        <p:spPr>
          <a:xfrm>
            <a:off x="1000354" y="3610966"/>
            <a:ext cx="1445666" cy="181051"/>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全社AI戦略の決定と承認</a:t>
            </a:r>
            <a:endParaRPr lang="en-US" sz="900" dirty="0"/>
          </a:p>
        </p:txBody>
      </p:sp>
      <p:pic>
        <p:nvPicPr>
          <p:cNvPr id="29" name="Image 3" descr="preencoded.png"/>
          <p:cNvPicPr>
            <a:picLocks noChangeAspect="1"/>
          </p:cNvPicPr>
          <p:nvPr/>
        </p:nvPicPr>
        <p:blipFill>
          <a:blip r:embed="rId5"/>
          <a:srcRect/>
          <a:stretch/>
        </p:blipFill>
        <p:spPr>
          <a:xfrm>
            <a:off x="809244" y="3968496"/>
            <a:ext cx="114300" cy="114300"/>
          </a:xfrm>
          <a:prstGeom prst="rect">
            <a:avLst/>
          </a:prstGeom>
        </p:spPr>
      </p:pic>
      <p:sp>
        <p:nvSpPr>
          <p:cNvPr id="30" name="Text 24"/>
          <p:cNvSpPr txBox="1"/>
          <p:nvPr/>
        </p:nvSpPr>
        <p:spPr>
          <a:xfrm>
            <a:off x="1000354" y="3930091"/>
            <a:ext cx="1341425" cy="181051"/>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導入・教育予算の確保</a:t>
            </a:r>
            <a:endParaRPr lang="en-US" sz="900" dirty="0"/>
          </a:p>
        </p:txBody>
      </p:sp>
      <p:pic>
        <p:nvPicPr>
          <p:cNvPr id="31" name="Image 4" descr="preencoded.png"/>
          <p:cNvPicPr>
            <a:picLocks noChangeAspect="1"/>
          </p:cNvPicPr>
          <p:nvPr/>
        </p:nvPicPr>
        <p:blipFill>
          <a:blip r:embed="rId5"/>
          <a:srcRect/>
          <a:stretch/>
        </p:blipFill>
        <p:spPr>
          <a:xfrm>
            <a:off x="809244" y="4286707"/>
            <a:ext cx="114300" cy="114300"/>
          </a:xfrm>
          <a:prstGeom prst="rect">
            <a:avLst/>
          </a:prstGeom>
        </p:spPr>
      </p:pic>
      <p:sp>
        <p:nvSpPr>
          <p:cNvPr id="32" name="Text 25"/>
          <p:cNvSpPr txBox="1"/>
          <p:nvPr/>
        </p:nvSpPr>
        <p:spPr>
          <a:xfrm>
            <a:off x="1000354" y="4249217"/>
            <a:ext cx="2322576" cy="181051"/>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推進チームへの権限委譲とバックアップ</a:t>
            </a:r>
            <a:endParaRPr lang="en-US" sz="900" dirty="0"/>
          </a:p>
        </p:txBody>
      </p:sp>
      <p:sp>
        <p:nvSpPr>
          <p:cNvPr id="33" name="Shape 26"/>
          <p:cNvSpPr/>
          <p:nvPr/>
        </p:nvSpPr>
        <p:spPr>
          <a:xfrm>
            <a:off x="809244" y="5587898"/>
            <a:ext cx="3105302" cy="771754"/>
          </a:xfrm>
          <a:prstGeom prst="roundRect">
            <a:avLst>
              <a:gd name="adj" fmla="val 11702"/>
            </a:avLst>
          </a:prstGeom>
          <a:solidFill>
            <a:srgbClr val="EEF2FF"/>
          </a:solidFill>
          <a:ln w="12700">
            <a:solidFill>
              <a:srgbClr val="E0E7FF"/>
            </a:solidFill>
            <a:prstDash val="solid"/>
          </a:ln>
        </p:spPr>
        <p:txBody>
          <a:bodyPr/>
          <a:lstStyle/>
          <a:p>
            <a:endParaRPr lang="ja-JP" altLang="en-US"/>
          </a:p>
        </p:txBody>
      </p:sp>
      <p:pic>
        <p:nvPicPr>
          <p:cNvPr id="34" name="Image 5" descr="preencoded.png"/>
          <p:cNvPicPr>
            <a:picLocks noChangeAspect="1"/>
          </p:cNvPicPr>
          <p:nvPr/>
        </p:nvPicPr>
        <p:blipFill>
          <a:blip r:embed="rId6"/>
          <a:srcRect l="-2571" r="-2571"/>
          <a:stretch/>
        </p:blipFill>
        <p:spPr>
          <a:xfrm>
            <a:off x="933602" y="5734202"/>
            <a:ext cx="105156" cy="114300"/>
          </a:xfrm>
          <a:prstGeom prst="rect">
            <a:avLst/>
          </a:prstGeom>
        </p:spPr>
      </p:pic>
      <p:sp>
        <p:nvSpPr>
          <p:cNvPr id="35" name="Text 27"/>
          <p:cNvSpPr txBox="1"/>
          <p:nvPr/>
        </p:nvSpPr>
        <p:spPr>
          <a:xfrm>
            <a:off x="1095451" y="5711342"/>
            <a:ext cx="553212" cy="162763"/>
          </a:xfrm>
          <a:prstGeom prst="rect">
            <a:avLst/>
          </a:prstGeom>
          <a:noFill/>
          <a:ln/>
        </p:spPr>
        <p:txBody>
          <a:bodyPr wrap="square" lIns="0" tIns="0" rIns="0" bIns="0" rtlCol="0" anchor="ctr"/>
          <a:lstStyle/>
          <a:p>
            <a:pPr marL="0" indent="0" algn="l">
              <a:buNone/>
            </a:pPr>
            <a:r>
              <a:rPr lang="en-US" sz="900" b="1" dirty="0">
                <a:solidFill>
                  <a:srgbClr val="3730A3"/>
                </a:solidFill>
                <a:latin typeface="Noto Sans JP" pitchFamily="34" charset="0"/>
                <a:ea typeface="Noto Sans JP" pitchFamily="34" charset="-122"/>
                <a:cs typeface="Noto Sans JP" pitchFamily="34" charset="-120"/>
              </a:rPr>
              <a:t>開催頻度</a:t>
            </a:r>
            <a:endParaRPr lang="en-US" sz="900" dirty="0"/>
          </a:p>
        </p:txBody>
      </p:sp>
      <p:sp>
        <p:nvSpPr>
          <p:cNvPr id="36" name="Text 28"/>
          <p:cNvSpPr txBox="1"/>
          <p:nvPr/>
        </p:nvSpPr>
        <p:spPr>
          <a:xfrm>
            <a:off x="933602" y="5899709"/>
            <a:ext cx="2867558" cy="324612"/>
          </a:xfrm>
          <a:prstGeom prst="rect">
            <a:avLst/>
          </a:prstGeom>
          <a:noFill/>
          <a:ln/>
        </p:spPr>
        <p:txBody>
          <a:bodyPr wrap="square" lIns="0" tIns="0" rIns="0" bIns="0" rtlCol="0" anchor="ctr"/>
          <a:lstStyle/>
          <a:p>
            <a:pPr marL="0" indent="0" algn="l">
              <a:buNone/>
            </a:pPr>
            <a:r>
              <a:rPr lang="en-US" sz="900" dirty="0">
                <a:solidFill>
                  <a:srgbClr val="3730A3"/>
                </a:solidFill>
                <a:latin typeface="Noto Sans JP" pitchFamily="34" charset="0"/>
                <a:ea typeface="Noto Sans JP" pitchFamily="34" charset="-122"/>
                <a:cs typeface="Noto Sans JP" pitchFamily="34" charset="-120"/>
              </a:rPr>
              <a:t>月1回 定例会議KPI進捗確認と、導入障壁（制度・ルール面）の解消に向けた意思決定を行う。</a:t>
            </a:r>
            <a:endParaRPr lang="en-US" sz="900" dirty="0"/>
          </a:p>
        </p:txBody>
      </p:sp>
      <p:sp>
        <p:nvSpPr>
          <p:cNvPr id="37" name="Shape 29"/>
          <p:cNvSpPr/>
          <p:nvPr/>
        </p:nvSpPr>
        <p:spPr>
          <a:xfrm>
            <a:off x="4343400" y="1347826"/>
            <a:ext cx="3504895" cy="5210251"/>
          </a:xfrm>
          <a:prstGeom prst="roundRect">
            <a:avLst>
              <a:gd name="adj" fmla="val 1134"/>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38" name="Shape 30"/>
          <p:cNvSpPr/>
          <p:nvPr/>
        </p:nvSpPr>
        <p:spPr>
          <a:xfrm>
            <a:off x="4352544" y="1356970"/>
            <a:ext cx="3486607" cy="886054"/>
          </a:xfrm>
          <a:prstGeom prst="rect">
            <a:avLst/>
          </a:prstGeom>
          <a:solidFill>
            <a:srgbClr val="2563EB"/>
          </a:solidFill>
          <a:ln/>
        </p:spPr>
        <p:txBody>
          <a:bodyPr/>
          <a:lstStyle/>
          <a:p>
            <a:endParaRPr lang="ja-JP" altLang="en-US"/>
          </a:p>
        </p:txBody>
      </p:sp>
      <p:pic>
        <p:nvPicPr>
          <p:cNvPr id="39" name="Image 6" descr="preencoded.png"/>
          <p:cNvPicPr>
            <a:picLocks noChangeAspect="1"/>
          </p:cNvPicPr>
          <p:nvPr/>
        </p:nvPicPr>
        <p:blipFill>
          <a:blip r:embed="rId7">
            <a:alphaModFix amt="90000"/>
          </a:blip>
          <a:srcRect l="-80" r="-80"/>
          <a:stretch/>
        </p:blipFill>
        <p:spPr>
          <a:xfrm>
            <a:off x="4543654" y="1693469"/>
            <a:ext cx="286207" cy="228600"/>
          </a:xfrm>
          <a:prstGeom prst="rect">
            <a:avLst/>
          </a:prstGeom>
        </p:spPr>
      </p:pic>
      <p:sp>
        <p:nvSpPr>
          <p:cNvPr id="40" name="Text 31"/>
          <p:cNvSpPr txBox="1"/>
          <p:nvPr/>
        </p:nvSpPr>
        <p:spPr>
          <a:xfrm>
            <a:off x="4943246" y="1662379"/>
            <a:ext cx="1157630" cy="247802"/>
          </a:xfrm>
          <a:prstGeom prst="rect">
            <a:avLst/>
          </a:prstGeom>
          <a:noFill/>
          <a:ln/>
        </p:spPr>
        <p:txBody>
          <a:bodyPr wrap="square" lIns="0" tIns="0" rIns="0" bIns="0" rtlCol="0" anchor="ctr"/>
          <a:lstStyle/>
          <a:p>
            <a:pPr marL="0" indent="0" algn="l">
              <a:buNone/>
            </a:pPr>
            <a:r>
              <a:rPr lang="en-US" sz="1300" b="1" dirty="0">
                <a:solidFill>
                  <a:srgbClr val="FFFFFF"/>
                </a:solidFill>
                <a:latin typeface="Noto Sans JP" pitchFamily="34" charset="0"/>
                <a:ea typeface="Noto Sans JP" pitchFamily="34" charset="-122"/>
                <a:cs typeface="Noto Sans JP" pitchFamily="34" charset="-120"/>
              </a:rPr>
              <a:t>AI推進事務局</a:t>
            </a:r>
            <a:endParaRPr lang="en-US" sz="1300" dirty="0"/>
          </a:p>
        </p:txBody>
      </p:sp>
      <p:sp>
        <p:nvSpPr>
          <p:cNvPr id="41" name="Text 32"/>
          <p:cNvSpPr txBox="1"/>
          <p:nvPr/>
        </p:nvSpPr>
        <p:spPr>
          <a:xfrm>
            <a:off x="4943246" y="1915668"/>
            <a:ext cx="1010412" cy="162763"/>
          </a:xfrm>
          <a:prstGeom prst="rect">
            <a:avLst/>
          </a:prstGeom>
          <a:noFill/>
          <a:ln/>
        </p:spPr>
        <p:txBody>
          <a:bodyPr wrap="square" lIns="0" tIns="0" rIns="0" bIns="0" rtlCol="0" anchor="ctr"/>
          <a:lstStyle/>
          <a:p>
            <a:pPr marL="0" indent="0" algn="l">
              <a:buNone/>
            </a:pPr>
            <a:r>
              <a:rPr lang="en-US" sz="900" dirty="0">
                <a:solidFill>
                  <a:srgbClr val="FFFFFF">
                    <a:alpha val="90000"/>
                  </a:srgbClr>
                </a:solidFill>
                <a:latin typeface="Noto Sans JP" pitchFamily="34" charset="0"/>
                <a:ea typeface="Noto Sans JP" pitchFamily="34" charset="-122"/>
                <a:cs typeface="Noto Sans JP" pitchFamily="34" charset="-120"/>
              </a:rPr>
              <a:t>企画・管理・支援</a:t>
            </a:r>
            <a:endParaRPr lang="en-US" sz="900" dirty="0"/>
          </a:p>
        </p:txBody>
      </p:sp>
      <p:sp>
        <p:nvSpPr>
          <p:cNvPr id="42" name="Shape 33"/>
          <p:cNvSpPr/>
          <p:nvPr/>
        </p:nvSpPr>
        <p:spPr>
          <a:xfrm>
            <a:off x="4543654" y="2629814"/>
            <a:ext cx="3105302" cy="9144"/>
          </a:xfrm>
          <a:prstGeom prst="rect">
            <a:avLst/>
          </a:prstGeom>
          <a:solidFill>
            <a:srgbClr val="F1F5F9"/>
          </a:solidFill>
          <a:ln/>
        </p:spPr>
        <p:txBody>
          <a:bodyPr/>
          <a:lstStyle/>
          <a:p>
            <a:endParaRPr lang="ja-JP" altLang="en-US"/>
          </a:p>
        </p:txBody>
      </p:sp>
      <p:sp>
        <p:nvSpPr>
          <p:cNvPr id="43" name="Text 34"/>
          <p:cNvSpPr txBox="1"/>
          <p:nvPr/>
        </p:nvSpPr>
        <p:spPr>
          <a:xfrm>
            <a:off x="4543654" y="2429561"/>
            <a:ext cx="1250899" cy="152705"/>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構成メンバー（5-7名）</a:t>
            </a:r>
            <a:endParaRPr lang="en-US" sz="800" dirty="0"/>
          </a:p>
        </p:txBody>
      </p:sp>
      <p:sp>
        <p:nvSpPr>
          <p:cNvPr id="44" name="Shape 35"/>
          <p:cNvSpPr/>
          <p:nvPr/>
        </p:nvSpPr>
        <p:spPr>
          <a:xfrm>
            <a:off x="4543654" y="2748686"/>
            <a:ext cx="743407" cy="267005"/>
          </a:xfrm>
          <a:prstGeom prst="roundRect">
            <a:avLst>
              <a:gd name="adj" fmla="val 73385"/>
            </a:avLst>
          </a:prstGeom>
          <a:solidFill>
            <a:srgbClr val="EFF6FF"/>
          </a:solidFill>
          <a:ln w="12700">
            <a:solidFill>
              <a:srgbClr val="BFDBFE"/>
            </a:solidFill>
            <a:prstDash val="solid"/>
          </a:ln>
        </p:spPr>
        <p:txBody>
          <a:bodyPr/>
          <a:lstStyle/>
          <a:p>
            <a:endParaRPr lang="ja-JP" altLang="en-US"/>
          </a:p>
        </p:txBody>
      </p:sp>
      <p:sp>
        <p:nvSpPr>
          <p:cNvPr id="45" name="Text 36"/>
          <p:cNvSpPr txBox="1"/>
          <p:nvPr/>
        </p:nvSpPr>
        <p:spPr>
          <a:xfrm>
            <a:off x="4629607" y="2796235"/>
            <a:ext cx="657454" cy="171907"/>
          </a:xfrm>
          <a:prstGeom prst="rect">
            <a:avLst/>
          </a:prstGeom>
          <a:noFill/>
          <a:ln/>
        </p:spPr>
        <p:txBody>
          <a:bodyPr wrap="square" lIns="0" tIns="0" rIns="0" bIns="0" rtlCol="0" anchor="ctr"/>
          <a:lstStyle/>
          <a:p>
            <a:pPr marL="0" indent="0" algn="l">
              <a:buNone/>
            </a:pPr>
            <a:r>
              <a:rPr lang="en-US" sz="900" dirty="0">
                <a:solidFill>
                  <a:srgbClr val="1D4ED8"/>
                </a:solidFill>
                <a:latin typeface="Noto Sans JP" pitchFamily="34" charset="0"/>
                <a:ea typeface="Noto Sans JP" pitchFamily="34" charset="-122"/>
                <a:cs typeface="Noto Sans JP" pitchFamily="34" charset="-120"/>
              </a:rPr>
              <a:t>AI戦略担当</a:t>
            </a:r>
            <a:endParaRPr lang="en-US" sz="900" dirty="0"/>
          </a:p>
        </p:txBody>
      </p:sp>
      <p:sp>
        <p:nvSpPr>
          <p:cNvPr id="46" name="Shape 37"/>
          <p:cNvSpPr/>
          <p:nvPr/>
        </p:nvSpPr>
        <p:spPr>
          <a:xfrm>
            <a:off x="5316322" y="2748686"/>
            <a:ext cx="1086307" cy="267005"/>
          </a:xfrm>
          <a:prstGeom prst="roundRect">
            <a:avLst>
              <a:gd name="adj" fmla="val 73385"/>
            </a:avLst>
          </a:prstGeom>
          <a:solidFill>
            <a:srgbClr val="EFF6FF"/>
          </a:solidFill>
          <a:ln w="12700">
            <a:solidFill>
              <a:srgbClr val="BFDBFE"/>
            </a:solidFill>
            <a:prstDash val="solid"/>
          </a:ln>
        </p:spPr>
        <p:txBody>
          <a:bodyPr/>
          <a:lstStyle/>
          <a:p>
            <a:endParaRPr lang="ja-JP" altLang="en-US"/>
          </a:p>
        </p:txBody>
      </p:sp>
      <p:sp>
        <p:nvSpPr>
          <p:cNvPr id="47" name="Text 38"/>
          <p:cNvSpPr txBox="1"/>
          <p:nvPr/>
        </p:nvSpPr>
        <p:spPr>
          <a:xfrm>
            <a:off x="5402275" y="2796235"/>
            <a:ext cx="1000354" cy="171907"/>
          </a:xfrm>
          <a:prstGeom prst="rect">
            <a:avLst/>
          </a:prstGeom>
          <a:noFill/>
          <a:ln/>
        </p:spPr>
        <p:txBody>
          <a:bodyPr wrap="square" lIns="0" tIns="0" rIns="0" bIns="0" rtlCol="0" anchor="ctr"/>
          <a:lstStyle/>
          <a:p>
            <a:pPr marL="0" indent="0" algn="l">
              <a:buNone/>
            </a:pPr>
            <a:r>
              <a:rPr lang="en-US" sz="900" dirty="0">
                <a:solidFill>
                  <a:srgbClr val="1D4ED8"/>
                </a:solidFill>
                <a:latin typeface="Noto Sans JP" pitchFamily="34" charset="0"/>
                <a:ea typeface="Noto Sans JP" pitchFamily="34" charset="-122"/>
                <a:cs typeface="Noto Sans JP" pitchFamily="34" charset="-120"/>
              </a:rPr>
              <a:t>技術アーキテクト</a:t>
            </a:r>
            <a:endParaRPr lang="en-US" sz="900" dirty="0"/>
          </a:p>
        </p:txBody>
      </p:sp>
      <p:sp>
        <p:nvSpPr>
          <p:cNvPr id="48" name="Shape 39"/>
          <p:cNvSpPr/>
          <p:nvPr/>
        </p:nvSpPr>
        <p:spPr>
          <a:xfrm>
            <a:off x="4543654" y="3054096"/>
            <a:ext cx="1314907" cy="267005"/>
          </a:xfrm>
          <a:prstGeom prst="roundRect">
            <a:avLst>
              <a:gd name="adj" fmla="val 73385"/>
            </a:avLst>
          </a:prstGeom>
          <a:solidFill>
            <a:srgbClr val="EFF6FF"/>
          </a:solidFill>
          <a:ln w="12700">
            <a:solidFill>
              <a:srgbClr val="BFDBFE"/>
            </a:solidFill>
            <a:prstDash val="solid"/>
          </a:ln>
        </p:spPr>
        <p:txBody>
          <a:bodyPr/>
          <a:lstStyle/>
          <a:p>
            <a:endParaRPr lang="ja-JP" altLang="en-US"/>
          </a:p>
        </p:txBody>
      </p:sp>
      <p:sp>
        <p:nvSpPr>
          <p:cNvPr id="49" name="Text 40"/>
          <p:cNvSpPr txBox="1"/>
          <p:nvPr/>
        </p:nvSpPr>
        <p:spPr>
          <a:xfrm>
            <a:off x="4629607" y="3101645"/>
            <a:ext cx="1228954" cy="171907"/>
          </a:xfrm>
          <a:prstGeom prst="rect">
            <a:avLst/>
          </a:prstGeom>
          <a:noFill/>
          <a:ln/>
        </p:spPr>
        <p:txBody>
          <a:bodyPr wrap="square" lIns="0" tIns="0" rIns="0" bIns="0" rtlCol="0" anchor="ctr"/>
          <a:lstStyle/>
          <a:p>
            <a:pPr marL="0" indent="0" algn="l">
              <a:buNone/>
            </a:pPr>
            <a:r>
              <a:rPr lang="en-US" sz="900" dirty="0">
                <a:solidFill>
                  <a:srgbClr val="1D4ED8"/>
                </a:solidFill>
                <a:latin typeface="Noto Sans JP" pitchFamily="34" charset="0"/>
                <a:ea typeface="Noto Sans JP" pitchFamily="34" charset="-122"/>
                <a:cs typeface="Noto Sans JP" pitchFamily="34" charset="-120"/>
              </a:rPr>
              <a:t>チェンジマネージャー</a:t>
            </a:r>
            <a:endParaRPr lang="en-US" sz="900" dirty="0"/>
          </a:p>
        </p:txBody>
      </p:sp>
      <p:sp>
        <p:nvSpPr>
          <p:cNvPr id="50" name="Shape 41"/>
          <p:cNvSpPr/>
          <p:nvPr/>
        </p:nvSpPr>
        <p:spPr>
          <a:xfrm>
            <a:off x="5887822" y="3054096"/>
            <a:ext cx="1086307" cy="267005"/>
          </a:xfrm>
          <a:prstGeom prst="roundRect">
            <a:avLst>
              <a:gd name="adj" fmla="val 73385"/>
            </a:avLst>
          </a:prstGeom>
          <a:solidFill>
            <a:srgbClr val="EFF6FF"/>
          </a:solidFill>
          <a:ln w="12700">
            <a:solidFill>
              <a:srgbClr val="BFDBFE"/>
            </a:solidFill>
            <a:prstDash val="solid"/>
          </a:ln>
        </p:spPr>
        <p:txBody>
          <a:bodyPr/>
          <a:lstStyle/>
          <a:p>
            <a:endParaRPr lang="ja-JP" altLang="en-US"/>
          </a:p>
        </p:txBody>
      </p:sp>
      <p:sp>
        <p:nvSpPr>
          <p:cNvPr id="51" name="Text 42"/>
          <p:cNvSpPr txBox="1"/>
          <p:nvPr/>
        </p:nvSpPr>
        <p:spPr>
          <a:xfrm>
            <a:off x="5973775" y="3101645"/>
            <a:ext cx="1000354" cy="171907"/>
          </a:xfrm>
          <a:prstGeom prst="rect">
            <a:avLst/>
          </a:prstGeom>
          <a:noFill/>
          <a:ln/>
        </p:spPr>
        <p:txBody>
          <a:bodyPr wrap="square" lIns="0" tIns="0" rIns="0" bIns="0" rtlCol="0" anchor="ctr"/>
          <a:lstStyle/>
          <a:p>
            <a:pPr marL="0" indent="0" algn="l">
              <a:buNone/>
            </a:pPr>
            <a:r>
              <a:rPr lang="en-US" sz="900" dirty="0">
                <a:solidFill>
                  <a:srgbClr val="1D4ED8"/>
                </a:solidFill>
                <a:latin typeface="Noto Sans JP" pitchFamily="34" charset="0"/>
                <a:ea typeface="Noto Sans JP" pitchFamily="34" charset="-122"/>
                <a:cs typeface="Noto Sans JP" pitchFamily="34" charset="-120"/>
              </a:rPr>
              <a:t>データガバナンス</a:t>
            </a:r>
            <a:endParaRPr lang="en-US" sz="900" dirty="0"/>
          </a:p>
        </p:txBody>
      </p:sp>
      <p:sp>
        <p:nvSpPr>
          <p:cNvPr id="52" name="Shape 43"/>
          <p:cNvSpPr/>
          <p:nvPr/>
        </p:nvSpPr>
        <p:spPr>
          <a:xfrm>
            <a:off x="7009790" y="3054096"/>
            <a:ext cx="342900" cy="267005"/>
          </a:xfrm>
          <a:prstGeom prst="roundRect">
            <a:avLst>
              <a:gd name="adj" fmla="val 73385"/>
            </a:avLst>
          </a:prstGeom>
          <a:solidFill>
            <a:srgbClr val="EFF6FF"/>
          </a:solidFill>
          <a:ln w="12700">
            <a:solidFill>
              <a:srgbClr val="BFDBFE"/>
            </a:solidFill>
            <a:prstDash val="solid"/>
          </a:ln>
        </p:spPr>
        <p:txBody>
          <a:bodyPr/>
          <a:lstStyle/>
          <a:p>
            <a:endParaRPr lang="ja-JP" altLang="en-US"/>
          </a:p>
        </p:txBody>
      </p:sp>
      <p:sp>
        <p:nvSpPr>
          <p:cNvPr id="53" name="Text 44"/>
          <p:cNvSpPr txBox="1"/>
          <p:nvPr/>
        </p:nvSpPr>
        <p:spPr>
          <a:xfrm>
            <a:off x="7095744" y="3101645"/>
            <a:ext cx="257861" cy="171907"/>
          </a:xfrm>
          <a:prstGeom prst="rect">
            <a:avLst/>
          </a:prstGeom>
          <a:noFill/>
          <a:ln/>
        </p:spPr>
        <p:txBody>
          <a:bodyPr wrap="square" lIns="0" tIns="0" rIns="0" bIns="0" rtlCol="0" anchor="ctr"/>
          <a:lstStyle/>
          <a:p>
            <a:pPr marL="0" indent="0" algn="l">
              <a:buNone/>
            </a:pPr>
            <a:r>
              <a:rPr lang="en-US" sz="900" dirty="0">
                <a:solidFill>
                  <a:srgbClr val="1D4ED8"/>
                </a:solidFill>
                <a:latin typeface="Noto Sans JP" pitchFamily="34" charset="0"/>
                <a:ea typeface="Noto Sans JP" pitchFamily="34" charset="-122"/>
                <a:cs typeface="Noto Sans JP" pitchFamily="34" charset="-120"/>
              </a:rPr>
              <a:t>PM</a:t>
            </a:r>
            <a:endParaRPr lang="en-US" sz="900" dirty="0"/>
          </a:p>
        </p:txBody>
      </p:sp>
      <p:sp>
        <p:nvSpPr>
          <p:cNvPr id="54" name="Shape 45"/>
          <p:cNvSpPr/>
          <p:nvPr/>
        </p:nvSpPr>
        <p:spPr>
          <a:xfrm>
            <a:off x="4543654" y="3787445"/>
            <a:ext cx="3105302" cy="9144"/>
          </a:xfrm>
          <a:prstGeom prst="rect">
            <a:avLst/>
          </a:prstGeom>
          <a:solidFill>
            <a:srgbClr val="F1F5F9"/>
          </a:solidFill>
          <a:ln/>
        </p:spPr>
        <p:txBody>
          <a:bodyPr/>
          <a:lstStyle/>
          <a:p>
            <a:endParaRPr lang="ja-JP" altLang="en-US"/>
          </a:p>
        </p:txBody>
      </p:sp>
      <p:sp>
        <p:nvSpPr>
          <p:cNvPr id="55" name="Text 46"/>
          <p:cNvSpPr txBox="1"/>
          <p:nvPr/>
        </p:nvSpPr>
        <p:spPr>
          <a:xfrm>
            <a:off x="4543654" y="3587191"/>
            <a:ext cx="526694" cy="152705"/>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主な役割</a:t>
            </a:r>
            <a:endParaRPr lang="en-US" sz="800" dirty="0"/>
          </a:p>
        </p:txBody>
      </p:sp>
      <p:pic>
        <p:nvPicPr>
          <p:cNvPr id="56" name="Image 7" descr="preencoded.png"/>
          <p:cNvPicPr>
            <a:picLocks noChangeAspect="1"/>
          </p:cNvPicPr>
          <p:nvPr/>
        </p:nvPicPr>
        <p:blipFill>
          <a:blip r:embed="rId8"/>
          <a:srcRect/>
          <a:stretch/>
        </p:blipFill>
        <p:spPr>
          <a:xfrm>
            <a:off x="4543654" y="3943807"/>
            <a:ext cx="114300" cy="114300"/>
          </a:xfrm>
          <a:prstGeom prst="rect">
            <a:avLst/>
          </a:prstGeom>
        </p:spPr>
      </p:pic>
      <p:sp>
        <p:nvSpPr>
          <p:cNvPr id="57" name="Text 47"/>
          <p:cNvSpPr txBox="1"/>
          <p:nvPr/>
        </p:nvSpPr>
        <p:spPr>
          <a:xfrm>
            <a:off x="4733849" y="3906317"/>
            <a:ext cx="1960474" cy="181051"/>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全体ロードマップ設計と進捗管理</a:t>
            </a:r>
            <a:endParaRPr lang="en-US" sz="900" dirty="0"/>
          </a:p>
        </p:txBody>
      </p:sp>
      <p:pic>
        <p:nvPicPr>
          <p:cNvPr id="58" name="Image 8" descr="preencoded.png"/>
          <p:cNvPicPr>
            <a:picLocks noChangeAspect="1"/>
          </p:cNvPicPr>
          <p:nvPr/>
        </p:nvPicPr>
        <p:blipFill>
          <a:blip r:embed="rId8"/>
          <a:srcRect/>
          <a:stretch/>
        </p:blipFill>
        <p:spPr>
          <a:xfrm>
            <a:off x="4543654" y="4262933"/>
            <a:ext cx="114300" cy="114300"/>
          </a:xfrm>
          <a:prstGeom prst="rect">
            <a:avLst/>
          </a:prstGeom>
        </p:spPr>
      </p:pic>
      <p:sp>
        <p:nvSpPr>
          <p:cNvPr id="59" name="Text 48"/>
          <p:cNvSpPr txBox="1"/>
          <p:nvPr/>
        </p:nvSpPr>
        <p:spPr>
          <a:xfrm>
            <a:off x="4733849" y="4225442"/>
            <a:ext cx="2074774" cy="181051"/>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教育プログラム・ガイドライン開発</a:t>
            </a:r>
            <a:endParaRPr lang="en-US" sz="900" dirty="0"/>
          </a:p>
        </p:txBody>
      </p:sp>
      <p:pic>
        <p:nvPicPr>
          <p:cNvPr id="60" name="Image 9" descr="preencoded.png"/>
          <p:cNvPicPr>
            <a:picLocks noChangeAspect="1"/>
          </p:cNvPicPr>
          <p:nvPr/>
        </p:nvPicPr>
        <p:blipFill>
          <a:blip r:embed="rId8"/>
          <a:srcRect/>
          <a:stretch/>
        </p:blipFill>
        <p:spPr>
          <a:xfrm>
            <a:off x="4543654" y="4582058"/>
            <a:ext cx="114300" cy="114300"/>
          </a:xfrm>
          <a:prstGeom prst="rect">
            <a:avLst/>
          </a:prstGeom>
        </p:spPr>
      </p:pic>
      <p:sp>
        <p:nvSpPr>
          <p:cNvPr id="61" name="Text 49"/>
          <p:cNvSpPr txBox="1"/>
          <p:nvPr/>
        </p:nvSpPr>
        <p:spPr>
          <a:xfrm>
            <a:off x="4733849" y="4544568"/>
            <a:ext cx="2521915" cy="181051"/>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効果測定指標（KPI）の設定とモニタリング</a:t>
            </a:r>
            <a:endParaRPr lang="en-US" sz="900" dirty="0"/>
          </a:p>
        </p:txBody>
      </p:sp>
      <p:sp>
        <p:nvSpPr>
          <p:cNvPr id="62" name="Shape 50"/>
          <p:cNvSpPr/>
          <p:nvPr/>
        </p:nvSpPr>
        <p:spPr>
          <a:xfrm>
            <a:off x="4543654" y="5587898"/>
            <a:ext cx="3105302" cy="771754"/>
          </a:xfrm>
          <a:prstGeom prst="roundRect">
            <a:avLst>
              <a:gd name="adj" fmla="val 11702"/>
            </a:avLst>
          </a:prstGeom>
          <a:solidFill>
            <a:srgbClr val="EFF6FF"/>
          </a:solidFill>
          <a:ln w="12700">
            <a:solidFill>
              <a:srgbClr val="DBEAFE"/>
            </a:solidFill>
            <a:prstDash val="solid"/>
          </a:ln>
        </p:spPr>
        <p:txBody>
          <a:bodyPr/>
          <a:lstStyle/>
          <a:p>
            <a:endParaRPr lang="ja-JP" altLang="en-US"/>
          </a:p>
        </p:txBody>
      </p:sp>
      <p:pic>
        <p:nvPicPr>
          <p:cNvPr id="63" name="Image 10" descr="preencoded.png"/>
          <p:cNvPicPr>
            <a:picLocks noChangeAspect="1"/>
          </p:cNvPicPr>
          <p:nvPr/>
        </p:nvPicPr>
        <p:blipFill>
          <a:blip r:embed="rId9"/>
          <a:srcRect/>
          <a:stretch/>
        </p:blipFill>
        <p:spPr>
          <a:xfrm>
            <a:off x="4667098" y="5734202"/>
            <a:ext cx="114300" cy="114300"/>
          </a:xfrm>
          <a:prstGeom prst="rect">
            <a:avLst/>
          </a:prstGeom>
        </p:spPr>
      </p:pic>
      <p:sp>
        <p:nvSpPr>
          <p:cNvPr id="64" name="Text 51"/>
          <p:cNvSpPr txBox="1"/>
          <p:nvPr/>
        </p:nvSpPr>
        <p:spPr>
          <a:xfrm>
            <a:off x="4839005" y="5711342"/>
            <a:ext cx="667512" cy="162763"/>
          </a:xfrm>
          <a:prstGeom prst="rect">
            <a:avLst/>
          </a:prstGeom>
          <a:noFill/>
          <a:ln/>
        </p:spPr>
        <p:txBody>
          <a:bodyPr wrap="square" lIns="0" tIns="0" rIns="0" bIns="0" rtlCol="0" anchor="ctr"/>
          <a:lstStyle/>
          <a:p>
            <a:pPr marL="0" indent="0" algn="l">
              <a:buNone/>
            </a:pPr>
            <a:r>
              <a:rPr lang="en-US" sz="900" b="1" dirty="0">
                <a:solidFill>
                  <a:srgbClr val="1E40AF"/>
                </a:solidFill>
                <a:latin typeface="Noto Sans JP" pitchFamily="34" charset="0"/>
                <a:ea typeface="Noto Sans JP" pitchFamily="34" charset="-122"/>
                <a:cs typeface="Noto Sans JP" pitchFamily="34" charset="-120"/>
              </a:rPr>
              <a:t>ミッション</a:t>
            </a:r>
            <a:endParaRPr lang="en-US" sz="900" dirty="0"/>
          </a:p>
        </p:txBody>
      </p:sp>
      <p:sp>
        <p:nvSpPr>
          <p:cNvPr id="65" name="Text 52"/>
          <p:cNvSpPr txBox="1"/>
          <p:nvPr/>
        </p:nvSpPr>
        <p:spPr>
          <a:xfrm>
            <a:off x="4667098" y="5899709"/>
            <a:ext cx="2943454" cy="324612"/>
          </a:xfrm>
          <a:prstGeom prst="rect">
            <a:avLst/>
          </a:prstGeom>
          <a:noFill/>
          <a:ln/>
        </p:spPr>
        <p:txBody>
          <a:bodyPr wrap="square" lIns="0" tIns="0" rIns="0" bIns="0" rtlCol="0" anchor="ctr"/>
          <a:lstStyle/>
          <a:p>
            <a:pPr marL="0" indent="0" algn="l">
              <a:buNone/>
            </a:pPr>
            <a:r>
              <a:rPr lang="en-US" sz="900" dirty="0">
                <a:solidFill>
                  <a:srgbClr val="1E40AF"/>
                </a:solidFill>
                <a:latin typeface="Noto Sans JP" pitchFamily="34" charset="0"/>
                <a:ea typeface="Noto Sans JP" pitchFamily="34" charset="-122"/>
                <a:cs typeface="Noto Sans JP" pitchFamily="34" charset="-120"/>
              </a:rPr>
              <a:t>現場と経営をつなぐハブとして機能し、技術導入だけでなく「業務変革」をリードする。</a:t>
            </a:r>
            <a:endParaRPr lang="en-US" sz="900" dirty="0"/>
          </a:p>
        </p:txBody>
      </p:sp>
      <p:sp>
        <p:nvSpPr>
          <p:cNvPr id="66" name="Shape 53"/>
          <p:cNvSpPr/>
          <p:nvPr/>
        </p:nvSpPr>
        <p:spPr>
          <a:xfrm>
            <a:off x="8076895" y="1347826"/>
            <a:ext cx="3504895" cy="5210251"/>
          </a:xfrm>
          <a:prstGeom prst="roundRect">
            <a:avLst>
              <a:gd name="adj" fmla="val 1134"/>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67" name="Shape 54"/>
          <p:cNvSpPr/>
          <p:nvPr/>
        </p:nvSpPr>
        <p:spPr>
          <a:xfrm>
            <a:off x="8086954" y="1356970"/>
            <a:ext cx="3486607" cy="886054"/>
          </a:xfrm>
          <a:prstGeom prst="rect">
            <a:avLst/>
          </a:prstGeom>
          <a:solidFill>
            <a:srgbClr val="059669"/>
          </a:solidFill>
          <a:ln/>
        </p:spPr>
        <p:txBody>
          <a:bodyPr/>
          <a:lstStyle/>
          <a:p>
            <a:endParaRPr lang="ja-JP" altLang="en-US"/>
          </a:p>
        </p:txBody>
      </p:sp>
      <p:pic>
        <p:nvPicPr>
          <p:cNvPr id="68" name="Image 11" descr="preencoded.png"/>
          <p:cNvPicPr>
            <a:picLocks noChangeAspect="1"/>
          </p:cNvPicPr>
          <p:nvPr/>
        </p:nvPicPr>
        <p:blipFill>
          <a:blip r:embed="rId10">
            <a:alphaModFix amt="90000"/>
          </a:blip>
          <a:srcRect/>
          <a:stretch/>
        </p:blipFill>
        <p:spPr>
          <a:xfrm>
            <a:off x="8277149" y="1693469"/>
            <a:ext cx="228600" cy="228600"/>
          </a:xfrm>
          <a:prstGeom prst="rect">
            <a:avLst/>
          </a:prstGeom>
        </p:spPr>
      </p:pic>
      <p:sp>
        <p:nvSpPr>
          <p:cNvPr id="69" name="Text 55"/>
          <p:cNvSpPr txBox="1"/>
          <p:nvPr/>
        </p:nvSpPr>
        <p:spPr>
          <a:xfrm>
            <a:off x="8620049" y="1662379"/>
            <a:ext cx="1653235" cy="247802"/>
          </a:xfrm>
          <a:prstGeom prst="rect">
            <a:avLst/>
          </a:prstGeom>
          <a:noFill/>
          <a:ln/>
        </p:spPr>
        <p:txBody>
          <a:bodyPr wrap="square" lIns="0" tIns="0" rIns="0" bIns="0" rtlCol="0" anchor="ctr"/>
          <a:lstStyle/>
          <a:p>
            <a:pPr marL="0" indent="0" algn="l">
              <a:buNone/>
            </a:pPr>
            <a:r>
              <a:rPr lang="en-US" sz="1300" b="1" dirty="0">
                <a:solidFill>
                  <a:srgbClr val="FFFFFF"/>
                </a:solidFill>
                <a:latin typeface="Noto Sans JP" pitchFamily="34" charset="0"/>
                <a:ea typeface="Noto Sans JP" pitchFamily="34" charset="-122"/>
                <a:cs typeface="Noto Sans JP" pitchFamily="34" charset="-120"/>
              </a:rPr>
              <a:t>Copilot Champion</a:t>
            </a:r>
            <a:endParaRPr lang="en-US" sz="1300" dirty="0"/>
          </a:p>
        </p:txBody>
      </p:sp>
      <p:sp>
        <p:nvSpPr>
          <p:cNvPr id="70" name="Text 56"/>
          <p:cNvSpPr txBox="1"/>
          <p:nvPr/>
        </p:nvSpPr>
        <p:spPr>
          <a:xfrm>
            <a:off x="8620049" y="1915668"/>
            <a:ext cx="1010412" cy="162763"/>
          </a:xfrm>
          <a:prstGeom prst="rect">
            <a:avLst/>
          </a:prstGeom>
          <a:noFill/>
          <a:ln/>
        </p:spPr>
        <p:txBody>
          <a:bodyPr wrap="square" lIns="0" tIns="0" rIns="0" bIns="0" rtlCol="0" anchor="ctr"/>
          <a:lstStyle/>
          <a:p>
            <a:pPr marL="0" indent="0" algn="l">
              <a:buNone/>
            </a:pPr>
            <a:r>
              <a:rPr lang="en-US" sz="900" dirty="0">
                <a:solidFill>
                  <a:srgbClr val="FFFFFF">
                    <a:alpha val="90000"/>
                  </a:srgbClr>
                </a:solidFill>
                <a:latin typeface="Noto Sans JP" pitchFamily="34" charset="0"/>
                <a:ea typeface="Noto Sans JP" pitchFamily="34" charset="-122"/>
                <a:cs typeface="Noto Sans JP" pitchFamily="34" charset="-120"/>
              </a:rPr>
              <a:t>活用促進・定着化</a:t>
            </a:r>
            <a:endParaRPr lang="en-US" sz="900" dirty="0"/>
          </a:p>
        </p:txBody>
      </p:sp>
      <p:sp>
        <p:nvSpPr>
          <p:cNvPr id="71" name="Shape 57"/>
          <p:cNvSpPr/>
          <p:nvPr/>
        </p:nvSpPr>
        <p:spPr>
          <a:xfrm>
            <a:off x="8277149" y="2629814"/>
            <a:ext cx="3105302" cy="9144"/>
          </a:xfrm>
          <a:prstGeom prst="rect">
            <a:avLst/>
          </a:prstGeom>
          <a:solidFill>
            <a:srgbClr val="F1F5F9"/>
          </a:solidFill>
          <a:ln/>
        </p:spPr>
        <p:txBody>
          <a:bodyPr/>
          <a:lstStyle/>
          <a:p>
            <a:endParaRPr lang="ja-JP" altLang="en-US"/>
          </a:p>
        </p:txBody>
      </p:sp>
      <p:sp>
        <p:nvSpPr>
          <p:cNvPr id="72" name="Text 58"/>
          <p:cNvSpPr txBox="1"/>
          <p:nvPr/>
        </p:nvSpPr>
        <p:spPr>
          <a:xfrm>
            <a:off x="8277149" y="2429561"/>
            <a:ext cx="1279246" cy="152705"/>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選定・配置（30-50名）</a:t>
            </a:r>
            <a:endParaRPr lang="en-US" sz="800" dirty="0"/>
          </a:p>
        </p:txBody>
      </p:sp>
      <p:sp>
        <p:nvSpPr>
          <p:cNvPr id="73" name="Shape 59"/>
          <p:cNvSpPr/>
          <p:nvPr/>
        </p:nvSpPr>
        <p:spPr>
          <a:xfrm>
            <a:off x="8277149" y="2748686"/>
            <a:ext cx="981151" cy="267005"/>
          </a:xfrm>
          <a:prstGeom prst="roundRect">
            <a:avLst>
              <a:gd name="adj" fmla="val 73385"/>
            </a:avLst>
          </a:prstGeom>
          <a:solidFill>
            <a:srgbClr val="ECFDF5"/>
          </a:solidFill>
          <a:ln w="12700">
            <a:solidFill>
              <a:srgbClr val="A7F3D0"/>
            </a:solidFill>
            <a:prstDash val="solid"/>
          </a:ln>
        </p:spPr>
        <p:txBody>
          <a:bodyPr/>
          <a:lstStyle/>
          <a:p>
            <a:endParaRPr lang="ja-JP" altLang="en-US"/>
          </a:p>
        </p:txBody>
      </p:sp>
      <p:sp>
        <p:nvSpPr>
          <p:cNvPr id="74" name="Text 60"/>
          <p:cNvSpPr txBox="1"/>
          <p:nvPr/>
        </p:nvSpPr>
        <p:spPr>
          <a:xfrm>
            <a:off x="8363102" y="2796235"/>
            <a:ext cx="896112" cy="171907"/>
          </a:xfrm>
          <a:prstGeom prst="rect">
            <a:avLst/>
          </a:prstGeom>
          <a:noFill/>
          <a:ln/>
        </p:spPr>
        <p:txBody>
          <a:bodyPr wrap="square" lIns="0" tIns="0" rIns="0" bIns="0" rtlCol="0" anchor="ctr"/>
          <a:lstStyle/>
          <a:p>
            <a:pPr marL="0" indent="0" algn="l">
              <a:buNone/>
            </a:pPr>
            <a:r>
              <a:rPr lang="en-US" sz="900" dirty="0">
                <a:solidFill>
                  <a:srgbClr val="047857"/>
                </a:solidFill>
                <a:latin typeface="Noto Sans JP" pitchFamily="34" charset="0"/>
                <a:ea typeface="Noto Sans JP" pitchFamily="34" charset="-122"/>
                <a:cs typeface="Noto Sans JP" pitchFamily="34" charset="-120"/>
              </a:rPr>
              <a:t>部門推薦＋自薦</a:t>
            </a:r>
            <a:endParaRPr lang="en-US" sz="900" dirty="0"/>
          </a:p>
        </p:txBody>
      </p:sp>
      <p:sp>
        <p:nvSpPr>
          <p:cNvPr id="75" name="Shape 61"/>
          <p:cNvSpPr/>
          <p:nvPr/>
        </p:nvSpPr>
        <p:spPr>
          <a:xfrm>
            <a:off x="9286646" y="2748686"/>
            <a:ext cx="1314907" cy="267005"/>
          </a:xfrm>
          <a:prstGeom prst="roundRect">
            <a:avLst>
              <a:gd name="adj" fmla="val 73385"/>
            </a:avLst>
          </a:prstGeom>
          <a:solidFill>
            <a:srgbClr val="ECFDF5"/>
          </a:solidFill>
          <a:ln w="12700">
            <a:solidFill>
              <a:srgbClr val="A7F3D0"/>
            </a:solidFill>
            <a:prstDash val="solid"/>
          </a:ln>
        </p:spPr>
        <p:txBody>
          <a:bodyPr/>
          <a:lstStyle/>
          <a:p>
            <a:endParaRPr lang="ja-JP" altLang="en-US"/>
          </a:p>
        </p:txBody>
      </p:sp>
      <p:sp>
        <p:nvSpPr>
          <p:cNvPr id="76" name="Text 62"/>
          <p:cNvSpPr txBox="1"/>
          <p:nvPr/>
        </p:nvSpPr>
        <p:spPr>
          <a:xfrm>
            <a:off x="9372600" y="2796235"/>
            <a:ext cx="1228954" cy="171907"/>
          </a:xfrm>
          <a:prstGeom prst="rect">
            <a:avLst/>
          </a:prstGeom>
          <a:noFill/>
          <a:ln/>
        </p:spPr>
        <p:txBody>
          <a:bodyPr wrap="square" lIns="0" tIns="0" rIns="0" bIns="0" rtlCol="0" anchor="ctr"/>
          <a:lstStyle/>
          <a:p>
            <a:pPr marL="0" indent="0" algn="l">
              <a:buNone/>
            </a:pPr>
            <a:r>
              <a:rPr lang="en-US" sz="900" dirty="0">
                <a:solidFill>
                  <a:srgbClr val="047857"/>
                </a:solidFill>
                <a:latin typeface="Noto Sans JP" pitchFamily="34" charset="0"/>
                <a:ea typeface="Noto Sans JP" pitchFamily="34" charset="-122"/>
                <a:cs typeface="Noto Sans JP" pitchFamily="34" charset="-120"/>
              </a:rPr>
              <a:t>AI活用に前向きな社員</a:t>
            </a:r>
            <a:endParaRPr lang="en-US" sz="900" dirty="0"/>
          </a:p>
        </p:txBody>
      </p:sp>
      <p:sp>
        <p:nvSpPr>
          <p:cNvPr id="77" name="Shape 63"/>
          <p:cNvSpPr/>
          <p:nvPr/>
        </p:nvSpPr>
        <p:spPr>
          <a:xfrm>
            <a:off x="8277149" y="3482950"/>
            <a:ext cx="3105302" cy="9144"/>
          </a:xfrm>
          <a:prstGeom prst="rect">
            <a:avLst/>
          </a:prstGeom>
          <a:solidFill>
            <a:srgbClr val="F1F5F9"/>
          </a:solidFill>
          <a:ln/>
        </p:spPr>
        <p:txBody>
          <a:bodyPr/>
          <a:lstStyle/>
          <a:p>
            <a:endParaRPr lang="ja-JP" altLang="en-US"/>
          </a:p>
        </p:txBody>
      </p:sp>
      <p:sp>
        <p:nvSpPr>
          <p:cNvPr id="78" name="Text 64"/>
          <p:cNvSpPr txBox="1"/>
          <p:nvPr/>
        </p:nvSpPr>
        <p:spPr>
          <a:xfrm>
            <a:off x="8277149" y="3282696"/>
            <a:ext cx="526694" cy="152705"/>
          </a:xfrm>
          <a:prstGeom prst="rect">
            <a:avLst/>
          </a:prstGeom>
          <a:noFill/>
          <a:ln/>
        </p:spPr>
        <p:txBody>
          <a:bodyPr wrap="square" lIns="0" tIns="0" rIns="0" bIns="0" rtlCol="0" anchor="ctr"/>
          <a:lstStyle/>
          <a:p>
            <a:pPr marL="0" indent="0" algn="l">
              <a:buNone/>
            </a:pPr>
            <a:r>
              <a:rPr lang="en-US" sz="800" b="1" dirty="0">
                <a:solidFill>
                  <a:srgbClr val="64748B"/>
                </a:solidFill>
                <a:latin typeface="Noto Sans JP" pitchFamily="34" charset="0"/>
                <a:ea typeface="Noto Sans JP" pitchFamily="34" charset="-122"/>
                <a:cs typeface="Noto Sans JP" pitchFamily="34" charset="-120"/>
              </a:rPr>
              <a:t>主な役割</a:t>
            </a:r>
            <a:endParaRPr lang="en-US" sz="800" dirty="0"/>
          </a:p>
        </p:txBody>
      </p:sp>
      <p:pic>
        <p:nvPicPr>
          <p:cNvPr id="79" name="Image 12" descr="preencoded.png"/>
          <p:cNvPicPr>
            <a:picLocks noChangeAspect="1"/>
          </p:cNvPicPr>
          <p:nvPr/>
        </p:nvPicPr>
        <p:blipFill>
          <a:blip r:embed="rId11"/>
          <a:srcRect/>
          <a:stretch/>
        </p:blipFill>
        <p:spPr>
          <a:xfrm>
            <a:off x="8277149" y="3639312"/>
            <a:ext cx="114300" cy="114300"/>
          </a:xfrm>
          <a:prstGeom prst="rect">
            <a:avLst/>
          </a:prstGeom>
        </p:spPr>
      </p:pic>
      <p:sp>
        <p:nvSpPr>
          <p:cNvPr id="80" name="Text 65"/>
          <p:cNvSpPr txBox="1"/>
          <p:nvPr/>
        </p:nvSpPr>
        <p:spPr>
          <a:xfrm>
            <a:off x="8467344" y="3600907"/>
            <a:ext cx="2064715" cy="181051"/>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部門内でのユースケース発掘と共有</a:t>
            </a:r>
            <a:endParaRPr lang="en-US" sz="900" dirty="0"/>
          </a:p>
        </p:txBody>
      </p:sp>
      <p:pic>
        <p:nvPicPr>
          <p:cNvPr id="81" name="Image 13" descr="preencoded.png"/>
          <p:cNvPicPr>
            <a:picLocks noChangeAspect="1"/>
          </p:cNvPicPr>
          <p:nvPr/>
        </p:nvPicPr>
        <p:blipFill>
          <a:blip r:embed="rId11"/>
          <a:srcRect/>
          <a:stretch/>
        </p:blipFill>
        <p:spPr>
          <a:xfrm>
            <a:off x="8277149" y="3958438"/>
            <a:ext cx="114300" cy="114300"/>
          </a:xfrm>
          <a:prstGeom prst="rect">
            <a:avLst/>
          </a:prstGeom>
        </p:spPr>
      </p:pic>
      <p:sp>
        <p:nvSpPr>
          <p:cNvPr id="82" name="Text 66"/>
          <p:cNvSpPr txBox="1"/>
          <p:nvPr/>
        </p:nvSpPr>
        <p:spPr>
          <a:xfrm>
            <a:off x="8467344" y="3920033"/>
            <a:ext cx="1960474" cy="181051"/>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同僚への操作サポート・質問対応</a:t>
            </a:r>
            <a:endParaRPr lang="en-US" sz="900" dirty="0"/>
          </a:p>
        </p:txBody>
      </p:sp>
      <p:pic>
        <p:nvPicPr>
          <p:cNvPr id="83" name="Image 14" descr="preencoded.png"/>
          <p:cNvPicPr>
            <a:picLocks noChangeAspect="1"/>
          </p:cNvPicPr>
          <p:nvPr/>
        </p:nvPicPr>
        <p:blipFill>
          <a:blip r:embed="rId11"/>
          <a:srcRect/>
          <a:stretch/>
        </p:blipFill>
        <p:spPr>
          <a:xfrm>
            <a:off x="8277149" y="4277563"/>
            <a:ext cx="114300" cy="114300"/>
          </a:xfrm>
          <a:prstGeom prst="rect">
            <a:avLst/>
          </a:prstGeom>
        </p:spPr>
      </p:pic>
      <p:sp>
        <p:nvSpPr>
          <p:cNvPr id="84" name="Text 67"/>
          <p:cNvSpPr txBox="1"/>
          <p:nvPr/>
        </p:nvSpPr>
        <p:spPr>
          <a:xfrm>
            <a:off x="8467344" y="4239158"/>
            <a:ext cx="2693822" cy="181051"/>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現場の課題・要望の事務局へのフィードバック</a:t>
            </a:r>
            <a:endParaRPr lang="en-US" sz="900" dirty="0"/>
          </a:p>
        </p:txBody>
      </p:sp>
      <p:sp>
        <p:nvSpPr>
          <p:cNvPr id="85" name="Shape 68"/>
          <p:cNvSpPr/>
          <p:nvPr/>
        </p:nvSpPr>
        <p:spPr>
          <a:xfrm>
            <a:off x="8277149" y="5587898"/>
            <a:ext cx="3105302" cy="771754"/>
          </a:xfrm>
          <a:prstGeom prst="roundRect">
            <a:avLst>
              <a:gd name="adj" fmla="val 11702"/>
            </a:avLst>
          </a:prstGeom>
          <a:solidFill>
            <a:srgbClr val="F0FDF4"/>
          </a:solidFill>
          <a:ln w="12700">
            <a:solidFill>
              <a:srgbClr val="DCFCE7"/>
            </a:solidFill>
            <a:prstDash val="solid"/>
          </a:ln>
        </p:spPr>
        <p:txBody>
          <a:bodyPr/>
          <a:lstStyle/>
          <a:p>
            <a:endParaRPr lang="ja-JP" altLang="en-US"/>
          </a:p>
        </p:txBody>
      </p:sp>
      <p:pic>
        <p:nvPicPr>
          <p:cNvPr id="86" name="Image 15" descr="preencoded.png"/>
          <p:cNvPicPr>
            <a:picLocks noChangeAspect="1"/>
          </p:cNvPicPr>
          <p:nvPr/>
        </p:nvPicPr>
        <p:blipFill>
          <a:blip r:embed="rId12"/>
          <a:srcRect/>
          <a:stretch/>
        </p:blipFill>
        <p:spPr>
          <a:xfrm>
            <a:off x="8401507" y="5734202"/>
            <a:ext cx="114300" cy="114300"/>
          </a:xfrm>
          <a:prstGeom prst="rect">
            <a:avLst/>
          </a:prstGeom>
        </p:spPr>
      </p:pic>
      <p:sp>
        <p:nvSpPr>
          <p:cNvPr id="87" name="Text 69"/>
          <p:cNvSpPr txBox="1"/>
          <p:nvPr/>
        </p:nvSpPr>
        <p:spPr>
          <a:xfrm>
            <a:off x="8572500" y="5711342"/>
            <a:ext cx="886054" cy="162763"/>
          </a:xfrm>
          <a:prstGeom prst="rect">
            <a:avLst/>
          </a:prstGeom>
          <a:noFill/>
          <a:ln/>
        </p:spPr>
        <p:txBody>
          <a:bodyPr wrap="square" lIns="0" tIns="0" rIns="0" bIns="0" rtlCol="0" anchor="ctr"/>
          <a:lstStyle/>
          <a:p>
            <a:pPr marL="0" indent="0" algn="l">
              <a:buNone/>
            </a:pPr>
            <a:r>
              <a:rPr lang="en-US" sz="900" b="1" dirty="0">
                <a:solidFill>
                  <a:srgbClr val="166534"/>
                </a:solidFill>
                <a:latin typeface="Noto Sans JP" pitchFamily="34" charset="0"/>
                <a:ea typeface="Noto Sans JP" pitchFamily="34" charset="-122"/>
                <a:cs typeface="Noto Sans JP" pitchFamily="34" charset="-120"/>
              </a:rPr>
              <a:t>インセンティブ</a:t>
            </a:r>
            <a:endParaRPr lang="en-US" sz="900" dirty="0"/>
          </a:p>
        </p:txBody>
      </p:sp>
      <p:sp>
        <p:nvSpPr>
          <p:cNvPr id="88" name="Text 70"/>
          <p:cNvSpPr txBox="1"/>
          <p:nvPr/>
        </p:nvSpPr>
        <p:spPr>
          <a:xfrm>
            <a:off x="8401507" y="5899709"/>
            <a:ext cx="2943454" cy="324612"/>
          </a:xfrm>
          <a:prstGeom prst="rect">
            <a:avLst/>
          </a:prstGeom>
          <a:noFill/>
          <a:ln/>
        </p:spPr>
        <p:txBody>
          <a:bodyPr wrap="square" lIns="0" tIns="0" rIns="0" bIns="0" rtlCol="0" anchor="ctr"/>
          <a:lstStyle/>
          <a:p>
            <a:pPr marL="0" indent="0" algn="l">
              <a:buNone/>
            </a:pPr>
            <a:r>
              <a:rPr lang="en-US" sz="900" dirty="0">
                <a:solidFill>
                  <a:srgbClr val="166534"/>
                </a:solidFill>
                <a:latin typeface="Noto Sans JP" pitchFamily="34" charset="0"/>
                <a:ea typeface="Noto Sans JP" pitchFamily="34" charset="-122"/>
                <a:cs typeface="Noto Sans JP" pitchFamily="34" charset="-120"/>
              </a:rPr>
              <a:t>月額手当（1-3万円）、優先的な研修機会の提供、社内表彰制度による評価。</a:t>
            </a:r>
            <a:endParaRPr lang="en-US" sz="900" dirty="0"/>
          </a:p>
        </p:txBody>
      </p:sp>
      <p:sp>
        <p:nvSpPr>
          <p:cNvPr id="89" name="Text 71"/>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37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047902"/>
          </a:xfrm>
          <a:prstGeom prst="rect">
            <a:avLst/>
          </a:prstGeom>
          <a:solidFill>
            <a:srgbClr val="FFFFFF"/>
          </a:solidFill>
          <a:ln/>
        </p:spPr>
        <p:txBody>
          <a:bodyPr/>
          <a:lstStyle/>
          <a:p>
            <a:endParaRPr lang="ja-JP" altLang="en-US"/>
          </a:p>
        </p:txBody>
      </p:sp>
      <p:sp>
        <p:nvSpPr>
          <p:cNvPr id="5" name="Shape 3"/>
          <p:cNvSpPr/>
          <p:nvPr/>
        </p:nvSpPr>
        <p:spPr>
          <a:xfrm>
            <a:off x="0" y="1038758"/>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190195"/>
            <a:ext cx="4948733" cy="419710"/>
          </a:xfrm>
          <a:prstGeom prst="rect">
            <a:avLst/>
          </a:prstGeom>
          <a:noFill/>
          <a:ln/>
        </p:spPr>
        <p:txBody>
          <a:bodyPr wrap="square" lIns="0" tIns="0" rIns="0" bIns="0" rtlCol="0" anchor="ctr"/>
          <a:lstStyle/>
          <a:p>
            <a:pPr marL="0" indent="0" algn="l">
              <a:buNone/>
            </a:pPr>
            <a:r>
              <a:rPr lang="en-US" sz="2200" b="1" dirty="0">
                <a:solidFill>
                  <a:srgbClr val="1E3A8A"/>
                </a:solidFill>
                <a:latin typeface="Noto Sans JP" pitchFamily="34" charset="0"/>
                <a:ea typeface="Noto Sans JP" pitchFamily="34" charset="-122"/>
                <a:cs typeface="Noto Sans JP" pitchFamily="34" charset="-120"/>
              </a:rPr>
              <a:t>フェーズ3：効果測定方法の設計</a:t>
            </a:r>
            <a:endParaRPr lang="en-US" sz="2200" dirty="0"/>
          </a:p>
        </p:txBody>
      </p:sp>
      <p:sp>
        <p:nvSpPr>
          <p:cNvPr id="7" name="Text 5"/>
          <p:cNvSpPr txBox="1"/>
          <p:nvPr/>
        </p:nvSpPr>
        <p:spPr>
          <a:xfrm>
            <a:off x="609905" y="629107"/>
            <a:ext cx="6070702" cy="219456"/>
          </a:xfrm>
          <a:prstGeom prst="rect">
            <a:avLst/>
          </a:prstGeom>
          <a:noFill/>
          <a:ln/>
        </p:spPr>
        <p:txBody>
          <a:bodyPr wrap="square" lIns="0" tIns="0" rIns="0" bIns="0" rtlCol="0" anchor="ctr"/>
          <a:lstStyle/>
          <a:p>
            <a:pPr marL="0" indent="0" algn="l">
              <a:buNone/>
            </a:pPr>
            <a:r>
              <a:rPr lang="en-US" sz="1100" dirty="0">
                <a:solidFill>
                  <a:srgbClr val="64748B"/>
                </a:solidFill>
                <a:latin typeface="Noto Sans JP" pitchFamily="34" charset="0"/>
                <a:ea typeface="Noto Sans JP" pitchFamily="34" charset="-122"/>
                <a:cs typeface="Noto Sans JP" pitchFamily="34" charset="-120"/>
              </a:rPr>
              <a:t>期間：2-3ヶ月 「何を測るか（KPI）」に基づき、客観的・継続的なデータ収集プロセスを確立</a:t>
            </a:r>
            <a:endParaRPr lang="en-US" sz="1100" dirty="0"/>
          </a:p>
        </p:txBody>
      </p:sp>
      <p:sp>
        <p:nvSpPr>
          <p:cNvPr id="8" name="Shape 6"/>
          <p:cNvSpPr/>
          <p:nvPr/>
        </p:nvSpPr>
        <p:spPr>
          <a:xfrm>
            <a:off x="10337292" y="543154"/>
            <a:ext cx="1248156" cy="304495"/>
          </a:xfrm>
          <a:prstGeom prst="roundRect">
            <a:avLst>
              <a:gd name="adj" fmla="val 187688"/>
            </a:avLst>
          </a:prstGeom>
          <a:solidFill>
            <a:srgbClr val="2563EB"/>
          </a:solidFill>
          <a:ln/>
        </p:spPr>
        <p:txBody>
          <a:bodyPr/>
          <a:lstStyle/>
          <a:p>
            <a:endParaRPr lang="ja-JP" altLang="en-US"/>
          </a:p>
        </p:txBody>
      </p:sp>
      <p:sp>
        <p:nvSpPr>
          <p:cNvPr id="9" name="Text 7"/>
          <p:cNvSpPr txBox="1"/>
          <p:nvPr/>
        </p:nvSpPr>
        <p:spPr>
          <a:xfrm>
            <a:off x="10489082" y="599846"/>
            <a:ext cx="1036015" cy="181051"/>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Phase 3 Detail</a:t>
            </a:r>
            <a:endParaRPr lang="en-US" sz="900" dirty="0"/>
          </a:p>
        </p:txBody>
      </p:sp>
      <p:sp>
        <p:nvSpPr>
          <p:cNvPr id="11" name="Shape 9"/>
          <p:cNvSpPr/>
          <p:nvPr/>
        </p:nvSpPr>
        <p:spPr>
          <a:xfrm>
            <a:off x="609905" y="1347826"/>
            <a:ext cx="5372100" cy="5210251"/>
          </a:xfrm>
          <a:prstGeom prst="roundRect">
            <a:avLst>
              <a:gd name="adj" fmla="val 385"/>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12" name="Shape 10"/>
          <p:cNvSpPr/>
          <p:nvPr/>
        </p:nvSpPr>
        <p:spPr>
          <a:xfrm>
            <a:off x="619049" y="1356970"/>
            <a:ext cx="5352898" cy="571500"/>
          </a:xfrm>
          <a:prstGeom prst="rect">
            <a:avLst/>
          </a:prstGeom>
          <a:solidFill>
            <a:srgbClr val="EFF6FF"/>
          </a:solidFill>
          <a:ln/>
        </p:spPr>
        <p:txBody>
          <a:bodyPr/>
          <a:lstStyle/>
          <a:p>
            <a:endParaRPr lang="ja-JP" altLang="en-US"/>
          </a:p>
        </p:txBody>
      </p:sp>
      <p:sp>
        <p:nvSpPr>
          <p:cNvPr id="13" name="Shape 11"/>
          <p:cNvSpPr/>
          <p:nvPr/>
        </p:nvSpPr>
        <p:spPr>
          <a:xfrm>
            <a:off x="619049" y="1919326"/>
            <a:ext cx="5352898" cy="9144"/>
          </a:xfrm>
          <a:prstGeom prst="rect">
            <a:avLst/>
          </a:prstGeom>
          <a:solidFill>
            <a:srgbClr val="E2E8F0"/>
          </a:solidFill>
          <a:ln/>
        </p:spPr>
        <p:txBody>
          <a:bodyPr/>
          <a:lstStyle/>
          <a:p>
            <a:endParaRPr lang="ja-JP" altLang="en-US"/>
          </a:p>
        </p:txBody>
      </p:sp>
      <p:pic>
        <p:nvPicPr>
          <p:cNvPr id="14" name="Image 0" descr="preencoded.png"/>
          <p:cNvPicPr>
            <a:picLocks noChangeAspect="1"/>
          </p:cNvPicPr>
          <p:nvPr/>
        </p:nvPicPr>
        <p:blipFill>
          <a:blip r:embed="rId3"/>
          <a:srcRect/>
          <a:stretch/>
        </p:blipFill>
        <p:spPr>
          <a:xfrm>
            <a:off x="847649" y="1543507"/>
            <a:ext cx="190195" cy="190195"/>
          </a:xfrm>
          <a:prstGeom prst="rect">
            <a:avLst/>
          </a:prstGeom>
        </p:spPr>
      </p:pic>
      <p:sp>
        <p:nvSpPr>
          <p:cNvPr id="15" name="Text 12"/>
          <p:cNvSpPr txBox="1"/>
          <p:nvPr/>
        </p:nvSpPr>
        <p:spPr>
          <a:xfrm>
            <a:off x="1152144" y="1509674"/>
            <a:ext cx="2395728" cy="247802"/>
          </a:xfrm>
          <a:prstGeom prst="rect">
            <a:avLst/>
          </a:prstGeom>
          <a:noFill/>
          <a:ln/>
        </p:spPr>
        <p:txBody>
          <a:bodyPr wrap="square" lIns="0" tIns="0" rIns="0" bIns="0" rtlCol="0" anchor="ctr"/>
          <a:lstStyle/>
          <a:p>
            <a:pPr marL="0" indent="0" algn="l">
              <a:buNone/>
            </a:pPr>
            <a:r>
              <a:rPr lang="en-US" sz="1300" b="1" dirty="0">
                <a:solidFill>
                  <a:srgbClr val="1E3A8A"/>
                </a:solidFill>
                <a:latin typeface="Noto Sans JP" pitchFamily="34" charset="0"/>
                <a:ea typeface="Noto Sans JP" pitchFamily="34" charset="-122"/>
                <a:cs typeface="Noto Sans JP" pitchFamily="34" charset="-120"/>
              </a:rPr>
              <a:t>定量的測定（Quantitative）</a:t>
            </a:r>
            <a:endParaRPr lang="en-US" sz="1300" dirty="0"/>
          </a:p>
        </p:txBody>
      </p:sp>
      <p:sp>
        <p:nvSpPr>
          <p:cNvPr id="16" name="Shape 13"/>
          <p:cNvSpPr/>
          <p:nvPr/>
        </p:nvSpPr>
        <p:spPr>
          <a:xfrm>
            <a:off x="4676242" y="1524305"/>
            <a:ext cx="1076249" cy="228600"/>
          </a:xfrm>
          <a:prstGeom prst="roundRect">
            <a:avLst>
              <a:gd name="adj" fmla="val 66667"/>
            </a:avLst>
          </a:prstGeom>
          <a:solidFill>
            <a:srgbClr val="DBEAFE"/>
          </a:solidFill>
          <a:ln/>
        </p:spPr>
        <p:txBody>
          <a:bodyPr/>
          <a:lstStyle/>
          <a:p>
            <a:endParaRPr lang="ja-JP" altLang="en-US"/>
          </a:p>
        </p:txBody>
      </p:sp>
      <p:sp>
        <p:nvSpPr>
          <p:cNvPr id="17" name="Text 14"/>
          <p:cNvSpPr txBox="1"/>
          <p:nvPr/>
        </p:nvSpPr>
        <p:spPr>
          <a:xfrm>
            <a:off x="4753051" y="1552651"/>
            <a:ext cx="1010412" cy="162763"/>
          </a:xfrm>
          <a:prstGeom prst="rect">
            <a:avLst/>
          </a:prstGeom>
          <a:noFill/>
          <a:ln/>
        </p:spPr>
        <p:txBody>
          <a:bodyPr wrap="square" lIns="0" tIns="0" rIns="0" bIns="0" rtlCol="0" anchor="ctr"/>
          <a:lstStyle/>
          <a:p>
            <a:pPr marL="0" indent="0" algn="l">
              <a:buNone/>
            </a:pPr>
            <a:r>
              <a:rPr lang="en-US" sz="900" b="1" dirty="0">
                <a:solidFill>
                  <a:srgbClr val="1E40AF"/>
                </a:solidFill>
                <a:latin typeface="Noto Sans JP" pitchFamily="34" charset="0"/>
                <a:ea typeface="Noto Sans JP" pitchFamily="34" charset="-122"/>
                <a:cs typeface="Noto Sans JP" pitchFamily="34" charset="-120"/>
              </a:rPr>
              <a:t>客観データの収集</a:t>
            </a:r>
            <a:endParaRPr lang="en-US" sz="900" dirty="0"/>
          </a:p>
        </p:txBody>
      </p:sp>
      <p:pic>
        <p:nvPicPr>
          <p:cNvPr id="18" name="Image 1" descr="preencoded.png"/>
          <p:cNvPicPr>
            <a:picLocks noChangeAspect="1"/>
          </p:cNvPicPr>
          <p:nvPr/>
        </p:nvPicPr>
        <p:blipFill>
          <a:blip r:embed="rId4"/>
          <a:srcRect t="-1100" b="-1100"/>
          <a:stretch/>
        </p:blipFill>
        <p:spPr>
          <a:xfrm>
            <a:off x="847649" y="2190902"/>
            <a:ext cx="114300" cy="133502"/>
          </a:xfrm>
          <a:prstGeom prst="rect">
            <a:avLst/>
          </a:prstGeom>
        </p:spPr>
      </p:pic>
      <p:sp>
        <p:nvSpPr>
          <p:cNvPr id="19" name="Text 15"/>
          <p:cNvSpPr txBox="1"/>
          <p:nvPr/>
        </p:nvSpPr>
        <p:spPr>
          <a:xfrm>
            <a:off x="1037844" y="2157070"/>
            <a:ext cx="1690726" cy="191110"/>
          </a:xfrm>
          <a:prstGeom prst="rect">
            <a:avLst/>
          </a:prstGeom>
          <a:noFill/>
          <a:ln/>
        </p:spPr>
        <p:txBody>
          <a:bodyPr wrap="square" lIns="0" tIns="0" rIns="0" bIns="0" rtlCol="0" anchor="ctr"/>
          <a:lstStyle/>
          <a:p>
            <a:pPr marL="0" indent="0" algn="l">
              <a:buNone/>
            </a:pPr>
            <a:r>
              <a:rPr lang="en-US" sz="1000" b="1" dirty="0">
                <a:solidFill>
                  <a:srgbClr val="475569"/>
                </a:solidFill>
                <a:latin typeface="Noto Sans JP" pitchFamily="34" charset="0"/>
                <a:ea typeface="Noto Sans JP" pitchFamily="34" charset="-122"/>
                <a:cs typeface="Noto Sans JP" pitchFamily="34" charset="-120"/>
              </a:rPr>
              <a:t>業務時間削減の測定 (BVA)</a:t>
            </a:r>
            <a:endParaRPr lang="en-US" sz="1000" dirty="0"/>
          </a:p>
        </p:txBody>
      </p:sp>
      <p:sp>
        <p:nvSpPr>
          <p:cNvPr id="20" name="Shape 16"/>
          <p:cNvSpPr/>
          <p:nvPr/>
        </p:nvSpPr>
        <p:spPr>
          <a:xfrm>
            <a:off x="5047488" y="2159813"/>
            <a:ext cx="705002" cy="200254"/>
          </a:xfrm>
          <a:prstGeom prst="roundRect">
            <a:avLst>
              <a:gd name="adj" fmla="val 86975"/>
            </a:avLst>
          </a:prstGeom>
          <a:solidFill>
            <a:srgbClr val="DBEAFE"/>
          </a:solidFill>
          <a:ln/>
        </p:spPr>
        <p:txBody>
          <a:bodyPr/>
          <a:lstStyle/>
          <a:p>
            <a:endParaRPr lang="ja-JP" altLang="en-US"/>
          </a:p>
        </p:txBody>
      </p:sp>
      <p:sp>
        <p:nvSpPr>
          <p:cNvPr id="21" name="Text 17"/>
          <p:cNvSpPr txBox="1"/>
          <p:nvPr/>
        </p:nvSpPr>
        <p:spPr>
          <a:xfrm>
            <a:off x="5123383" y="2179015"/>
            <a:ext cx="631850" cy="152705"/>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JP" pitchFamily="34" charset="0"/>
                <a:ea typeface="Noto Sans JP" pitchFamily="34" charset="-122"/>
                <a:cs typeface="Noto Sans JP" pitchFamily="34" charset="-120"/>
              </a:rPr>
              <a:t>KPI: 削減率</a:t>
            </a:r>
            <a:endParaRPr lang="en-US" sz="800" dirty="0"/>
          </a:p>
        </p:txBody>
      </p:sp>
      <p:sp>
        <p:nvSpPr>
          <p:cNvPr id="22" name="Shape 18"/>
          <p:cNvSpPr/>
          <p:nvPr/>
        </p:nvSpPr>
        <p:spPr>
          <a:xfrm>
            <a:off x="847649" y="2433218"/>
            <a:ext cx="4895698" cy="1657807"/>
          </a:xfrm>
          <a:prstGeom prst="roundRect">
            <a:avLst>
              <a:gd name="adj" fmla="val 2536"/>
            </a:avLst>
          </a:prstGeom>
          <a:solidFill>
            <a:srgbClr val="F8FAFC"/>
          </a:solidFill>
          <a:ln w="12700">
            <a:solidFill>
              <a:srgbClr val="E2E8F0"/>
            </a:solidFill>
            <a:prstDash val="solid"/>
          </a:ln>
        </p:spPr>
        <p:txBody>
          <a:bodyPr/>
          <a:lstStyle/>
          <a:p>
            <a:endParaRPr lang="ja-JP" altLang="en-US"/>
          </a:p>
        </p:txBody>
      </p:sp>
      <p:sp>
        <p:nvSpPr>
          <p:cNvPr id="23" name="Text 19"/>
          <p:cNvSpPr txBox="1"/>
          <p:nvPr/>
        </p:nvSpPr>
        <p:spPr>
          <a:xfrm>
            <a:off x="1009498" y="2585923"/>
            <a:ext cx="810158" cy="162763"/>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測定プロセス:</a:t>
            </a:r>
            <a:endParaRPr lang="en-US" sz="900" dirty="0"/>
          </a:p>
        </p:txBody>
      </p:sp>
      <p:sp>
        <p:nvSpPr>
          <p:cNvPr id="24" name="Shape 20"/>
          <p:cNvSpPr/>
          <p:nvPr/>
        </p:nvSpPr>
        <p:spPr>
          <a:xfrm>
            <a:off x="1009498" y="2909621"/>
            <a:ext cx="1324051" cy="495605"/>
          </a:xfrm>
          <a:prstGeom prst="roundRect">
            <a:avLst>
              <a:gd name="adj" fmla="val 21289"/>
            </a:avLst>
          </a:prstGeom>
          <a:solidFill>
            <a:srgbClr val="FFFFFF"/>
          </a:solidFill>
          <a:ln w="12700">
            <a:solidFill>
              <a:srgbClr val="CBD5E1"/>
            </a:solidFill>
            <a:prstDash val="solid"/>
          </a:ln>
        </p:spPr>
        <p:txBody>
          <a:bodyPr/>
          <a:lstStyle/>
          <a:p>
            <a:endParaRPr lang="ja-JP" altLang="en-US"/>
          </a:p>
        </p:txBody>
      </p:sp>
      <p:sp>
        <p:nvSpPr>
          <p:cNvPr id="25" name="Text 21"/>
          <p:cNvSpPr txBox="1"/>
          <p:nvPr/>
        </p:nvSpPr>
        <p:spPr>
          <a:xfrm>
            <a:off x="1499616" y="2986430"/>
            <a:ext cx="428854" cy="162763"/>
          </a:xfrm>
          <a:prstGeom prst="rect">
            <a:avLst/>
          </a:prstGeom>
          <a:noFill/>
          <a:ln/>
        </p:spPr>
        <p:txBody>
          <a:bodyPr wrap="square" lIns="0" tIns="0" rIns="0" bIns="0" rtlCol="0" anchor="ctr"/>
          <a:lstStyle/>
          <a:p>
            <a:pPr marL="0" indent="0" algn="ctr">
              <a:buNone/>
            </a:pPr>
            <a:r>
              <a:rPr lang="en-US" sz="900" b="1" dirty="0">
                <a:solidFill>
                  <a:srgbClr val="9CA3AF"/>
                </a:solidFill>
                <a:latin typeface="Noto Sans JP" pitchFamily="34" charset="0"/>
                <a:ea typeface="Noto Sans JP" pitchFamily="34" charset="-122"/>
                <a:cs typeface="Noto Sans JP" pitchFamily="34" charset="-120"/>
              </a:rPr>
              <a:t>Step 1</a:t>
            </a:r>
            <a:endParaRPr lang="en-US" sz="900" dirty="0"/>
          </a:p>
        </p:txBody>
      </p:sp>
      <p:sp>
        <p:nvSpPr>
          <p:cNvPr id="26" name="Text 22"/>
          <p:cNvSpPr txBox="1"/>
          <p:nvPr/>
        </p:nvSpPr>
        <p:spPr>
          <a:xfrm>
            <a:off x="1270102" y="3148279"/>
            <a:ext cx="896112" cy="162763"/>
          </a:xfrm>
          <a:prstGeom prst="rect">
            <a:avLst/>
          </a:prstGeom>
          <a:noFill/>
          <a:ln/>
        </p:spPr>
        <p:txBody>
          <a:bodyPr wrap="square" lIns="0" tIns="0" rIns="0" bIns="0" rtlCol="0" anchor="ctr"/>
          <a:lstStyle/>
          <a:p>
            <a:pPr marL="0" indent="0" algn="ctr">
              <a:buNone/>
            </a:pPr>
            <a:r>
              <a:rPr lang="en-US" sz="900" b="1" dirty="0">
                <a:solidFill>
                  <a:srgbClr val="334155"/>
                </a:solidFill>
                <a:latin typeface="Noto Sans JP" pitchFamily="34" charset="0"/>
                <a:ea typeface="Noto Sans JP" pitchFamily="34" charset="-122"/>
                <a:cs typeface="Noto Sans JP" pitchFamily="34" charset="-120"/>
              </a:rPr>
              <a:t>対象業務の定義</a:t>
            </a:r>
            <a:endParaRPr lang="en-US" sz="900" dirty="0"/>
          </a:p>
        </p:txBody>
      </p:sp>
      <p:pic>
        <p:nvPicPr>
          <p:cNvPr id="27" name="Image 2" descr="preencoded.png"/>
          <p:cNvPicPr>
            <a:picLocks noChangeAspect="1"/>
          </p:cNvPicPr>
          <p:nvPr/>
        </p:nvPicPr>
        <p:blipFill>
          <a:blip r:embed="rId5"/>
          <a:srcRect l="-3120" r="-3120"/>
          <a:stretch/>
        </p:blipFill>
        <p:spPr>
          <a:xfrm>
            <a:off x="2445106" y="3100730"/>
            <a:ext cx="75895" cy="114300"/>
          </a:xfrm>
          <a:prstGeom prst="rect">
            <a:avLst/>
          </a:prstGeom>
        </p:spPr>
      </p:pic>
      <p:sp>
        <p:nvSpPr>
          <p:cNvPr id="28" name="Shape 23"/>
          <p:cNvSpPr/>
          <p:nvPr/>
        </p:nvSpPr>
        <p:spPr>
          <a:xfrm>
            <a:off x="2635301" y="2824582"/>
            <a:ext cx="1324051" cy="666598"/>
          </a:xfrm>
          <a:prstGeom prst="roundRect">
            <a:avLst>
              <a:gd name="adj" fmla="val 11758"/>
            </a:avLst>
          </a:prstGeom>
          <a:solidFill>
            <a:srgbClr val="FFFFFF"/>
          </a:solidFill>
          <a:ln w="12700">
            <a:solidFill>
              <a:srgbClr val="CBD5E1"/>
            </a:solidFill>
            <a:prstDash val="solid"/>
          </a:ln>
        </p:spPr>
        <p:txBody>
          <a:bodyPr/>
          <a:lstStyle/>
          <a:p>
            <a:endParaRPr lang="ja-JP" altLang="en-US"/>
          </a:p>
        </p:txBody>
      </p:sp>
      <p:sp>
        <p:nvSpPr>
          <p:cNvPr id="29" name="Text 24"/>
          <p:cNvSpPr txBox="1"/>
          <p:nvPr/>
        </p:nvSpPr>
        <p:spPr>
          <a:xfrm>
            <a:off x="3125419" y="2900477"/>
            <a:ext cx="428854" cy="162763"/>
          </a:xfrm>
          <a:prstGeom prst="rect">
            <a:avLst/>
          </a:prstGeom>
          <a:noFill/>
          <a:ln/>
        </p:spPr>
        <p:txBody>
          <a:bodyPr wrap="square" lIns="0" tIns="0" rIns="0" bIns="0" rtlCol="0" anchor="ctr"/>
          <a:lstStyle/>
          <a:p>
            <a:pPr marL="0" indent="0" algn="ctr">
              <a:buNone/>
            </a:pPr>
            <a:r>
              <a:rPr lang="en-US" sz="900" b="1" dirty="0">
                <a:solidFill>
                  <a:srgbClr val="9CA3AF"/>
                </a:solidFill>
                <a:latin typeface="Noto Sans JP" pitchFamily="34" charset="0"/>
                <a:ea typeface="Noto Sans JP" pitchFamily="34" charset="-122"/>
                <a:cs typeface="Noto Sans JP" pitchFamily="34" charset="-120"/>
              </a:rPr>
              <a:t>Step 2</a:t>
            </a:r>
            <a:endParaRPr lang="en-US" sz="900" dirty="0"/>
          </a:p>
        </p:txBody>
      </p:sp>
      <p:sp>
        <p:nvSpPr>
          <p:cNvPr id="30" name="Text 25"/>
          <p:cNvSpPr txBox="1"/>
          <p:nvPr/>
        </p:nvSpPr>
        <p:spPr>
          <a:xfrm>
            <a:off x="2841041" y="3062326"/>
            <a:ext cx="1000354" cy="162763"/>
          </a:xfrm>
          <a:prstGeom prst="rect">
            <a:avLst/>
          </a:prstGeom>
          <a:noFill/>
          <a:ln/>
        </p:spPr>
        <p:txBody>
          <a:bodyPr wrap="square" lIns="0" tIns="0" rIns="0" bIns="0" rtlCol="0" anchor="ctr"/>
          <a:lstStyle/>
          <a:p>
            <a:pPr marL="0" indent="0" algn="ctr">
              <a:buNone/>
            </a:pPr>
            <a:r>
              <a:rPr lang="en-US" sz="900" b="1" dirty="0">
                <a:solidFill>
                  <a:srgbClr val="334155"/>
                </a:solidFill>
                <a:latin typeface="Noto Sans JP" pitchFamily="34" charset="0"/>
                <a:ea typeface="Noto Sans JP" pitchFamily="34" charset="-122"/>
                <a:cs typeface="Noto Sans JP" pitchFamily="34" charset="-120"/>
              </a:rPr>
              <a:t>ベースライン測定</a:t>
            </a:r>
            <a:endParaRPr lang="en-US" sz="900" dirty="0"/>
          </a:p>
        </p:txBody>
      </p:sp>
      <p:sp>
        <p:nvSpPr>
          <p:cNvPr id="31" name="Text 26"/>
          <p:cNvSpPr txBox="1"/>
          <p:nvPr/>
        </p:nvSpPr>
        <p:spPr>
          <a:xfrm>
            <a:off x="2938882" y="3233318"/>
            <a:ext cx="800100" cy="162763"/>
          </a:xfrm>
          <a:prstGeom prst="rect">
            <a:avLst/>
          </a:prstGeom>
          <a:noFill/>
          <a:ln/>
        </p:spPr>
        <p:txBody>
          <a:bodyPr wrap="square" lIns="0" tIns="0" rIns="0" bIns="0" rtlCol="0" anchor="ctr"/>
          <a:lstStyle/>
          <a:p>
            <a:pPr marL="0" indent="0" algn="ctr">
              <a:buNone/>
            </a:pPr>
            <a:r>
              <a:rPr lang="en-US" sz="900" b="1" dirty="0">
                <a:solidFill>
                  <a:srgbClr val="EF4444"/>
                </a:solidFill>
                <a:latin typeface="Noto Sans JP" pitchFamily="34" charset="0"/>
                <a:ea typeface="Noto Sans JP" pitchFamily="34" charset="-122"/>
                <a:cs typeface="Noto Sans JP" pitchFamily="34" charset="-120"/>
              </a:rPr>
              <a:t>(Copilotなし)</a:t>
            </a:r>
            <a:endParaRPr lang="en-US" sz="900" dirty="0"/>
          </a:p>
        </p:txBody>
      </p:sp>
      <p:pic>
        <p:nvPicPr>
          <p:cNvPr id="32" name="Image 3" descr="preencoded.png"/>
          <p:cNvPicPr>
            <a:picLocks noChangeAspect="1"/>
          </p:cNvPicPr>
          <p:nvPr/>
        </p:nvPicPr>
        <p:blipFill>
          <a:blip r:embed="rId5"/>
          <a:srcRect l="-3120" r="-3120"/>
          <a:stretch/>
        </p:blipFill>
        <p:spPr>
          <a:xfrm>
            <a:off x="4069994" y="3100730"/>
            <a:ext cx="75895" cy="114300"/>
          </a:xfrm>
          <a:prstGeom prst="rect">
            <a:avLst/>
          </a:prstGeom>
        </p:spPr>
      </p:pic>
      <p:sp>
        <p:nvSpPr>
          <p:cNvPr id="33" name="Shape 27"/>
          <p:cNvSpPr/>
          <p:nvPr/>
        </p:nvSpPr>
        <p:spPr>
          <a:xfrm>
            <a:off x="4261104" y="2824582"/>
            <a:ext cx="1324051" cy="666598"/>
          </a:xfrm>
          <a:prstGeom prst="roundRect">
            <a:avLst>
              <a:gd name="adj" fmla="val 11758"/>
            </a:avLst>
          </a:prstGeom>
          <a:solidFill>
            <a:srgbClr val="FFFFFF"/>
          </a:solidFill>
          <a:ln w="12700">
            <a:solidFill>
              <a:srgbClr val="CBD5E1"/>
            </a:solidFill>
            <a:prstDash val="solid"/>
          </a:ln>
        </p:spPr>
        <p:txBody>
          <a:bodyPr/>
          <a:lstStyle/>
          <a:p>
            <a:endParaRPr lang="ja-JP" altLang="en-US"/>
          </a:p>
        </p:txBody>
      </p:sp>
      <p:sp>
        <p:nvSpPr>
          <p:cNvPr id="34" name="Text 28"/>
          <p:cNvSpPr txBox="1"/>
          <p:nvPr/>
        </p:nvSpPr>
        <p:spPr>
          <a:xfrm>
            <a:off x="4751222" y="2900477"/>
            <a:ext cx="428854" cy="162763"/>
          </a:xfrm>
          <a:prstGeom prst="rect">
            <a:avLst/>
          </a:prstGeom>
          <a:noFill/>
          <a:ln/>
        </p:spPr>
        <p:txBody>
          <a:bodyPr wrap="square" lIns="0" tIns="0" rIns="0" bIns="0" rtlCol="0" anchor="ctr"/>
          <a:lstStyle/>
          <a:p>
            <a:pPr marL="0" indent="0" algn="ctr">
              <a:buNone/>
            </a:pPr>
            <a:r>
              <a:rPr lang="en-US" sz="900" b="1" dirty="0">
                <a:solidFill>
                  <a:srgbClr val="9CA3AF"/>
                </a:solidFill>
                <a:latin typeface="Noto Sans JP" pitchFamily="34" charset="0"/>
                <a:ea typeface="Noto Sans JP" pitchFamily="34" charset="-122"/>
                <a:cs typeface="Noto Sans JP" pitchFamily="34" charset="-120"/>
              </a:rPr>
              <a:t>Step 3</a:t>
            </a:r>
            <a:endParaRPr lang="en-US" sz="900" dirty="0"/>
          </a:p>
        </p:txBody>
      </p:sp>
      <p:sp>
        <p:nvSpPr>
          <p:cNvPr id="35" name="Text 29"/>
          <p:cNvSpPr txBox="1"/>
          <p:nvPr/>
        </p:nvSpPr>
        <p:spPr>
          <a:xfrm>
            <a:off x="4635094" y="3062326"/>
            <a:ext cx="667512" cy="162763"/>
          </a:xfrm>
          <a:prstGeom prst="rect">
            <a:avLst/>
          </a:prstGeom>
          <a:noFill/>
          <a:ln/>
        </p:spPr>
        <p:txBody>
          <a:bodyPr wrap="square" lIns="0" tIns="0" rIns="0" bIns="0" rtlCol="0" anchor="ctr"/>
          <a:lstStyle/>
          <a:p>
            <a:pPr marL="0" indent="0" algn="ctr">
              <a:buNone/>
            </a:pPr>
            <a:r>
              <a:rPr lang="en-US" sz="900" b="1" dirty="0">
                <a:solidFill>
                  <a:srgbClr val="334155"/>
                </a:solidFill>
                <a:latin typeface="Noto Sans JP" pitchFamily="34" charset="0"/>
                <a:ea typeface="Noto Sans JP" pitchFamily="34" charset="-122"/>
                <a:cs typeface="Noto Sans JP" pitchFamily="34" charset="-120"/>
              </a:rPr>
              <a:t>導入後測定</a:t>
            </a:r>
            <a:endParaRPr lang="en-US" sz="900" dirty="0"/>
          </a:p>
        </p:txBody>
      </p:sp>
      <p:sp>
        <p:nvSpPr>
          <p:cNvPr id="36" name="Text 30"/>
          <p:cNvSpPr txBox="1"/>
          <p:nvPr/>
        </p:nvSpPr>
        <p:spPr>
          <a:xfrm>
            <a:off x="4564685" y="3233318"/>
            <a:ext cx="800100" cy="162763"/>
          </a:xfrm>
          <a:prstGeom prst="rect">
            <a:avLst/>
          </a:prstGeom>
          <a:noFill/>
          <a:ln/>
        </p:spPr>
        <p:txBody>
          <a:bodyPr wrap="square" lIns="0" tIns="0" rIns="0" bIns="0" rtlCol="0" anchor="ctr"/>
          <a:lstStyle/>
          <a:p>
            <a:pPr marL="0" indent="0" algn="ctr">
              <a:buNone/>
            </a:pPr>
            <a:r>
              <a:rPr lang="en-US" sz="900" b="1" dirty="0">
                <a:solidFill>
                  <a:srgbClr val="059669"/>
                </a:solidFill>
                <a:latin typeface="Noto Sans JP" pitchFamily="34" charset="0"/>
                <a:ea typeface="Noto Sans JP" pitchFamily="34" charset="-122"/>
                <a:cs typeface="Noto Sans JP" pitchFamily="34" charset="-120"/>
              </a:rPr>
              <a:t>(Copilotあり)</a:t>
            </a:r>
            <a:endParaRPr lang="en-US" sz="900" dirty="0"/>
          </a:p>
        </p:txBody>
      </p:sp>
      <p:sp>
        <p:nvSpPr>
          <p:cNvPr id="37" name="Shape 31"/>
          <p:cNvSpPr/>
          <p:nvPr/>
        </p:nvSpPr>
        <p:spPr>
          <a:xfrm>
            <a:off x="1009498" y="3567074"/>
            <a:ext cx="4572000" cy="362102"/>
          </a:xfrm>
          <a:prstGeom prst="roundRect">
            <a:avLst>
              <a:gd name="adj" fmla="val 39872"/>
            </a:avLst>
          </a:prstGeom>
          <a:solidFill>
            <a:srgbClr val="1E293B"/>
          </a:solidFill>
          <a:ln/>
        </p:spPr>
        <p:txBody>
          <a:bodyPr/>
          <a:lstStyle/>
          <a:p>
            <a:endParaRPr lang="ja-JP" altLang="en-US"/>
          </a:p>
        </p:txBody>
      </p:sp>
      <p:sp>
        <p:nvSpPr>
          <p:cNvPr id="38" name="Text 32"/>
          <p:cNvSpPr txBox="1"/>
          <p:nvPr/>
        </p:nvSpPr>
        <p:spPr>
          <a:xfrm>
            <a:off x="1143000" y="3662172"/>
            <a:ext cx="3838651" cy="171907"/>
          </a:xfrm>
          <a:prstGeom prst="rect">
            <a:avLst/>
          </a:prstGeom>
          <a:noFill/>
          <a:ln/>
        </p:spPr>
        <p:txBody>
          <a:bodyPr wrap="square" lIns="0" tIns="0" rIns="0" bIns="0" rtlCol="0" anchor="ctr"/>
          <a:lstStyle/>
          <a:p>
            <a:pPr marL="0" indent="0" algn="l">
              <a:buNone/>
            </a:pPr>
            <a:r>
              <a:rPr lang="en-US" sz="900" dirty="0">
                <a:solidFill>
                  <a:srgbClr val="E2E8F0"/>
                </a:solidFill>
                <a:latin typeface="IBM Plex Sans JP" pitchFamily="34" charset="0"/>
                <a:ea typeface="IBM Plex Sans JP" pitchFamily="34" charset="-122"/>
                <a:cs typeface="IBM Plex Sans JP" pitchFamily="34" charset="-120"/>
              </a:rPr>
              <a:t>削減率 (%) = (ベースライン時間 - 導入後時間) / ベースライン時間 × 100</a:t>
            </a:r>
            <a:endParaRPr lang="en-US" sz="900" dirty="0"/>
          </a:p>
        </p:txBody>
      </p:sp>
      <p:pic>
        <p:nvPicPr>
          <p:cNvPr id="39" name="Image 4" descr="preencoded.png"/>
          <p:cNvPicPr>
            <a:picLocks noChangeAspect="1"/>
          </p:cNvPicPr>
          <p:nvPr/>
        </p:nvPicPr>
        <p:blipFill>
          <a:blip r:embed="rId6"/>
          <a:srcRect/>
          <a:stretch/>
        </p:blipFill>
        <p:spPr>
          <a:xfrm>
            <a:off x="847649" y="4352544"/>
            <a:ext cx="133502" cy="133502"/>
          </a:xfrm>
          <a:prstGeom prst="rect">
            <a:avLst/>
          </a:prstGeom>
        </p:spPr>
      </p:pic>
      <p:sp>
        <p:nvSpPr>
          <p:cNvPr id="40" name="Text 33"/>
          <p:cNvSpPr txBox="1"/>
          <p:nvPr/>
        </p:nvSpPr>
        <p:spPr>
          <a:xfrm>
            <a:off x="1057046" y="4319626"/>
            <a:ext cx="1567282" cy="191110"/>
          </a:xfrm>
          <a:prstGeom prst="rect">
            <a:avLst/>
          </a:prstGeom>
          <a:noFill/>
          <a:ln/>
        </p:spPr>
        <p:txBody>
          <a:bodyPr wrap="square" lIns="0" tIns="0" rIns="0" bIns="0" rtlCol="0" anchor="ctr"/>
          <a:lstStyle/>
          <a:p>
            <a:pPr marL="0" indent="0" algn="l">
              <a:buNone/>
            </a:pPr>
            <a:r>
              <a:rPr lang="en-US" sz="1000" b="1" dirty="0">
                <a:solidFill>
                  <a:srgbClr val="475569"/>
                </a:solidFill>
                <a:latin typeface="Noto Sans JP" pitchFamily="34" charset="0"/>
                <a:ea typeface="Noto Sans JP" pitchFamily="34" charset="-122"/>
                <a:cs typeface="Noto Sans JP" pitchFamily="34" charset="-120"/>
              </a:rPr>
              <a:t>利用状況のモニタリング</a:t>
            </a:r>
            <a:endParaRPr lang="en-US" sz="1000" dirty="0"/>
          </a:p>
        </p:txBody>
      </p:sp>
      <p:sp>
        <p:nvSpPr>
          <p:cNvPr id="41" name="Shape 34"/>
          <p:cNvSpPr/>
          <p:nvPr/>
        </p:nvSpPr>
        <p:spPr>
          <a:xfrm>
            <a:off x="4628693" y="4322369"/>
            <a:ext cx="1123798" cy="200254"/>
          </a:xfrm>
          <a:prstGeom prst="roundRect">
            <a:avLst>
              <a:gd name="adj" fmla="val 86975"/>
            </a:avLst>
          </a:prstGeom>
          <a:solidFill>
            <a:srgbClr val="DBEAFE"/>
          </a:solidFill>
          <a:ln/>
        </p:spPr>
        <p:txBody>
          <a:bodyPr/>
          <a:lstStyle/>
          <a:p>
            <a:endParaRPr lang="ja-JP" altLang="en-US"/>
          </a:p>
        </p:txBody>
      </p:sp>
      <p:sp>
        <p:nvSpPr>
          <p:cNvPr id="42" name="Text 35"/>
          <p:cNvSpPr txBox="1"/>
          <p:nvPr/>
        </p:nvSpPr>
        <p:spPr>
          <a:xfrm>
            <a:off x="4704588" y="4340657"/>
            <a:ext cx="1050646" cy="152705"/>
          </a:xfrm>
          <a:prstGeom prst="rect">
            <a:avLst/>
          </a:prstGeom>
          <a:noFill/>
          <a:ln/>
        </p:spPr>
        <p:txBody>
          <a:bodyPr wrap="square" lIns="0" tIns="0" rIns="0" bIns="0" rtlCol="0" anchor="ctr"/>
          <a:lstStyle/>
          <a:p>
            <a:pPr marL="0" indent="0" algn="l">
              <a:buNone/>
            </a:pPr>
            <a:r>
              <a:rPr lang="en-US" sz="800" b="1" dirty="0">
                <a:solidFill>
                  <a:srgbClr val="1E40AF"/>
                </a:solidFill>
                <a:latin typeface="Noto Sans JP" pitchFamily="34" charset="0"/>
                <a:ea typeface="Noto Sans JP" pitchFamily="34" charset="-122"/>
                <a:cs typeface="Noto Sans JP" pitchFamily="34" charset="-120"/>
              </a:rPr>
              <a:t>KPI: 利用率・定着率</a:t>
            </a:r>
            <a:endParaRPr lang="en-US" sz="800" dirty="0"/>
          </a:p>
        </p:txBody>
      </p:sp>
      <p:sp>
        <p:nvSpPr>
          <p:cNvPr id="43" name="Shape 36"/>
          <p:cNvSpPr/>
          <p:nvPr/>
        </p:nvSpPr>
        <p:spPr>
          <a:xfrm>
            <a:off x="847649" y="4595774"/>
            <a:ext cx="4895698" cy="1104595"/>
          </a:xfrm>
          <a:prstGeom prst="roundRect">
            <a:avLst>
              <a:gd name="adj" fmla="val 5709"/>
            </a:avLst>
          </a:prstGeom>
          <a:solidFill>
            <a:srgbClr val="F8FAFC"/>
          </a:solidFill>
          <a:ln w="12700">
            <a:solidFill>
              <a:srgbClr val="E2E8F0"/>
            </a:solidFill>
            <a:prstDash val="solid"/>
          </a:ln>
        </p:spPr>
        <p:txBody>
          <a:bodyPr/>
          <a:lstStyle/>
          <a:p>
            <a:endParaRPr lang="ja-JP" altLang="en-US"/>
          </a:p>
        </p:txBody>
      </p:sp>
      <p:pic>
        <p:nvPicPr>
          <p:cNvPr id="44" name="Image 5" descr="preencoded.png"/>
          <p:cNvPicPr>
            <a:picLocks noChangeAspect="1"/>
          </p:cNvPicPr>
          <p:nvPr/>
        </p:nvPicPr>
        <p:blipFill>
          <a:blip r:embed="rId7"/>
          <a:srcRect l="-760" r="-760"/>
          <a:stretch/>
        </p:blipFill>
        <p:spPr>
          <a:xfrm>
            <a:off x="1009498" y="4757623"/>
            <a:ext cx="152705" cy="171907"/>
          </a:xfrm>
          <a:prstGeom prst="rect">
            <a:avLst/>
          </a:prstGeom>
        </p:spPr>
      </p:pic>
      <p:sp>
        <p:nvSpPr>
          <p:cNvPr id="45" name="Text 37"/>
          <p:cNvSpPr txBox="1"/>
          <p:nvPr/>
        </p:nvSpPr>
        <p:spPr>
          <a:xfrm>
            <a:off x="1276502" y="4757623"/>
            <a:ext cx="2448763" cy="162763"/>
          </a:xfrm>
          <a:prstGeom prst="rect">
            <a:avLst/>
          </a:prstGeom>
          <a:noFill/>
          <a:ln/>
        </p:spPr>
        <p:txBody>
          <a:bodyPr wrap="square" lIns="0" tIns="0" rIns="0" bIns="0" rtlCol="0" anchor="ctr"/>
          <a:lstStyle/>
          <a:p>
            <a:pPr marL="0" indent="0" algn="l">
              <a:buNone/>
            </a:pPr>
            <a:r>
              <a:rPr lang="en-US" sz="900" b="1" dirty="0">
                <a:solidFill>
                  <a:srgbClr val="374151"/>
                </a:solidFill>
                <a:latin typeface="Noto Sans JP" pitchFamily="34" charset="0"/>
                <a:ea typeface="Noto Sans JP" pitchFamily="34" charset="-122"/>
                <a:cs typeface="Noto Sans JP" pitchFamily="34" charset="-120"/>
              </a:rPr>
              <a:t>Microsoft 365 Admin Center / Viva Insights</a:t>
            </a:r>
            <a:endParaRPr lang="en-US" sz="900" dirty="0"/>
          </a:p>
        </p:txBody>
      </p:sp>
      <p:sp>
        <p:nvSpPr>
          <p:cNvPr id="46" name="Text 38"/>
          <p:cNvSpPr txBox="1"/>
          <p:nvPr/>
        </p:nvSpPr>
        <p:spPr>
          <a:xfrm>
            <a:off x="1218895" y="4996282"/>
            <a:ext cx="2124151"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MAU/DAU: アクティブユーザー数の推移</a:t>
            </a:r>
            <a:endParaRPr lang="en-US" sz="900" dirty="0"/>
          </a:p>
        </p:txBody>
      </p:sp>
      <p:sp>
        <p:nvSpPr>
          <p:cNvPr id="47" name="Text 39"/>
          <p:cNvSpPr txBox="1"/>
          <p:nvPr/>
        </p:nvSpPr>
        <p:spPr>
          <a:xfrm>
            <a:off x="1218895" y="5186477"/>
            <a:ext cx="287670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アプリ別利用: Teams, Word, Excel等の機能別利用頻度</a:t>
            </a:r>
            <a:endParaRPr lang="en-US" sz="900" dirty="0"/>
          </a:p>
        </p:txBody>
      </p:sp>
      <p:sp>
        <p:nvSpPr>
          <p:cNvPr id="48" name="Text 40"/>
          <p:cNvSpPr txBox="1"/>
          <p:nvPr/>
        </p:nvSpPr>
        <p:spPr>
          <a:xfrm>
            <a:off x="1218895" y="5376672"/>
            <a:ext cx="253380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Copilot対話数: 1日あたりのプロンプト入力回数</a:t>
            </a:r>
            <a:endParaRPr lang="en-US" sz="900" dirty="0"/>
          </a:p>
        </p:txBody>
      </p:sp>
      <p:sp>
        <p:nvSpPr>
          <p:cNvPr id="49" name="Shape 41"/>
          <p:cNvSpPr/>
          <p:nvPr/>
        </p:nvSpPr>
        <p:spPr>
          <a:xfrm>
            <a:off x="6210605" y="1347826"/>
            <a:ext cx="5372100" cy="5210251"/>
          </a:xfrm>
          <a:prstGeom prst="roundRect">
            <a:avLst>
              <a:gd name="adj" fmla="val 385"/>
            </a:avLst>
          </a:prstGeom>
          <a:solidFill>
            <a:srgbClr val="FFFFFF"/>
          </a:solidFill>
          <a:ln w="12700">
            <a:solidFill>
              <a:srgbClr val="E2E8F0"/>
            </a:solidFill>
            <a:prstDash val="solid"/>
          </a:ln>
          <a:effectLst>
            <a:outerShdw blurRad="63500" dist="38100" dir="5400000" algn="bl" rotWithShape="0">
              <a:srgbClr val="000000">
                <a:alpha val="5000"/>
              </a:srgbClr>
            </a:outerShdw>
          </a:effectLst>
        </p:spPr>
        <p:txBody>
          <a:bodyPr/>
          <a:lstStyle/>
          <a:p>
            <a:endParaRPr lang="ja-JP" altLang="en-US"/>
          </a:p>
        </p:txBody>
      </p:sp>
      <p:sp>
        <p:nvSpPr>
          <p:cNvPr id="50" name="Shape 42"/>
          <p:cNvSpPr/>
          <p:nvPr/>
        </p:nvSpPr>
        <p:spPr>
          <a:xfrm>
            <a:off x="6219749" y="1356970"/>
            <a:ext cx="5352898" cy="571500"/>
          </a:xfrm>
          <a:prstGeom prst="rect">
            <a:avLst/>
          </a:prstGeom>
          <a:solidFill>
            <a:srgbClr val="ECFDF5"/>
          </a:solidFill>
          <a:ln/>
        </p:spPr>
        <p:txBody>
          <a:bodyPr/>
          <a:lstStyle/>
          <a:p>
            <a:endParaRPr lang="ja-JP" altLang="en-US"/>
          </a:p>
        </p:txBody>
      </p:sp>
      <p:sp>
        <p:nvSpPr>
          <p:cNvPr id="51" name="Shape 43"/>
          <p:cNvSpPr/>
          <p:nvPr/>
        </p:nvSpPr>
        <p:spPr>
          <a:xfrm>
            <a:off x="6219749" y="1919326"/>
            <a:ext cx="5352898" cy="9144"/>
          </a:xfrm>
          <a:prstGeom prst="rect">
            <a:avLst/>
          </a:prstGeom>
          <a:solidFill>
            <a:srgbClr val="E2E8F0"/>
          </a:solidFill>
          <a:ln/>
        </p:spPr>
        <p:txBody>
          <a:bodyPr/>
          <a:lstStyle/>
          <a:p>
            <a:endParaRPr lang="ja-JP" altLang="en-US"/>
          </a:p>
        </p:txBody>
      </p:sp>
      <p:pic>
        <p:nvPicPr>
          <p:cNvPr id="52" name="Image 6" descr="preencoded.png"/>
          <p:cNvPicPr>
            <a:picLocks noChangeAspect="1"/>
          </p:cNvPicPr>
          <p:nvPr/>
        </p:nvPicPr>
        <p:blipFill>
          <a:blip r:embed="rId8"/>
          <a:srcRect/>
          <a:stretch/>
        </p:blipFill>
        <p:spPr>
          <a:xfrm>
            <a:off x="6448349" y="1543507"/>
            <a:ext cx="190195" cy="190195"/>
          </a:xfrm>
          <a:prstGeom prst="rect">
            <a:avLst/>
          </a:prstGeom>
        </p:spPr>
      </p:pic>
      <p:sp>
        <p:nvSpPr>
          <p:cNvPr id="53" name="Text 44"/>
          <p:cNvSpPr txBox="1"/>
          <p:nvPr/>
        </p:nvSpPr>
        <p:spPr>
          <a:xfrm>
            <a:off x="6752844" y="1509674"/>
            <a:ext cx="2262226" cy="247802"/>
          </a:xfrm>
          <a:prstGeom prst="rect">
            <a:avLst/>
          </a:prstGeom>
          <a:noFill/>
          <a:ln/>
        </p:spPr>
        <p:txBody>
          <a:bodyPr wrap="square" lIns="0" tIns="0" rIns="0" bIns="0" rtlCol="0" anchor="ctr"/>
          <a:lstStyle/>
          <a:p>
            <a:pPr marL="0" indent="0" algn="l">
              <a:buNone/>
            </a:pPr>
            <a:r>
              <a:rPr lang="en-US" sz="1300" b="1" dirty="0">
                <a:solidFill>
                  <a:srgbClr val="064E3B"/>
                </a:solidFill>
                <a:latin typeface="Noto Sans JP" pitchFamily="34" charset="0"/>
                <a:ea typeface="Noto Sans JP" pitchFamily="34" charset="-122"/>
                <a:cs typeface="Noto Sans JP" pitchFamily="34" charset="-120"/>
              </a:rPr>
              <a:t>定性的測定（Qualitative）</a:t>
            </a:r>
            <a:endParaRPr lang="en-US" sz="1300" dirty="0"/>
          </a:p>
        </p:txBody>
      </p:sp>
      <p:sp>
        <p:nvSpPr>
          <p:cNvPr id="54" name="Shape 45"/>
          <p:cNvSpPr/>
          <p:nvPr/>
        </p:nvSpPr>
        <p:spPr>
          <a:xfrm>
            <a:off x="10165385" y="1524305"/>
            <a:ext cx="1181405" cy="228600"/>
          </a:xfrm>
          <a:prstGeom prst="roundRect">
            <a:avLst>
              <a:gd name="adj" fmla="val 66667"/>
            </a:avLst>
          </a:prstGeom>
          <a:solidFill>
            <a:srgbClr val="D1FAE5"/>
          </a:solidFill>
          <a:ln/>
        </p:spPr>
        <p:txBody>
          <a:bodyPr/>
          <a:lstStyle/>
          <a:p>
            <a:endParaRPr lang="ja-JP" altLang="en-US"/>
          </a:p>
        </p:txBody>
      </p:sp>
      <p:sp>
        <p:nvSpPr>
          <p:cNvPr id="55" name="Text 46"/>
          <p:cNvSpPr txBox="1"/>
          <p:nvPr/>
        </p:nvSpPr>
        <p:spPr>
          <a:xfrm>
            <a:off x="10241280" y="1552651"/>
            <a:ext cx="1114654" cy="162763"/>
          </a:xfrm>
          <a:prstGeom prst="rect">
            <a:avLst/>
          </a:prstGeom>
          <a:noFill/>
          <a:ln/>
        </p:spPr>
        <p:txBody>
          <a:bodyPr wrap="square" lIns="0" tIns="0" rIns="0" bIns="0" rtlCol="0" anchor="ctr"/>
          <a:lstStyle/>
          <a:p>
            <a:pPr marL="0" indent="0" algn="l">
              <a:buNone/>
            </a:pPr>
            <a:r>
              <a:rPr lang="en-US" sz="900" b="1" dirty="0">
                <a:solidFill>
                  <a:srgbClr val="065F46"/>
                </a:solidFill>
                <a:latin typeface="Noto Sans JP" pitchFamily="34" charset="0"/>
                <a:ea typeface="Noto Sans JP" pitchFamily="34" charset="-122"/>
                <a:cs typeface="Noto Sans JP" pitchFamily="34" charset="-120"/>
              </a:rPr>
              <a:t>ユーザー体験の評価</a:t>
            </a:r>
            <a:endParaRPr lang="en-US" sz="900" dirty="0"/>
          </a:p>
        </p:txBody>
      </p:sp>
      <p:pic>
        <p:nvPicPr>
          <p:cNvPr id="56" name="Image 7" descr="preencoded.png"/>
          <p:cNvPicPr>
            <a:picLocks noChangeAspect="1"/>
          </p:cNvPicPr>
          <p:nvPr/>
        </p:nvPicPr>
        <p:blipFill>
          <a:blip r:embed="rId9"/>
          <a:srcRect t="-1100" b="-1100"/>
          <a:stretch/>
        </p:blipFill>
        <p:spPr>
          <a:xfrm>
            <a:off x="6448349" y="2190902"/>
            <a:ext cx="114300" cy="133502"/>
          </a:xfrm>
          <a:prstGeom prst="rect">
            <a:avLst/>
          </a:prstGeom>
        </p:spPr>
      </p:pic>
      <p:sp>
        <p:nvSpPr>
          <p:cNvPr id="57" name="Text 47"/>
          <p:cNvSpPr txBox="1"/>
          <p:nvPr/>
        </p:nvSpPr>
        <p:spPr>
          <a:xfrm>
            <a:off x="6638544" y="2157070"/>
            <a:ext cx="1300277" cy="191110"/>
          </a:xfrm>
          <a:prstGeom prst="rect">
            <a:avLst/>
          </a:prstGeom>
          <a:noFill/>
          <a:ln/>
        </p:spPr>
        <p:txBody>
          <a:bodyPr wrap="square" lIns="0" tIns="0" rIns="0" bIns="0" rtlCol="0" anchor="ctr"/>
          <a:lstStyle/>
          <a:p>
            <a:pPr marL="0" indent="0" algn="l">
              <a:buNone/>
            </a:pPr>
            <a:r>
              <a:rPr lang="en-US" sz="1000" b="1" dirty="0">
                <a:solidFill>
                  <a:srgbClr val="475569"/>
                </a:solidFill>
                <a:latin typeface="Noto Sans JP" pitchFamily="34" charset="0"/>
                <a:ea typeface="Noto Sans JP" pitchFamily="34" charset="-122"/>
                <a:cs typeface="Noto Sans JP" pitchFamily="34" charset="-120"/>
              </a:rPr>
              <a:t>定期アンケート調査</a:t>
            </a:r>
            <a:endParaRPr lang="en-US" sz="1000" dirty="0"/>
          </a:p>
        </p:txBody>
      </p:sp>
      <p:sp>
        <p:nvSpPr>
          <p:cNvPr id="58" name="Shape 48"/>
          <p:cNvSpPr/>
          <p:nvPr/>
        </p:nvSpPr>
        <p:spPr>
          <a:xfrm>
            <a:off x="10333634" y="2159813"/>
            <a:ext cx="1019556" cy="200254"/>
          </a:xfrm>
          <a:prstGeom prst="roundRect">
            <a:avLst>
              <a:gd name="adj" fmla="val 86975"/>
            </a:avLst>
          </a:prstGeom>
          <a:solidFill>
            <a:srgbClr val="D1FAE5"/>
          </a:solidFill>
          <a:ln/>
        </p:spPr>
        <p:txBody>
          <a:bodyPr/>
          <a:lstStyle/>
          <a:p>
            <a:endParaRPr lang="ja-JP" altLang="en-US"/>
          </a:p>
        </p:txBody>
      </p:sp>
      <p:sp>
        <p:nvSpPr>
          <p:cNvPr id="59" name="Text 49"/>
          <p:cNvSpPr txBox="1"/>
          <p:nvPr/>
        </p:nvSpPr>
        <p:spPr>
          <a:xfrm>
            <a:off x="10410444" y="2179015"/>
            <a:ext cx="945490" cy="152705"/>
          </a:xfrm>
          <a:prstGeom prst="rect">
            <a:avLst/>
          </a:prstGeom>
          <a:noFill/>
          <a:ln/>
        </p:spPr>
        <p:txBody>
          <a:bodyPr wrap="square" lIns="0" tIns="0" rIns="0" bIns="0" rtlCol="0" anchor="ctr"/>
          <a:lstStyle/>
          <a:p>
            <a:pPr marL="0" indent="0" algn="l">
              <a:buNone/>
            </a:pPr>
            <a:r>
              <a:rPr lang="en-US" sz="800" b="1" dirty="0">
                <a:solidFill>
                  <a:srgbClr val="065F46"/>
                </a:solidFill>
                <a:latin typeface="Noto Sans JP" pitchFamily="34" charset="0"/>
                <a:ea typeface="Noto Sans JP" pitchFamily="34" charset="-122"/>
                <a:cs typeface="Noto Sans JP" pitchFamily="34" charset="-120"/>
              </a:rPr>
              <a:t>KPI: 満足度・NPS</a:t>
            </a:r>
            <a:endParaRPr lang="en-US" sz="800" dirty="0"/>
          </a:p>
        </p:txBody>
      </p:sp>
      <p:sp>
        <p:nvSpPr>
          <p:cNvPr id="60" name="Shape 50"/>
          <p:cNvSpPr/>
          <p:nvPr/>
        </p:nvSpPr>
        <p:spPr>
          <a:xfrm>
            <a:off x="6448349" y="2433218"/>
            <a:ext cx="4895698" cy="1923898"/>
          </a:xfrm>
          <a:prstGeom prst="roundRect">
            <a:avLst>
              <a:gd name="adj" fmla="val 1882"/>
            </a:avLst>
          </a:prstGeom>
          <a:solidFill>
            <a:srgbClr val="F8FAFC"/>
          </a:solidFill>
          <a:ln w="12700">
            <a:solidFill>
              <a:srgbClr val="E2E8F0"/>
            </a:solidFill>
            <a:prstDash val="solid"/>
          </a:ln>
        </p:spPr>
        <p:txBody>
          <a:bodyPr/>
          <a:lstStyle/>
          <a:p>
            <a:endParaRPr lang="ja-JP" altLang="en-US"/>
          </a:p>
        </p:txBody>
      </p:sp>
      <p:sp>
        <p:nvSpPr>
          <p:cNvPr id="61" name="Text 51"/>
          <p:cNvSpPr txBox="1"/>
          <p:nvPr/>
        </p:nvSpPr>
        <p:spPr>
          <a:xfrm>
            <a:off x="6610198" y="2585923"/>
            <a:ext cx="2019910" cy="162763"/>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月次パルスサーベイ設計 (5段階評価):</a:t>
            </a:r>
            <a:endParaRPr lang="en-US" sz="900" dirty="0"/>
          </a:p>
        </p:txBody>
      </p:sp>
      <p:sp>
        <p:nvSpPr>
          <p:cNvPr id="62" name="Text 52"/>
          <p:cNvSpPr txBox="1"/>
          <p:nvPr/>
        </p:nvSpPr>
        <p:spPr>
          <a:xfrm>
            <a:off x="6610198" y="2814523"/>
            <a:ext cx="2009851" cy="162763"/>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Q1. 業務効率化を実感していますか？</a:t>
            </a:r>
            <a:endParaRPr lang="en-US" sz="900" dirty="0"/>
          </a:p>
        </p:txBody>
      </p:sp>
      <p:sp>
        <p:nvSpPr>
          <p:cNvPr id="63" name="Text 53"/>
          <p:cNvSpPr txBox="1"/>
          <p:nvPr/>
        </p:nvSpPr>
        <p:spPr>
          <a:xfrm>
            <a:off x="6610198" y="3281782"/>
            <a:ext cx="838505"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JP" pitchFamily="34" charset="0"/>
                <a:ea typeface="Noto Sans JP" pitchFamily="34" charset="-122"/>
                <a:cs typeface="Noto Sans JP" pitchFamily="34" charset="-120"/>
              </a:rPr>
              <a:t>全くそう思わない</a:t>
            </a:r>
            <a:endParaRPr lang="en-US" sz="800" dirty="0"/>
          </a:p>
        </p:txBody>
      </p:sp>
      <p:sp>
        <p:nvSpPr>
          <p:cNvPr id="64" name="Text 54"/>
          <p:cNvSpPr txBox="1"/>
          <p:nvPr/>
        </p:nvSpPr>
        <p:spPr>
          <a:xfrm>
            <a:off x="7801661" y="3281782"/>
            <a:ext cx="743407"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JP" pitchFamily="34" charset="0"/>
                <a:ea typeface="Noto Sans JP" pitchFamily="34" charset="-122"/>
                <a:cs typeface="Noto Sans JP" pitchFamily="34" charset="-120"/>
              </a:rPr>
              <a:t>あまり思わない</a:t>
            </a:r>
            <a:endParaRPr lang="en-US" sz="800" dirty="0"/>
          </a:p>
        </p:txBody>
      </p:sp>
      <p:sp>
        <p:nvSpPr>
          <p:cNvPr id="65" name="Text 55"/>
          <p:cNvSpPr txBox="1"/>
          <p:nvPr/>
        </p:nvSpPr>
        <p:spPr>
          <a:xfrm>
            <a:off x="8897112" y="3281782"/>
            <a:ext cx="267005"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JP" pitchFamily="34" charset="0"/>
                <a:ea typeface="Noto Sans JP" pitchFamily="34" charset="-122"/>
                <a:cs typeface="Noto Sans JP" pitchFamily="34" charset="-120"/>
              </a:rPr>
              <a:t>普通</a:t>
            </a:r>
            <a:endParaRPr lang="en-US" sz="800" dirty="0"/>
          </a:p>
        </p:txBody>
      </p:sp>
      <p:sp>
        <p:nvSpPr>
          <p:cNvPr id="66" name="Text 56"/>
          <p:cNvSpPr txBox="1"/>
          <p:nvPr/>
        </p:nvSpPr>
        <p:spPr>
          <a:xfrm>
            <a:off x="9517075" y="3281782"/>
            <a:ext cx="648310"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JP" pitchFamily="34" charset="0"/>
                <a:ea typeface="Noto Sans JP" pitchFamily="34" charset="-122"/>
                <a:cs typeface="Noto Sans JP" pitchFamily="34" charset="-120"/>
              </a:rPr>
              <a:t>ややそう思う</a:t>
            </a:r>
            <a:endParaRPr lang="en-US" sz="800" dirty="0"/>
          </a:p>
        </p:txBody>
      </p:sp>
      <p:sp>
        <p:nvSpPr>
          <p:cNvPr id="67" name="Text 57"/>
          <p:cNvSpPr txBox="1"/>
          <p:nvPr/>
        </p:nvSpPr>
        <p:spPr>
          <a:xfrm>
            <a:off x="10517429" y="3281782"/>
            <a:ext cx="743407" cy="143561"/>
          </a:xfrm>
          <a:prstGeom prst="rect">
            <a:avLst/>
          </a:prstGeom>
          <a:noFill/>
          <a:ln/>
        </p:spPr>
        <p:txBody>
          <a:bodyPr wrap="square" lIns="0" tIns="0" rIns="0" bIns="0" rtlCol="0" anchor="ctr"/>
          <a:lstStyle/>
          <a:p>
            <a:pPr marL="0" indent="0" algn="l">
              <a:buNone/>
            </a:pPr>
            <a:r>
              <a:rPr lang="en-US" sz="800" dirty="0">
                <a:solidFill>
                  <a:srgbClr val="64748B"/>
                </a:solidFill>
                <a:latin typeface="Noto Sans JP" pitchFamily="34" charset="0"/>
                <a:ea typeface="Noto Sans JP" pitchFamily="34" charset="-122"/>
                <a:cs typeface="Noto Sans JP" pitchFamily="34" charset="-120"/>
              </a:rPr>
              <a:t>非常にそう思う</a:t>
            </a:r>
            <a:endParaRPr lang="en-US" sz="800" dirty="0"/>
          </a:p>
        </p:txBody>
      </p:sp>
      <p:sp>
        <p:nvSpPr>
          <p:cNvPr id="68" name="Shape 58"/>
          <p:cNvSpPr/>
          <p:nvPr/>
        </p:nvSpPr>
        <p:spPr>
          <a:xfrm>
            <a:off x="6610198" y="3538728"/>
            <a:ext cx="4572000" cy="9144"/>
          </a:xfrm>
          <a:prstGeom prst="rect">
            <a:avLst/>
          </a:prstGeom>
          <a:solidFill>
            <a:srgbClr val="E5E7EB"/>
          </a:solidFill>
          <a:ln/>
        </p:spPr>
        <p:txBody>
          <a:bodyPr/>
          <a:lstStyle/>
          <a:p>
            <a:endParaRPr lang="ja-JP" altLang="en-US"/>
          </a:p>
        </p:txBody>
      </p:sp>
      <p:sp>
        <p:nvSpPr>
          <p:cNvPr id="69" name="Text 59"/>
          <p:cNvSpPr txBox="1"/>
          <p:nvPr/>
        </p:nvSpPr>
        <p:spPr>
          <a:xfrm>
            <a:off x="6610198" y="3653028"/>
            <a:ext cx="2496312" cy="162763"/>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Q2. 同僚にCopilotの利用を勧めますか？ (NPS)</a:t>
            </a:r>
            <a:endParaRPr lang="en-US" sz="900" dirty="0"/>
          </a:p>
        </p:txBody>
      </p:sp>
      <p:sp>
        <p:nvSpPr>
          <p:cNvPr id="70" name="Shape 60"/>
          <p:cNvSpPr/>
          <p:nvPr/>
        </p:nvSpPr>
        <p:spPr>
          <a:xfrm>
            <a:off x="6610198" y="3853282"/>
            <a:ext cx="1505102" cy="75895"/>
          </a:xfrm>
          <a:prstGeom prst="roundRect">
            <a:avLst>
              <a:gd name="adj" fmla="val 602411"/>
            </a:avLst>
          </a:prstGeom>
          <a:solidFill>
            <a:srgbClr val="F87171"/>
          </a:solidFill>
          <a:ln/>
        </p:spPr>
        <p:txBody>
          <a:bodyPr/>
          <a:lstStyle/>
          <a:p>
            <a:endParaRPr lang="ja-JP" altLang="en-US"/>
          </a:p>
        </p:txBody>
      </p:sp>
      <p:sp>
        <p:nvSpPr>
          <p:cNvPr id="71" name="Shape 61"/>
          <p:cNvSpPr/>
          <p:nvPr/>
        </p:nvSpPr>
        <p:spPr>
          <a:xfrm>
            <a:off x="8147304" y="3853282"/>
            <a:ext cx="1505102" cy="75895"/>
          </a:xfrm>
          <a:prstGeom prst="rect">
            <a:avLst/>
          </a:prstGeom>
          <a:solidFill>
            <a:srgbClr val="FBBF24"/>
          </a:solidFill>
          <a:ln/>
        </p:spPr>
        <p:txBody>
          <a:bodyPr/>
          <a:lstStyle/>
          <a:p>
            <a:endParaRPr lang="ja-JP" altLang="en-US"/>
          </a:p>
        </p:txBody>
      </p:sp>
      <p:sp>
        <p:nvSpPr>
          <p:cNvPr id="72" name="Shape 62"/>
          <p:cNvSpPr/>
          <p:nvPr/>
        </p:nvSpPr>
        <p:spPr>
          <a:xfrm>
            <a:off x="9683496" y="3853282"/>
            <a:ext cx="1505102" cy="75895"/>
          </a:xfrm>
          <a:prstGeom prst="rect">
            <a:avLst/>
          </a:prstGeom>
          <a:solidFill>
            <a:srgbClr val="10B981"/>
          </a:solidFill>
          <a:ln/>
        </p:spPr>
        <p:txBody>
          <a:bodyPr/>
          <a:lstStyle/>
          <a:p>
            <a:endParaRPr lang="ja-JP" altLang="en-US"/>
          </a:p>
        </p:txBody>
      </p:sp>
      <p:sp>
        <p:nvSpPr>
          <p:cNvPr id="73" name="Text 63"/>
          <p:cNvSpPr txBox="1"/>
          <p:nvPr/>
        </p:nvSpPr>
        <p:spPr>
          <a:xfrm>
            <a:off x="6610198" y="3967582"/>
            <a:ext cx="800100" cy="228600"/>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0 (批判者)</a:t>
            </a:r>
            <a:endParaRPr lang="en-US" sz="1200" dirty="0"/>
          </a:p>
        </p:txBody>
      </p:sp>
      <p:sp>
        <p:nvSpPr>
          <p:cNvPr id="74" name="Text 64"/>
          <p:cNvSpPr txBox="1"/>
          <p:nvPr/>
        </p:nvSpPr>
        <p:spPr>
          <a:xfrm>
            <a:off x="10418674" y="3967582"/>
            <a:ext cx="886054" cy="228600"/>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10 (推奨者)</a:t>
            </a:r>
            <a:endParaRPr lang="en-US" sz="1200" dirty="0"/>
          </a:p>
        </p:txBody>
      </p:sp>
      <p:pic>
        <p:nvPicPr>
          <p:cNvPr id="75" name="Image 8" descr="preencoded.png"/>
          <p:cNvPicPr>
            <a:picLocks noChangeAspect="1"/>
          </p:cNvPicPr>
          <p:nvPr/>
        </p:nvPicPr>
        <p:blipFill>
          <a:blip r:embed="rId10"/>
          <a:srcRect l="-1507" r="-1507"/>
          <a:stretch/>
        </p:blipFill>
        <p:spPr>
          <a:xfrm>
            <a:off x="6448349" y="4619549"/>
            <a:ext cx="171907" cy="133502"/>
          </a:xfrm>
          <a:prstGeom prst="rect">
            <a:avLst/>
          </a:prstGeom>
        </p:spPr>
      </p:pic>
      <p:sp>
        <p:nvSpPr>
          <p:cNvPr id="76" name="Text 65"/>
          <p:cNvSpPr txBox="1"/>
          <p:nvPr/>
        </p:nvSpPr>
        <p:spPr>
          <a:xfrm>
            <a:off x="6696151" y="4586630"/>
            <a:ext cx="1700784" cy="191110"/>
          </a:xfrm>
          <a:prstGeom prst="rect">
            <a:avLst/>
          </a:prstGeom>
          <a:noFill/>
          <a:ln/>
        </p:spPr>
        <p:txBody>
          <a:bodyPr wrap="square" lIns="0" tIns="0" rIns="0" bIns="0" rtlCol="0" anchor="ctr"/>
          <a:lstStyle/>
          <a:p>
            <a:pPr marL="0" indent="0" algn="l">
              <a:buNone/>
            </a:pPr>
            <a:r>
              <a:rPr lang="en-US" sz="1000" b="1" dirty="0">
                <a:solidFill>
                  <a:srgbClr val="475569"/>
                </a:solidFill>
                <a:latin typeface="Noto Sans JP" pitchFamily="34" charset="0"/>
                <a:ea typeface="Noto Sans JP" pitchFamily="34" charset="-122"/>
                <a:cs typeface="Noto Sans JP" pitchFamily="34" charset="-120"/>
              </a:rPr>
              <a:t>インタビュー・ヒアリング</a:t>
            </a:r>
            <a:endParaRPr lang="en-US" sz="1000" dirty="0"/>
          </a:p>
        </p:txBody>
      </p:sp>
      <p:sp>
        <p:nvSpPr>
          <p:cNvPr id="77" name="Shape 66"/>
          <p:cNvSpPr/>
          <p:nvPr/>
        </p:nvSpPr>
        <p:spPr>
          <a:xfrm>
            <a:off x="10543032" y="4588459"/>
            <a:ext cx="809244" cy="200254"/>
          </a:xfrm>
          <a:prstGeom prst="roundRect">
            <a:avLst>
              <a:gd name="adj" fmla="val 86975"/>
            </a:avLst>
          </a:prstGeom>
          <a:solidFill>
            <a:srgbClr val="D1FAE5"/>
          </a:solidFill>
          <a:ln/>
        </p:spPr>
        <p:txBody>
          <a:bodyPr/>
          <a:lstStyle/>
          <a:p>
            <a:endParaRPr lang="ja-JP" altLang="en-US"/>
          </a:p>
        </p:txBody>
      </p:sp>
      <p:sp>
        <p:nvSpPr>
          <p:cNvPr id="78" name="Text 67"/>
          <p:cNvSpPr txBox="1"/>
          <p:nvPr/>
        </p:nvSpPr>
        <p:spPr>
          <a:xfrm>
            <a:off x="10619842" y="4607662"/>
            <a:ext cx="736092" cy="152705"/>
          </a:xfrm>
          <a:prstGeom prst="rect">
            <a:avLst/>
          </a:prstGeom>
          <a:noFill/>
          <a:ln/>
        </p:spPr>
        <p:txBody>
          <a:bodyPr wrap="square" lIns="0" tIns="0" rIns="0" bIns="0" rtlCol="0" anchor="ctr"/>
          <a:lstStyle/>
          <a:p>
            <a:pPr marL="0" indent="0" algn="l">
              <a:buNone/>
            </a:pPr>
            <a:r>
              <a:rPr lang="en-US" sz="800" b="1" dirty="0">
                <a:solidFill>
                  <a:srgbClr val="065F46"/>
                </a:solidFill>
                <a:latin typeface="Noto Sans JP" pitchFamily="34" charset="0"/>
                <a:ea typeface="Noto Sans JP" pitchFamily="34" charset="-122"/>
                <a:cs typeface="Noto Sans JP" pitchFamily="34" charset="-120"/>
              </a:rPr>
              <a:t>KPI: 課題抽出</a:t>
            </a:r>
            <a:endParaRPr lang="en-US" sz="800" dirty="0"/>
          </a:p>
        </p:txBody>
      </p:sp>
      <p:sp>
        <p:nvSpPr>
          <p:cNvPr id="79" name="Shape 68"/>
          <p:cNvSpPr/>
          <p:nvPr/>
        </p:nvSpPr>
        <p:spPr>
          <a:xfrm>
            <a:off x="6448349" y="4862779"/>
            <a:ext cx="4895698" cy="1371600"/>
          </a:xfrm>
          <a:prstGeom prst="roundRect">
            <a:avLst>
              <a:gd name="adj" fmla="val 3704"/>
            </a:avLst>
          </a:prstGeom>
          <a:solidFill>
            <a:srgbClr val="F8FAFC"/>
          </a:solidFill>
          <a:ln w="12700">
            <a:solidFill>
              <a:srgbClr val="E2E8F0"/>
            </a:solidFill>
            <a:prstDash val="solid"/>
          </a:ln>
        </p:spPr>
        <p:txBody>
          <a:bodyPr/>
          <a:lstStyle/>
          <a:p>
            <a:endParaRPr lang="ja-JP" altLang="en-US"/>
          </a:p>
        </p:txBody>
      </p:sp>
      <p:sp>
        <p:nvSpPr>
          <p:cNvPr id="80" name="Shape 69"/>
          <p:cNvSpPr/>
          <p:nvPr/>
        </p:nvSpPr>
        <p:spPr>
          <a:xfrm>
            <a:off x="6610198" y="5024628"/>
            <a:ext cx="2229307" cy="819302"/>
          </a:xfrm>
          <a:prstGeom prst="roundRect">
            <a:avLst>
              <a:gd name="adj" fmla="val 5191"/>
            </a:avLst>
          </a:prstGeom>
          <a:solidFill>
            <a:srgbClr val="FFFFFF"/>
          </a:solidFill>
          <a:ln w="12700">
            <a:solidFill>
              <a:srgbClr val="E5E7EB"/>
            </a:solidFill>
            <a:prstDash val="solid"/>
          </a:ln>
        </p:spPr>
        <p:txBody>
          <a:bodyPr/>
          <a:lstStyle/>
          <a:p>
            <a:endParaRPr lang="ja-JP" altLang="en-US"/>
          </a:p>
        </p:txBody>
      </p:sp>
      <p:sp>
        <p:nvSpPr>
          <p:cNvPr id="81" name="Text 70"/>
          <p:cNvSpPr txBox="1"/>
          <p:nvPr/>
        </p:nvSpPr>
        <p:spPr>
          <a:xfrm>
            <a:off x="6696151" y="5110582"/>
            <a:ext cx="428854" cy="228600"/>
          </a:xfrm>
          <a:prstGeom prst="rect">
            <a:avLst/>
          </a:prstGeom>
          <a:noFill/>
          <a:ln/>
        </p:spPr>
        <p:txBody>
          <a:bodyPr wrap="square" lIns="0" tIns="0" rIns="0" bIns="0" rtlCol="0" anchor="ctr"/>
          <a:lstStyle/>
          <a:p>
            <a:pPr marL="0" indent="0" algn="l">
              <a:buNone/>
            </a:pPr>
            <a:r>
              <a:rPr lang="en-US" sz="1200" b="1" dirty="0">
                <a:solidFill>
                  <a:srgbClr val="6B7280"/>
                </a:solidFill>
                <a:latin typeface="Noto Sans JP" pitchFamily="34" charset="0"/>
                <a:ea typeface="Noto Sans JP" pitchFamily="34" charset="-122"/>
                <a:cs typeface="Noto Sans JP" pitchFamily="34" charset="-120"/>
              </a:rPr>
              <a:t>対象</a:t>
            </a:r>
            <a:endParaRPr lang="en-US" sz="1200" dirty="0"/>
          </a:p>
        </p:txBody>
      </p:sp>
      <p:sp>
        <p:nvSpPr>
          <p:cNvPr id="82" name="Text 71"/>
          <p:cNvSpPr txBox="1"/>
          <p:nvPr/>
        </p:nvSpPr>
        <p:spPr>
          <a:xfrm>
            <a:off x="6696151" y="5367528"/>
            <a:ext cx="1105510" cy="162763"/>
          </a:xfrm>
          <a:prstGeom prst="rect">
            <a:avLst/>
          </a:prstGeom>
          <a:noFill/>
          <a:ln/>
        </p:spPr>
        <p:txBody>
          <a:bodyPr wrap="square" lIns="0" tIns="0" rIns="0" bIns="0" rtlCol="0" anchor="ctr"/>
          <a:lstStyle/>
          <a:p>
            <a:pPr marL="0" indent="0" algn="l">
              <a:buNone/>
            </a:pPr>
            <a:r>
              <a:rPr lang="en-US" sz="900" b="1" dirty="0">
                <a:solidFill>
                  <a:srgbClr val="374151"/>
                </a:solidFill>
                <a:latin typeface="Noto Sans JP" pitchFamily="34" charset="0"/>
                <a:ea typeface="Noto Sans JP" pitchFamily="34" charset="-122"/>
                <a:cs typeface="Noto Sans JP" pitchFamily="34" charset="-120"/>
              </a:rPr>
              <a:t>Copilot Champion</a:t>
            </a:r>
            <a:endParaRPr lang="en-US" sz="900" dirty="0"/>
          </a:p>
        </p:txBody>
      </p:sp>
      <p:sp>
        <p:nvSpPr>
          <p:cNvPr id="83" name="Text 72"/>
          <p:cNvSpPr txBox="1"/>
          <p:nvPr/>
        </p:nvSpPr>
        <p:spPr>
          <a:xfrm>
            <a:off x="6696151" y="5529377"/>
            <a:ext cx="1524305" cy="228600"/>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週次定例でのFB収集</a:t>
            </a:r>
            <a:endParaRPr lang="en-US" sz="1200" dirty="0"/>
          </a:p>
        </p:txBody>
      </p:sp>
      <p:sp>
        <p:nvSpPr>
          <p:cNvPr id="84" name="Shape 73"/>
          <p:cNvSpPr/>
          <p:nvPr/>
        </p:nvSpPr>
        <p:spPr>
          <a:xfrm>
            <a:off x="8953805" y="5024628"/>
            <a:ext cx="2229307" cy="819302"/>
          </a:xfrm>
          <a:prstGeom prst="roundRect">
            <a:avLst>
              <a:gd name="adj" fmla="val 5191"/>
            </a:avLst>
          </a:prstGeom>
          <a:solidFill>
            <a:srgbClr val="FFFFFF"/>
          </a:solidFill>
          <a:ln w="12700">
            <a:solidFill>
              <a:srgbClr val="E5E7EB"/>
            </a:solidFill>
            <a:prstDash val="solid"/>
          </a:ln>
        </p:spPr>
        <p:txBody>
          <a:bodyPr/>
          <a:lstStyle/>
          <a:p>
            <a:endParaRPr lang="ja-JP" altLang="en-US"/>
          </a:p>
        </p:txBody>
      </p:sp>
      <p:sp>
        <p:nvSpPr>
          <p:cNvPr id="85" name="Text 74"/>
          <p:cNvSpPr txBox="1"/>
          <p:nvPr/>
        </p:nvSpPr>
        <p:spPr>
          <a:xfrm>
            <a:off x="9038844" y="5110582"/>
            <a:ext cx="428854" cy="228600"/>
          </a:xfrm>
          <a:prstGeom prst="rect">
            <a:avLst/>
          </a:prstGeom>
          <a:noFill/>
          <a:ln/>
        </p:spPr>
        <p:txBody>
          <a:bodyPr wrap="square" lIns="0" tIns="0" rIns="0" bIns="0" rtlCol="0" anchor="ctr"/>
          <a:lstStyle/>
          <a:p>
            <a:pPr marL="0" indent="0" algn="l">
              <a:buNone/>
            </a:pPr>
            <a:r>
              <a:rPr lang="en-US" sz="1200" b="1" dirty="0">
                <a:solidFill>
                  <a:srgbClr val="6B7280"/>
                </a:solidFill>
                <a:latin typeface="Noto Sans JP" pitchFamily="34" charset="0"/>
                <a:ea typeface="Noto Sans JP" pitchFamily="34" charset="-122"/>
                <a:cs typeface="Noto Sans JP" pitchFamily="34" charset="-120"/>
              </a:rPr>
              <a:t>対象</a:t>
            </a:r>
            <a:endParaRPr lang="en-US" sz="1200" dirty="0"/>
          </a:p>
        </p:txBody>
      </p:sp>
      <p:sp>
        <p:nvSpPr>
          <p:cNvPr id="86" name="Text 75"/>
          <p:cNvSpPr txBox="1"/>
          <p:nvPr/>
        </p:nvSpPr>
        <p:spPr>
          <a:xfrm>
            <a:off x="9038844" y="5367528"/>
            <a:ext cx="876910" cy="162763"/>
          </a:xfrm>
          <a:prstGeom prst="rect">
            <a:avLst/>
          </a:prstGeom>
          <a:noFill/>
          <a:ln/>
        </p:spPr>
        <p:txBody>
          <a:bodyPr wrap="square" lIns="0" tIns="0" rIns="0" bIns="0" rtlCol="0" anchor="ctr"/>
          <a:lstStyle/>
          <a:p>
            <a:pPr marL="0" indent="0" algn="l">
              <a:buNone/>
            </a:pPr>
            <a:r>
              <a:rPr lang="en-US" sz="900" b="1" dirty="0">
                <a:solidFill>
                  <a:srgbClr val="374151"/>
                </a:solidFill>
                <a:latin typeface="Noto Sans JP" pitchFamily="34" charset="0"/>
                <a:ea typeface="Noto Sans JP" pitchFamily="34" charset="-122"/>
                <a:cs typeface="Noto Sans JP" pitchFamily="34" charset="-120"/>
              </a:rPr>
              <a:t>非アクティブ層</a:t>
            </a:r>
            <a:endParaRPr lang="en-US" sz="900" dirty="0"/>
          </a:p>
        </p:txBody>
      </p:sp>
      <p:sp>
        <p:nvSpPr>
          <p:cNvPr id="87" name="Text 76"/>
          <p:cNvSpPr txBox="1"/>
          <p:nvPr/>
        </p:nvSpPr>
        <p:spPr>
          <a:xfrm>
            <a:off x="9038844" y="5529377"/>
            <a:ext cx="2105863" cy="228600"/>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利用障壁の特定インタビュー</a:t>
            </a:r>
            <a:endParaRPr lang="en-US" sz="1200" dirty="0"/>
          </a:p>
        </p:txBody>
      </p:sp>
      <p:pic>
        <p:nvPicPr>
          <p:cNvPr id="88" name="Image 9" descr="preencoded.png"/>
          <p:cNvPicPr>
            <a:picLocks noChangeAspect="1"/>
          </p:cNvPicPr>
          <p:nvPr/>
        </p:nvPicPr>
        <p:blipFill>
          <a:blip r:embed="rId11"/>
          <a:srcRect/>
          <a:stretch/>
        </p:blipFill>
        <p:spPr>
          <a:xfrm>
            <a:off x="6610198" y="5943600"/>
            <a:ext cx="114300" cy="114300"/>
          </a:xfrm>
          <a:prstGeom prst="rect">
            <a:avLst/>
          </a:prstGeom>
        </p:spPr>
      </p:pic>
      <p:sp>
        <p:nvSpPr>
          <p:cNvPr id="89" name="Text 77"/>
          <p:cNvSpPr txBox="1"/>
          <p:nvPr/>
        </p:nvSpPr>
        <p:spPr>
          <a:xfrm>
            <a:off x="6762902" y="5910682"/>
            <a:ext cx="2943454"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成功事例（Best Practice）と阻害要因を抽出して横展開</a:t>
            </a:r>
            <a:endParaRPr lang="en-US" sz="900" dirty="0"/>
          </a:p>
        </p:txBody>
      </p:sp>
      <p:sp>
        <p:nvSpPr>
          <p:cNvPr id="90" name="Text 78"/>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38</a:t>
            </a:r>
            <a:endParaRPr lang="en-US" sz="900" dirty="0"/>
          </a:p>
        </p:txBody>
      </p:sp>
      <p:sp>
        <p:nvSpPr>
          <p:cNvPr id="91" name="Shape 79"/>
          <p:cNvSpPr/>
          <p:nvPr/>
        </p:nvSpPr>
        <p:spPr>
          <a:xfrm>
            <a:off x="6943954" y="3148279"/>
            <a:ext cx="95098" cy="95098"/>
          </a:xfrm>
          <a:prstGeom prst="ellipse">
            <a:avLst/>
          </a:prstGeom>
          <a:solidFill>
            <a:srgbClr val="FFFFFF"/>
          </a:solidFill>
          <a:ln w="25400">
            <a:solidFill>
              <a:srgbClr val="CBD5E1"/>
            </a:solidFill>
            <a:prstDash val="solid"/>
          </a:ln>
        </p:spPr>
        <p:txBody>
          <a:bodyPr/>
          <a:lstStyle/>
          <a:p>
            <a:endParaRPr lang="ja-JP" altLang="en-US"/>
          </a:p>
        </p:txBody>
      </p:sp>
      <p:sp>
        <p:nvSpPr>
          <p:cNvPr id="92" name="Shape 80"/>
          <p:cNvSpPr/>
          <p:nvPr/>
        </p:nvSpPr>
        <p:spPr>
          <a:xfrm>
            <a:off x="8086954" y="3148279"/>
            <a:ext cx="95098" cy="95098"/>
          </a:xfrm>
          <a:prstGeom prst="ellipse">
            <a:avLst/>
          </a:prstGeom>
          <a:solidFill>
            <a:srgbClr val="FFFFFF"/>
          </a:solidFill>
          <a:ln w="25400">
            <a:solidFill>
              <a:srgbClr val="CBD5E1"/>
            </a:solidFill>
            <a:prstDash val="solid"/>
          </a:ln>
        </p:spPr>
        <p:txBody>
          <a:bodyPr/>
          <a:lstStyle/>
          <a:p>
            <a:endParaRPr lang="ja-JP" altLang="en-US"/>
          </a:p>
        </p:txBody>
      </p:sp>
      <p:sp>
        <p:nvSpPr>
          <p:cNvPr id="93" name="Shape 81"/>
          <p:cNvSpPr/>
          <p:nvPr/>
        </p:nvSpPr>
        <p:spPr>
          <a:xfrm>
            <a:off x="8944661" y="3148279"/>
            <a:ext cx="95098" cy="95098"/>
          </a:xfrm>
          <a:prstGeom prst="ellipse">
            <a:avLst/>
          </a:prstGeom>
          <a:solidFill>
            <a:srgbClr val="FFFFFF"/>
          </a:solidFill>
          <a:ln w="25400">
            <a:solidFill>
              <a:srgbClr val="CBD5E1"/>
            </a:solidFill>
            <a:prstDash val="solid"/>
          </a:ln>
        </p:spPr>
        <p:txBody>
          <a:bodyPr/>
          <a:lstStyle/>
          <a:p>
            <a:endParaRPr lang="ja-JP" altLang="en-US"/>
          </a:p>
        </p:txBody>
      </p:sp>
      <p:sp>
        <p:nvSpPr>
          <p:cNvPr id="94" name="Shape 82"/>
          <p:cNvSpPr/>
          <p:nvPr/>
        </p:nvSpPr>
        <p:spPr>
          <a:xfrm>
            <a:off x="9754819" y="3148279"/>
            <a:ext cx="95098" cy="95098"/>
          </a:xfrm>
          <a:prstGeom prst="ellipse">
            <a:avLst/>
          </a:prstGeom>
          <a:solidFill>
            <a:srgbClr val="FFFFFF"/>
          </a:solidFill>
          <a:ln w="25400">
            <a:solidFill>
              <a:srgbClr val="CBD5E1"/>
            </a:solidFill>
            <a:prstDash val="solid"/>
          </a:ln>
        </p:spPr>
        <p:txBody>
          <a:bodyPr/>
          <a:lstStyle/>
          <a:p>
            <a:endParaRPr lang="ja-JP" altLang="en-US"/>
          </a:p>
        </p:txBody>
      </p:sp>
      <p:sp>
        <p:nvSpPr>
          <p:cNvPr id="95" name="Shape 83"/>
          <p:cNvSpPr/>
          <p:nvPr/>
        </p:nvSpPr>
        <p:spPr>
          <a:xfrm>
            <a:off x="10801807" y="3148279"/>
            <a:ext cx="95098" cy="95098"/>
          </a:xfrm>
          <a:prstGeom prst="ellipse">
            <a:avLst/>
          </a:prstGeom>
          <a:solidFill>
            <a:srgbClr val="FFFFFF"/>
          </a:solidFill>
          <a:ln w="25400">
            <a:solidFill>
              <a:srgbClr val="CBD5E1"/>
            </a:solidFill>
            <a:prstDash val="solid"/>
          </a:ln>
        </p:spPr>
        <p:txBody>
          <a:bodyPr/>
          <a:lstStyle/>
          <a:p>
            <a:endParaRPr lang="ja-JP"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047902"/>
          </a:xfrm>
          <a:prstGeom prst="rect">
            <a:avLst/>
          </a:prstGeom>
          <a:solidFill>
            <a:srgbClr val="FFFFFF"/>
          </a:solidFill>
          <a:ln/>
        </p:spPr>
        <p:txBody>
          <a:bodyPr/>
          <a:lstStyle/>
          <a:p>
            <a:endParaRPr lang="ja-JP" altLang="en-US"/>
          </a:p>
        </p:txBody>
      </p:sp>
      <p:sp>
        <p:nvSpPr>
          <p:cNvPr id="5" name="Shape 3"/>
          <p:cNvSpPr/>
          <p:nvPr/>
        </p:nvSpPr>
        <p:spPr>
          <a:xfrm>
            <a:off x="0" y="1038758"/>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190195"/>
            <a:ext cx="6082589" cy="419710"/>
          </a:xfrm>
          <a:prstGeom prst="rect">
            <a:avLst/>
          </a:prstGeom>
          <a:noFill/>
          <a:ln/>
        </p:spPr>
        <p:txBody>
          <a:bodyPr wrap="square" lIns="0" tIns="0" rIns="0" bIns="0" rtlCol="0" anchor="ctr"/>
          <a:lstStyle/>
          <a:p>
            <a:pPr marL="0" indent="0" algn="l">
              <a:buNone/>
            </a:pPr>
            <a:r>
              <a:rPr lang="en-US" sz="2200" b="1" dirty="0">
                <a:solidFill>
                  <a:srgbClr val="1E3A8A"/>
                </a:solidFill>
                <a:latin typeface="Noto Sans JP" pitchFamily="34" charset="0"/>
                <a:ea typeface="Noto Sans JP" pitchFamily="34" charset="-122"/>
                <a:cs typeface="Noto Sans JP" pitchFamily="34" charset="-120"/>
              </a:rPr>
              <a:t>フェーズ4（トライアル展開と効果測定）</a:t>
            </a:r>
            <a:endParaRPr lang="en-US" sz="2200" dirty="0"/>
          </a:p>
        </p:txBody>
      </p:sp>
      <p:sp>
        <p:nvSpPr>
          <p:cNvPr id="7" name="Text 5"/>
          <p:cNvSpPr txBox="1"/>
          <p:nvPr/>
        </p:nvSpPr>
        <p:spPr>
          <a:xfrm>
            <a:off x="609905" y="629107"/>
            <a:ext cx="4356202" cy="219456"/>
          </a:xfrm>
          <a:prstGeom prst="rect">
            <a:avLst/>
          </a:prstGeom>
          <a:noFill/>
          <a:ln/>
        </p:spPr>
        <p:txBody>
          <a:bodyPr wrap="square" lIns="0" tIns="0" rIns="0" bIns="0" rtlCol="0" anchor="ctr"/>
          <a:lstStyle/>
          <a:p>
            <a:pPr marL="0" indent="0" algn="l">
              <a:buNone/>
            </a:pPr>
            <a:r>
              <a:rPr lang="en-US" sz="1100" dirty="0">
                <a:solidFill>
                  <a:srgbClr val="64748B"/>
                </a:solidFill>
                <a:latin typeface="Noto Sans JP" pitchFamily="34" charset="0"/>
                <a:ea typeface="Noto Sans JP" pitchFamily="34" charset="-122"/>
                <a:cs typeface="Noto Sans JP" pitchFamily="34" charset="-120"/>
              </a:rPr>
              <a:t>期間：3-6ヶ月 限定部門での先行導入と定量的・定性的効果の検証</a:t>
            </a:r>
            <a:endParaRPr lang="en-US" sz="1100" dirty="0"/>
          </a:p>
        </p:txBody>
      </p:sp>
      <p:sp>
        <p:nvSpPr>
          <p:cNvPr id="8" name="Shape 6"/>
          <p:cNvSpPr/>
          <p:nvPr/>
        </p:nvSpPr>
        <p:spPr>
          <a:xfrm>
            <a:off x="10337292" y="543154"/>
            <a:ext cx="1248156" cy="304495"/>
          </a:xfrm>
          <a:prstGeom prst="roundRect">
            <a:avLst>
              <a:gd name="adj" fmla="val 187688"/>
            </a:avLst>
          </a:prstGeom>
          <a:solidFill>
            <a:srgbClr val="1D4ED8"/>
          </a:solidFill>
          <a:ln/>
        </p:spPr>
        <p:txBody>
          <a:bodyPr/>
          <a:lstStyle/>
          <a:p>
            <a:endParaRPr lang="ja-JP" altLang="en-US"/>
          </a:p>
        </p:txBody>
      </p:sp>
      <p:sp>
        <p:nvSpPr>
          <p:cNvPr id="9" name="Text 7"/>
          <p:cNvSpPr txBox="1"/>
          <p:nvPr/>
        </p:nvSpPr>
        <p:spPr>
          <a:xfrm>
            <a:off x="10489082" y="599846"/>
            <a:ext cx="1036015" cy="181051"/>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Phase 4 Detail</a:t>
            </a:r>
            <a:endParaRPr lang="en-US" sz="900" dirty="0"/>
          </a:p>
        </p:txBody>
      </p:sp>
      <p:sp>
        <p:nvSpPr>
          <p:cNvPr id="11" name="Shape 9"/>
          <p:cNvSpPr/>
          <p:nvPr/>
        </p:nvSpPr>
        <p:spPr>
          <a:xfrm>
            <a:off x="609905" y="1347826"/>
            <a:ext cx="38405" cy="228600"/>
          </a:xfrm>
          <a:prstGeom prst="rect">
            <a:avLst/>
          </a:prstGeom>
          <a:solidFill>
            <a:srgbClr val="3B82F6"/>
          </a:solidFill>
          <a:ln/>
        </p:spPr>
        <p:txBody>
          <a:bodyPr/>
          <a:lstStyle/>
          <a:p>
            <a:endParaRPr lang="ja-JP" altLang="en-US"/>
          </a:p>
        </p:txBody>
      </p:sp>
      <p:pic>
        <p:nvPicPr>
          <p:cNvPr id="12" name="Image 0" descr="preencoded.png"/>
          <p:cNvPicPr>
            <a:picLocks noChangeAspect="1"/>
          </p:cNvPicPr>
          <p:nvPr/>
        </p:nvPicPr>
        <p:blipFill>
          <a:blip r:embed="rId3"/>
          <a:srcRect/>
          <a:stretch/>
        </p:blipFill>
        <p:spPr>
          <a:xfrm>
            <a:off x="724205" y="1386230"/>
            <a:ext cx="152705" cy="152705"/>
          </a:xfrm>
          <a:prstGeom prst="rect">
            <a:avLst/>
          </a:prstGeom>
        </p:spPr>
      </p:pic>
      <p:sp>
        <p:nvSpPr>
          <p:cNvPr id="13" name="Text 10"/>
          <p:cNvSpPr txBox="1"/>
          <p:nvPr/>
        </p:nvSpPr>
        <p:spPr>
          <a:xfrm>
            <a:off x="952805" y="1347826"/>
            <a:ext cx="1181405" cy="228600"/>
          </a:xfrm>
          <a:prstGeom prst="rect">
            <a:avLst/>
          </a:prstGeom>
          <a:noFill/>
          <a:ln/>
        </p:spPr>
        <p:txBody>
          <a:bodyPr wrap="square" lIns="0" tIns="0" rIns="0" bIns="0" rtlCol="0" anchor="ctr"/>
          <a:lstStyle/>
          <a:p>
            <a:pPr marL="0" indent="0" algn="l">
              <a:buNone/>
            </a:pPr>
            <a:r>
              <a:rPr lang="en-US" sz="1200" b="1" dirty="0">
                <a:solidFill>
                  <a:srgbClr val="1E40AF"/>
                </a:solidFill>
                <a:latin typeface="Noto Sans JP" pitchFamily="34" charset="0"/>
                <a:ea typeface="Noto Sans JP" pitchFamily="34" charset="-122"/>
                <a:cs typeface="Noto Sans JP" pitchFamily="34" charset="-120"/>
              </a:rPr>
              <a:t>トライアル設計</a:t>
            </a:r>
            <a:endParaRPr lang="en-US" sz="1200" dirty="0"/>
          </a:p>
        </p:txBody>
      </p:sp>
      <p:sp>
        <p:nvSpPr>
          <p:cNvPr id="14" name="Shape 11"/>
          <p:cNvSpPr/>
          <p:nvPr/>
        </p:nvSpPr>
        <p:spPr>
          <a:xfrm>
            <a:off x="609905" y="1690726"/>
            <a:ext cx="3534156" cy="990295"/>
          </a:xfrm>
          <a:prstGeom prst="roundRect">
            <a:avLst>
              <a:gd name="adj" fmla="val 10654"/>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15" name="Shape 12"/>
          <p:cNvSpPr/>
          <p:nvPr/>
        </p:nvSpPr>
        <p:spPr>
          <a:xfrm>
            <a:off x="771754" y="1957730"/>
            <a:ext cx="457200" cy="457200"/>
          </a:xfrm>
          <a:prstGeom prst="roundRect">
            <a:avLst>
              <a:gd name="adj" fmla="val 41667"/>
            </a:avLst>
          </a:prstGeom>
          <a:solidFill>
            <a:srgbClr val="EFF6FF"/>
          </a:solidFill>
          <a:ln/>
        </p:spPr>
        <p:txBody>
          <a:bodyPr/>
          <a:lstStyle/>
          <a:p>
            <a:endParaRPr lang="ja-JP" altLang="en-US"/>
          </a:p>
        </p:txBody>
      </p:sp>
      <p:pic>
        <p:nvPicPr>
          <p:cNvPr id="16" name="Image 1" descr="preencoded.png"/>
          <p:cNvPicPr>
            <a:picLocks noChangeAspect="1"/>
          </p:cNvPicPr>
          <p:nvPr/>
        </p:nvPicPr>
        <p:blipFill>
          <a:blip r:embed="rId4"/>
          <a:srcRect/>
          <a:stretch/>
        </p:blipFill>
        <p:spPr>
          <a:xfrm>
            <a:off x="905256" y="2090318"/>
            <a:ext cx="190195" cy="190195"/>
          </a:xfrm>
          <a:prstGeom prst="rect">
            <a:avLst/>
          </a:prstGeom>
        </p:spPr>
      </p:pic>
      <p:sp>
        <p:nvSpPr>
          <p:cNvPr id="17" name="Text 13"/>
          <p:cNvSpPr txBox="1"/>
          <p:nvPr/>
        </p:nvSpPr>
        <p:spPr>
          <a:xfrm>
            <a:off x="1380744" y="1852574"/>
            <a:ext cx="633679" cy="191110"/>
          </a:xfrm>
          <a:prstGeom prst="rect">
            <a:avLst/>
          </a:prstGeom>
          <a:noFill/>
          <a:ln/>
        </p:spPr>
        <p:txBody>
          <a:bodyPr wrap="square" lIns="0" tIns="0" rIns="0" bIns="0" rtlCol="0" anchor="ctr"/>
          <a:lstStyle/>
          <a:p>
            <a:pPr marL="0" indent="0" algn="l">
              <a:buNone/>
            </a:pPr>
            <a:r>
              <a:rPr lang="en-US" sz="1000" b="1" dirty="0">
                <a:solidFill>
                  <a:srgbClr val="64748B"/>
                </a:solidFill>
                <a:latin typeface="Noto Sans JP" pitchFamily="34" charset="0"/>
                <a:ea typeface="Noto Sans JP" pitchFamily="34" charset="-122"/>
                <a:cs typeface="Noto Sans JP" pitchFamily="34" charset="-120"/>
              </a:rPr>
              <a:t>対象部門</a:t>
            </a:r>
            <a:endParaRPr lang="en-US" sz="1000" dirty="0"/>
          </a:p>
        </p:txBody>
      </p:sp>
      <p:sp>
        <p:nvSpPr>
          <p:cNvPr id="18" name="Text 14"/>
          <p:cNvSpPr txBox="1"/>
          <p:nvPr/>
        </p:nvSpPr>
        <p:spPr>
          <a:xfrm>
            <a:off x="1380744" y="2090318"/>
            <a:ext cx="2679192" cy="419710"/>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営業・経理・人事など利用効果が高い3-5部門</a:t>
            </a:r>
            <a:endParaRPr lang="en-US" sz="1100" dirty="0"/>
          </a:p>
        </p:txBody>
      </p:sp>
      <p:sp>
        <p:nvSpPr>
          <p:cNvPr id="19" name="Shape 15"/>
          <p:cNvSpPr/>
          <p:nvPr/>
        </p:nvSpPr>
        <p:spPr>
          <a:xfrm>
            <a:off x="4330598" y="1690726"/>
            <a:ext cx="3534156" cy="990295"/>
          </a:xfrm>
          <a:prstGeom prst="roundRect">
            <a:avLst>
              <a:gd name="adj" fmla="val 10654"/>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20" name="Shape 16"/>
          <p:cNvSpPr/>
          <p:nvPr/>
        </p:nvSpPr>
        <p:spPr>
          <a:xfrm>
            <a:off x="4492447" y="1957730"/>
            <a:ext cx="457200" cy="457200"/>
          </a:xfrm>
          <a:prstGeom prst="roundRect">
            <a:avLst>
              <a:gd name="adj" fmla="val 41667"/>
            </a:avLst>
          </a:prstGeom>
          <a:solidFill>
            <a:srgbClr val="EFF6FF"/>
          </a:solidFill>
          <a:ln/>
        </p:spPr>
        <p:txBody>
          <a:bodyPr/>
          <a:lstStyle/>
          <a:p>
            <a:endParaRPr lang="ja-JP" altLang="en-US"/>
          </a:p>
        </p:txBody>
      </p:sp>
      <p:pic>
        <p:nvPicPr>
          <p:cNvPr id="21" name="Image 2" descr="preencoded.png"/>
          <p:cNvPicPr>
            <a:picLocks noChangeAspect="1"/>
          </p:cNvPicPr>
          <p:nvPr/>
        </p:nvPicPr>
        <p:blipFill>
          <a:blip r:embed="rId5"/>
          <a:srcRect l="-1648" r="-1648"/>
          <a:stretch/>
        </p:blipFill>
        <p:spPr>
          <a:xfrm>
            <a:off x="4635094" y="2090318"/>
            <a:ext cx="171907" cy="190195"/>
          </a:xfrm>
          <a:prstGeom prst="rect">
            <a:avLst/>
          </a:prstGeom>
        </p:spPr>
      </p:pic>
      <p:sp>
        <p:nvSpPr>
          <p:cNvPr id="22" name="Text 17"/>
          <p:cNvSpPr txBox="1"/>
          <p:nvPr/>
        </p:nvSpPr>
        <p:spPr>
          <a:xfrm>
            <a:off x="5102352" y="1852574"/>
            <a:ext cx="1252728" cy="191110"/>
          </a:xfrm>
          <a:prstGeom prst="rect">
            <a:avLst/>
          </a:prstGeom>
          <a:noFill/>
          <a:ln/>
        </p:spPr>
        <p:txBody>
          <a:bodyPr wrap="square" lIns="0" tIns="0" rIns="0" bIns="0" rtlCol="0" anchor="ctr"/>
          <a:lstStyle/>
          <a:p>
            <a:pPr marL="0" indent="0" algn="l">
              <a:buNone/>
            </a:pPr>
            <a:r>
              <a:rPr lang="en-US" sz="1000" b="1" dirty="0">
                <a:solidFill>
                  <a:srgbClr val="64748B"/>
                </a:solidFill>
                <a:latin typeface="Noto Sans JP" pitchFamily="34" charset="0"/>
                <a:ea typeface="Noto Sans JP" pitchFamily="34" charset="-122"/>
                <a:cs typeface="Noto Sans JP" pitchFamily="34" charset="-120"/>
              </a:rPr>
              <a:t>期間構成（3ヶ月）</a:t>
            </a:r>
            <a:endParaRPr lang="en-US" sz="1000" dirty="0"/>
          </a:p>
        </p:txBody>
      </p:sp>
      <p:sp>
        <p:nvSpPr>
          <p:cNvPr id="23" name="Text 18"/>
          <p:cNvSpPr txBox="1"/>
          <p:nvPr/>
        </p:nvSpPr>
        <p:spPr>
          <a:xfrm>
            <a:off x="5102352" y="2090318"/>
            <a:ext cx="1631290"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準備1ヶ月 → 運用1ヶ月</a:t>
            </a:r>
            <a:endParaRPr lang="en-US" sz="1100" dirty="0"/>
          </a:p>
        </p:txBody>
      </p:sp>
      <p:sp>
        <p:nvSpPr>
          <p:cNvPr id="24" name="Text 19"/>
          <p:cNvSpPr txBox="1"/>
          <p:nvPr/>
        </p:nvSpPr>
        <p:spPr>
          <a:xfrm>
            <a:off x="5102352" y="2305202"/>
            <a:ext cx="945490"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 評価1ヶ月</a:t>
            </a:r>
            <a:endParaRPr lang="en-US" sz="1100" dirty="0"/>
          </a:p>
        </p:txBody>
      </p:sp>
      <p:sp>
        <p:nvSpPr>
          <p:cNvPr id="25" name="Shape 20"/>
          <p:cNvSpPr/>
          <p:nvPr/>
        </p:nvSpPr>
        <p:spPr>
          <a:xfrm>
            <a:off x="8052206" y="1690726"/>
            <a:ext cx="3534156" cy="990295"/>
          </a:xfrm>
          <a:prstGeom prst="roundRect">
            <a:avLst>
              <a:gd name="adj" fmla="val 10654"/>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26" name="Shape 21"/>
          <p:cNvSpPr/>
          <p:nvPr/>
        </p:nvSpPr>
        <p:spPr>
          <a:xfrm>
            <a:off x="8214055" y="1957730"/>
            <a:ext cx="457200" cy="457200"/>
          </a:xfrm>
          <a:prstGeom prst="roundRect">
            <a:avLst>
              <a:gd name="adj" fmla="val 41667"/>
            </a:avLst>
          </a:prstGeom>
          <a:solidFill>
            <a:srgbClr val="EFF6FF"/>
          </a:solidFill>
          <a:ln/>
        </p:spPr>
        <p:txBody>
          <a:bodyPr/>
          <a:lstStyle/>
          <a:p>
            <a:endParaRPr lang="ja-JP" altLang="en-US"/>
          </a:p>
        </p:txBody>
      </p:sp>
      <p:pic>
        <p:nvPicPr>
          <p:cNvPr id="27" name="Image 3" descr="preencoded.png"/>
          <p:cNvPicPr>
            <a:picLocks noChangeAspect="1"/>
          </p:cNvPicPr>
          <p:nvPr/>
        </p:nvPicPr>
        <p:blipFill>
          <a:blip r:embed="rId6"/>
          <a:srcRect/>
          <a:stretch/>
        </p:blipFill>
        <p:spPr>
          <a:xfrm>
            <a:off x="8322869" y="2090318"/>
            <a:ext cx="237744" cy="190195"/>
          </a:xfrm>
          <a:prstGeom prst="rect">
            <a:avLst/>
          </a:prstGeom>
        </p:spPr>
      </p:pic>
      <p:sp>
        <p:nvSpPr>
          <p:cNvPr id="28" name="Text 22"/>
          <p:cNvSpPr txBox="1"/>
          <p:nvPr/>
        </p:nvSpPr>
        <p:spPr>
          <a:xfrm>
            <a:off x="8823046" y="1959559"/>
            <a:ext cx="633679" cy="191110"/>
          </a:xfrm>
          <a:prstGeom prst="rect">
            <a:avLst/>
          </a:prstGeom>
          <a:noFill/>
          <a:ln/>
        </p:spPr>
        <p:txBody>
          <a:bodyPr wrap="square" lIns="0" tIns="0" rIns="0" bIns="0" rtlCol="0" anchor="ctr"/>
          <a:lstStyle/>
          <a:p>
            <a:pPr marL="0" indent="0" algn="l">
              <a:buNone/>
            </a:pPr>
            <a:r>
              <a:rPr lang="en-US" sz="1000" b="1" dirty="0">
                <a:solidFill>
                  <a:srgbClr val="64748B"/>
                </a:solidFill>
                <a:latin typeface="Noto Sans JP" pitchFamily="34" charset="0"/>
                <a:ea typeface="Noto Sans JP" pitchFamily="34" charset="-122"/>
                <a:cs typeface="Noto Sans JP" pitchFamily="34" charset="-120"/>
              </a:rPr>
              <a:t>参加規模</a:t>
            </a:r>
            <a:endParaRPr lang="en-US" sz="1000" dirty="0"/>
          </a:p>
        </p:txBody>
      </p:sp>
      <p:sp>
        <p:nvSpPr>
          <p:cNvPr id="29" name="Text 23"/>
          <p:cNvSpPr txBox="1"/>
          <p:nvPr/>
        </p:nvSpPr>
        <p:spPr>
          <a:xfrm>
            <a:off x="8823046" y="2198218"/>
            <a:ext cx="2327148"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全体 50-100名各部門 10-20名選抜</a:t>
            </a:r>
            <a:endParaRPr lang="en-US" sz="1100" dirty="0"/>
          </a:p>
        </p:txBody>
      </p:sp>
      <p:sp>
        <p:nvSpPr>
          <p:cNvPr id="30" name="Shape 24"/>
          <p:cNvSpPr/>
          <p:nvPr/>
        </p:nvSpPr>
        <p:spPr>
          <a:xfrm>
            <a:off x="609905" y="2909621"/>
            <a:ext cx="38405" cy="228600"/>
          </a:xfrm>
          <a:prstGeom prst="rect">
            <a:avLst/>
          </a:prstGeom>
          <a:solidFill>
            <a:srgbClr val="3B82F6"/>
          </a:solidFill>
          <a:ln/>
        </p:spPr>
        <p:txBody>
          <a:bodyPr/>
          <a:lstStyle/>
          <a:p>
            <a:endParaRPr lang="ja-JP" altLang="en-US"/>
          </a:p>
        </p:txBody>
      </p:sp>
      <p:pic>
        <p:nvPicPr>
          <p:cNvPr id="31" name="Image 4" descr="preencoded.png"/>
          <p:cNvPicPr>
            <a:picLocks noChangeAspect="1"/>
          </p:cNvPicPr>
          <p:nvPr/>
        </p:nvPicPr>
        <p:blipFill>
          <a:blip r:embed="rId7"/>
          <a:srcRect/>
          <a:stretch/>
        </p:blipFill>
        <p:spPr>
          <a:xfrm>
            <a:off x="724205" y="2948026"/>
            <a:ext cx="152705" cy="152705"/>
          </a:xfrm>
          <a:prstGeom prst="rect">
            <a:avLst/>
          </a:prstGeom>
        </p:spPr>
      </p:pic>
      <p:sp>
        <p:nvSpPr>
          <p:cNvPr id="32" name="Text 25"/>
          <p:cNvSpPr txBox="1"/>
          <p:nvPr/>
        </p:nvSpPr>
        <p:spPr>
          <a:xfrm>
            <a:off x="952805" y="2909621"/>
            <a:ext cx="2334463" cy="228600"/>
          </a:xfrm>
          <a:prstGeom prst="rect">
            <a:avLst/>
          </a:prstGeom>
          <a:noFill/>
          <a:ln/>
        </p:spPr>
        <p:txBody>
          <a:bodyPr wrap="square" lIns="0" tIns="0" rIns="0" bIns="0" rtlCol="0" anchor="ctr"/>
          <a:lstStyle/>
          <a:p>
            <a:pPr marL="0" indent="0" algn="l">
              <a:buNone/>
            </a:pPr>
            <a:r>
              <a:rPr lang="en-US" sz="1200" b="1" dirty="0">
                <a:solidFill>
                  <a:srgbClr val="1E40AF"/>
                </a:solidFill>
                <a:latin typeface="Noto Sans JP" pitchFamily="34" charset="0"/>
                <a:ea typeface="Noto Sans JP" pitchFamily="34" charset="-122"/>
                <a:cs typeface="Noto Sans JP" pitchFamily="34" charset="-120"/>
              </a:rPr>
              <a:t>効果測定システム（4つの視点）</a:t>
            </a:r>
            <a:endParaRPr lang="en-US" sz="1200" dirty="0"/>
          </a:p>
        </p:txBody>
      </p:sp>
      <p:sp>
        <p:nvSpPr>
          <p:cNvPr id="33" name="Shape 26"/>
          <p:cNvSpPr/>
          <p:nvPr/>
        </p:nvSpPr>
        <p:spPr>
          <a:xfrm>
            <a:off x="609905" y="3252521"/>
            <a:ext cx="5391302" cy="1047902"/>
          </a:xfrm>
          <a:prstGeom prst="roundRect">
            <a:avLst>
              <a:gd name="adj" fmla="val 9519"/>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34" name="Shape 27"/>
          <p:cNvSpPr/>
          <p:nvPr/>
        </p:nvSpPr>
        <p:spPr>
          <a:xfrm>
            <a:off x="809244" y="3452774"/>
            <a:ext cx="381305" cy="381305"/>
          </a:xfrm>
          <a:prstGeom prst="ellipse">
            <a:avLst/>
          </a:prstGeom>
          <a:solidFill>
            <a:srgbClr val="F0F9FF"/>
          </a:solidFill>
          <a:ln/>
        </p:spPr>
        <p:txBody>
          <a:bodyPr/>
          <a:lstStyle/>
          <a:p>
            <a:endParaRPr lang="ja-JP" altLang="en-US"/>
          </a:p>
        </p:txBody>
      </p:sp>
      <p:pic>
        <p:nvPicPr>
          <p:cNvPr id="35" name="Image 5" descr="preencoded.png"/>
          <p:cNvPicPr>
            <a:picLocks noChangeAspect="1"/>
          </p:cNvPicPr>
          <p:nvPr/>
        </p:nvPicPr>
        <p:blipFill>
          <a:blip r:embed="rId8"/>
          <a:srcRect/>
          <a:stretch/>
        </p:blipFill>
        <p:spPr>
          <a:xfrm>
            <a:off x="914400" y="3557930"/>
            <a:ext cx="171907" cy="171907"/>
          </a:xfrm>
          <a:prstGeom prst="rect">
            <a:avLst/>
          </a:prstGeom>
        </p:spPr>
      </p:pic>
      <p:sp>
        <p:nvSpPr>
          <p:cNvPr id="36" name="Text 28"/>
          <p:cNvSpPr txBox="1"/>
          <p:nvPr/>
        </p:nvSpPr>
        <p:spPr>
          <a:xfrm>
            <a:off x="1343254" y="3452774"/>
            <a:ext cx="1145743"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① 利用ログ分析</a:t>
            </a:r>
            <a:endParaRPr lang="en-US" sz="1100" dirty="0"/>
          </a:p>
        </p:txBody>
      </p:sp>
      <p:sp>
        <p:nvSpPr>
          <p:cNvPr id="37" name="Text 29"/>
          <p:cNvSpPr txBox="1"/>
          <p:nvPr/>
        </p:nvSpPr>
        <p:spPr>
          <a:xfrm>
            <a:off x="1343254" y="3724351"/>
            <a:ext cx="4475074" cy="37216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M365管理センターを活用し、アプリ別利用頻度やアクティブ状況を客観的に把握。</a:t>
            </a:r>
            <a:endParaRPr lang="en-US" sz="900" dirty="0"/>
          </a:p>
        </p:txBody>
      </p:sp>
      <p:sp>
        <p:nvSpPr>
          <p:cNvPr id="38" name="Shape 30"/>
          <p:cNvSpPr/>
          <p:nvPr/>
        </p:nvSpPr>
        <p:spPr>
          <a:xfrm>
            <a:off x="6191402" y="3252521"/>
            <a:ext cx="5391302" cy="1047902"/>
          </a:xfrm>
          <a:prstGeom prst="roundRect">
            <a:avLst>
              <a:gd name="adj" fmla="val 9519"/>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39" name="Shape 31"/>
          <p:cNvSpPr/>
          <p:nvPr/>
        </p:nvSpPr>
        <p:spPr>
          <a:xfrm>
            <a:off x="6391656" y="3452774"/>
            <a:ext cx="381305" cy="381305"/>
          </a:xfrm>
          <a:prstGeom prst="ellipse">
            <a:avLst/>
          </a:prstGeom>
          <a:solidFill>
            <a:srgbClr val="F0F9FF"/>
          </a:solidFill>
          <a:ln/>
        </p:spPr>
        <p:txBody>
          <a:bodyPr/>
          <a:lstStyle/>
          <a:p>
            <a:endParaRPr lang="ja-JP" altLang="en-US"/>
          </a:p>
        </p:txBody>
      </p:sp>
      <p:pic>
        <p:nvPicPr>
          <p:cNvPr id="40" name="Image 6" descr="preencoded.png"/>
          <p:cNvPicPr>
            <a:picLocks noChangeAspect="1"/>
          </p:cNvPicPr>
          <p:nvPr/>
        </p:nvPicPr>
        <p:blipFill>
          <a:blip r:embed="rId9"/>
          <a:srcRect l="-760" r="-760"/>
          <a:stretch/>
        </p:blipFill>
        <p:spPr>
          <a:xfrm>
            <a:off x="6505956" y="3557930"/>
            <a:ext cx="152705" cy="171907"/>
          </a:xfrm>
          <a:prstGeom prst="rect">
            <a:avLst/>
          </a:prstGeom>
        </p:spPr>
      </p:pic>
      <p:sp>
        <p:nvSpPr>
          <p:cNvPr id="41" name="Text 32"/>
          <p:cNvSpPr txBox="1"/>
          <p:nvPr/>
        </p:nvSpPr>
        <p:spPr>
          <a:xfrm>
            <a:off x="6924751" y="3452774"/>
            <a:ext cx="1279246"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② アンケート調査</a:t>
            </a:r>
            <a:endParaRPr lang="en-US" sz="1100" dirty="0"/>
          </a:p>
        </p:txBody>
      </p:sp>
      <p:sp>
        <p:nvSpPr>
          <p:cNvPr id="42" name="Text 33"/>
          <p:cNvSpPr txBox="1"/>
          <p:nvPr/>
        </p:nvSpPr>
        <p:spPr>
          <a:xfrm>
            <a:off x="6924751" y="3724351"/>
            <a:ext cx="4055364"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利用前後の意識変化、機能ごとの満足度、業務への貢献度を定点観測。</a:t>
            </a:r>
            <a:endParaRPr lang="en-US" sz="900" dirty="0"/>
          </a:p>
        </p:txBody>
      </p:sp>
      <p:sp>
        <p:nvSpPr>
          <p:cNvPr id="43" name="Shape 34"/>
          <p:cNvSpPr/>
          <p:nvPr/>
        </p:nvSpPr>
        <p:spPr>
          <a:xfrm>
            <a:off x="609905" y="4486046"/>
            <a:ext cx="5391302" cy="1047902"/>
          </a:xfrm>
          <a:prstGeom prst="roundRect">
            <a:avLst>
              <a:gd name="adj" fmla="val 9519"/>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44" name="Shape 35"/>
          <p:cNvSpPr/>
          <p:nvPr/>
        </p:nvSpPr>
        <p:spPr>
          <a:xfrm>
            <a:off x="809244" y="4686300"/>
            <a:ext cx="381305" cy="381305"/>
          </a:xfrm>
          <a:prstGeom prst="ellipse">
            <a:avLst/>
          </a:prstGeom>
          <a:solidFill>
            <a:srgbClr val="F0F9FF"/>
          </a:solidFill>
          <a:ln/>
        </p:spPr>
        <p:txBody>
          <a:bodyPr/>
          <a:lstStyle/>
          <a:p>
            <a:endParaRPr lang="ja-JP" altLang="en-US"/>
          </a:p>
        </p:txBody>
      </p:sp>
      <p:pic>
        <p:nvPicPr>
          <p:cNvPr id="45" name="Image 7" descr="preencoded.png"/>
          <p:cNvPicPr>
            <a:picLocks noChangeAspect="1"/>
          </p:cNvPicPr>
          <p:nvPr/>
        </p:nvPicPr>
        <p:blipFill>
          <a:blip r:embed="rId10"/>
          <a:srcRect l="-760" r="-760"/>
          <a:stretch/>
        </p:blipFill>
        <p:spPr>
          <a:xfrm>
            <a:off x="923544" y="4791456"/>
            <a:ext cx="152705" cy="171907"/>
          </a:xfrm>
          <a:prstGeom prst="rect">
            <a:avLst/>
          </a:prstGeom>
        </p:spPr>
      </p:pic>
      <p:sp>
        <p:nvSpPr>
          <p:cNvPr id="46" name="Text 36"/>
          <p:cNvSpPr txBox="1"/>
          <p:nvPr/>
        </p:nvSpPr>
        <p:spPr>
          <a:xfrm>
            <a:off x="1343254" y="4686300"/>
            <a:ext cx="1270102"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③ 時間測定 (BVA)</a:t>
            </a:r>
            <a:endParaRPr lang="en-US" sz="1100" dirty="0"/>
          </a:p>
        </p:txBody>
      </p:sp>
      <p:sp>
        <p:nvSpPr>
          <p:cNvPr id="47" name="Text 37"/>
          <p:cNvSpPr txBox="1"/>
          <p:nvPr/>
        </p:nvSpPr>
        <p:spPr>
          <a:xfrm>
            <a:off x="1343254" y="4957877"/>
            <a:ext cx="4512564" cy="37216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特定業務（例：議事録作成）の処理時間を測定し、Business Value Assessmentで効果算出。</a:t>
            </a:r>
            <a:endParaRPr lang="en-US" sz="900" dirty="0"/>
          </a:p>
        </p:txBody>
      </p:sp>
      <p:sp>
        <p:nvSpPr>
          <p:cNvPr id="48" name="Shape 38"/>
          <p:cNvSpPr/>
          <p:nvPr/>
        </p:nvSpPr>
        <p:spPr>
          <a:xfrm>
            <a:off x="6191402" y="4486046"/>
            <a:ext cx="5391302" cy="1047902"/>
          </a:xfrm>
          <a:prstGeom prst="roundRect">
            <a:avLst>
              <a:gd name="adj" fmla="val 9519"/>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49" name="Shape 39"/>
          <p:cNvSpPr/>
          <p:nvPr/>
        </p:nvSpPr>
        <p:spPr>
          <a:xfrm>
            <a:off x="6391656" y="4686300"/>
            <a:ext cx="381305" cy="381305"/>
          </a:xfrm>
          <a:prstGeom prst="ellipse">
            <a:avLst/>
          </a:prstGeom>
          <a:solidFill>
            <a:srgbClr val="F0F9FF"/>
          </a:solidFill>
          <a:ln/>
        </p:spPr>
        <p:txBody>
          <a:bodyPr/>
          <a:lstStyle/>
          <a:p>
            <a:endParaRPr lang="ja-JP" altLang="en-US"/>
          </a:p>
        </p:txBody>
      </p:sp>
      <p:pic>
        <p:nvPicPr>
          <p:cNvPr id="50" name="Image 8" descr="preencoded.png"/>
          <p:cNvPicPr>
            <a:picLocks noChangeAspect="1"/>
          </p:cNvPicPr>
          <p:nvPr/>
        </p:nvPicPr>
        <p:blipFill>
          <a:blip r:embed="rId11"/>
          <a:srcRect l="-1064" r="-1064"/>
          <a:stretch/>
        </p:blipFill>
        <p:spPr>
          <a:xfrm>
            <a:off x="6472123" y="4791456"/>
            <a:ext cx="219456" cy="171907"/>
          </a:xfrm>
          <a:prstGeom prst="rect">
            <a:avLst/>
          </a:prstGeom>
        </p:spPr>
      </p:pic>
      <p:sp>
        <p:nvSpPr>
          <p:cNvPr id="51" name="Text 40"/>
          <p:cNvSpPr txBox="1"/>
          <p:nvPr/>
        </p:nvSpPr>
        <p:spPr>
          <a:xfrm>
            <a:off x="6924751" y="4686300"/>
            <a:ext cx="1145743"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④ インタビュー</a:t>
            </a:r>
            <a:endParaRPr lang="en-US" sz="1100" dirty="0"/>
          </a:p>
        </p:txBody>
      </p:sp>
      <p:sp>
        <p:nvSpPr>
          <p:cNvPr id="52" name="Text 41"/>
          <p:cNvSpPr txBox="1"/>
          <p:nvPr/>
        </p:nvSpPr>
        <p:spPr>
          <a:xfrm>
            <a:off x="6924751" y="4957877"/>
            <a:ext cx="4102913"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数値には表れない深層ニーズや、具体的な成功/失敗エピソードを抽出。</a:t>
            </a:r>
            <a:endParaRPr lang="en-US" sz="900" dirty="0"/>
          </a:p>
        </p:txBody>
      </p:sp>
      <p:sp>
        <p:nvSpPr>
          <p:cNvPr id="53" name="Shape 42"/>
          <p:cNvSpPr/>
          <p:nvPr/>
        </p:nvSpPr>
        <p:spPr>
          <a:xfrm>
            <a:off x="609905" y="5757977"/>
            <a:ext cx="38405" cy="228600"/>
          </a:xfrm>
          <a:prstGeom prst="rect">
            <a:avLst/>
          </a:prstGeom>
          <a:solidFill>
            <a:srgbClr val="10B981"/>
          </a:solidFill>
          <a:ln/>
        </p:spPr>
        <p:txBody>
          <a:bodyPr/>
          <a:lstStyle/>
          <a:p>
            <a:endParaRPr lang="ja-JP" altLang="en-US"/>
          </a:p>
        </p:txBody>
      </p:sp>
      <p:pic>
        <p:nvPicPr>
          <p:cNvPr id="54" name="Image 9" descr="preencoded.png"/>
          <p:cNvPicPr>
            <a:picLocks noChangeAspect="1"/>
          </p:cNvPicPr>
          <p:nvPr/>
        </p:nvPicPr>
        <p:blipFill>
          <a:blip r:embed="rId12"/>
          <a:srcRect t="-43" b="-43"/>
          <a:stretch/>
        </p:blipFill>
        <p:spPr>
          <a:xfrm>
            <a:off x="724205" y="5796382"/>
            <a:ext cx="133502" cy="152705"/>
          </a:xfrm>
          <a:prstGeom prst="rect">
            <a:avLst/>
          </a:prstGeom>
        </p:spPr>
      </p:pic>
      <p:sp>
        <p:nvSpPr>
          <p:cNvPr id="55" name="Text 43"/>
          <p:cNvSpPr txBox="1"/>
          <p:nvPr/>
        </p:nvSpPr>
        <p:spPr>
          <a:xfrm>
            <a:off x="933602" y="5757977"/>
            <a:ext cx="2829154" cy="228600"/>
          </a:xfrm>
          <a:prstGeom prst="rect">
            <a:avLst/>
          </a:prstGeom>
          <a:noFill/>
          <a:ln/>
        </p:spPr>
        <p:txBody>
          <a:bodyPr wrap="square" lIns="0" tIns="0" rIns="0" bIns="0" rtlCol="0" anchor="ctr"/>
          <a:lstStyle/>
          <a:p>
            <a:pPr marL="0" indent="0" algn="l">
              <a:buNone/>
            </a:pPr>
            <a:r>
              <a:rPr lang="en-US" sz="1200" b="1" dirty="0">
                <a:solidFill>
                  <a:srgbClr val="047857"/>
                </a:solidFill>
                <a:latin typeface="Noto Sans JP" pitchFamily="34" charset="0"/>
                <a:ea typeface="Noto Sans JP" pitchFamily="34" charset="-122"/>
                <a:cs typeface="Noto Sans JP" pitchFamily="34" charset="-120"/>
              </a:rPr>
              <a:t>トライアル成功基準（Go/No-Go判定）</a:t>
            </a:r>
            <a:endParaRPr lang="en-US" sz="1200" dirty="0"/>
          </a:p>
        </p:txBody>
      </p:sp>
      <p:sp>
        <p:nvSpPr>
          <p:cNvPr id="56" name="Shape 44"/>
          <p:cNvSpPr/>
          <p:nvPr/>
        </p:nvSpPr>
        <p:spPr>
          <a:xfrm>
            <a:off x="609905" y="6176772"/>
            <a:ext cx="2600554" cy="1209751"/>
          </a:xfrm>
          <a:prstGeom prst="roundRect">
            <a:avLst>
              <a:gd name="adj" fmla="val 4761"/>
            </a:avLst>
          </a:prstGeom>
          <a:solidFill>
            <a:srgbClr val="FFFFFF"/>
          </a:solidFill>
          <a:ln/>
          <a:effectLst>
            <a:outerShdw blurRad="63500" dist="38100" dir="5400000" algn="bl" rotWithShape="0">
              <a:srgbClr val="000000">
                <a:alpha val="5000"/>
              </a:srgbClr>
            </a:outerShdw>
          </a:effectLst>
        </p:spPr>
        <p:txBody>
          <a:bodyPr/>
          <a:lstStyle/>
          <a:p>
            <a:endParaRPr lang="ja-JP" altLang="en-US"/>
          </a:p>
        </p:txBody>
      </p:sp>
      <p:sp>
        <p:nvSpPr>
          <p:cNvPr id="57" name="Shape 45"/>
          <p:cNvSpPr/>
          <p:nvPr/>
        </p:nvSpPr>
        <p:spPr>
          <a:xfrm>
            <a:off x="609905" y="6176772"/>
            <a:ext cx="2600554" cy="38405"/>
          </a:xfrm>
          <a:prstGeom prst="rect">
            <a:avLst/>
          </a:prstGeom>
          <a:solidFill>
            <a:srgbClr val="10B981"/>
          </a:solidFill>
          <a:ln/>
        </p:spPr>
        <p:txBody>
          <a:bodyPr/>
          <a:lstStyle/>
          <a:p>
            <a:endParaRPr lang="ja-JP" altLang="en-US"/>
          </a:p>
        </p:txBody>
      </p:sp>
      <p:sp>
        <p:nvSpPr>
          <p:cNvPr id="58" name="Text 46"/>
          <p:cNvSpPr txBox="1"/>
          <p:nvPr/>
        </p:nvSpPr>
        <p:spPr>
          <a:xfrm>
            <a:off x="1714500" y="6405372"/>
            <a:ext cx="483718" cy="181051"/>
          </a:xfrm>
          <a:prstGeom prst="rect">
            <a:avLst/>
          </a:prstGeom>
          <a:noFill/>
          <a:ln/>
        </p:spPr>
        <p:txBody>
          <a:bodyPr wrap="square" lIns="0" tIns="0" rIns="0" bIns="0" rtlCol="0" anchor="ctr"/>
          <a:lstStyle/>
          <a:p>
            <a:pPr marL="0" indent="0" algn="ctr">
              <a:buNone/>
            </a:pPr>
            <a:r>
              <a:rPr lang="en-US" sz="900" b="1" dirty="0">
                <a:solidFill>
                  <a:srgbClr val="6B7280"/>
                </a:solidFill>
                <a:latin typeface="Noto Sans JP" pitchFamily="34" charset="0"/>
                <a:ea typeface="Noto Sans JP" pitchFamily="34" charset="-122"/>
                <a:cs typeface="Noto Sans JP" pitchFamily="34" charset="-120"/>
              </a:rPr>
              <a:t>利用率</a:t>
            </a:r>
            <a:endParaRPr lang="en-US" sz="900" dirty="0"/>
          </a:p>
        </p:txBody>
      </p:sp>
      <p:sp>
        <p:nvSpPr>
          <p:cNvPr id="59" name="Text 47"/>
          <p:cNvSpPr txBox="1"/>
          <p:nvPr/>
        </p:nvSpPr>
        <p:spPr>
          <a:xfrm>
            <a:off x="1605686" y="6601054"/>
            <a:ext cx="600761" cy="438912"/>
          </a:xfrm>
          <a:prstGeom prst="rect">
            <a:avLst/>
          </a:prstGeom>
          <a:noFill/>
          <a:ln/>
        </p:spPr>
        <p:txBody>
          <a:bodyPr wrap="square" lIns="0" tIns="0" rIns="0" bIns="0" rtlCol="0" anchor="ctr"/>
          <a:lstStyle/>
          <a:p>
            <a:pPr marL="0" indent="0" algn="ctr">
              <a:buNone/>
            </a:pPr>
            <a:r>
              <a:rPr lang="en-US" sz="2400" b="1" dirty="0">
                <a:solidFill>
                  <a:srgbClr val="059669"/>
                </a:solidFill>
                <a:latin typeface="Noto Sans JP" pitchFamily="34" charset="0"/>
                <a:ea typeface="Noto Sans JP" pitchFamily="34" charset="-122"/>
                <a:cs typeface="Noto Sans JP" pitchFamily="34" charset="-120"/>
              </a:rPr>
              <a:t>70</a:t>
            </a:r>
            <a:endParaRPr lang="en-US" sz="2400" dirty="0"/>
          </a:p>
        </p:txBody>
      </p:sp>
      <p:sp>
        <p:nvSpPr>
          <p:cNvPr id="60" name="Text 48"/>
          <p:cNvSpPr txBox="1"/>
          <p:nvPr/>
        </p:nvSpPr>
        <p:spPr>
          <a:xfrm>
            <a:off x="1976933" y="6772046"/>
            <a:ext cx="352958" cy="228600"/>
          </a:xfrm>
          <a:prstGeom prst="rect">
            <a:avLst/>
          </a:prstGeom>
          <a:noFill/>
          <a:ln/>
        </p:spPr>
        <p:txBody>
          <a:bodyPr wrap="square" lIns="0" tIns="0" rIns="0" bIns="0" rtlCol="0" anchor="ctr"/>
          <a:lstStyle/>
          <a:p>
            <a:pPr marL="0" indent="0" algn="ctr">
              <a:buNone/>
            </a:pPr>
            <a:r>
              <a:rPr lang="en-US" sz="1200" b="1" dirty="0">
                <a:solidFill>
                  <a:srgbClr val="059669"/>
                </a:solidFill>
                <a:latin typeface="Noto Sans JP" pitchFamily="34" charset="0"/>
                <a:ea typeface="Noto Sans JP" pitchFamily="34" charset="-122"/>
                <a:cs typeface="Noto Sans JP" pitchFamily="34" charset="-120"/>
              </a:rPr>
              <a:t>%+</a:t>
            </a:r>
            <a:endParaRPr lang="en-US" sz="1200" dirty="0"/>
          </a:p>
        </p:txBody>
      </p:sp>
      <p:sp>
        <p:nvSpPr>
          <p:cNvPr id="61" name="Text 49"/>
          <p:cNvSpPr txBox="1"/>
          <p:nvPr/>
        </p:nvSpPr>
        <p:spPr>
          <a:xfrm>
            <a:off x="1356970" y="7039051"/>
            <a:ext cx="1193292" cy="152705"/>
          </a:xfrm>
          <a:prstGeom prst="rect">
            <a:avLst/>
          </a:prstGeom>
          <a:noFill/>
          <a:ln/>
        </p:spPr>
        <p:txBody>
          <a:bodyPr wrap="square" lIns="0" tIns="0" rIns="0" bIns="0" rtlCol="0" anchor="ctr"/>
          <a:lstStyle/>
          <a:p>
            <a:pPr marL="0" indent="0" algn="ctr">
              <a:buNone/>
            </a:pPr>
            <a:r>
              <a:rPr lang="en-US" sz="800" dirty="0">
                <a:solidFill>
                  <a:srgbClr val="64748B"/>
                </a:solidFill>
                <a:latin typeface="Noto Sans JP" pitchFamily="34" charset="0"/>
                <a:ea typeface="Noto Sans JP" pitchFamily="34" charset="-122"/>
                <a:cs typeface="Noto Sans JP" pitchFamily="34" charset="-120"/>
              </a:rPr>
              <a:t>対象者が週1回以上利用</a:t>
            </a:r>
            <a:endParaRPr lang="en-US" sz="800" dirty="0"/>
          </a:p>
        </p:txBody>
      </p:sp>
      <p:sp>
        <p:nvSpPr>
          <p:cNvPr id="62" name="Shape 50"/>
          <p:cNvSpPr/>
          <p:nvPr/>
        </p:nvSpPr>
        <p:spPr>
          <a:xfrm>
            <a:off x="3400654" y="6176772"/>
            <a:ext cx="2600554" cy="1209751"/>
          </a:xfrm>
          <a:prstGeom prst="roundRect">
            <a:avLst>
              <a:gd name="adj" fmla="val 4761"/>
            </a:avLst>
          </a:prstGeom>
          <a:solidFill>
            <a:srgbClr val="FFFFFF"/>
          </a:solidFill>
          <a:ln/>
          <a:effectLst>
            <a:outerShdw blurRad="63500" dist="38100" dir="5400000" algn="bl" rotWithShape="0">
              <a:srgbClr val="000000">
                <a:alpha val="5000"/>
              </a:srgbClr>
            </a:outerShdw>
          </a:effectLst>
        </p:spPr>
        <p:txBody>
          <a:bodyPr/>
          <a:lstStyle/>
          <a:p>
            <a:endParaRPr lang="ja-JP" altLang="en-US"/>
          </a:p>
        </p:txBody>
      </p:sp>
      <p:sp>
        <p:nvSpPr>
          <p:cNvPr id="63" name="Shape 51"/>
          <p:cNvSpPr/>
          <p:nvPr/>
        </p:nvSpPr>
        <p:spPr>
          <a:xfrm>
            <a:off x="3400654" y="6176772"/>
            <a:ext cx="2600554" cy="38405"/>
          </a:xfrm>
          <a:prstGeom prst="rect">
            <a:avLst/>
          </a:prstGeom>
          <a:solidFill>
            <a:srgbClr val="10B981"/>
          </a:solidFill>
          <a:ln/>
        </p:spPr>
        <p:txBody>
          <a:bodyPr/>
          <a:lstStyle/>
          <a:p>
            <a:endParaRPr lang="ja-JP" altLang="en-US"/>
          </a:p>
        </p:txBody>
      </p:sp>
      <p:sp>
        <p:nvSpPr>
          <p:cNvPr id="64" name="Text 52"/>
          <p:cNvSpPr txBox="1"/>
          <p:nvPr/>
        </p:nvSpPr>
        <p:spPr>
          <a:xfrm>
            <a:off x="4505249" y="6405372"/>
            <a:ext cx="483718" cy="181051"/>
          </a:xfrm>
          <a:prstGeom prst="rect">
            <a:avLst/>
          </a:prstGeom>
          <a:noFill/>
          <a:ln/>
        </p:spPr>
        <p:txBody>
          <a:bodyPr wrap="square" lIns="0" tIns="0" rIns="0" bIns="0" rtlCol="0" anchor="ctr"/>
          <a:lstStyle/>
          <a:p>
            <a:pPr marL="0" indent="0" algn="ctr">
              <a:buNone/>
            </a:pPr>
            <a:r>
              <a:rPr lang="en-US" sz="900" b="1" dirty="0">
                <a:solidFill>
                  <a:srgbClr val="6B7280"/>
                </a:solidFill>
                <a:latin typeface="Noto Sans JP" pitchFamily="34" charset="0"/>
                <a:ea typeface="Noto Sans JP" pitchFamily="34" charset="-122"/>
                <a:cs typeface="Noto Sans JP" pitchFamily="34" charset="-120"/>
              </a:rPr>
              <a:t>定着率</a:t>
            </a:r>
            <a:endParaRPr lang="en-US" sz="900" dirty="0"/>
          </a:p>
        </p:txBody>
      </p:sp>
      <p:sp>
        <p:nvSpPr>
          <p:cNvPr id="65" name="Text 53"/>
          <p:cNvSpPr txBox="1"/>
          <p:nvPr/>
        </p:nvSpPr>
        <p:spPr>
          <a:xfrm>
            <a:off x="4396435" y="6601054"/>
            <a:ext cx="600761" cy="438912"/>
          </a:xfrm>
          <a:prstGeom prst="rect">
            <a:avLst/>
          </a:prstGeom>
          <a:noFill/>
          <a:ln/>
        </p:spPr>
        <p:txBody>
          <a:bodyPr wrap="square" lIns="0" tIns="0" rIns="0" bIns="0" rtlCol="0" anchor="ctr"/>
          <a:lstStyle/>
          <a:p>
            <a:pPr marL="0" indent="0" algn="ctr">
              <a:buNone/>
            </a:pPr>
            <a:r>
              <a:rPr lang="en-US" sz="2400" b="1" dirty="0">
                <a:solidFill>
                  <a:srgbClr val="059669"/>
                </a:solidFill>
                <a:latin typeface="Noto Sans JP" pitchFamily="34" charset="0"/>
                <a:ea typeface="Noto Sans JP" pitchFamily="34" charset="-122"/>
                <a:cs typeface="Noto Sans JP" pitchFamily="34" charset="-120"/>
              </a:rPr>
              <a:t>80</a:t>
            </a:r>
            <a:endParaRPr lang="en-US" sz="2400" dirty="0"/>
          </a:p>
        </p:txBody>
      </p:sp>
      <p:sp>
        <p:nvSpPr>
          <p:cNvPr id="66" name="Text 54"/>
          <p:cNvSpPr txBox="1"/>
          <p:nvPr/>
        </p:nvSpPr>
        <p:spPr>
          <a:xfrm>
            <a:off x="4767682" y="6772046"/>
            <a:ext cx="352958" cy="228600"/>
          </a:xfrm>
          <a:prstGeom prst="rect">
            <a:avLst/>
          </a:prstGeom>
          <a:noFill/>
          <a:ln/>
        </p:spPr>
        <p:txBody>
          <a:bodyPr wrap="square" lIns="0" tIns="0" rIns="0" bIns="0" rtlCol="0" anchor="ctr"/>
          <a:lstStyle/>
          <a:p>
            <a:pPr marL="0" indent="0" algn="ctr">
              <a:buNone/>
            </a:pPr>
            <a:r>
              <a:rPr lang="en-US" sz="1200" b="1" dirty="0">
                <a:solidFill>
                  <a:srgbClr val="059669"/>
                </a:solidFill>
                <a:latin typeface="Noto Sans JP" pitchFamily="34" charset="0"/>
                <a:ea typeface="Noto Sans JP" pitchFamily="34" charset="-122"/>
                <a:cs typeface="Noto Sans JP" pitchFamily="34" charset="-120"/>
              </a:rPr>
              <a:t>%+</a:t>
            </a:r>
            <a:endParaRPr lang="en-US" sz="1200" dirty="0"/>
          </a:p>
        </p:txBody>
      </p:sp>
      <p:sp>
        <p:nvSpPr>
          <p:cNvPr id="67" name="Text 55"/>
          <p:cNvSpPr txBox="1"/>
          <p:nvPr/>
        </p:nvSpPr>
        <p:spPr>
          <a:xfrm>
            <a:off x="4199839" y="7039051"/>
            <a:ext cx="1089050" cy="152705"/>
          </a:xfrm>
          <a:prstGeom prst="rect">
            <a:avLst/>
          </a:prstGeom>
          <a:noFill/>
          <a:ln/>
        </p:spPr>
        <p:txBody>
          <a:bodyPr wrap="square" lIns="0" tIns="0" rIns="0" bIns="0" rtlCol="0" anchor="ctr"/>
          <a:lstStyle/>
          <a:p>
            <a:pPr marL="0" indent="0" algn="ctr">
              <a:buNone/>
            </a:pPr>
            <a:r>
              <a:rPr lang="en-US" sz="800" dirty="0">
                <a:solidFill>
                  <a:srgbClr val="64748B"/>
                </a:solidFill>
                <a:latin typeface="Noto Sans JP" pitchFamily="34" charset="0"/>
                <a:ea typeface="Noto Sans JP" pitchFamily="34" charset="-122"/>
                <a:cs typeface="Noto Sans JP" pitchFamily="34" charset="-120"/>
              </a:rPr>
              <a:t>1ヶ月後の継続利用率</a:t>
            </a:r>
            <a:endParaRPr lang="en-US" sz="800" dirty="0"/>
          </a:p>
        </p:txBody>
      </p:sp>
      <p:sp>
        <p:nvSpPr>
          <p:cNvPr id="68" name="Shape 56"/>
          <p:cNvSpPr/>
          <p:nvPr/>
        </p:nvSpPr>
        <p:spPr>
          <a:xfrm>
            <a:off x="6191402" y="6176772"/>
            <a:ext cx="2600554" cy="1209751"/>
          </a:xfrm>
          <a:prstGeom prst="roundRect">
            <a:avLst>
              <a:gd name="adj" fmla="val 4761"/>
            </a:avLst>
          </a:prstGeom>
          <a:solidFill>
            <a:srgbClr val="FFFFFF"/>
          </a:solidFill>
          <a:ln/>
          <a:effectLst>
            <a:outerShdw blurRad="63500" dist="38100" dir="5400000" algn="bl" rotWithShape="0">
              <a:srgbClr val="000000">
                <a:alpha val="5000"/>
              </a:srgbClr>
            </a:outerShdw>
          </a:effectLst>
        </p:spPr>
        <p:txBody>
          <a:bodyPr/>
          <a:lstStyle/>
          <a:p>
            <a:endParaRPr lang="ja-JP" altLang="en-US"/>
          </a:p>
        </p:txBody>
      </p:sp>
      <p:sp>
        <p:nvSpPr>
          <p:cNvPr id="69" name="Shape 57"/>
          <p:cNvSpPr/>
          <p:nvPr/>
        </p:nvSpPr>
        <p:spPr>
          <a:xfrm>
            <a:off x="6191402" y="6176772"/>
            <a:ext cx="2600554" cy="38405"/>
          </a:xfrm>
          <a:prstGeom prst="rect">
            <a:avLst/>
          </a:prstGeom>
          <a:solidFill>
            <a:srgbClr val="10B981"/>
          </a:solidFill>
          <a:ln/>
        </p:spPr>
        <p:txBody>
          <a:bodyPr/>
          <a:lstStyle/>
          <a:p>
            <a:endParaRPr lang="ja-JP" altLang="en-US"/>
          </a:p>
        </p:txBody>
      </p:sp>
      <p:sp>
        <p:nvSpPr>
          <p:cNvPr id="70" name="Text 58"/>
          <p:cNvSpPr txBox="1"/>
          <p:nvPr/>
        </p:nvSpPr>
        <p:spPr>
          <a:xfrm>
            <a:off x="7231075" y="6405372"/>
            <a:ext cx="617220" cy="181051"/>
          </a:xfrm>
          <a:prstGeom prst="rect">
            <a:avLst/>
          </a:prstGeom>
          <a:noFill/>
          <a:ln/>
        </p:spPr>
        <p:txBody>
          <a:bodyPr wrap="square" lIns="0" tIns="0" rIns="0" bIns="0" rtlCol="0" anchor="ctr"/>
          <a:lstStyle/>
          <a:p>
            <a:pPr marL="0" indent="0" algn="ctr">
              <a:buNone/>
            </a:pPr>
            <a:r>
              <a:rPr lang="en-US" sz="900" b="1" dirty="0">
                <a:solidFill>
                  <a:srgbClr val="6B7280"/>
                </a:solidFill>
                <a:latin typeface="Noto Sans JP" pitchFamily="34" charset="0"/>
                <a:ea typeface="Noto Sans JP" pitchFamily="34" charset="-122"/>
                <a:cs typeface="Noto Sans JP" pitchFamily="34" charset="-120"/>
              </a:rPr>
              <a:t>効果実感</a:t>
            </a:r>
            <a:endParaRPr lang="en-US" sz="900" dirty="0"/>
          </a:p>
        </p:txBody>
      </p:sp>
      <p:sp>
        <p:nvSpPr>
          <p:cNvPr id="71" name="Text 59"/>
          <p:cNvSpPr txBox="1"/>
          <p:nvPr/>
        </p:nvSpPr>
        <p:spPr>
          <a:xfrm>
            <a:off x="7187184" y="6601054"/>
            <a:ext cx="600761" cy="438912"/>
          </a:xfrm>
          <a:prstGeom prst="rect">
            <a:avLst/>
          </a:prstGeom>
          <a:noFill/>
          <a:ln/>
        </p:spPr>
        <p:txBody>
          <a:bodyPr wrap="square" lIns="0" tIns="0" rIns="0" bIns="0" rtlCol="0" anchor="ctr"/>
          <a:lstStyle/>
          <a:p>
            <a:pPr marL="0" indent="0" algn="ctr">
              <a:buNone/>
            </a:pPr>
            <a:r>
              <a:rPr lang="en-US" sz="2400" b="1" dirty="0">
                <a:solidFill>
                  <a:srgbClr val="059669"/>
                </a:solidFill>
                <a:latin typeface="Noto Sans JP" pitchFamily="34" charset="0"/>
                <a:ea typeface="Noto Sans JP" pitchFamily="34" charset="-122"/>
                <a:cs typeface="Noto Sans JP" pitchFamily="34" charset="-120"/>
              </a:rPr>
              <a:t>70</a:t>
            </a:r>
            <a:endParaRPr lang="en-US" sz="2400" dirty="0"/>
          </a:p>
        </p:txBody>
      </p:sp>
      <p:sp>
        <p:nvSpPr>
          <p:cNvPr id="72" name="Text 60"/>
          <p:cNvSpPr txBox="1"/>
          <p:nvPr/>
        </p:nvSpPr>
        <p:spPr>
          <a:xfrm>
            <a:off x="7558430" y="6772046"/>
            <a:ext cx="352958" cy="228600"/>
          </a:xfrm>
          <a:prstGeom prst="rect">
            <a:avLst/>
          </a:prstGeom>
          <a:noFill/>
          <a:ln/>
        </p:spPr>
        <p:txBody>
          <a:bodyPr wrap="square" lIns="0" tIns="0" rIns="0" bIns="0" rtlCol="0" anchor="ctr"/>
          <a:lstStyle/>
          <a:p>
            <a:pPr marL="0" indent="0" algn="ctr">
              <a:buNone/>
            </a:pPr>
            <a:r>
              <a:rPr lang="en-US" sz="1200" b="1" dirty="0">
                <a:solidFill>
                  <a:srgbClr val="059669"/>
                </a:solidFill>
                <a:latin typeface="Noto Sans JP" pitchFamily="34" charset="0"/>
                <a:ea typeface="Noto Sans JP" pitchFamily="34" charset="-122"/>
                <a:cs typeface="Noto Sans JP" pitchFamily="34" charset="-120"/>
              </a:rPr>
              <a:t>%+</a:t>
            </a:r>
            <a:endParaRPr lang="en-US" sz="1200" dirty="0"/>
          </a:p>
        </p:txBody>
      </p:sp>
      <p:sp>
        <p:nvSpPr>
          <p:cNvPr id="73" name="Text 61"/>
          <p:cNvSpPr txBox="1"/>
          <p:nvPr/>
        </p:nvSpPr>
        <p:spPr>
          <a:xfrm>
            <a:off x="6967728" y="7039051"/>
            <a:ext cx="1126541" cy="152705"/>
          </a:xfrm>
          <a:prstGeom prst="rect">
            <a:avLst/>
          </a:prstGeom>
          <a:noFill/>
          <a:ln/>
        </p:spPr>
        <p:txBody>
          <a:bodyPr wrap="square" lIns="0" tIns="0" rIns="0" bIns="0" rtlCol="0" anchor="ctr"/>
          <a:lstStyle/>
          <a:p>
            <a:pPr marL="0" indent="0" algn="ctr">
              <a:buNone/>
            </a:pPr>
            <a:r>
              <a:rPr lang="en-US" sz="800" dirty="0">
                <a:solidFill>
                  <a:srgbClr val="64748B"/>
                </a:solidFill>
                <a:latin typeface="Noto Sans JP" pitchFamily="34" charset="0"/>
                <a:ea typeface="Noto Sans JP" pitchFamily="34" charset="-122"/>
                <a:cs typeface="Noto Sans JP" pitchFamily="34" charset="-120"/>
              </a:rPr>
              <a:t>「業務効率化」を回答</a:t>
            </a:r>
            <a:endParaRPr lang="en-US" sz="800" dirty="0"/>
          </a:p>
        </p:txBody>
      </p:sp>
      <p:sp>
        <p:nvSpPr>
          <p:cNvPr id="74" name="Shape 62"/>
          <p:cNvSpPr/>
          <p:nvPr/>
        </p:nvSpPr>
        <p:spPr>
          <a:xfrm>
            <a:off x="8982151" y="6176772"/>
            <a:ext cx="2600554" cy="1209751"/>
          </a:xfrm>
          <a:prstGeom prst="roundRect">
            <a:avLst>
              <a:gd name="adj" fmla="val 4761"/>
            </a:avLst>
          </a:prstGeom>
          <a:solidFill>
            <a:srgbClr val="FFFFFF"/>
          </a:solidFill>
          <a:ln/>
          <a:effectLst>
            <a:outerShdw blurRad="63500" dist="38100" dir="5400000" algn="bl" rotWithShape="0">
              <a:srgbClr val="000000">
                <a:alpha val="5000"/>
              </a:srgbClr>
            </a:outerShdw>
          </a:effectLst>
        </p:spPr>
        <p:txBody>
          <a:bodyPr/>
          <a:lstStyle/>
          <a:p>
            <a:endParaRPr lang="ja-JP" altLang="en-US"/>
          </a:p>
        </p:txBody>
      </p:sp>
      <p:sp>
        <p:nvSpPr>
          <p:cNvPr id="75" name="Shape 63"/>
          <p:cNvSpPr/>
          <p:nvPr/>
        </p:nvSpPr>
        <p:spPr>
          <a:xfrm>
            <a:off x="8982151" y="6176772"/>
            <a:ext cx="2600554" cy="38405"/>
          </a:xfrm>
          <a:prstGeom prst="rect">
            <a:avLst/>
          </a:prstGeom>
          <a:solidFill>
            <a:srgbClr val="10B981"/>
          </a:solidFill>
          <a:ln/>
        </p:spPr>
        <p:txBody>
          <a:bodyPr/>
          <a:lstStyle/>
          <a:p>
            <a:endParaRPr lang="ja-JP" altLang="en-US"/>
          </a:p>
        </p:txBody>
      </p:sp>
      <p:sp>
        <p:nvSpPr>
          <p:cNvPr id="76" name="Text 64"/>
          <p:cNvSpPr txBox="1"/>
          <p:nvPr/>
        </p:nvSpPr>
        <p:spPr>
          <a:xfrm>
            <a:off x="10021824" y="6405372"/>
            <a:ext cx="617220" cy="181051"/>
          </a:xfrm>
          <a:prstGeom prst="rect">
            <a:avLst/>
          </a:prstGeom>
          <a:noFill/>
          <a:ln/>
        </p:spPr>
        <p:txBody>
          <a:bodyPr wrap="square" lIns="0" tIns="0" rIns="0" bIns="0" rtlCol="0" anchor="ctr"/>
          <a:lstStyle/>
          <a:p>
            <a:pPr marL="0" indent="0" algn="ctr">
              <a:buNone/>
            </a:pPr>
            <a:r>
              <a:rPr lang="en-US" sz="900" b="1" dirty="0">
                <a:solidFill>
                  <a:srgbClr val="6B7280"/>
                </a:solidFill>
                <a:latin typeface="Noto Sans JP" pitchFamily="34" charset="0"/>
                <a:ea typeface="Noto Sans JP" pitchFamily="34" charset="-122"/>
                <a:cs typeface="Noto Sans JP" pitchFamily="34" charset="-120"/>
              </a:rPr>
              <a:t>時間削減</a:t>
            </a:r>
            <a:endParaRPr lang="en-US" sz="900" dirty="0"/>
          </a:p>
        </p:txBody>
      </p:sp>
      <p:sp>
        <p:nvSpPr>
          <p:cNvPr id="77" name="Text 65"/>
          <p:cNvSpPr txBox="1"/>
          <p:nvPr/>
        </p:nvSpPr>
        <p:spPr>
          <a:xfrm>
            <a:off x="9977933" y="6601054"/>
            <a:ext cx="600761" cy="438912"/>
          </a:xfrm>
          <a:prstGeom prst="rect">
            <a:avLst/>
          </a:prstGeom>
          <a:noFill/>
          <a:ln/>
        </p:spPr>
        <p:txBody>
          <a:bodyPr wrap="square" lIns="0" tIns="0" rIns="0" bIns="0" rtlCol="0" anchor="ctr"/>
          <a:lstStyle/>
          <a:p>
            <a:pPr marL="0" indent="0" algn="ctr">
              <a:buNone/>
            </a:pPr>
            <a:r>
              <a:rPr lang="en-US" sz="2400" b="1" dirty="0">
                <a:solidFill>
                  <a:srgbClr val="059669"/>
                </a:solidFill>
                <a:latin typeface="Noto Sans JP" pitchFamily="34" charset="0"/>
                <a:ea typeface="Noto Sans JP" pitchFamily="34" charset="-122"/>
                <a:cs typeface="Noto Sans JP" pitchFamily="34" charset="-120"/>
              </a:rPr>
              <a:t>20</a:t>
            </a:r>
            <a:endParaRPr lang="en-US" sz="2400" dirty="0"/>
          </a:p>
        </p:txBody>
      </p:sp>
      <p:sp>
        <p:nvSpPr>
          <p:cNvPr id="78" name="Text 66"/>
          <p:cNvSpPr txBox="1"/>
          <p:nvPr/>
        </p:nvSpPr>
        <p:spPr>
          <a:xfrm>
            <a:off x="10349179" y="6772046"/>
            <a:ext cx="352958" cy="228600"/>
          </a:xfrm>
          <a:prstGeom prst="rect">
            <a:avLst/>
          </a:prstGeom>
          <a:noFill/>
          <a:ln/>
        </p:spPr>
        <p:txBody>
          <a:bodyPr wrap="square" lIns="0" tIns="0" rIns="0" bIns="0" rtlCol="0" anchor="ctr"/>
          <a:lstStyle/>
          <a:p>
            <a:pPr marL="0" indent="0" algn="ctr">
              <a:buNone/>
            </a:pPr>
            <a:r>
              <a:rPr lang="en-US" sz="1200" b="1" dirty="0">
                <a:solidFill>
                  <a:srgbClr val="059669"/>
                </a:solidFill>
                <a:latin typeface="Noto Sans JP" pitchFamily="34" charset="0"/>
                <a:ea typeface="Noto Sans JP" pitchFamily="34" charset="-122"/>
                <a:cs typeface="Noto Sans JP" pitchFamily="34" charset="-120"/>
              </a:rPr>
              <a:t>%+</a:t>
            </a:r>
            <a:endParaRPr lang="en-US" sz="1200" dirty="0"/>
          </a:p>
        </p:txBody>
      </p:sp>
      <p:sp>
        <p:nvSpPr>
          <p:cNvPr id="79" name="Text 67"/>
          <p:cNvSpPr txBox="1"/>
          <p:nvPr/>
        </p:nvSpPr>
        <p:spPr>
          <a:xfrm>
            <a:off x="9810598" y="7039051"/>
            <a:ext cx="1022299" cy="152705"/>
          </a:xfrm>
          <a:prstGeom prst="rect">
            <a:avLst/>
          </a:prstGeom>
          <a:noFill/>
          <a:ln/>
        </p:spPr>
        <p:txBody>
          <a:bodyPr wrap="square" lIns="0" tIns="0" rIns="0" bIns="0" rtlCol="0" anchor="ctr"/>
          <a:lstStyle/>
          <a:p>
            <a:pPr marL="0" indent="0" algn="ctr">
              <a:buNone/>
            </a:pPr>
            <a:r>
              <a:rPr lang="en-US" sz="800" dirty="0">
                <a:solidFill>
                  <a:srgbClr val="64748B"/>
                </a:solidFill>
                <a:latin typeface="Noto Sans JP" pitchFamily="34" charset="0"/>
                <a:ea typeface="Noto Sans JP" pitchFamily="34" charset="-122"/>
                <a:cs typeface="Noto Sans JP" pitchFamily="34" charset="-120"/>
              </a:rPr>
              <a:t>主要業務の処理時間</a:t>
            </a:r>
            <a:endParaRPr lang="en-US" sz="800" dirty="0"/>
          </a:p>
        </p:txBody>
      </p:sp>
      <p:sp>
        <p:nvSpPr>
          <p:cNvPr id="80" name="Text 68"/>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39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p:spPr>
        <p:txBody>
          <a:bodyPr/>
          <a:lstStyle/>
          <a:p>
            <a:endParaRPr lang="ja-JP" altLang="en-US"/>
          </a:p>
        </p:txBody>
      </p:sp>
      <p:sp>
        <p:nvSpPr>
          <p:cNvPr id="4" name="Shape 2"/>
          <p:cNvSpPr/>
          <p:nvPr/>
        </p:nvSpPr>
        <p:spPr>
          <a:xfrm>
            <a:off x="0" y="0"/>
            <a:ext cx="12191695" cy="1047902"/>
          </a:xfrm>
          <a:prstGeom prst="rect">
            <a:avLst/>
          </a:prstGeom>
          <a:solidFill>
            <a:srgbClr val="FFFFFF"/>
          </a:solidFill>
          <a:ln/>
        </p:spPr>
        <p:txBody>
          <a:bodyPr/>
          <a:lstStyle/>
          <a:p>
            <a:endParaRPr lang="ja-JP" altLang="en-US"/>
          </a:p>
        </p:txBody>
      </p:sp>
      <p:sp>
        <p:nvSpPr>
          <p:cNvPr id="5" name="Shape 3"/>
          <p:cNvSpPr/>
          <p:nvPr/>
        </p:nvSpPr>
        <p:spPr>
          <a:xfrm>
            <a:off x="0" y="1038758"/>
            <a:ext cx="12191695" cy="9144"/>
          </a:xfrm>
          <a:prstGeom prst="rect">
            <a:avLst/>
          </a:prstGeom>
          <a:solidFill>
            <a:srgbClr val="E5E7EB"/>
          </a:solidFill>
          <a:ln/>
        </p:spPr>
        <p:txBody>
          <a:bodyPr/>
          <a:lstStyle/>
          <a:p>
            <a:endParaRPr lang="ja-JP" altLang="en-US"/>
          </a:p>
        </p:txBody>
      </p:sp>
      <p:sp>
        <p:nvSpPr>
          <p:cNvPr id="6" name="Text 4"/>
          <p:cNvSpPr txBox="1"/>
          <p:nvPr/>
        </p:nvSpPr>
        <p:spPr>
          <a:xfrm>
            <a:off x="609905" y="190195"/>
            <a:ext cx="4948733" cy="419710"/>
          </a:xfrm>
          <a:prstGeom prst="rect">
            <a:avLst/>
          </a:prstGeom>
          <a:noFill/>
          <a:ln/>
        </p:spPr>
        <p:txBody>
          <a:bodyPr wrap="square" lIns="0" tIns="0" rIns="0" bIns="0" rtlCol="0" anchor="ctr"/>
          <a:lstStyle/>
          <a:p>
            <a:pPr marL="0" indent="0" algn="l">
              <a:buNone/>
            </a:pPr>
            <a:r>
              <a:rPr lang="en-US" sz="2200" b="1" dirty="0">
                <a:solidFill>
                  <a:srgbClr val="065F46"/>
                </a:solidFill>
                <a:latin typeface="Noto Sans JP" pitchFamily="34" charset="0"/>
                <a:ea typeface="Noto Sans JP" pitchFamily="34" charset="-122"/>
                <a:cs typeface="Noto Sans JP" pitchFamily="34" charset="-120"/>
              </a:rPr>
              <a:t>フェーズ5（全社展開と定着化）</a:t>
            </a:r>
            <a:endParaRPr lang="en-US" sz="2200" dirty="0"/>
          </a:p>
        </p:txBody>
      </p:sp>
      <p:sp>
        <p:nvSpPr>
          <p:cNvPr id="7" name="Text 5"/>
          <p:cNvSpPr txBox="1"/>
          <p:nvPr/>
        </p:nvSpPr>
        <p:spPr>
          <a:xfrm>
            <a:off x="609905" y="629107"/>
            <a:ext cx="4412894" cy="219456"/>
          </a:xfrm>
          <a:prstGeom prst="rect">
            <a:avLst/>
          </a:prstGeom>
          <a:noFill/>
          <a:ln/>
        </p:spPr>
        <p:txBody>
          <a:bodyPr wrap="square" lIns="0" tIns="0" rIns="0" bIns="0" rtlCol="0" anchor="ctr"/>
          <a:lstStyle/>
          <a:p>
            <a:pPr marL="0" indent="0" algn="l">
              <a:buNone/>
            </a:pPr>
            <a:r>
              <a:rPr lang="en-US" sz="1100" dirty="0">
                <a:solidFill>
                  <a:srgbClr val="64748B"/>
                </a:solidFill>
                <a:latin typeface="Noto Sans JP" pitchFamily="34" charset="0"/>
                <a:ea typeface="Noto Sans JP" pitchFamily="34" charset="-122"/>
                <a:cs typeface="Noto Sans JP" pitchFamily="34" charset="-120"/>
              </a:rPr>
              <a:t>期間：6-12ヶ月 組織全体への利用拡大と、AI活用文化の醸成・定着</a:t>
            </a:r>
            <a:endParaRPr lang="en-US" sz="1100" dirty="0"/>
          </a:p>
        </p:txBody>
      </p:sp>
      <p:sp>
        <p:nvSpPr>
          <p:cNvPr id="8" name="Shape 6"/>
          <p:cNvSpPr/>
          <p:nvPr/>
        </p:nvSpPr>
        <p:spPr>
          <a:xfrm>
            <a:off x="10337292" y="543154"/>
            <a:ext cx="1248156" cy="304495"/>
          </a:xfrm>
          <a:prstGeom prst="roundRect">
            <a:avLst>
              <a:gd name="adj" fmla="val 187688"/>
            </a:avLst>
          </a:prstGeom>
          <a:solidFill>
            <a:srgbClr val="059669"/>
          </a:solidFill>
          <a:ln/>
        </p:spPr>
        <p:txBody>
          <a:bodyPr/>
          <a:lstStyle/>
          <a:p>
            <a:endParaRPr lang="ja-JP" altLang="en-US"/>
          </a:p>
        </p:txBody>
      </p:sp>
      <p:sp>
        <p:nvSpPr>
          <p:cNvPr id="9" name="Text 7"/>
          <p:cNvSpPr txBox="1"/>
          <p:nvPr/>
        </p:nvSpPr>
        <p:spPr>
          <a:xfrm>
            <a:off x="10489082" y="599846"/>
            <a:ext cx="1036015" cy="181051"/>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Phase 5 Detail</a:t>
            </a:r>
            <a:endParaRPr lang="en-US" sz="900" dirty="0"/>
          </a:p>
        </p:txBody>
      </p:sp>
      <p:sp>
        <p:nvSpPr>
          <p:cNvPr id="11" name="Shape 9"/>
          <p:cNvSpPr/>
          <p:nvPr/>
        </p:nvSpPr>
        <p:spPr>
          <a:xfrm>
            <a:off x="609905" y="1805026"/>
            <a:ext cx="5333695" cy="19202"/>
          </a:xfrm>
          <a:prstGeom prst="rect">
            <a:avLst/>
          </a:prstGeom>
          <a:solidFill>
            <a:srgbClr val="A7F3D0"/>
          </a:solidFill>
          <a:ln/>
        </p:spPr>
        <p:txBody>
          <a:bodyPr/>
          <a:lstStyle/>
          <a:p>
            <a:endParaRPr lang="ja-JP" altLang="en-US"/>
          </a:p>
        </p:txBody>
      </p:sp>
      <p:sp>
        <p:nvSpPr>
          <p:cNvPr id="12" name="Shape 10"/>
          <p:cNvSpPr/>
          <p:nvPr/>
        </p:nvSpPr>
        <p:spPr>
          <a:xfrm>
            <a:off x="609905" y="1347826"/>
            <a:ext cx="342900" cy="342900"/>
          </a:xfrm>
          <a:prstGeom prst="roundRect">
            <a:avLst>
              <a:gd name="adj" fmla="val 59259"/>
            </a:avLst>
          </a:prstGeom>
          <a:solidFill>
            <a:srgbClr val="ECFDF5"/>
          </a:solidFill>
          <a:ln/>
        </p:spPr>
        <p:txBody>
          <a:bodyPr/>
          <a:lstStyle/>
          <a:p>
            <a:endParaRPr lang="ja-JP" altLang="en-US"/>
          </a:p>
        </p:txBody>
      </p:sp>
      <p:pic>
        <p:nvPicPr>
          <p:cNvPr id="13" name="Image 0" descr="preencoded.png"/>
          <p:cNvPicPr>
            <a:picLocks noChangeAspect="1"/>
          </p:cNvPicPr>
          <p:nvPr/>
        </p:nvPicPr>
        <p:blipFill>
          <a:blip r:embed="rId3"/>
          <a:srcRect l="-760" r="-760"/>
          <a:stretch/>
        </p:blipFill>
        <p:spPr>
          <a:xfrm>
            <a:off x="705002" y="1433779"/>
            <a:ext cx="152705" cy="171907"/>
          </a:xfrm>
          <a:prstGeom prst="rect">
            <a:avLst/>
          </a:prstGeom>
        </p:spPr>
      </p:pic>
      <p:sp>
        <p:nvSpPr>
          <p:cNvPr id="14" name="Text 11"/>
          <p:cNvSpPr txBox="1"/>
          <p:nvPr/>
        </p:nvSpPr>
        <p:spPr>
          <a:xfrm>
            <a:off x="1067105" y="1376172"/>
            <a:ext cx="2057400" cy="277063"/>
          </a:xfrm>
          <a:prstGeom prst="rect">
            <a:avLst/>
          </a:prstGeom>
          <a:noFill/>
          <a:ln/>
        </p:spPr>
        <p:txBody>
          <a:bodyPr wrap="square" lIns="0" tIns="0" rIns="0" bIns="0" rtlCol="0" anchor="ctr"/>
          <a:lstStyle/>
          <a:p>
            <a:pPr marL="0" indent="0" algn="l">
              <a:buNone/>
            </a:pPr>
            <a:r>
              <a:rPr lang="en-US" sz="1500" b="1" dirty="0">
                <a:solidFill>
                  <a:srgbClr val="065F46"/>
                </a:solidFill>
                <a:latin typeface="Noto Sans JP" pitchFamily="34" charset="0"/>
                <a:ea typeface="Noto Sans JP" pitchFamily="34" charset="-122"/>
                <a:cs typeface="Noto Sans JP" pitchFamily="34" charset="-120"/>
              </a:rPr>
              <a:t>展開戦略 (Expansion)</a:t>
            </a:r>
            <a:endParaRPr lang="en-US" sz="1500" dirty="0"/>
          </a:p>
        </p:txBody>
      </p:sp>
      <p:sp>
        <p:nvSpPr>
          <p:cNvPr id="15" name="Shape 12"/>
          <p:cNvSpPr/>
          <p:nvPr/>
        </p:nvSpPr>
        <p:spPr>
          <a:xfrm>
            <a:off x="609905" y="2052828"/>
            <a:ext cx="2590495" cy="1600200"/>
          </a:xfrm>
          <a:prstGeom prst="roundRect">
            <a:avLst>
              <a:gd name="adj" fmla="val 4082"/>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16" name="Shape 13"/>
          <p:cNvSpPr/>
          <p:nvPr/>
        </p:nvSpPr>
        <p:spPr>
          <a:xfrm>
            <a:off x="771754" y="2214677"/>
            <a:ext cx="228600" cy="228600"/>
          </a:xfrm>
          <a:prstGeom prst="ellipse">
            <a:avLst/>
          </a:prstGeom>
          <a:solidFill>
            <a:srgbClr val="10B981"/>
          </a:solidFill>
          <a:ln/>
        </p:spPr>
        <p:txBody>
          <a:bodyPr/>
          <a:lstStyle/>
          <a:p>
            <a:endParaRPr lang="ja-JP" altLang="en-US"/>
          </a:p>
        </p:txBody>
      </p:sp>
      <p:sp>
        <p:nvSpPr>
          <p:cNvPr id="17" name="Text 14"/>
          <p:cNvSpPr txBox="1"/>
          <p:nvPr/>
        </p:nvSpPr>
        <p:spPr>
          <a:xfrm>
            <a:off x="852221" y="2243023"/>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1</a:t>
            </a:r>
            <a:endParaRPr lang="en-US" sz="900" dirty="0"/>
          </a:p>
        </p:txBody>
      </p:sp>
      <p:sp>
        <p:nvSpPr>
          <p:cNvPr id="18" name="Text 15"/>
          <p:cNvSpPr txBox="1"/>
          <p:nvPr/>
        </p:nvSpPr>
        <p:spPr>
          <a:xfrm>
            <a:off x="1095451" y="2226564"/>
            <a:ext cx="1117397"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波状的拡大展開</a:t>
            </a:r>
            <a:endParaRPr lang="en-US" sz="1100" dirty="0"/>
          </a:p>
        </p:txBody>
      </p:sp>
      <p:sp>
        <p:nvSpPr>
          <p:cNvPr id="19" name="Text 16"/>
          <p:cNvSpPr txBox="1"/>
          <p:nvPr/>
        </p:nvSpPr>
        <p:spPr>
          <a:xfrm>
            <a:off x="771754" y="2538374"/>
            <a:ext cx="2331720" cy="581558"/>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成功部門を起点に、3ヶ月ごとに2-3部門ずつ順次拡大。サポート品質を維持しながら段階的に広げる。</a:t>
            </a:r>
            <a:endParaRPr lang="en-US" sz="900" dirty="0"/>
          </a:p>
        </p:txBody>
      </p:sp>
      <p:sp>
        <p:nvSpPr>
          <p:cNvPr id="20" name="Shape 17"/>
          <p:cNvSpPr/>
          <p:nvPr/>
        </p:nvSpPr>
        <p:spPr>
          <a:xfrm>
            <a:off x="771754" y="3303727"/>
            <a:ext cx="629107" cy="181051"/>
          </a:xfrm>
          <a:prstGeom prst="roundRect">
            <a:avLst>
              <a:gd name="adj" fmla="val 265816"/>
            </a:avLst>
          </a:prstGeom>
          <a:solidFill>
            <a:srgbClr val="F3F4F6"/>
          </a:solidFill>
          <a:ln/>
        </p:spPr>
        <p:txBody>
          <a:bodyPr/>
          <a:lstStyle/>
          <a:p>
            <a:endParaRPr lang="ja-JP" altLang="en-US"/>
          </a:p>
        </p:txBody>
      </p:sp>
      <p:sp>
        <p:nvSpPr>
          <p:cNvPr id="21" name="Text 18"/>
          <p:cNvSpPr txBox="1"/>
          <p:nvPr/>
        </p:nvSpPr>
        <p:spPr>
          <a:xfrm>
            <a:off x="847649" y="3322930"/>
            <a:ext cx="553212"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四半期ごと</a:t>
            </a:r>
            <a:endParaRPr lang="en-US" sz="800" dirty="0"/>
          </a:p>
        </p:txBody>
      </p:sp>
      <p:sp>
        <p:nvSpPr>
          <p:cNvPr id="22" name="Shape 19"/>
          <p:cNvSpPr/>
          <p:nvPr/>
        </p:nvSpPr>
        <p:spPr>
          <a:xfrm>
            <a:off x="1457554" y="3303727"/>
            <a:ext cx="629107" cy="181051"/>
          </a:xfrm>
          <a:prstGeom prst="roundRect">
            <a:avLst>
              <a:gd name="adj" fmla="val 265816"/>
            </a:avLst>
          </a:prstGeom>
          <a:solidFill>
            <a:srgbClr val="F3F4F6"/>
          </a:solidFill>
          <a:ln/>
        </p:spPr>
        <p:txBody>
          <a:bodyPr/>
          <a:lstStyle/>
          <a:p>
            <a:endParaRPr lang="ja-JP" altLang="en-US"/>
          </a:p>
        </p:txBody>
      </p:sp>
      <p:sp>
        <p:nvSpPr>
          <p:cNvPr id="23" name="Text 20"/>
          <p:cNvSpPr txBox="1"/>
          <p:nvPr/>
        </p:nvSpPr>
        <p:spPr>
          <a:xfrm>
            <a:off x="1533449" y="3322930"/>
            <a:ext cx="553212"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リスク分散</a:t>
            </a:r>
            <a:endParaRPr lang="en-US" sz="800" dirty="0"/>
          </a:p>
        </p:txBody>
      </p:sp>
      <p:sp>
        <p:nvSpPr>
          <p:cNvPr id="24" name="Shape 21"/>
          <p:cNvSpPr/>
          <p:nvPr/>
        </p:nvSpPr>
        <p:spPr>
          <a:xfrm>
            <a:off x="3353105" y="2052828"/>
            <a:ext cx="2590495" cy="1600200"/>
          </a:xfrm>
          <a:prstGeom prst="roundRect">
            <a:avLst>
              <a:gd name="adj" fmla="val 4082"/>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25" name="Shape 22"/>
          <p:cNvSpPr/>
          <p:nvPr/>
        </p:nvSpPr>
        <p:spPr>
          <a:xfrm>
            <a:off x="3514954" y="2214677"/>
            <a:ext cx="228600" cy="228600"/>
          </a:xfrm>
          <a:prstGeom prst="ellipse">
            <a:avLst/>
          </a:prstGeom>
          <a:solidFill>
            <a:srgbClr val="10B981"/>
          </a:solidFill>
          <a:ln/>
        </p:spPr>
        <p:txBody>
          <a:bodyPr/>
          <a:lstStyle/>
          <a:p>
            <a:endParaRPr lang="ja-JP" altLang="en-US"/>
          </a:p>
        </p:txBody>
      </p:sp>
      <p:sp>
        <p:nvSpPr>
          <p:cNvPr id="26" name="Text 23"/>
          <p:cNvSpPr txBox="1"/>
          <p:nvPr/>
        </p:nvSpPr>
        <p:spPr>
          <a:xfrm>
            <a:off x="3595421" y="2243023"/>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2</a:t>
            </a:r>
            <a:endParaRPr lang="en-US" sz="900" dirty="0"/>
          </a:p>
        </p:txBody>
      </p:sp>
      <p:sp>
        <p:nvSpPr>
          <p:cNvPr id="27" name="Text 24"/>
          <p:cNvSpPr txBox="1"/>
          <p:nvPr/>
        </p:nvSpPr>
        <p:spPr>
          <a:xfrm>
            <a:off x="3838651" y="2226564"/>
            <a:ext cx="1117397"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成功事例の共有</a:t>
            </a:r>
            <a:endParaRPr lang="en-US" sz="1100" dirty="0"/>
          </a:p>
        </p:txBody>
      </p:sp>
      <p:sp>
        <p:nvSpPr>
          <p:cNvPr id="28" name="Text 25"/>
          <p:cNvSpPr txBox="1"/>
          <p:nvPr/>
        </p:nvSpPr>
        <p:spPr>
          <a:xfrm>
            <a:off x="3514954" y="2538374"/>
            <a:ext cx="2331720" cy="581558"/>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「隣の部署の成功」を見せることで自分事化を促進。ポータルサイトやメールマガジンで定期配信。</a:t>
            </a:r>
            <a:endParaRPr lang="en-US" sz="900" dirty="0"/>
          </a:p>
        </p:txBody>
      </p:sp>
      <p:sp>
        <p:nvSpPr>
          <p:cNvPr id="29" name="Shape 26"/>
          <p:cNvSpPr/>
          <p:nvPr/>
        </p:nvSpPr>
        <p:spPr>
          <a:xfrm>
            <a:off x="3514954" y="3303727"/>
            <a:ext cx="724205" cy="181051"/>
          </a:xfrm>
          <a:prstGeom prst="roundRect">
            <a:avLst>
              <a:gd name="adj" fmla="val 265816"/>
            </a:avLst>
          </a:prstGeom>
          <a:solidFill>
            <a:srgbClr val="F3F4F6"/>
          </a:solidFill>
          <a:ln/>
        </p:spPr>
        <p:txBody>
          <a:bodyPr/>
          <a:lstStyle/>
          <a:p>
            <a:endParaRPr lang="ja-JP" altLang="en-US"/>
          </a:p>
        </p:txBody>
      </p:sp>
      <p:sp>
        <p:nvSpPr>
          <p:cNvPr id="30" name="Text 27"/>
          <p:cNvSpPr txBox="1"/>
          <p:nvPr/>
        </p:nvSpPr>
        <p:spPr>
          <a:xfrm>
            <a:off x="3590849" y="3322930"/>
            <a:ext cx="648310"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社内ポータル</a:t>
            </a:r>
            <a:endParaRPr lang="en-US" sz="800" dirty="0"/>
          </a:p>
        </p:txBody>
      </p:sp>
      <p:sp>
        <p:nvSpPr>
          <p:cNvPr id="31" name="Shape 28"/>
          <p:cNvSpPr/>
          <p:nvPr/>
        </p:nvSpPr>
        <p:spPr>
          <a:xfrm>
            <a:off x="4295851" y="3303727"/>
            <a:ext cx="533095" cy="181051"/>
          </a:xfrm>
          <a:prstGeom prst="roundRect">
            <a:avLst>
              <a:gd name="adj" fmla="val 265816"/>
            </a:avLst>
          </a:prstGeom>
          <a:solidFill>
            <a:srgbClr val="F3F4F6"/>
          </a:solidFill>
          <a:ln/>
        </p:spPr>
        <p:txBody>
          <a:bodyPr/>
          <a:lstStyle/>
          <a:p>
            <a:endParaRPr lang="ja-JP" altLang="en-US"/>
          </a:p>
        </p:txBody>
      </p:sp>
      <p:sp>
        <p:nvSpPr>
          <p:cNvPr id="32" name="Text 29"/>
          <p:cNvSpPr txBox="1"/>
          <p:nvPr/>
        </p:nvSpPr>
        <p:spPr>
          <a:xfrm>
            <a:off x="4371746" y="3322930"/>
            <a:ext cx="457200"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メルマガ</a:t>
            </a:r>
            <a:endParaRPr lang="en-US" sz="800" dirty="0"/>
          </a:p>
        </p:txBody>
      </p:sp>
      <p:sp>
        <p:nvSpPr>
          <p:cNvPr id="33" name="Shape 30"/>
          <p:cNvSpPr/>
          <p:nvPr/>
        </p:nvSpPr>
        <p:spPr>
          <a:xfrm>
            <a:off x="609905" y="3799332"/>
            <a:ext cx="2590495" cy="1600200"/>
          </a:xfrm>
          <a:prstGeom prst="roundRect">
            <a:avLst>
              <a:gd name="adj" fmla="val 4082"/>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34" name="Shape 31"/>
          <p:cNvSpPr/>
          <p:nvPr/>
        </p:nvSpPr>
        <p:spPr>
          <a:xfrm>
            <a:off x="771754" y="3961181"/>
            <a:ext cx="228600" cy="228600"/>
          </a:xfrm>
          <a:prstGeom prst="ellipse">
            <a:avLst/>
          </a:prstGeom>
          <a:solidFill>
            <a:srgbClr val="10B981"/>
          </a:solidFill>
          <a:ln/>
        </p:spPr>
        <p:txBody>
          <a:bodyPr/>
          <a:lstStyle/>
          <a:p>
            <a:endParaRPr lang="ja-JP" altLang="en-US"/>
          </a:p>
        </p:txBody>
      </p:sp>
      <p:sp>
        <p:nvSpPr>
          <p:cNvPr id="35" name="Text 32"/>
          <p:cNvSpPr txBox="1"/>
          <p:nvPr/>
        </p:nvSpPr>
        <p:spPr>
          <a:xfrm>
            <a:off x="852221" y="3989527"/>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3</a:t>
            </a:r>
            <a:endParaRPr lang="en-US" sz="900" dirty="0"/>
          </a:p>
        </p:txBody>
      </p:sp>
      <p:sp>
        <p:nvSpPr>
          <p:cNvPr id="36" name="Text 33"/>
          <p:cNvSpPr txBox="1"/>
          <p:nvPr/>
        </p:nvSpPr>
        <p:spPr>
          <a:xfrm>
            <a:off x="1095451" y="3973068"/>
            <a:ext cx="1117397"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教育体制の強化</a:t>
            </a:r>
            <a:endParaRPr lang="en-US" sz="1100" dirty="0"/>
          </a:p>
        </p:txBody>
      </p:sp>
      <p:sp>
        <p:nvSpPr>
          <p:cNvPr id="37" name="Text 34"/>
          <p:cNvSpPr txBox="1"/>
          <p:nvPr/>
        </p:nvSpPr>
        <p:spPr>
          <a:xfrm>
            <a:off x="771754" y="4284878"/>
            <a:ext cx="2360066" cy="581558"/>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全社員向けeラーニングに加え、実践ワークショップやアンバサダーによる1on1指導を実施。</a:t>
            </a:r>
            <a:endParaRPr lang="en-US" sz="900" dirty="0"/>
          </a:p>
        </p:txBody>
      </p:sp>
      <p:sp>
        <p:nvSpPr>
          <p:cNvPr id="38" name="Shape 35"/>
          <p:cNvSpPr/>
          <p:nvPr/>
        </p:nvSpPr>
        <p:spPr>
          <a:xfrm>
            <a:off x="771754" y="5051146"/>
            <a:ext cx="685800" cy="181051"/>
          </a:xfrm>
          <a:prstGeom prst="roundRect">
            <a:avLst>
              <a:gd name="adj" fmla="val 265816"/>
            </a:avLst>
          </a:prstGeom>
          <a:solidFill>
            <a:srgbClr val="F3F4F6"/>
          </a:solidFill>
          <a:ln/>
        </p:spPr>
        <p:txBody>
          <a:bodyPr/>
          <a:lstStyle/>
          <a:p>
            <a:endParaRPr lang="ja-JP" altLang="en-US"/>
          </a:p>
        </p:txBody>
      </p:sp>
      <p:sp>
        <p:nvSpPr>
          <p:cNvPr id="39" name="Text 36"/>
          <p:cNvSpPr txBox="1"/>
          <p:nvPr/>
        </p:nvSpPr>
        <p:spPr>
          <a:xfrm>
            <a:off x="847649" y="5070348"/>
            <a:ext cx="609905"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eラーニング</a:t>
            </a:r>
            <a:endParaRPr lang="en-US" sz="800" dirty="0"/>
          </a:p>
        </p:txBody>
      </p:sp>
      <p:sp>
        <p:nvSpPr>
          <p:cNvPr id="40" name="Shape 37"/>
          <p:cNvSpPr/>
          <p:nvPr/>
        </p:nvSpPr>
        <p:spPr>
          <a:xfrm>
            <a:off x="1511503" y="5051146"/>
            <a:ext cx="629107" cy="181051"/>
          </a:xfrm>
          <a:prstGeom prst="roundRect">
            <a:avLst>
              <a:gd name="adj" fmla="val 265816"/>
            </a:avLst>
          </a:prstGeom>
          <a:solidFill>
            <a:srgbClr val="F3F4F6"/>
          </a:solidFill>
          <a:ln/>
        </p:spPr>
        <p:txBody>
          <a:bodyPr/>
          <a:lstStyle/>
          <a:p>
            <a:endParaRPr lang="ja-JP" altLang="en-US"/>
          </a:p>
        </p:txBody>
      </p:sp>
      <p:sp>
        <p:nvSpPr>
          <p:cNvPr id="41" name="Text 38"/>
          <p:cNvSpPr txBox="1"/>
          <p:nvPr/>
        </p:nvSpPr>
        <p:spPr>
          <a:xfrm>
            <a:off x="1588313" y="5070348"/>
            <a:ext cx="553212"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ハンズオン</a:t>
            </a:r>
            <a:endParaRPr lang="en-US" sz="800" dirty="0"/>
          </a:p>
        </p:txBody>
      </p:sp>
      <p:sp>
        <p:nvSpPr>
          <p:cNvPr id="42" name="Shape 39"/>
          <p:cNvSpPr/>
          <p:nvPr/>
        </p:nvSpPr>
        <p:spPr>
          <a:xfrm>
            <a:off x="3353105" y="3799332"/>
            <a:ext cx="2590495" cy="1600200"/>
          </a:xfrm>
          <a:prstGeom prst="roundRect">
            <a:avLst>
              <a:gd name="adj" fmla="val 4082"/>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43" name="Shape 40"/>
          <p:cNvSpPr/>
          <p:nvPr/>
        </p:nvSpPr>
        <p:spPr>
          <a:xfrm>
            <a:off x="3514954" y="3961181"/>
            <a:ext cx="228600" cy="228600"/>
          </a:xfrm>
          <a:prstGeom prst="ellipse">
            <a:avLst/>
          </a:prstGeom>
          <a:solidFill>
            <a:srgbClr val="10B981"/>
          </a:solidFill>
          <a:ln/>
        </p:spPr>
        <p:txBody>
          <a:bodyPr/>
          <a:lstStyle/>
          <a:p>
            <a:endParaRPr lang="ja-JP" altLang="en-US"/>
          </a:p>
        </p:txBody>
      </p:sp>
      <p:sp>
        <p:nvSpPr>
          <p:cNvPr id="44" name="Text 41"/>
          <p:cNvSpPr txBox="1"/>
          <p:nvPr/>
        </p:nvSpPr>
        <p:spPr>
          <a:xfrm>
            <a:off x="3595421" y="3989527"/>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4</a:t>
            </a:r>
            <a:endParaRPr lang="en-US" sz="900" dirty="0"/>
          </a:p>
        </p:txBody>
      </p:sp>
      <p:sp>
        <p:nvSpPr>
          <p:cNvPr id="45" name="Text 42"/>
          <p:cNvSpPr txBox="1"/>
          <p:nvPr/>
        </p:nvSpPr>
        <p:spPr>
          <a:xfrm>
            <a:off x="3838651" y="3973068"/>
            <a:ext cx="1117397"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多層的支援体制</a:t>
            </a:r>
            <a:endParaRPr lang="en-US" sz="1100" dirty="0"/>
          </a:p>
        </p:txBody>
      </p:sp>
      <p:sp>
        <p:nvSpPr>
          <p:cNvPr id="46" name="Text 43"/>
          <p:cNvSpPr txBox="1"/>
          <p:nvPr/>
        </p:nvSpPr>
        <p:spPr>
          <a:xfrm>
            <a:off x="3514954" y="4284878"/>
            <a:ext cx="2331720" cy="581558"/>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自己解決用FAQ、有人ヘルプデスク、Teamsチャットサポートを組み合わせ、疑問を即時解消。</a:t>
            </a:r>
            <a:endParaRPr lang="en-US" sz="900" dirty="0"/>
          </a:p>
        </p:txBody>
      </p:sp>
      <p:sp>
        <p:nvSpPr>
          <p:cNvPr id="47" name="Shape 44"/>
          <p:cNvSpPr/>
          <p:nvPr/>
        </p:nvSpPr>
        <p:spPr>
          <a:xfrm>
            <a:off x="3514954" y="5051146"/>
            <a:ext cx="342900" cy="181051"/>
          </a:xfrm>
          <a:prstGeom prst="roundRect">
            <a:avLst>
              <a:gd name="adj" fmla="val 265816"/>
            </a:avLst>
          </a:prstGeom>
          <a:solidFill>
            <a:srgbClr val="F3F4F6"/>
          </a:solidFill>
          <a:ln/>
        </p:spPr>
        <p:txBody>
          <a:bodyPr/>
          <a:lstStyle/>
          <a:p>
            <a:endParaRPr lang="ja-JP" altLang="en-US"/>
          </a:p>
        </p:txBody>
      </p:sp>
      <p:sp>
        <p:nvSpPr>
          <p:cNvPr id="48" name="Text 45"/>
          <p:cNvSpPr txBox="1"/>
          <p:nvPr/>
        </p:nvSpPr>
        <p:spPr>
          <a:xfrm>
            <a:off x="3590849" y="5070348"/>
            <a:ext cx="267005"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FAQ</a:t>
            </a:r>
            <a:endParaRPr lang="en-US" sz="800" dirty="0"/>
          </a:p>
        </p:txBody>
      </p:sp>
      <p:sp>
        <p:nvSpPr>
          <p:cNvPr id="49" name="Shape 46"/>
          <p:cNvSpPr/>
          <p:nvPr/>
        </p:nvSpPr>
        <p:spPr>
          <a:xfrm>
            <a:off x="3905402" y="5051146"/>
            <a:ext cx="819302" cy="181051"/>
          </a:xfrm>
          <a:prstGeom prst="roundRect">
            <a:avLst>
              <a:gd name="adj" fmla="val 265816"/>
            </a:avLst>
          </a:prstGeom>
          <a:solidFill>
            <a:srgbClr val="F3F4F6"/>
          </a:solidFill>
          <a:ln/>
        </p:spPr>
        <p:txBody>
          <a:bodyPr/>
          <a:lstStyle/>
          <a:p>
            <a:endParaRPr lang="ja-JP" altLang="en-US"/>
          </a:p>
        </p:txBody>
      </p:sp>
      <p:sp>
        <p:nvSpPr>
          <p:cNvPr id="50" name="Text 47"/>
          <p:cNvSpPr txBox="1"/>
          <p:nvPr/>
        </p:nvSpPr>
        <p:spPr>
          <a:xfrm>
            <a:off x="3982212" y="5070348"/>
            <a:ext cx="743407"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チャットボット</a:t>
            </a:r>
            <a:endParaRPr lang="en-US" sz="800" dirty="0"/>
          </a:p>
        </p:txBody>
      </p:sp>
      <p:sp>
        <p:nvSpPr>
          <p:cNvPr id="51" name="Shape 48"/>
          <p:cNvSpPr/>
          <p:nvPr/>
        </p:nvSpPr>
        <p:spPr>
          <a:xfrm>
            <a:off x="6248095" y="1805026"/>
            <a:ext cx="5333695" cy="19202"/>
          </a:xfrm>
          <a:prstGeom prst="rect">
            <a:avLst/>
          </a:prstGeom>
          <a:solidFill>
            <a:srgbClr val="FDE68A"/>
          </a:solidFill>
          <a:ln/>
        </p:spPr>
        <p:txBody>
          <a:bodyPr/>
          <a:lstStyle/>
          <a:p>
            <a:endParaRPr lang="ja-JP" altLang="en-US"/>
          </a:p>
        </p:txBody>
      </p:sp>
      <p:sp>
        <p:nvSpPr>
          <p:cNvPr id="52" name="Shape 49"/>
          <p:cNvSpPr/>
          <p:nvPr/>
        </p:nvSpPr>
        <p:spPr>
          <a:xfrm>
            <a:off x="6248095" y="1347826"/>
            <a:ext cx="342900" cy="342900"/>
          </a:xfrm>
          <a:prstGeom prst="roundRect">
            <a:avLst>
              <a:gd name="adj" fmla="val 59259"/>
            </a:avLst>
          </a:prstGeom>
          <a:solidFill>
            <a:srgbClr val="FFF7ED"/>
          </a:solidFill>
          <a:ln/>
        </p:spPr>
        <p:txBody>
          <a:bodyPr/>
          <a:lstStyle/>
          <a:p>
            <a:endParaRPr lang="ja-JP" altLang="en-US"/>
          </a:p>
        </p:txBody>
      </p:sp>
      <p:pic>
        <p:nvPicPr>
          <p:cNvPr id="53" name="Image 1" descr="preencoded.png"/>
          <p:cNvPicPr>
            <a:picLocks noChangeAspect="1"/>
          </p:cNvPicPr>
          <p:nvPr/>
        </p:nvPicPr>
        <p:blipFill>
          <a:blip r:embed="rId4"/>
          <a:srcRect/>
          <a:stretch/>
        </p:blipFill>
        <p:spPr>
          <a:xfrm>
            <a:off x="6334049" y="1433779"/>
            <a:ext cx="171907" cy="171907"/>
          </a:xfrm>
          <a:prstGeom prst="rect">
            <a:avLst/>
          </a:prstGeom>
        </p:spPr>
      </p:pic>
      <p:sp>
        <p:nvSpPr>
          <p:cNvPr id="54" name="Text 50"/>
          <p:cNvSpPr txBox="1"/>
          <p:nvPr/>
        </p:nvSpPr>
        <p:spPr>
          <a:xfrm>
            <a:off x="6705295" y="1376172"/>
            <a:ext cx="2210105" cy="277063"/>
          </a:xfrm>
          <a:prstGeom prst="rect">
            <a:avLst/>
          </a:prstGeom>
          <a:noFill/>
          <a:ln/>
        </p:spPr>
        <p:txBody>
          <a:bodyPr wrap="square" lIns="0" tIns="0" rIns="0" bIns="0" rtlCol="0" anchor="ctr"/>
          <a:lstStyle/>
          <a:p>
            <a:pPr marL="0" indent="0" algn="l">
              <a:buNone/>
            </a:pPr>
            <a:r>
              <a:rPr lang="en-US" sz="1500" b="1" dirty="0">
                <a:solidFill>
                  <a:srgbClr val="92400E"/>
                </a:solidFill>
                <a:latin typeface="Noto Sans JP" pitchFamily="34" charset="0"/>
                <a:ea typeface="Noto Sans JP" pitchFamily="34" charset="-122"/>
                <a:cs typeface="Noto Sans JP" pitchFamily="34" charset="-120"/>
              </a:rPr>
              <a:t>定着化施策 (Retention)</a:t>
            </a:r>
            <a:endParaRPr lang="en-US" sz="1500" dirty="0"/>
          </a:p>
        </p:txBody>
      </p:sp>
      <p:sp>
        <p:nvSpPr>
          <p:cNvPr id="55" name="Shape 51"/>
          <p:cNvSpPr/>
          <p:nvPr/>
        </p:nvSpPr>
        <p:spPr>
          <a:xfrm>
            <a:off x="6248095" y="2052828"/>
            <a:ext cx="2590495" cy="1600200"/>
          </a:xfrm>
          <a:prstGeom prst="roundRect">
            <a:avLst>
              <a:gd name="adj" fmla="val 4082"/>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56" name="Shape 52"/>
          <p:cNvSpPr/>
          <p:nvPr/>
        </p:nvSpPr>
        <p:spPr>
          <a:xfrm>
            <a:off x="6409944" y="2214677"/>
            <a:ext cx="228600" cy="228600"/>
          </a:xfrm>
          <a:prstGeom prst="ellipse">
            <a:avLst/>
          </a:prstGeom>
          <a:solidFill>
            <a:srgbClr val="F59E0B"/>
          </a:solidFill>
          <a:ln/>
        </p:spPr>
        <p:txBody>
          <a:bodyPr/>
          <a:lstStyle/>
          <a:p>
            <a:endParaRPr lang="ja-JP" altLang="en-US"/>
          </a:p>
        </p:txBody>
      </p:sp>
      <p:sp>
        <p:nvSpPr>
          <p:cNvPr id="57" name="Text 53"/>
          <p:cNvSpPr txBox="1"/>
          <p:nvPr/>
        </p:nvSpPr>
        <p:spPr>
          <a:xfrm>
            <a:off x="6490411" y="2243023"/>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1</a:t>
            </a:r>
            <a:endParaRPr lang="en-US" sz="900" dirty="0"/>
          </a:p>
        </p:txBody>
      </p:sp>
      <p:sp>
        <p:nvSpPr>
          <p:cNvPr id="58" name="Text 54"/>
          <p:cNvSpPr txBox="1"/>
          <p:nvPr/>
        </p:nvSpPr>
        <p:spPr>
          <a:xfrm>
            <a:off x="6734556" y="2226564"/>
            <a:ext cx="1260043"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定期イベント開催</a:t>
            </a:r>
            <a:endParaRPr lang="en-US" sz="1100" dirty="0"/>
          </a:p>
        </p:txBody>
      </p:sp>
      <p:sp>
        <p:nvSpPr>
          <p:cNvPr id="59" name="Text 55"/>
          <p:cNvSpPr txBox="1"/>
          <p:nvPr/>
        </p:nvSpPr>
        <p:spPr>
          <a:xfrm>
            <a:off x="6409944" y="2538374"/>
            <a:ext cx="2303374" cy="581558"/>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月次「AI活用発表会」や四半期「AIフォーラム」を開催し、活用への熱量を維持・向上させる。</a:t>
            </a:r>
            <a:endParaRPr lang="en-US" sz="900" dirty="0"/>
          </a:p>
        </p:txBody>
      </p:sp>
      <p:sp>
        <p:nvSpPr>
          <p:cNvPr id="60" name="Shape 56"/>
          <p:cNvSpPr/>
          <p:nvPr/>
        </p:nvSpPr>
        <p:spPr>
          <a:xfrm>
            <a:off x="6409944" y="3303727"/>
            <a:ext cx="437998" cy="181051"/>
          </a:xfrm>
          <a:prstGeom prst="roundRect">
            <a:avLst>
              <a:gd name="adj" fmla="val 265816"/>
            </a:avLst>
          </a:prstGeom>
          <a:solidFill>
            <a:srgbClr val="F3F4F6"/>
          </a:solidFill>
          <a:ln/>
        </p:spPr>
        <p:txBody>
          <a:bodyPr/>
          <a:lstStyle/>
          <a:p>
            <a:endParaRPr lang="ja-JP" altLang="en-US"/>
          </a:p>
        </p:txBody>
      </p:sp>
      <p:sp>
        <p:nvSpPr>
          <p:cNvPr id="61" name="Text 57"/>
          <p:cNvSpPr txBox="1"/>
          <p:nvPr/>
        </p:nvSpPr>
        <p:spPr>
          <a:xfrm>
            <a:off x="6486754" y="3322930"/>
            <a:ext cx="362102"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発表会</a:t>
            </a:r>
            <a:endParaRPr lang="en-US" sz="800" dirty="0"/>
          </a:p>
        </p:txBody>
      </p:sp>
      <p:sp>
        <p:nvSpPr>
          <p:cNvPr id="62" name="Shape 58"/>
          <p:cNvSpPr/>
          <p:nvPr/>
        </p:nvSpPr>
        <p:spPr>
          <a:xfrm>
            <a:off x="6905549" y="3303727"/>
            <a:ext cx="629107" cy="181051"/>
          </a:xfrm>
          <a:prstGeom prst="roundRect">
            <a:avLst>
              <a:gd name="adj" fmla="val 265816"/>
            </a:avLst>
          </a:prstGeom>
          <a:solidFill>
            <a:srgbClr val="F3F4F6"/>
          </a:solidFill>
          <a:ln/>
        </p:spPr>
        <p:txBody>
          <a:bodyPr/>
          <a:lstStyle/>
          <a:p>
            <a:endParaRPr lang="ja-JP" altLang="en-US"/>
          </a:p>
        </p:txBody>
      </p:sp>
      <p:sp>
        <p:nvSpPr>
          <p:cNvPr id="63" name="Text 59"/>
          <p:cNvSpPr txBox="1"/>
          <p:nvPr/>
        </p:nvSpPr>
        <p:spPr>
          <a:xfrm>
            <a:off x="6981444" y="3322930"/>
            <a:ext cx="553212"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フォーラム</a:t>
            </a:r>
            <a:endParaRPr lang="en-US" sz="800" dirty="0"/>
          </a:p>
        </p:txBody>
      </p:sp>
      <p:sp>
        <p:nvSpPr>
          <p:cNvPr id="64" name="Shape 60"/>
          <p:cNvSpPr/>
          <p:nvPr/>
        </p:nvSpPr>
        <p:spPr>
          <a:xfrm>
            <a:off x="8991295" y="2052828"/>
            <a:ext cx="2590495" cy="1600200"/>
          </a:xfrm>
          <a:prstGeom prst="roundRect">
            <a:avLst>
              <a:gd name="adj" fmla="val 4082"/>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65" name="Shape 61"/>
          <p:cNvSpPr/>
          <p:nvPr/>
        </p:nvSpPr>
        <p:spPr>
          <a:xfrm>
            <a:off x="9153144" y="2214677"/>
            <a:ext cx="228600" cy="228600"/>
          </a:xfrm>
          <a:prstGeom prst="ellipse">
            <a:avLst/>
          </a:prstGeom>
          <a:solidFill>
            <a:srgbClr val="F59E0B"/>
          </a:solidFill>
          <a:ln/>
        </p:spPr>
        <p:txBody>
          <a:bodyPr/>
          <a:lstStyle/>
          <a:p>
            <a:endParaRPr lang="ja-JP" altLang="en-US"/>
          </a:p>
        </p:txBody>
      </p:sp>
      <p:sp>
        <p:nvSpPr>
          <p:cNvPr id="66" name="Text 62"/>
          <p:cNvSpPr txBox="1"/>
          <p:nvPr/>
        </p:nvSpPr>
        <p:spPr>
          <a:xfrm>
            <a:off x="9233611" y="2243023"/>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2</a:t>
            </a:r>
            <a:endParaRPr lang="en-US" sz="900" dirty="0"/>
          </a:p>
        </p:txBody>
      </p:sp>
      <p:sp>
        <p:nvSpPr>
          <p:cNvPr id="67" name="Text 63"/>
          <p:cNvSpPr txBox="1"/>
          <p:nvPr/>
        </p:nvSpPr>
        <p:spPr>
          <a:xfrm>
            <a:off x="9477756" y="2226564"/>
            <a:ext cx="1536192"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表彰・インセンティブ</a:t>
            </a:r>
            <a:endParaRPr lang="en-US" sz="1100" dirty="0"/>
          </a:p>
        </p:txBody>
      </p:sp>
      <p:sp>
        <p:nvSpPr>
          <p:cNvPr id="68" name="Text 64"/>
          <p:cNvSpPr txBox="1"/>
          <p:nvPr/>
        </p:nvSpPr>
        <p:spPr>
          <a:xfrm>
            <a:off x="9153144" y="2538374"/>
            <a:ext cx="2331720" cy="581558"/>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優秀な活用事例や最も変革した部門を表彰。社内報で特集し、ロールモデルとして称賛。</a:t>
            </a:r>
            <a:endParaRPr lang="en-US" sz="900" dirty="0"/>
          </a:p>
        </p:txBody>
      </p:sp>
      <p:sp>
        <p:nvSpPr>
          <p:cNvPr id="69" name="Shape 65"/>
          <p:cNvSpPr/>
          <p:nvPr/>
        </p:nvSpPr>
        <p:spPr>
          <a:xfrm>
            <a:off x="9153144" y="3303727"/>
            <a:ext cx="437998" cy="181051"/>
          </a:xfrm>
          <a:prstGeom prst="roundRect">
            <a:avLst>
              <a:gd name="adj" fmla="val 265816"/>
            </a:avLst>
          </a:prstGeom>
          <a:solidFill>
            <a:srgbClr val="F3F4F6"/>
          </a:solidFill>
          <a:ln/>
        </p:spPr>
        <p:txBody>
          <a:bodyPr/>
          <a:lstStyle/>
          <a:p>
            <a:endParaRPr lang="ja-JP" altLang="en-US"/>
          </a:p>
        </p:txBody>
      </p:sp>
      <p:sp>
        <p:nvSpPr>
          <p:cNvPr id="70" name="Text 66"/>
          <p:cNvSpPr txBox="1"/>
          <p:nvPr/>
        </p:nvSpPr>
        <p:spPr>
          <a:xfrm>
            <a:off x="9229954" y="3322930"/>
            <a:ext cx="362102"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社長賞</a:t>
            </a:r>
            <a:endParaRPr lang="en-US" sz="800" dirty="0"/>
          </a:p>
        </p:txBody>
      </p:sp>
      <p:sp>
        <p:nvSpPr>
          <p:cNvPr id="71" name="Shape 67"/>
          <p:cNvSpPr/>
          <p:nvPr/>
        </p:nvSpPr>
        <p:spPr>
          <a:xfrm>
            <a:off x="9648749" y="3303727"/>
            <a:ext cx="533095" cy="181051"/>
          </a:xfrm>
          <a:prstGeom prst="roundRect">
            <a:avLst>
              <a:gd name="adj" fmla="val 265816"/>
            </a:avLst>
          </a:prstGeom>
          <a:solidFill>
            <a:srgbClr val="F3F4F6"/>
          </a:solidFill>
          <a:ln/>
        </p:spPr>
        <p:txBody>
          <a:bodyPr/>
          <a:lstStyle/>
          <a:p>
            <a:endParaRPr lang="ja-JP" altLang="en-US"/>
          </a:p>
        </p:txBody>
      </p:sp>
      <p:sp>
        <p:nvSpPr>
          <p:cNvPr id="72" name="Text 68"/>
          <p:cNvSpPr txBox="1"/>
          <p:nvPr/>
        </p:nvSpPr>
        <p:spPr>
          <a:xfrm>
            <a:off x="9724644" y="3322930"/>
            <a:ext cx="457200"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部門表彰</a:t>
            </a:r>
            <a:endParaRPr lang="en-US" sz="800" dirty="0"/>
          </a:p>
        </p:txBody>
      </p:sp>
      <p:sp>
        <p:nvSpPr>
          <p:cNvPr id="73" name="Shape 69"/>
          <p:cNvSpPr/>
          <p:nvPr/>
        </p:nvSpPr>
        <p:spPr>
          <a:xfrm>
            <a:off x="6248095" y="3799332"/>
            <a:ext cx="2590495" cy="1600200"/>
          </a:xfrm>
          <a:prstGeom prst="roundRect">
            <a:avLst>
              <a:gd name="adj" fmla="val 4082"/>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74" name="Shape 70"/>
          <p:cNvSpPr/>
          <p:nvPr/>
        </p:nvSpPr>
        <p:spPr>
          <a:xfrm>
            <a:off x="6409944" y="3961181"/>
            <a:ext cx="228600" cy="228600"/>
          </a:xfrm>
          <a:prstGeom prst="ellipse">
            <a:avLst/>
          </a:prstGeom>
          <a:solidFill>
            <a:srgbClr val="F59E0B"/>
          </a:solidFill>
          <a:ln/>
        </p:spPr>
        <p:txBody>
          <a:bodyPr/>
          <a:lstStyle/>
          <a:p>
            <a:endParaRPr lang="ja-JP" altLang="en-US"/>
          </a:p>
        </p:txBody>
      </p:sp>
      <p:sp>
        <p:nvSpPr>
          <p:cNvPr id="75" name="Text 71"/>
          <p:cNvSpPr txBox="1"/>
          <p:nvPr/>
        </p:nvSpPr>
        <p:spPr>
          <a:xfrm>
            <a:off x="6490411" y="3989527"/>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3</a:t>
            </a:r>
            <a:endParaRPr lang="en-US" sz="900" dirty="0"/>
          </a:p>
        </p:txBody>
      </p:sp>
      <p:sp>
        <p:nvSpPr>
          <p:cNvPr id="76" name="Text 72"/>
          <p:cNvSpPr txBox="1"/>
          <p:nvPr/>
        </p:nvSpPr>
        <p:spPr>
          <a:xfrm>
            <a:off x="6734556" y="3973068"/>
            <a:ext cx="1250899"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キャリアパス連動</a:t>
            </a:r>
            <a:endParaRPr lang="en-US" sz="1100" dirty="0"/>
          </a:p>
        </p:txBody>
      </p:sp>
      <p:sp>
        <p:nvSpPr>
          <p:cNvPr id="77" name="Text 73"/>
          <p:cNvSpPr txBox="1"/>
          <p:nvPr/>
        </p:nvSpPr>
        <p:spPr>
          <a:xfrm>
            <a:off x="6409944" y="4284878"/>
            <a:ext cx="2322576" cy="581558"/>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AI活用スキルを人事考課の一部に反映。デジタル人材としてのキャリアパスを明確化。</a:t>
            </a:r>
            <a:endParaRPr lang="en-US" sz="900" dirty="0"/>
          </a:p>
        </p:txBody>
      </p:sp>
      <p:sp>
        <p:nvSpPr>
          <p:cNvPr id="78" name="Shape 74"/>
          <p:cNvSpPr/>
          <p:nvPr/>
        </p:nvSpPr>
        <p:spPr>
          <a:xfrm>
            <a:off x="6409944" y="5051146"/>
            <a:ext cx="533095" cy="181051"/>
          </a:xfrm>
          <a:prstGeom prst="roundRect">
            <a:avLst>
              <a:gd name="adj" fmla="val 265816"/>
            </a:avLst>
          </a:prstGeom>
          <a:solidFill>
            <a:srgbClr val="F3F4F6"/>
          </a:solidFill>
          <a:ln/>
        </p:spPr>
        <p:txBody>
          <a:bodyPr/>
          <a:lstStyle/>
          <a:p>
            <a:endParaRPr lang="ja-JP" altLang="en-US"/>
          </a:p>
        </p:txBody>
      </p:sp>
      <p:sp>
        <p:nvSpPr>
          <p:cNvPr id="79" name="Text 75"/>
          <p:cNvSpPr txBox="1"/>
          <p:nvPr/>
        </p:nvSpPr>
        <p:spPr>
          <a:xfrm>
            <a:off x="6486754" y="5070348"/>
            <a:ext cx="457200"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人事評価</a:t>
            </a:r>
            <a:endParaRPr lang="en-US" sz="800" dirty="0"/>
          </a:p>
        </p:txBody>
      </p:sp>
      <p:sp>
        <p:nvSpPr>
          <p:cNvPr id="80" name="Shape 76"/>
          <p:cNvSpPr/>
          <p:nvPr/>
        </p:nvSpPr>
        <p:spPr>
          <a:xfrm>
            <a:off x="7000646" y="5051146"/>
            <a:ext cx="629107" cy="181051"/>
          </a:xfrm>
          <a:prstGeom prst="roundRect">
            <a:avLst>
              <a:gd name="adj" fmla="val 265816"/>
            </a:avLst>
          </a:prstGeom>
          <a:solidFill>
            <a:srgbClr val="F3F4F6"/>
          </a:solidFill>
          <a:ln/>
        </p:spPr>
        <p:txBody>
          <a:bodyPr/>
          <a:lstStyle/>
          <a:p>
            <a:endParaRPr lang="ja-JP" altLang="en-US"/>
          </a:p>
        </p:txBody>
      </p:sp>
      <p:sp>
        <p:nvSpPr>
          <p:cNvPr id="81" name="Text 77"/>
          <p:cNvSpPr txBox="1"/>
          <p:nvPr/>
        </p:nvSpPr>
        <p:spPr>
          <a:xfrm>
            <a:off x="7077456" y="5070348"/>
            <a:ext cx="553212"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スキル認定</a:t>
            </a:r>
            <a:endParaRPr lang="en-US" sz="800" dirty="0"/>
          </a:p>
        </p:txBody>
      </p:sp>
      <p:sp>
        <p:nvSpPr>
          <p:cNvPr id="82" name="Shape 78"/>
          <p:cNvSpPr/>
          <p:nvPr/>
        </p:nvSpPr>
        <p:spPr>
          <a:xfrm>
            <a:off x="8991295" y="3799332"/>
            <a:ext cx="2590495" cy="1600200"/>
          </a:xfrm>
          <a:prstGeom prst="roundRect">
            <a:avLst>
              <a:gd name="adj" fmla="val 4082"/>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txBody>
          <a:bodyPr/>
          <a:lstStyle/>
          <a:p>
            <a:endParaRPr lang="ja-JP" altLang="en-US"/>
          </a:p>
        </p:txBody>
      </p:sp>
      <p:sp>
        <p:nvSpPr>
          <p:cNvPr id="83" name="Shape 79"/>
          <p:cNvSpPr/>
          <p:nvPr/>
        </p:nvSpPr>
        <p:spPr>
          <a:xfrm>
            <a:off x="9153144" y="3961181"/>
            <a:ext cx="228600" cy="228600"/>
          </a:xfrm>
          <a:prstGeom prst="ellipse">
            <a:avLst/>
          </a:prstGeom>
          <a:solidFill>
            <a:srgbClr val="F59E0B"/>
          </a:solidFill>
          <a:ln/>
        </p:spPr>
        <p:txBody>
          <a:bodyPr/>
          <a:lstStyle/>
          <a:p>
            <a:endParaRPr lang="ja-JP" altLang="en-US"/>
          </a:p>
        </p:txBody>
      </p:sp>
      <p:sp>
        <p:nvSpPr>
          <p:cNvPr id="84" name="Text 80"/>
          <p:cNvSpPr txBox="1"/>
          <p:nvPr/>
        </p:nvSpPr>
        <p:spPr>
          <a:xfrm>
            <a:off x="9233611" y="3989527"/>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4</a:t>
            </a:r>
            <a:endParaRPr lang="en-US" sz="900" dirty="0"/>
          </a:p>
        </p:txBody>
      </p:sp>
      <p:sp>
        <p:nvSpPr>
          <p:cNvPr id="85" name="Text 81"/>
          <p:cNvSpPr txBox="1"/>
          <p:nvPr/>
        </p:nvSpPr>
        <p:spPr>
          <a:xfrm>
            <a:off x="9477756" y="3973068"/>
            <a:ext cx="1117397" cy="200254"/>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継続的学習環境</a:t>
            </a:r>
            <a:endParaRPr lang="en-US" sz="1100" dirty="0"/>
          </a:p>
        </p:txBody>
      </p:sp>
      <p:sp>
        <p:nvSpPr>
          <p:cNvPr id="86" name="Text 82"/>
          <p:cNvSpPr txBox="1"/>
          <p:nvPr/>
        </p:nvSpPr>
        <p:spPr>
          <a:xfrm>
            <a:off x="9153144" y="4284878"/>
            <a:ext cx="2331720" cy="581558"/>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新機能アップデート研修や応用プログラムを提供し、スキルレベルの陳腐化を防ぐ。</a:t>
            </a:r>
            <a:endParaRPr lang="en-US" sz="900" dirty="0"/>
          </a:p>
        </p:txBody>
      </p:sp>
      <p:sp>
        <p:nvSpPr>
          <p:cNvPr id="87" name="Shape 83"/>
          <p:cNvSpPr/>
          <p:nvPr/>
        </p:nvSpPr>
        <p:spPr>
          <a:xfrm>
            <a:off x="9153144" y="5051146"/>
            <a:ext cx="437998" cy="181051"/>
          </a:xfrm>
          <a:prstGeom prst="roundRect">
            <a:avLst>
              <a:gd name="adj" fmla="val 265816"/>
            </a:avLst>
          </a:prstGeom>
          <a:solidFill>
            <a:srgbClr val="F3F4F6"/>
          </a:solidFill>
          <a:ln/>
        </p:spPr>
        <p:txBody>
          <a:bodyPr/>
          <a:lstStyle/>
          <a:p>
            <a:endParaRPr lang="ja-JP" altLang="en-US"/>
          </a:p>
        </p:txBody>
      </p:sp>
      <p:sp>
        <p:nvSpPr>
          <p:cNvPr id="88" name="Text 84"/>
          <p:cNvSpPr txBox="1"/>
          <p:nvPr/>
        </p:nvSpPr>
        <p:spPr>
          <a:xfrm>
            <a:off x="9229954" y="5070348"/>
            <a:ext cx="362102"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新機能</a:t>
            </a:r>
            <a:endParaRPr lang="en-US" sz="800" dirty="0"/>
          </a:p>
        </p:txBody>
      </p:sp>
      <p:sp>
        <p:nvSpPr>
          <p:cNvPr id="89" name="Shape 85"/>
          <p:cNvSpPr/>
          <p:nvPr/>
        </p:nvSpPr>
        <p:spPr>
          <a:xfrm>
            <a:off x="9648749" y="5051146"/>
            <a:ext cx="533095" cy="181051"/>
          </a:xfrm>
          <a:prstGeom prst="roundRect">
            <a:avLst>
              <a:gd name="adj" fmla="val 265816"/>
            </a:avLst>
          </a:prstGeom>
          <a:solidFill>
            <a:srgbClr val="F3F4F6"/>
          </a:solidFill>
          <a:ln/>
        </p:spPr>
        <p:txBody>
          <a:bodyPr/>
          <a:lstStyle/>
          <a:p>
            <a:endParaRPr lang="ja-JP" altLang="en-US"/>
          </a:p>
        </p:txBody>
      </p:sp>
      <p:sp>
        <p:nvSpPr>
          <p:cNvPr id="90" name="Text 86"/>
          <p:cNvSpPr txBox="1"/>
          <p:nvPr/>
        </p:nvSpPr>
        <p:spPr>
          <a:xfrm>
            <a:off x="9724644" y="5070348"/>
            <a:ext cx="457200" cy="143561"/>
          </a:xfrm>
          <a:prstGeom prst="rect">
            <a:avLst/>
          </a:prstGeom>
          <a:noFill/>
          <a:ln/>
        </p:spPr>
        <p:txBody>
          <a:bodyPr wrap="square" lIns="0" tIns="0" rIns="0" bIns="0" rtlCol="0" anchor="ctr"/>
          <a:lstStyle/>
          <a:p>
            <a:pPr marL="0" indent="0" algn="l">
              <a:buNone/>
            </a:pPr>
            <a:r>
              <a:rPr lang="en-US" sz="800" b="1" dirty="0">
                <a:solidFill>
                  <a:srgbClr val="4B5563"/>
                </a:solidFill>
                <a:latin typeface="Noto Sans JP" pitchFamily="34" charset="0"/>
                <a:ea typeface="Noto Sans JP" pitchFamily="34" charset="-122"/>
                <a:cs typeface="Noto Sans JP" pitchFamily="34" charset="-120"/>
              </a:rPr>
              <a:t>応用講座</a:t>
            </a:r>
            <a:endParaRPr lang="en-US" sz="800" dirty="0"/>
          </a:p>
        </p:txBody>
      </p:sp>
      <p:sp>
        <p:nvSpPr>
          <p:cNvPr id="91" name="Shape 87"/>
          <p:cNvSpPr/>
          <p:nvPr/>
        </p:nvSpPr>
        <p:spPr>
          <a:xfrm>
            <a:off x="609905" y="5622646"/>
            <a:ext cx="10972800" cy="952805"/>
          </a:xfrm>
          <a:prstGeom prst="roundRect">
            <a:avLst>
              <a:gd name="adj" fmla="val 11516"/>
            </a:avLst>
          </a:prstGeom>
          <a:solidFill>
            <a:srgbClr val="FFFFFF"/>
          </a:solidFill>
          <a:ln w="12700">
            <a:solidFill>
              <a:srgbClr val="E2E8F0"/>
            </a:solidFill>
            <a:prstDash val="solid"/>
          </a:ln>
        </p:spPr>
        <p:txBody>
          <a:bodyPr/>
          <a:lstStyle/>
          <a:p>
            <a:endParaRPr lang="ja-JP" altLang="en-US"/>
          </a:p>
        </p:txBody>
      </p:sp>
      <p:sp>
        <p:nvSpPr>
          <p:cNvPr id="92" name="Text 88"/>
          <p:cNvSpPr txBox="1"/>
          <p:nvPr/>
        </p:nvSpPr>
        <p:spPr>
          <a:xfrm>
            <a:off x="11750040" y="6486754"/>
            <a:ext cx="228600" cy="133502"/>
          </a:xfrm>
          <a:prstGeom prst="rect">
            <a:avLst/>
          </a:prstGeom>
          <a:noFill/>
          <a:ln/>
        </p:spPr>
        <p:txBody>
          <a:bodyPr wrap="square" lIns="0" tIns="0" rIns="0" bIns="0" rtlCol="0" anchor="ctr"/>
          <a:lstStyle/>
          <a:p>
            <a:pPr marL="0" indent="0" algn="l">
              <a:buNone/>
            </a:pPr>
            <a:r>
              <a:rPr lang="en-US" sz="900" dirty="0">
                <a:solidFill>
                  <a:srgbClr val="9CA3AF"/>
                </a:solidFill>
                <a:latin typeface="ui-monospace" pitchFamily="34" charset="0"/>
                <a:ea typeface="ui-monospace" pitchFamily="34" charset="-122"/>
                <a:cs typeface="ui-monospace" pitchFamily="34" charset="-120"/>
              </a:rPr>
              <a:t>40</a:t>
            </a:r>
            <a:endParaRPr lang="en-US" sz="900" dirty="0"/>
          </a:p>
        </p:txBody>
      </p:sp>
      <p:sp>
        <p:nvSpPr>
          <p:cNvPr id="93" name="Shape 89"/>
          <p:cNvSpPr/>
          <p:nvPr/>
        </p:nvSpPr>
        <p:spPr>
          <a:xfrm>
            <a:off x="1018642" y="5784494"/>
            <a:ext cx="381305" cy="381305"/>
          </a:xfrm>
          <a:prstGeom prst="ellipse">
            <a:avLst/>
          </a:prstGeom>
          <a:solidFill>
            <a:srgbClr val="059669"/>
          </a:solidFill>
          <a:ln w="25400">
            <a:solidFill>
              <a:srgbClr val="A7F3D0"/>
            </a:solidFill>
            <a:prstDash val="solid"/>
          </a:ln>
          <a:effectLst>
            <a:outerShdw blurRad="38100" dist="25400" dir="5400000" algn="bl" rotWithShape="0">
              <a:srgbClr val="000000">
                <a:alpha val="10000"/>
              </a:srgbClr>
            </a:outerShdw>
          </a:effectLst>
        </p:spPr>
        <p:txBody>
          <a:bodyPr/>
          <a:lstStyle/>
          <a:p>
            <a:endParaRPr lang="ja-JP" altLang="en-US"/>
          </a:p>
        </p:txBody>
      </p:sp>
      <p:pic>
        <p:nvPicPr>
          <p:cNvPr id="94" name="Image 2" descr="preencoded.png"/>
          <p:cNvPicPr>
            <a:picLocks noChangeAspect="1"/>
          </p:cNvPicPr>
          <p:nvPr/>
        </p:nvPicPr>
        <p:blipFill>
          <a:blip r:embed="rId5"/>
          <a:srcRect/>
          <a:stretch/>
        </p:blipFill>
        <p:spPr>
          <a:xfrm>
            <a:off x="1123798" y="5888736"/>
            <a:ext cx="171907" cy="171907"/>
          </a:xfrm>
          <a:prstGeom prst="rect">
            <a:avLst/>
          </a:prstGeom>
        </p:spPr>
      </p:pic>
      <p:sp>
        <p:nvSpPr>
          <p:cNvPr id="95" name="Text 90"/>
          <p:cNvSpPr txBox="1"/>
          <p:nvPr/>
        </p:nvSpPr>
        <p:spPr>
          <a:xfrm>
            <a:off x="923544" y="6241694"/>
            <a:ext cx="657454" cy="162763"/>
          </a:xfrm>
          <a:prstGeom prst="rect">
            <a:avLst/>
          </a:prstGeom>
          <a:noFill/>
          <a:ln/>
        </p:spPr>
        <p:txBody>
          <a:bodyPr wrap="square" lIns="0" tIns="0" rIns="0" bIns="0" rtlCol="0" anchor="ctr"/>
          <a:lstStyle/>
          <a:p>
            <a:pPr marL="0" indent="0" algn="l">
              <a:buNone/>
            </a:pPr>
            <a:r>
              <a:rPr lang="en-US" sz="900" b="1" dirty="0">
                <a:solidFill>
                  <a:srgbClr val="059669"/>
                </a:solidFill>
                <a:latin typeface="Noto Sans JP" pitchFamily="34" charset="0"/>
                <a:ea typeface="Noto Sans JP" pitchFamily="34" charset="-122"/>
                <a:cs typeface="Noto Sans JP" pitchFamily="34" charset="-120"/>
              </a:rPr>
              <a:t>トライアル</a:t>
            </a:r>
            <a:endParaRPr lang="en-US" sz="900" dirty="0"/>
          </a:p>
        </p:txBody>
      </p:sp>
      <p:sp>
        <p:nvSpPr>
          <p:cNvPr id="96" name="Shape 91"/>
          <p:cNvSpPr/>
          <p:nvPr/>
        </p:nvSpPr>
        <p:spPr>
          <a:xfrm>
            <a:off x="1646834" y="5965546"/>
            <a:ext cx="2467051" cy="38405"/>
          </a:xfrm>
          <a:prstGeom prst="roundRect">
            <a:avLst>
              <a:gd name="adj" fmla="val 1190470"/>
            </a:avLst>
          </a:prstGeom>
          <a:solidFill>
            <a:srgbClr val="E2E8F0"/>
          </a:solidFill>
          <a:ln/>
        </p:spPr>
        <p:txBody>
          <a:bodyPr/>
          <a:lstStyle/>
          <a:p>
            <a:endParaRPr lang="ja-JP" altLang="en-US"/>
          </a:p>
        </p:txBody>
      </p:sp>
      <p:sp>
        <p:nvSpPr>
          <p:cNvPr id="97" name="Shape 92"/>
          <p:cNvSpPr/>
          <p:nvPr/>
        </p:nvSpPr>
        <p:spPr>
          <a:xfrm>
            <a:off x="1646834" y="5965546"/>
            <a:ext cx="2467051" cy="38405"/>
          </a:xfrm>
          <a:prstGeom prst="roundRect">
            <a:avLst>
              <a:gd name="adj" fmla="val 1190470"/>
            </a:avLst>
          </a:prstGeom>
          <a:solidFill>
            <a:srgbClr val="10B981"/>
          </a:solidFill>
          <a:ln/>
        </p:spPr>
        <p:txBody>
          <a:bodyPr/>
          <a:lstStyle/>
          <a:p>
            <a:endParaRPr lang="ja-JP" altLang="en-US"/>
          </a:p>
        </p:txBody>
      </p:sp>
      <p:sp>
        <p:nvSpPr>
          <p:cNvPr id="98" name="Shape 93"/>
          <p:cNvSpPr/>
          <p:nvPr/>
        </p:nvSpPr>
        <p:spPr>
          <a:xfrm>
            <a:off x="4294937" y="5784494"/>
            <a:ext cx="381305" cy="381305"/>
          </a:xfrm>
          <a:prstGeom prst="ellipse">
            <a:avLst/>
          </a:prstGeom>
          <a:solidFill>
            <a:srgbClr val="059669"/>
          </a:solidFill>
          <a:ln w="25400">
            <a:solidFill>
              <a:srgbClr val="A7F3D0"/>
            </a:solidFill>
            <a:prstDash val="solid"/>
          </a:ln>
          <a:effectLst>
            <a:outerShdw blurRad="38100" dist="25400" dir="5400000" algn="bl" rotWithShape="0">
              <a:srgbClr val="000000">
                <a:alpha val="10000"/>
              </a:srgbClr>
            </a:outerShdw>
          </a:effectLst>
        </p:spPr>
        <p:txBody>
          <a:bodyPr/>
          <a:lstStyle/>
          <a:p>
            <a:endParaRPr lang="ja-JP" altLang="en-US"/>
          </a:p>
        </p:txBody>
      </p:sp>
      <p:pic>
        <p:nvPicPr>
          <p:cNvPr id="99" name="Image 3" descr="preencoded.png"/>
          <p:cNvPicPr>
            <a:picLocks noChangeAspect="1"/>
          </p:cNvPicPr>
          <p:nvPr/>
        </p:nvPicPr>
        <p:blipFill>
          <a:blip r:embed="rId6"/>
          <a:srcRect t="-842" b="-842"/>
          <a:stretch/>
        </p:blipFill>
        <p:spPr>
          <a:xfrm>
            <a:off x="4390034" y="5888736"/>
            <a:ext cx="190195" cy="171907"/>
          </a:xfrm>
          <a:prstGeom prst="rect">
            <a:avLst/>
          </a:prstGeom>
        </p:spPr>
      </p:pic>
      <p:sp>
        <p:nvSpPr>
          <p:cNvPr id="100" name="Text 94"/>
          <p:cNvSpPr txBox="1"/>
          <p:nvPr/>
        </p:nvSpPr>
        <p:spPr>
          <a:xfrm>
            <a:off x="4256532" y="6241694"/>
            <a:ext cx="553212" cy="162763"/>
          </a:xfrm>
          <a:prstGeom prst="rect">
            <a:avLst/>
          </a:prstGeom>
          <a:noFill/>
          <a:ln/>
        </p:spPr>
        <p:txBody>
          <a:bodyPr wrap="square" lIns="0" tIns="0" rIns="0" bIns="0" rtlCol="0" anchor="ctr"/>
          <a:lstStyle/>
          <a:p>
            <a:pPr marL="0" indent="0" algn="l">
              <a:buNone/>
            </a:pPr>
            <a:r>
              <a:rPr lang="en-US" sz="900" b="1" dirty="0">
                <a:solidFill>
                  <a:srgbClr val="059669"/>
                </a:solidFill>
                <a:latin typeface="Noto Sans JP" pitchFamily="34" charset="0"/>
                <a:ea typeface="Noto Sans JP" pitchFamily="34" charset="-122"/>
                <a:cs typeface="Noto Sans JP" pitchFamily="34" charset="-120"/>
              </a:rPr>
              <a:t>波状展開</a:t>
            </a:r>
            <a:endParaRPr lang="en-US" sz="900" dirty="0"/>
          </a:p>
        </p:txBody>
      </p:sp>
      <p:sp>
        <p:nvSpPr>
          <p:cNvPr id="101" name="Shape 95"/>
          <p:cNvSpPr/>
          <p:nvPr/>
        </p:nvSpPr>
        <p:spPr>
          <a:xfrm>
            <a:off x="4866437" y="5965546"/>
            <a:ext cx="2467051" cy="38405"/>
          </a:xfrm>
          <a:prstGeom prst="roundRect">
            <a:avLst>
              <a:gd name="adj" fmla="val 1190470"/>
            </a:avLst>
          </a:prstGeom>
          <a:solidFill>
            <a:srgbClr val="E2E8F0"/>
          </a:solidFill>
          <a:ln/>
        </p:spPr>
        <p:txBody>
          <a:bodyPr/>
          <a:lstStyle/>
          <a:p>
            <a:endParaRPr lang="ja-JP" altLang="en-US"/>
          </a:p>
        </p:txBody>
      </p:sp>
      <p:sp>
        <p:nvSpPr>
          <p:cNvPr id="102" name="Shape 96"/>
          <p:cNvSpPr/>
          <p:nvPr/>
        </p:nvSpPr>
        <p:spPr>
          <a:xfrm>
            <a:off x="4866437" y="5965546"/>
            <a:ext cx="1723644" cy="38405"/>
          </a:xfrm>
          <a:prstGeom prst="roundRect">
            <a:avLst>
              <a:gd name="adj" fmla="val 1190470"/>
            </a:avLst>
          </a:prstGeom>
          <a:solidFill>
            <a:srgbClr val="10B981"/>
          </a:solidFill>
          <a:ln/>
        </p:spPr>
        <p:txBody>
          <a:bodyPr/>
          <a:lstStyle/>
          <a:p>
            <a:endParaRPr lang="ja-JP" altLang="en-US"/>
          </a:p>
        </p:txBody>
      </p:sp>
      <p:sp>
        <p:nvSpPr>
          <p:cNvPr id="103" name="Shape 97"/>
          <p:cNvSpPr/>
          <p:nvPr/>
        </p:nvSpPr>
        <p:spPr>
          <a:xfrm>
            <a:off x="7572146" y="5784494"/>
            <a:ext cx="381305" cy="381305"/>
          </a:xfrm>
          <a:prstGeom prst="ellipse">
            <a:avLst/>
          </a:prstGeom>
          <a:solidFill>
            <a:srgbClr val="E2E8F0"/>
          </a:solidFill>
          <a:ln w="25400">
            <a:solidFill>
              <a:srgbClr val="FFFFFF"/>
            </a:solidFill>
            <a:prstDash val="solid"/>
          </a:ln>
          <a:effectLst>
            <a:outerShdw blurRad="38100" dist="25400" dir="5400000" algn="bl" rotWithShape="0">
              <a:srgbClr val="000000">
                <a:alpha val="10000"/>
              </a:srgbClr>
            </a:outerShdw>
          </a:effectLst>
        </p:spPr>
        <p:txBody>
          <a:bodyPr/>
          <a:lstStyle/>
          <a:p>
            <a:endParaRPr lang="ja-JP" altLang="en-US"/>
          </a:p>
        </p:txBody>
      </p:sp>
      <p:pic>
        <p:nvPicPr>
          <p:cNvPr id="104" name="Image 4" descr="preencoded.png"/>
          <p:cNvPicPr>
            <a:picLocks noChangeAspect="1"/>
          </p:cNvPicPr>
          <p:nvPr/>
        </p:nvPicPr>
        <p:blipFill>
          <a:blip r:embed="rId7"/>
          <a:srcRect l="-1064" r="-1064"/>
          <a:stretch/>
        </p:blipFill>
        <p:spPr>
          <a:xfrm>
            <a:off x="7652614" y="5888736"/>
            <a:ext cx="219456" cy="171907"/>
          </a:xfrm>
          <a:prstGeom prst="rect">
            <a:avLst/>
          </a:prstGeom>
        </p:spPr>
      </p:pic>
      <p:sp>
        <p:nvSpPr>
          <p:cNvPr id="105" name="Text 98"/>
          <p:cNvSpPr txBox="1"/>
          <p:nvPr/>
        </p:nvSpPr>
        <p:spPr>
          <a:xfrm>
            <a:off x="7476134" y="6241694"/>
            <a:ext cx="667512" cy="162763"/>
          </a:xfrm>
          <a:prstGeom prst="rect">
            <a:avLst/>
          </a:prstGeom>
          <a:noFill/>
          <a:ln/>
        </p:spPr>
        <p:txBody>
          <a:bodyPr wrap="square" lIns="0" tIns="0" rIns="0" bIns="0" rtlCol="0" anchor="ctr"/>
          <a:lstStyle/>
          <a:p>
            <a:pPr marL="0" indent="0" algn="l">
              <a:buNone/>
            </a:pPr>
            <a:r>
              <a:rPr lang="en-US" sz="900" b="1" dirty="0">
                <a:solidFill>
                  <a:srgbClr val="64748B"/>
                </a:solidFill>
                <a:latin typeface="Noto Sans JP" pitchFamily="34" charset="0"/>
                <a:ea typeface="Noto Sans JP" pitchFamily="34" charset="-122"/>
                <a:cs typeface="Noto Sans JP" pitchFamily="34" charset="-120"/>
              </a:rPr>
              <a:t>全社標準化</a:t>
            </a:r>
            <a:endParaRPr lang="en-US" sz="900" dirty="0"/>
          </a:p>
        </p:txBody>
      </p:sp>
      <p:sp>
        <p:nvSpPr>
          <p:cNvPr id="106" name="Shape 99"/>
          <p:cNvSpPr/>
          <p:nvPr/>
        </p:nvSpPr>
        <p:spPr>
          <a:xfrm>
            <a:off x="8200339" y="5965546"/>
            <a:ext cx="2467051" cy="38405"/>
          </a:xfrm>
          <a:prstGeom prst="roundRect">
            <a:avLst>
              <a:gd name="adj" fmla="val 1190470"/>
            </a:avLst>
          </a:prstGeom>
          <a:solidFill>
            <a:srgbClr val="E2E8F0"/>
          </a:solidFill>
          <a:ln/>
        </p:spPr>
        <p:txBody>
          <a:bodyPr/>
          <a:lstStyle/>
          <a:p>
            <a:endParaRPr lang="ja-JP" altLang="en-US"/>
          </a:p>
        </p:txBody>
      </p:sp>
      <p:sp>
        <p:nvSpPr>
          <p:cNvPr id="107" name="Shape 100"/>
          <p:cNvSpPr/>
          <p:nvPr/>
        </p:nvSpPr>
        <p:spPr>
          <a:xfrm>
            <a:off x="10848442" y="5784494"/>
            <a:ext cx="381305" cy="381305"/>
          </a:xfrm>
          <a:prstGeom prst="ellipse">
            <a:avLst/>
          </a:prstGeom>
          <a:solidFill>
            <a:srgbClr val="FEF3C7"/>
          </a:solidFill>
          <a:ln w="25400">
            <a:solidFill>
              <a:srgbClr val="FCD34D"/>
            </a:solidFill>
            <a:prstDash val="solid"/>
          </a:ln>
          <a:effectLst>
            <a:outerShdw blurRad="38100" dist="25400" dir="5400000" algn="bl" rotWithShape="0">
              <a:srgbClr val="000000">
                <a:alpha val="10000"/>
              </a:srgbClr>
            </a:outerShdw>
          </a:effectLst>
        </p:spPr>
        <p:txBody>
          <a:bodyPr/>
          <a:lstStyle/>
          <a:p>
            <a:endParaRPr lang="ja-JP" altLang="en-US"/>
          </a:p>
        </p:txBody>
      </p:sp>
      <p:pic>
        <p:nvPicPr>
          <p:cNvPr id="108" name="Image 5" descr="preencoded.png"/>
          <p:cNvPicPr>
            <a:picLocks noChangeAspect="1"/>
          </p:cNvPicPr>
          <p:nvPr/>
        </p:nvPicPr>
        <p:blipFill>
          <a:blip r:embed="rId8"/>
          <a:srcRect l="-760" r="-760"/>
          <a:stretch/>
        </p:blipFill>
        <p:spPr>
          <a:xfrm>
            <a:off x="10962742" y="5888736"/>
            <a:ext cx="152705" cy="171907"/>
          </a:xfrm>
          <a:prstGeom prst="rect">
            <a:avLst/>
          </a:prstGeom>
        </p:spPr>
      </p:pic>
      <p:sp>
        <p:nvSpPr>
          <p:cNvPr id="109" name="Text 101"/>
          <p:cNvSpPr txBox="1"/>
          <p:nvPr/>
        </p:nvSpPr>
        <p:spPr>
          <a:xfrm>
            <a:off x="10810951" y="6241694"/>
            <a:ext cx="553212" cy="162763"/>
          </a:xfrm>
          <a:prstGeom prst="rect">
            <a:avLst/>
          </a:prstGeom>
          <a:noFill/>
          <a:ln/>
        </p:spPr>
        <p:txBody>
          <a:bodyPr wrap="square" lIns="0" tIns="0" rIns="0" bIns="0" rtlCol="0" anchor="ctr"/>
          <a:lstStyle/>
          <a:p>
            <a:pPr marL="0" indent="0" algn="l">
              <a:buNone/>
            </a:pPr>
            <a:r>
              <a:rPr lang="en-US" sz="900" b="1" dirty="0">
                <a:solidFill>
                  <a:srgbClr val="D97706"/>
                </a:solidFill>
                <a:latin typeface="Noto Sans JP" pitchFamily="34" charset="0"/>
                <a:ea typeface="Noto Sans JP" pitchFamily="34" charset="-122"/>
                <a:cs typeface="Noto Sans JP" pitchFamily="34" charset="-120"/>
              </a:rPr>
              <a:t>文化定着</a:t>
            </a:r>
            <a:endParaRPr lang="en-US" sz="900" dirty="0"/>
          </a:p>
        </p:txBody>
      </p:sp>
      <p:sp>
        <p:nvSpPr>
          <p:cNvPr id="110" name="Text 102"/>
          <p:cNvSpPr txBox="1"/>
          <p:nvPr/>
        </p:nvSpPr>
        <p:spPr>
          <a:xfrm>
            <a:off x="771754" y="5726887"/>
            <a:ext cx="1260043" cy="152705"/>
          </a:xfrm>
          <a:prstGeom prst="rect">
            <a:avLst/>
          </a:prstGeom>
          <a:noFill/>
          <a:ln/>
        </p:spPr>
        <p:txBody>
          <a:bodyPr wrap="square" lIns="0" tIns="0" rIns="0" bIns="0" rtlCol="0" anchor="ctr"/>
          <a:lstStyle/>
          <a:p>
            <a:pPr marL="0" indent="0" algn="l">
              <a:buNone/>
            </a:pPr>
            <a:r>
              <a:rPr lang="en-US" sz="800" b="1" dirty="0">
                <a:solidFill>
                  <a:srgbClr val="94A3B8"/>
                </a:solidFill>
                <a:latin typeface="Noto Sans JP" pitchFamily="34" charset="0"/>
                <a:ea typeface="Noto Sans JP" pitchFamily="34" charset="-122"/>
                <a:cs typeface="Noto Sans JP" pitchFamily="34" charset="-120"/>
              </a:rPr>
              <a:t>ROADMAP TO SUCCESS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2978</Words>
  <Application>Microsoft Office PowerPoint</Application>
  <PresentationFormat>ワイド画面</PresentationFormat>
  <Paragraphs>863</Paragraphs>
  <Slides>22</Slides>
  <Notes>22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22</vt:i4>
      </vt:variant>
    </vt:vector>
  </HeadingPairs>
  <TitlesOfParts>
    <vt:vector size="28" baseType="lpstr">
      <vt:lpstr>IBM Plex Sans JP</vt:lpstr>
      <vt:lpstr>Noto Sans JP</vt:lpstr>
      <vt:lpstr>ui-monospace</vt:lpstr>
      <vt:lpstr>Arial</vt:lpstr>
      <vt:lpstr>Courier New</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Ueda Ryota</cp:lastModifiedBy>
  <cp:revision>26</cp:revision>
  <dcterms:created xsi:type="dcterms:W3CDTF">2025-12-26T09:06:40Z</dcterms:created>
  <dcterms:modified xsi:type="dcterms:W3CDTF">2025-12-26T09:52:33Z</dcterms:modified>
</cp:coreProperties>
</file>