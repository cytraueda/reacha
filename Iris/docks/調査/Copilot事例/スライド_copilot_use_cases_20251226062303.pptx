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8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68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F3F9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9707270" y="6467551"/>
            <a:ext cx="2267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CONFIDENTIAL / DRAFT FOR DISCUSSION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142646" cy="142646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76249" y="1371600"/>
            <a:ext cx="142646" cy="142646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14400" y="1533449"/>
            <a:ext cx="142646" cy="142646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076249" y="1533449"/>
            <a:ext cx="142646" cy="14264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504895"/>
            <a:ext cx="914400" cy="57607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14400" y="4990795"/>
            <a:ext cx="2057400" cy="495605"/>
          </a:xfrm>
          <a:prstGeom prst="roundRect">
            <a:avLst>
              <a:gd name="adj" fmla="val 1419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4990795"/>
            <a:ext cx="38405" cy="4956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120847" y="4990795"/>
            <a:ext cx="1971446" cy="495605"/>
          </a:xfrm>
          <a:prstGeom prst="roundRect">
            <a:avLst>
              <a:gd name="adj" fmla="val 14192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120847" y="4990795"/>
            <a:ext cx="38405" cy="4956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128102" y="1143000"/>
            <a:ext cx="9144" cy="45720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8442655" y="4248302"/>
            <a:ext cx="256946" cy="22860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8928202" y="4248302"/>
            <a:ext cx="286207" cy="228600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471355" y="4248302"/>
            <a:ext cx="286207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33195" y="1399946"/>
            <a:ext cx="17391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GenSpark AI Slides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2085746"/>
            <a:ext cx="69348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Copilot活用</a:t>
            </a:r>
            <a:r>
              <a:rPr lang="en-US" sz="36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3600" b="1" dirty="0" err="1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ユースケース</a:t>
            </a:r>
            <a:r>
              <a:rPr lang="ja-JP" altLang="en-US" sz="36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3962095"/>
            <a:ext cx="4286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業務データに基づく即効性の高い施策と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" y="4334256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全社DX・現場活用に向けたロードマップ案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104595" y="5067605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04595" y="5248656"/>
            <a:ext cx="1800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個人・チーム業務の即効的効率化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3311042" y="5067605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3311042" y="5248656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ナレッジ活用・現場DXへの展開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8442655" y="2190902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DATE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442655" y="2409444"/>
            <a:ext cx="11530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2025-12-26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442655" y="2991002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442655" y="3209544"/>
            <a:ext cx="2048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社内検討・導入推進用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456371" y="4505249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8956548" y="4505249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展開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9442094" y="4505249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09905" y="609905"/>
            <a:ext cx="209398" cy="20939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57707" y="609905"/>
            <a:ext cx="209398" cy="20939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09905" y="857707"/>
            <a:ext cx="209398" cy="20939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57707" y="857707"/>
            <a:ext cx="209398" cy="20939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5072177" y="1876349"/>
            <a:ext cx="256946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62295" y="1800454"/>
            <a:ext cx="2800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エグゼクティブサマリー &amp; ROI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562295" y="2115007"/>
            <a:ext cx="3663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経営層向け：課題解決の全体像と投資対効果（ROI）の試算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100523" y="2676449"/>
            <a:ext cx="200254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62295" y="2600554"/>
            <a:ext cx="2410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即効性の高いユースケース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562295" y="2915107"/>
            <a:ext cx="4234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実務者向け：明日から使えるメール・会議・文書作成支援の実践詳細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86807" y="332384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62295" y="3247949"/>
            <a:ext cx="2410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将来的な展開ユースケース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562295" y="3562502"/>
            <a:ext cx="4091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高度活用：社内ナレッジ活用と現場業務（店舗・製造）へのAI適用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86807" y="3972154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62295" y="3895344"/>
            <a:ext cx="2429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導入ロードマップと留意点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562295" y="4209898"/>
            <a:ext cx="4319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計画：「個人業務支援」から「組織知活用」への段階的展開とKPI設定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5100523" y="4619549"/>
            <a:ext cx="200254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62295" y="4543654"/>
            <a:ext cx="2238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参考資料（エビデンス）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562295" y="4858207"/>
            <a:ext cx="3567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データソース：国内外の実証実験データと企業事例の出典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609905" y="2328977"/>
            <a:ext cx="17245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目次・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609905" y="2900477"/>
            <a:ext cx="30961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本提案の構成</a:t>
            </a:r>
            <a:endParaRPr lang="en-US" sz="3600" dirty="0"/>
          </a:p>
        </p:txBody>
      </p:sp>
      <p:sp>
        <p:nvSpPr>
          <p:cNvPr id="28" name="Text 21"/>
          <p:cNvSpPr txBox="1"/>
          <p:nvPr/>
        </p:nvSpPr>
        <p:spPr>
          <a:xfrm>
            <a:off x="609905" y="2024482"/>
            <a:ext cx="1010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609905" y="3824021"/>
            <a:ext cx="761695" cy="3840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3"/>
          <p:cNvSpPr txBox="1"/>
          <p:nvPr/>
        </p:nvSpPr>
        <p:spPr>
          <a:xfrm>
            <a:off x="609905" y="4176979"/>
            <a:ext cx="3044038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アイリスオーヤマ様の業務課題に対し、経営層向けの投資対効果から現場での実践活用まで、包括的な導入計画をご提案します。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1814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17226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267005"/>
            <a:ext cx="86109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エグゼクティブサマリー：Copilotで実現する経営インパクト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747065"/>
            <a:ext cx="4391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現状の課題解決から将来の競争優位性確立までのロードマップ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66376" y="661111"/>
            <a:ext cx="1723644" cy="314554"/>
          </a:xfrm>
          <a:prstGeom prst="roundRect">
            <a:avLst>
              <a:gd name="adj" fmla="val 17618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0019081" y="717804"/>
            <a:ext cx="1519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Executive Summary</a:t>
            </a:r>
            <a:endParaRPr lang="en-US" sz="1000" dirty="0"/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2F81F5E3-E23E-DDB9-17A2-771448D03F6A}"/>
              </a:ext>
            </a:extLst>
          </p:cNvPr>
          <p:cNvGrpSpPr/>
          <p:nvPr/>
        </p:nvGrpSpPr>
        <p:grpSpPr>
          <a:xfrm>
            <a:off x="602726" y="1241755"/>
            <a:ext cx="11368735" cy="5544007"/>
            <a:chOff x="609905" y="1480414"/>
            <a:chExt cx="11368735" cy="6019495"/>
          </a:xfrm>
        </p:grpSpPr>
        <p:sp>
          <p:nvSpPr>
            <p:cNvPr id="11" name="Shape 9"/>
            <p:cNvSpPr/>
            <p:nvPr/>
          </p:nvSpPr>
          <p:spPr>
            <a:xfrm>
              <a:off x="609905" y="1480414"/>
              <a:ext cx="5372100" cy="2895905"/>
            </a:xfrm>
            <a:prstGeom prst="roundRect">
              <a:avLst>
                <a:gd name="adj" fmla="val 1662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847649" y="2213762"/>
              <a:ext cx="4895698" cy="19202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847649" y="1718158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FEF2F2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52805" y="1823314"/>
              <a:ext cx="171907" cy="171907"/>
            </a:xfrm>
            <a:prstGeom prst="rect">
              <a:avLst/>
            </a:prstGeom>
          </p:spPr>
        </p:pic>
        <p:sp>
          <p:nvSpPr>
            <p:cNvPr id="15" name="Text 12"/>
            <p:cNvSpPr txBox="1"/>
            <p:nvPr/>
          </p:nvSpPr>
          <p:spPr>
            <a:xfrm>
              <a:off x="1343254" y="1780337"/>
              <a:ext cx="13295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991B1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現状の業務課題</a:t>
              </a:r>
              <a:endParaRPr lang="en-US" sz="130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847649" y="2384755"/>
              <a:ext cx="499628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非効率な日常業務： メール処理、会議準備、議事録作成、文書ドラフトなどの「付加価値の低い作業」に社員の時間が奪われている。</a:t>
              </a:r>
              <a:endParaRPr lang="en-US" sz="10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847649" y="2880360"/>
              <a:ext cx="499628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ナレッジの属人化： SharePointへの集約が道半ばで、必要な情報（過去の提案書や技術資料）を探すのに時間がかかる。</a:t>
              </a:r>
              <a:endParaRPr lang="en-US" sz="10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847649" y="3375965"/>
              <a:ext cx="499628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現場データの未活用： POSデータや在庫情報、コールセンターのVOC（顧客の声）が蓄積されているが、意思決定への反映が遅れている。</a:t>
              </a:r>
              <a:endParaRPr lang="en-US" sz="10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210605" y="1480414"/>
              <a:ext cx="5372100" cy="2895905"/>
            </a:xfrm>
            <a:prstGeom prst="roundRect">
              <a:avLst>
                <a:gd name="adj" fmla="val 1662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Shape 17"/>
            <p:cNvSpPr/>
            <p:nvPr/>
          </p:nvSpPr>
          <p:spPr>
            <a:xfrm>
              <a:off x="6448349" y="2213762"/>
              <a:ext cx="4895698" cy="19202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Shape 18"/>
            <p:cNvSpPr/>
            <p:nvPr/>
          </p:nvSpPr>
          <p:spPr>
            <a:xfrm>
              <a:off x="6448349" y="1718158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22" name="Image 1" descr="preencoded.png"/>
            <p:cNvPicPr>
              <a:picLocks noChangeAspect="1"/>
            </p:cNvPicPr>
            <p:nvPr/>
          </p:nvPicPr>
          <p:blipFill>
            <a:blip r:embed="rId4"/>
            <a:srcRect l="-760" r="-760"/>
            <a:stretch/>
          </p:blipFill>
          <p:spPr>
            <a:xfrm>
              <a:off x="6562649" y="1823314"/>
              <a:ext cx="152705" cy="171907"/>
            </a:xfrm>
            <a:prstGeom prst="rect">
              <a:avLst/>
            </a:prstGeom>
          </p:spPr>
        </p:pic>
        <p:sp>
          <p:nvSpPr>
            <p:cNvPr id="23" name="Text 19"/>
            <p:cNvSpPr txBox="1"/>
            <p:nvPr/>
          </p:nvSpPr>
          <p:spPr>
            <a:xfrm>
              <a:off x="6943954" y="1780337"/>
              <a:ext cx="229148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解決策（2段階アプローチ）</a:t>
              </a:r>
              <a:endParaRPr lang="en-US" sz="1300" dirty="0"/>
            </a:p>
          </p:txBody>
        </p:sp>
        <p:sp>
          <p:nvSpPr>
            <p:cNvPr id="24" name="Text 20"/>
            <p:cNvSpPr txBox="1"/>
            <p:nvPr/>
          </p:nvSpPr>
          <p:spPr>
            <a:xfrm>
              <a:off x="6448349" y="2384755"/>
              <a:ext cx="4996282" cy="600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Phase 1 即効性の高い個人業務支援： Outlook/Teams/Word/ExcelにCopilotを導入し、「毎日の作業」を直接的に効率化。メール要約や議事録自動化で可処分時間を創出。</a:t>
              </a:r>
              <a:endParaRPr lang="en-US" sz="1000" dirty="0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6448349" y="3080614"/>
              <a:ext cx="4996282" cy="600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Phase 2 組織知と現場データの活用： ナレッジの横断検索基盤を整備し、部門特化エージェントを展開。さらにPOS/画像解析AIと連携し、現場の意思決定を高度化。</a:t>
              </a:r>
              <a:endParaRPr lang="en-US" sz="10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609905" y="4604004"/>
              <a:ext cx="5372100" cy="2895905"/>
            </a:xfrm>
            <a:prstGeom prst="roundRect">
              <a:avLst>
                <a:gd name="adj" fmla="val 1662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Shape 23"/>
            <p:cNvSpPr/>
            <p:nvPr/>
          </p:nvSpPr>
          <p:spPr>
            <a:xfrm>
              <a:off x="847649" y="5338267"/>
              <a:ext cx="4895698" cy="19202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Shape 24"/>
            <p:cNvSpPr/>
            <p:nvPr/>
          </p:nvSpPr>
          <p:spPr>
            <a:xfrm>
              <a:off x="847649" y="4842662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ECFDF5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29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52805" y="4946904"/>
              <a:ext cx="171907" cy="171907"/>
            </a:xfrm>
            <a:prstGeom prst="rect">
              <a:avLst/>
            </a:prstGeom>
          </p:spPr>
        </p:pic>
        <p:sp>
          <p:nvSpPr>
            <p:cNvPr id="30" name="Text 25"/>
            <p:cNvSpPr txBox="1"/>
            <p:nvPr/>
          </p:nvSpPr>
          <p:spPr>
            <a:xfrm>
              <a:off x="1343254" y="4904842"/>
              <a:ext cx="16724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65F4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期待される経営効果</a:t>
              </a:r>
              <a:endParaRPr lang="en-US" sz="1300" dirty="0"/>
            </a:p>
          </p:txBody>
        </p:sp>
        <p:sp>
          <p:nvSpPr>
            <p:cNvPr id="31" name="Text 26"/>
            <p:cNvSpPr txBox="1"/>
            <p:nvPr/>
          </p:nvSpPr>
          <p:spPr>
            <a:xfrm>
              <a:off x="847649" y="5509260"/>
              <a:ext cx="499628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意思決定の迅速化： データ分析の民主化により、現場マネージャーが即座に判断可能に。</a:t>
              </a:r>
              <a:endParaRPr lang="en-US" sz="1000" dirty="0"/>
            </a:p>
          </p:txBody>
        </p:sp>
        <p:sp>
          <p:nvSpPr>
            <p:cNvPr id="32" name="Text 27"/>
            <p:cNvSpPr txBox="1"/>
            <p:nvPr/>
          </p:nvSpPr>
          <p:spPr>
            <a:xfrm>
              <a:off x="847649" y="6004865"/>
              <a:ext cx="499628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働き方改革とエンゲージメント： 単純作業からの解放により、社員が戦略業務に集中。残業抑制にも寄与。</a:t>
              </a:r>
              <a:endParaRPr lang="en-US" sz="1000" dirty="0"/>
            </a:p>
          </p:txBody>
        </p:sp>
        <p:sp>
          <p:nvSpPr>
            <p:cNvPr id="33" name="Shape 28"/>
            <p:cNvSpPr/>
            <p:nvPr/>
          </p:nvSpPr>
          <p:spPr>
            <a:xfrm>
              <a:off x="847649" y="6661404"/>
              <a:ext cx="4895698" cy="599846"/>
            </a:xfrm>
            <a:prstGeom prst="roundRect">
              <a:avLst>
                <a:gd name="adj" fmla="val 19357"/>
              </a:avLst>
            </a:prstGeom>
            <a:solidFill>
              <a:srgbClr val="F0FDF4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961949" y="6747358"/>
              <a:ext cx="87691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5966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12-30分</a:t>
              </a:r>
              <a:endParaRPr lang="en-US" sz="1500" dirty="0"/>
            </a:p>
          </p:txBody>
        </p:sp>
        <p:sp>
          <p:nvSpPr>
            <p:cNvPr id="35" name="Text 30"/>
            <p:cNvSpPr txBox="1"/>
            <p:nvPr/>
          </p:nvSpPr>
          <p:spPr>
            <a:xfrm>
              <a:off x="961949" y="7004304"/>
              <a:ext cx="1124712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4785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週あたりメール時間削減</a:t>
              </a:r>
              <a:endParaRPr lang="en-US" sz="800" dirty="0"/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2568550" y="6747358"/>
              <a:ext cx="8293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5966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0.5-1日</a:t>
              </a:r>
              <a:endParaRPr lang="en-US" sz="1500" dirty="0"/>
            </a:p>
          </p:txBody>
        </p:sp>
        <p:sp>
          <p:nvSpPr>
            <p:cNvPr id="37" name="Text 32"/>
            <p:cNvSpPr txBox="1"/>
            <p:nvPr/>
          </p:nvSpPr>
          <p:spPr>
            <a:xfrm>
              <a:off x="2568550" y="7004304"/>
              <a:ext cx="1219810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4785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文書作成リードタイム短縮</a:t>
              </a:r>
              <a:endParaRPr lang="en-US" sz="800" dirty="0"/>
            </a:p>
          </p:txBody>
        </p:sp>
        <p:sp>
          <p:nvSpPr>
            <p:cNvPr id="38" name="Text 33"/>
            <p:cNvSpPr txBox="1"/>
            <p:nvPr/>
          </p:nvSpPr>
          <p:spPr>
            <a:xfrm>
              <a:off x="4175150" y="6747358"/>
              <a:ext cx="57150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5966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26分</a:t>
              </a:r>
              <a:endParaRPr lang="en-US" sz="1500" dirty="0"/>
            </a:p>
          </p:txBody>
        </p:sp>
        <p:sp>
          <p:nvSpPr>
            <p:cNvPr id="39" name="Text 34"/>
            <p:cNvSpPr txBox="1"/>
            <p:nvPr/>
          </p:nvSpPr>
          <p:spPr>
            <a:xfrm>
              <a:off x="4175150" y="7004304"/>
              <a:ext cx="1086307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04785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1日あたり平均時短実感</a:t>
              </a:r>
              <a:endParaRPr lang="en-US" sz="800" dirty="0"/>
            </a:p>
          </p:txBody>
        </p:sp>
        <p:sp>
          <p:nvSpPr>
            <p:cNvPr id="40" name="Shape 35"/>
            <p:cNvSpPr/>
            <p:nvPr/>
          </p:nvSpPr>
          <p:spPr>
            <a:xfrm>
              <a:off x="6210605" y="4604004"/>
              <a:ext cx="5372100" cy="2895905"/>
            </a:xfrm>
            <a:prstGeom prst="roundRect">
              <a:avLst>
                <a:gd name="adj" fmla="val 1662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Shape 36"/>
            <p:cNvSpPr/>
            <p:nvPr/>
          </p:nvSpPr>
          <p:spPr>
            <a:xfrm>
              <a:off x="6448349" y="5338267"/>
              <a:ext cx="4895698" cy="19202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Shape 37"/>
            <p:cNvSpPr/>
            <p:nvPr/>
          </p:nvSpPr>
          <p:spPr>
            <a:xfrm>
              <a:off x="6448349" y="4842662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FFF7ED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43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553505" y="4946904"/>
              <a:ext cx="171907" cy="171907"/>
            </a:xfrm>
            <a:prstGeom prst="rect">
              <a:avLst/>
            </a:prstGeom>
          </p:spPr>
        </p:pic>
        <p:sp>
          <p:nvSpPr>
            <p:cNvPr id="44" name="Text 38"/>
            <p:cNvSpPr txBox="1"/>
            <p:nvPr/>
          </p:nvSpPr>
          <p:spPr>
            <a:xfrm>
              <a:off x="6943954" y="4904842"/>
              <a:ext cx="23865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92400E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推奨アクション（90日以内）</a:t>
              </a:r>
              <a:endParaRPr lang="en-US" sz="1300" dirty="0"/>
            </a:p>
          </p:txBody>
        </p:sp>
        <p:sp>
          <p:nvSpPr>
            <p:cNvPr id="45" name="Shape 39"/>
            <p:cNvSpPr/>
            <p:nvPr/>
          </p:nvSpPr>
          <p:spPr>
            <a:xfrm>
              <a:off x="6448349" y="5509260"/>
              <a:ext cx="4895698" cy="362102"/>
            </a:xfrm>
            <a:prstGeom prst="roundRect">
              <a:avLst>
                <a:gd name="adj" fmla="val 39872"/>
              </a:avLst>
            </a:prstGeom>
            <a:solidFill>
              <a:srgbClr val="FFFCF5"/>
            </a:solidFill>
            <a:ln w="12700">
              <a:solidFill>
                <a:srgbClr val="FEF3C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Shape 40"/>
            <p:cNvSpPr/>
            <p:nvPr/>
          </p:nvSpPr>
          <p:spPr>
            <a:xfrm>
              <a:off x="6572707" y="5595214"/>
              <a:ext cx="190195" cy="190195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7" name="Text 41"/>
            <p:cNvSpPr txBox="1"/>
            <p:nvPr/>
          </p:nvSpPr>
          <p:spPr>
            <a:xfrm>
              <a:off x="6636715" y="5611673"/>
              <a:ext cx="14539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</a:t>
              </a:r>
              <a:endParaRPr lang="en-US" sz="800" dirty="0"/>
            </a:p>
          </p:txBody>
        </p:sp>
        <p:sp>
          <p:nvSpPr>
            <p:cNvPr id="48" name="Text 42"/>
            <p:cNvSpPr txBox="1"/>
            <p:nvPr/>
          </p:nvSpPr>
          <p:spPr>
            <a:xfrm>
              <a:off x="6877202" y="5597042"/>
              <a:ext cx="303672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2400E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パイロット展開（200-500名）とチャンピオンの選出</a:t>
              </a:r>
              <a:endParaRPr lang="en-US" sz="900" dirty="0"/>
            </a:p>
          </p:txBody>
        </p:sp>
        <p:sp>
          <p:nvSpPr>
            <p:cNvPr id="49" name="Shape 43"/>
            <p:cNvSpPr/>
            <p:nvPr/>
          </p:nvSpPr>
          <p:spPr>
            <a:xfrm>
              <a:off x="6448349" y="5947258"/>
              <a:ext cx="4895698" cy="362102"/>
            </a:xfrm>
            <a:prstGeom prst="roundRect">
              <a:avLst>
                <a:gd name="adj" fmla="val 39872"/>
              </a:avLst>
            </a:prstGeom>
            <a:solidFill>
              <a:srgbClr val="FFFCF5"/>
            </a:solidFill>
            <a:ln w="12700">
              <a:solidFill>
                <a:srgbClr val="FEF3C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Shape 44"/>
            <p:cNvSpPr/>
            <p:nvPr/>
          </p:nvSpPr>
          <p:spPr>
            <a:xfrm>
              <a:off x="6572707" y="6033211"/>
              <a:ext cx="190195" cy="190195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Text 45"/>
            <p:cNvSpPr txBox="1"/>
            <p:nvPr/>
          </p:nvSpPr>
          <p:spPr>
            <a:xfrm>
              <a:off x="6636715" y="6049670"/>
              <a:ext cx="14539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</a:t>
              </a:r>
              <a:endParaRPr lang="en-US" sz="800" dirty="0"/>
            </a:p>
          </p:txBody>
        </p:sp>
        <p:sp>
          <p:nvSpPr>
            <p:cNvPr id="52" name="Text 46"/>
            <p:cNvSpPr txBox="1"/>
            <p:nvPr/>
          </p:nvSpPr>
          <p:spPr>
            <a:xfrm>
              <a:off x="6877202" y="6035954"/>
              <a:ext cx="2998318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2400E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共通プロンプト・NG表現ガイドラインの整備・配布</a:t>
              </a:r>
              <a:endParaRPr lang="en-US" sz="900" dirty="0"/>
            </a:p>
          </p:txBody>
        </p:sp>
        <p:sp>
          <p:nvSpPr>
            <p:cNvPr id="53" name="Shape 47"/>
            <p:cNvSpPr/>
            <p:nvPr/>
          </p:nvSpPr>
          <p:spPr>
            <a:xfrm>
              <a:off x="6448349" y="6385255"/>
              <a:ext cx="4895698" cy="362102"/>
            </a:xfrm>
            <a:prstGeom prst="roundRect">
              <a:avLst>
                <a:gd name="adj" fmla="val 39872"/>
              </a:avLst>
            </a:prstGeom>
            <a:solidFill>
              <a:srgbClr val="FFFCF5"/>
            </a:solidFill>
            <a:ln w="12700">
              <a:solidFill>
                <a:srgbClr val="FEF3C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4" name="Shape 48"/>
            <p:cNvSpPr/>
            <p:nvPr/>
          </p:nvSpPr>
          <p:spPr>
            <a:xfrm>
              <a:off x="6572707" y="6471209"/>
              <a:ext cx="190195" cy="190195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5" name="Text 49"/>
            <p:cNvSpPr txBox="1"/>
            <p:nvPr/>
          </p:nvSpPr>
          <p:spPr>
            <a:xfrm>
              <a:off x="6636715" y="6487668"/>
              <a:ext cx="14539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</a:t>
              </a:r>
              <a:endParaRPr lang="en-US" sz="800" dirty="0"/>
            </a:p>
          </p:txBody>
        </p:sp>
        <p:sp>
          <p:nvSpPr>
            <p:cNvPr id="56" name="Text 50"/>
            <p:cNvSpPr txBox="1"/>
            <p:nvPr/>
          </p:nvSpPr>
          <p:spPr>
            <a:xfrm>
              <a:off x="6877202" y="6473952"/>
              <a:ext cx="2769718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2400E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KPIベースライン（現状の所要時間）の計測開始</a:t>
              </a:r>
              <a:endParaRPr lang="en-US" sz="900" dirty="0"/>
            </a:p>
          </p:txBody>
        </p:sp>
        <p:sp>
          <p:nvSpPr>
            <p:cNvPr id="57" name="Shape 51"/>
            <p:cNvSpPr/>
            <p:nvPr/>
          </p:nvSpPr>
          <p:spPr>
            <a:xfrm>
              <a:off x="6448349" y="6824167"/>
              <a:ext cx="4895698" cy="362102"/>
            </a:xfrm>
            <a:prstGeom prst="roundRect">
              <a:avLst>
                <a:gd name="adj" fmla="val 39872"/>
              </a:avLst>
            </a:prstGeom>
            <a:solidFill>
              <a:srgbClr val="FFFCF5"/>
            </a:solidFill>
            <a:ln w="12700">
              <a:solidFill>
                <a:srgbClr val="FEF3C7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Shape 52"/>
            <p:cNvSpPr/>
            <p:nvPr/>
          </p:nvSpPr>
          <p:spPr>
            <a:xfrm>
              <a:off x="6572707" y="6909206"/>
              <a:ext cx="190195" cy="190195"/>
            </a:xfrm>
            <a:prstGeom prst="ellipse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9" name="Text 53"/>
            <p:cNvSpPr txBox="1"/>
            <p:nvPr/>
          </p:nvSpPr>
          <p:spPr>
            <a:xfrm>
              <a:off x="6636715" y="6926580"/>
              <a:ext cx="14539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4</a:t>
              </a:r>
              <a:endParaRPr lang="en-US" sz="800" dirty="0"/>
            </a:p>
          </p:txBody>
        </p:sp>
        <p:sp>
          <p:nvSpPr>
            <p:cNvPr id="60" name="Text 54"/>
            <p:cNvSpPr txBox="1"/>
            <p:nvPr/>
          </p:nvSpPr>
          <p:spPr>
            <a:xfrm>
              <a:off x="6877202" y="6911950"/>
              <a:ext cx="3302813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2400E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6ヶ月後のナレッジ基盤整備（SharePoint集約）計画承認</a:t>
              </a:r>
              <a:endParaRPr lang="en-US" sz="900" dirty="0"/>
            </a:p>
          </p:txBody>
        </p:sp>
        <p:sp>
          <p:nvSpPr>
            <p:cNvPr id="61" name="Text 55"/>
            <p:cNvSpPr txBox="1"/>
            <p:nvPr/>
          </p:nvSpPr>
          <p:spPr>
            <a:xfrm>
              <a:off x="11750040" y="6486754"/>
              <a:ext cx="228600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03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1814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17226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267005"/>
            <a:ext cx="62682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ROI試算と投資対効果（例示・保守的想定）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747065"/>
            <a:ext cx="4753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年間7,200万円の削減効果と、初年度からの黒字化シミュレーション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82174" y="661111"/>
            <a:ext cx="1505102" cy="314554"/>
          </a:xfrm>
          <a:prstGeom prst="roundRect">
            <a:avLst>
              <a:gd name="adj" fmla="val 17618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0234879" y="717804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Financial 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1175004"/>
            <a:ext cx="12191695" cy="569579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09905" y="1480414"/>
            <a:ext cx="3047695" cy="5086807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847649" y="2061058"/>
            <a:ext cx="2572207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847649" y="1756562"/>
            <a:ext cx="114300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37844" y="171815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試算の前提条件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7649" y="2624328"/>
            <a:ext cx="2572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847649" y="234726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対象人数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897734" y="2347265"/>
            <a:ext cx="624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1,000 名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47649" y="3100730"/>
            <a:ext cx="2572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 txBox="1"/>
          <p:nvPr/>
        </p:nvSpPr>
        <p:spPr>
          <a:xfrm>
            <a:off x="847649" y="2823667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想定稼働日数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834640" y="2823667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240 日/年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47649" y="3576218"/>
            <a:ext cx="2572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 txBox="1"/>
          <p:nvPr/>
        </p:nvSpPr>
        <p:spPr>
          <a:xfrm>
            <a:off x="847649" y="329915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定常利用率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3103474" y="3299155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40 %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47649" y="4052621"/>
            <a:ext cx="2572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 txBox="1"/>
          <p:nvPr/>
        </p:nvSpPr>
        <p:spPr>
          <a:xfrm>
            <a:off x="847649" y="3775558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時短効果 (1日)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3098902" y="3775558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分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47649" y="4529023"/>
            <a:ext cx="2572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 txBox="1"/>
          <p:nvPr/>
        </p:nvSpPr>
        <p:spPr>
          <a:xfrm>
            <a:off x="847649" y="4251960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想定人件費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2713025" y="4251960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3,000 円/時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47649" y="5056632"/>
            <a:ext cx="2572207" cy="1276502"/>
          </a:xfrm>
          <a:prstGeom prst="roundRect">
            <a:avLst>
              <a:gd name="adj" fmla="val 427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8"/>
          <p:cNvSpPr txBox="1"/>
          <p:nvPr/>
        </p:nvSpPr>
        <p:spPr>
          <a:xfrm>
            <a:off x="1000354" y="5209337"/>
            <a:ext cx="12170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投資コスト（年間）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00354" y="5470855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1D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ライセンス費用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2753258" y="5470855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1D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4,800万円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000354" y="5681167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1D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導入支援・教育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2848356" y="5681167"/>
            <a:ext cx="505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1D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400万円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000354" y="5890565"/>
            <a:ext cx="2266798" cy="9144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4"/>
          <p:cNvSpPr txBox="1"/>
          <p:nvPr/>
        </p:nvSpPr>
        <p:spPr>
          <a:xfrm>
            <a:off x="1000354" y="5938114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1D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合計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2642616" y="5938114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1D1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5,200万円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962095" y="1480414"/>
            <a:ext cx="2419502" cy="1266444"/>
          </a:xfrm>
          <a:prstGeom prst="roundRect">
            <a:avLst>
              <a:gd name="adj" fmla="val 8686"/>
            </a:avLst>
          </a:prstGeom>
          <a:solidFill>
            <a:srgbClr val="0078D4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133" r="-133"/>
          <a:stretch/>
        </p:blipFill>
        <p:spPr>
          <a:xfrm>
            <a:off x="6051499" y="1632204"/>
            <a:ext cx="171907" cy="228600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4153205" y="1680667"/>
            <a:ext cx="124541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ROI（投資対効果）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4153205" y="1875434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</a:t>
            </a:r>
            <a:endParaRPr lang="en-US" sz="2700" dirty="0"/>
          </a:p>
        </p:txBody>
      </p:sp>
      <p:sp>
        <p:nvSpPr>
          <p:cNvPr id="43" name="Text 39"/>
          <p:cNvSpPr txBox="1"/>
          <p:nvPr/>
        </p:nvSpPr>
        <p:spPr>
          <a:xfrm>
            <a:off x="4571086" y="2008937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%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4153205" y="2371039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初年度実績見込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566306" y="1480414"/>
            <a:ext cx="2419502" cy="1266444"/>
          </a:xfrm>
          <a:prstGeom prst="roundRect">
            <a:avLst>
              <a:gd name="adj" fmla="val 8686"/>
            </a:avLst>
          </a:prstGeom>
          <a:solidFill>
            <a:srgbClr val="10B981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/>
          <a:stretch/>
        </p:blipFill>
        <p:spPr>
          <a:xfrm>
            <a:off x="8598103" y="1632204"/>
            <a:ext cx="228600" cy="228600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6756502" y="1680667"/>
            <a:ext cx="18745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年間純効果（NET BENEFIT）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6756502" y="1875434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2,000</a:t>
            </a:r>
            <a:endParaRPr lang="en-US" sz="2700" dirty="0"/>
          </a:p>
        </p:txBody>
      </p:sp>
      <p:sp>
        <p:nvSpPr>
          <p:cNvPr id="49" name="Text 44"/>
          <p:cNvSpPr txBox="1"/>
          <p:nvPr/>
        </p:nvSpPr>
        <p:spPr>
          <a:xfrm>
            <a:off x="7712050" y="2056486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万円</a:t>
            </a:r>
            <a:endParaRPr lang="en-US" sz="1500" dirty="0"/>
          </a:p>
        </p:txBody>
      </p:sp>
      <p:sp>
        <p:nvSpPr>
          <p:cNvPr id="50" name="Text 45"/>
          <p:cNvSpPr txBox="1"/>
          <p:nvPr/>
        </p:nvSpPr>
        <p:spPr>
          <a:xfrm>
            <a:off x="6756502" y="2371039"/>
            <a:ext cx="1515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7,200万 − 投資 5,200万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9169603" y="1480414"/>
            <a:ext cx="2419502" cy="1266444"/>
          </a:xfrm>
          <a:prstGeom prst="roundRect">
            <a:avLst>
              <a:gd name="adj" fmla="val 86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11191342" y="1642262"/>
            <a:ext cx="228600" cy="228600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9368942" y="1680667"/>
            <a:ext cx="8741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投資回収期間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9368942" y="1875434"/>
            <a:ext cx="10195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9-12</a:t>
            </a:r>
            <a:endParaRPr lang="en-US" sz="2700" dirty="0"/>
          </a:p>
        </p:txBody>
      </p:sp>
      <p:sp>
        <p:nvSpPr>
          <p:cNvPr id="55" name="Text 49"/>
          <p:cNvSpPr txBox="1"/>
          <p:nvPr/>
        </p:nvSpPr>
        <p:spPr>
          <a:xfrm>
            <a:off x="10126980" y="2056486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ヶ月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9368942" y="2371039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月次効果ベースでの回収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3962095" y="2970886"/>
            <a:ext cx="4362602" cy="3600907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2"/>
          <p:cNvSpPr/>
          <p:nvPr/>
        </p:nvSpPr>
        <p:spPr>
          <a:xfrm>
            <a:off x="4162349" y="3514039"/>
            <a:ext cx="3962095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62349" y="3208630"/>
            <a:ext cx="152705" cy="152705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4390949" y="3171139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コスト対効果の比較（年間）</a:t>
            </a:r>
            <a:endParaRPr lang="en-US" sz="1200" dirty="0"/>
          </a:p>
        </p:txBody>
      </p:sp>
      <p:pic>
        <p:nvPicPr>
          <p:cNvPr id="61" name="Image 5" descr="preencoded.png"/>
          <p:cNvPicPr>
            <a:picLocks noChangeAspect="1"/>
          </p:cNvPicPr>
          <p:nvPr/>
        </p:nvPicPr>
        <p:blipFill>
          <a:blip r:embed="rId8"/>
          <a:srcRect t="-59" b="-59"/>
          <a:stretch/>
        </p:blipFill>
        <p:spPr>
          <a:xfrm>
            <a:off x="4162349" y="3609137"/>
            <a:ext cx="3962095" cy="2762402"/>
          </a:xfrm>
          <a:prstGeom prst="rect">
            <a:avLst/>
          </a:prstGeom>
        </p:spPr>
      </p:pic>
      <p:sp>
        <p:nvSpPr>
          <p:cNvPr id="62" name="Shape 54"/>
          <p:cNvSpPr/>
          <p:nvPr/>
        </p:nvSpPr>
        <p:spPr>
          <a:xfrm>
            <a:off x="8545982" y="2970886"/>
            <a:ext cx="3038551" cy="3600907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55"/>
          <p:cNvSpPr/>
          <p:nvPr/>
        </p:nvSpPr>
        <p:spPr>
          <a:xfrm>
            <a:off x="8746236" y="3514039"/>
            <a:ext cx="2638044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746236" y="3208630"/>
            <a:ext cx="152705" cy="152705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8974836" y="3171139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感度分析シナリオ</a:t>
            </a:r>
            <a:endParaRPr lang="en-US" sz="1200" dirty="0"/>
          </a:p>
        </p:txBody>
      </p:sp>
      <p:sp>
        <p:nvSpPr>
          <p:cNvPr id="66" name="Shape 57"/>
          <p:cNvSpPr/>
          <p:nvPr/>
        </p:nvSpPr>
        <p:spPr>
          <a:xfrm>
            <a:off x="8759952" y="4027932"/>
            <a:ext cx="714146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58"/>
          <p:cNvSpPr txBox="1"/>
          <p:nvPr/>
        </p:nvSpPr>
        <p:spPr>
          <a:xfrm>
            <a:off x="8836762" y="3799332"/>
            <a:ext cx="498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シナリオ</a:t>
            </a:r>
            <a:endParaRPr lang="en-US" sz="800" dirty="0"/>
          </a:p>
        </p:txBody>
      </p:sp>
      <p:sp>
        <p:nvSpPr>
          <p:cNvPr id="68" name="Shape 59"/>
          <p:cNvSpPr/>
          <p:nvPr/>
        </p:nvSpPr>
        <p:spPr>
          <a:xfrm>
            <a:off x="9469526" y="4027932"/>
            <a:ext cx="1009498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0"/>
          <p:cNvSpPr txBox="1"/>
          <p:nvPr/>
        </p:nvSpPr>
        <p:spPr>
          <a:xfrm>
            <a:off x="9545422" y="3799332"/>
            <a:ext cx="4407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時短/日</a:t>
            </a:r>
            <a:endParaRPr lang="en-US" sz="800" dirty="0"/>
          </a:p>
        </p:txBody>
      </p:sp>
      <p:sp>
        <p:nvSpPr>
          <p:cNvPr id="70" name="Shape 61"/>
          <p:cNvSpPr/>
          <p:nvPr/>
        </p:nvSpPr>
        <p:spPr>
          <a:xfrm>
            <a:off x="10473538" y="4027932"/>
            <a:ext cx="914400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2"/>
          <p:cNvSpPr txBox="1"/>
          <p:nvPr/>
        </p:nvSpPr>
        <p:spPr>
          <a:xfrm>
            <a:off x="10549433" y="3799332"/>
            <a:ext cx="498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年間効果</a:t>
            </a:r>
            <a:endParaRPr lang="en-US" sz="800" dirty="0"/>
          </a:p>
        </p:txBody>
      </p:sp>
      <p:sp>
        <p:nvSpPr>
          <p:cNvPr id="72" name="Shape 63"/>
          <p:cNvSpPr/>
          <p:nvPr/>
        </p:nvSpPr>
        <p:spPr>
          <a:xfrm>
            <a:off x="8759952" y="4423867"/>
            <a:ext cx="714146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Text 64"/>
          <p:cNvSpPr txBox="1"/>
          <p:nvPr/>
        </p:nvSpPr>
        <p:spPr>
          <a:xfrm>
            <a:off x="8836762" y="4146804"/>
            <a:ext cx="3502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保守</a:t>
            </a:r>
            <a:endParaRPr lang="en-US" sz="900" dirty="0"/>
          </a:p>
        </p:txBody>
      </p:sp>
      <p:sp>
        <p:nvSpPr>
          <p:cNvPr id="74" name="Shape 65"/>
          <p:cNvSpPr/>
          <p:nvPr/>
        </p:nvSpPr>
        <p:spPr>
          <a:xfrm>
            <a:off x="9469526" y="4423867"/>
            <a:ext cx="10094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5" name="Text 66"/>
          <p:cNvSpPr txBox="1"/>
          <p:nvPr/>
        </p:nvSpPr>
        <p:spPr>
          <a:xfrm>
            <a:off x="9545422" y="4146804"/>
            <a:ext cx="7223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 (30%)</a:t>
            </a:r>
            <a:endParaRPr lang="en-US" sz="900" dirty="0"/>
          </a:p>
        </p:txBody>
      </p:sp>
      <p:sp>
        <p:nvSpPr>
          <p:cNvPr id="76" name="Shape 67"/>
          <p:cNvSpPr/>
          <p:nvPr/>
        </p:nvSpPr>
        <p:spPr>
          <a:xfrm>
            <a:off x="10473538" y="4423867"/>
            <a:ext cx="914400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Text 68"/>
          <p:cNvSpPr txBox="1"/>
          <p:nvPr/>
        </p:nvSpPr>
        <p:spPr>
          <a:xfrm>
            <a:off x="10549433" y="4146804"/>
            <a:ext cx="6556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3,000万円</a:t>
            </a:r>
            <a:endParaRPr lang="en-US" sz="900" dirty="0"/>
          </a:p>
        </p:txBody>
      </p:sp>
      <p:sp>
        <p:nvSpPr>
          <p:cNvPr id="78" name="Shape 69"/>
          <p:cNvSpPr/>
          <p:nvPr/>
        </p:nvSpPr>
        <p:spPr>
          <a:xfrm>
            <a:off x="8759952" y="4433011"/>
            <a:ext cx="2628900" cy="390449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0"/>
          <p:cNvSpPr/>
          <p:nvPr/>
        </p:nvSpPr>
        <p:spPr>
          <a:xfrm>
            <a:off x="8759952" y="4433011"/>
            <a:ext cx="714146" cy="390449"/>
          </a:xfrm>
          <a:prstGeom prst="rect">
            <a:avLst/>
          </a:prstGeom>
          <a:noFill/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1"/>
          <p:cNvSpPr txBox="1"/>
          <p:nvPr/>
        </p:nvSpPr>
        <p:spPr>
          <a:xfrm>
            <a:off x="8850478" y="4532681"/>
            <a:ext cx="3502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</a:t>
            </a:r>
            <a:endParaRPr lang="en-US" sz="900" dirty="0"/>
          </a:p>
        </p:txBody>
      </p:sp>
      <p:sp>
        <p:nvSpPr>
          <p:cNvPr id="81" name="Shape 72"/>
          <p:cNvSpPr/>
          <p:nvPr/>
        </p:nvSpPr>
        <p:spPr>
          <a:xfrm>
            <a:off x="9469526" y="4814316"/>
            <a:ext cx="10094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Text 73"/>
          <p:cNvSpPr txBox="1"/>
          <p:nvPr/>
        </p:nvSpPr>
        <p:spPr>
          <a:xfrm>
            <a:off x="9545422" y="4532681"/>
            <a:ext cx="7507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 (40%)</a:t>
            </a:r>
            <a:endParaRPr lang="en-US" sz="900" dirty="0"/>
          </a:p>
        </p:txBody>
      </p:sp>
      <p:sp>
        <p:nvSpPr>
          <p:cNvPr id="83" name="Shape 74"/>
          <p:cNvSpPr/>
          <p:nvPr/>
        </p:nvSpPr>
        <p:spPr>
          <a:xfrm>
            <a:off x="10473538" y="4814316"/>
            <a:ext cx="914400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4" name="Text 75"/>
          <p:cNvSpPr txBox="1"/>
          <p:nvPr/>
        </p:nvSpPr>
        <p:spPr>
          <a:xfrm>
            <a:off x="10549433" y="4532681"/>
            <a:ext cx="67391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7,200万円</a:t>
            </a:r>
            <a:endParaRPr lang="en-US" sz="900" dirty="0"/>
          </a:p>
        </p:txBody>
      </p:sp>
      <p:sp>
        <p:nvSpPr>
          <p:cNvPr id="85" name="Shape 76"/>
          <p:cNvSpPr/>
          <p:nvPr/>
        </p:nvSpPr>
        <p:spPr>
          <a:xfrm>
            <a:off x="8759952" y="5200193"/>
            <a:ext cx="714146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6" name="Text 77"/>
          <p:cNvSpPr txBox="1"/>
          <p:nvPr/>
        </p:nvSpPr>
        <p:spPr>
          <a:xfrm>
            <a:off x="8836762" y="4918558"/>
            <a:ext cx="3502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伸長</a:t>
            </a:r>
            <a:endParaRPr lang="en-US" sz="900" dirty="0"/>
          </a:p>
        </p:txBody>
      </p:sp>
      <p:sp>
        <p:nvSpPr>
          <p:cNvPr id="87" name="Shape 78"/>
          <p:cNvSpPr/>
          <p:nvPr/>
        </p:nvSpPr>
        <p:spPr>
          <a:xfrm>
            <a:off x="9469526" y="5200193"/>
            <a:ext cx="10094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8" name="Text 79"/>
          <p:cNvSpPr txBox="1"/>
          <p:nvPr/>
        </p:nvSpPr>
        <p:spPr>
          <a:xfrm>
            <a:off x="9545422" y="4918558"/>
            <a:ext cx="7223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25分 (50%)</a:t>
            </a:r>
            <a:endParaRPr lang="en-US" sz="900" dirty="0"/>
          </a:p>
        </p:txBody>
      </p:sp>
      <p:sp>
        <p:nvSpPr>
          <p:cNvPr id="89" name="Shape 80"/>
          <p:cNvSpPr/>
          <p:nvPr/>
        </p:nvSpPr>
        <p:spPr>
          <a:xfrm>
            <a:off x="10473538" y="5200193"/>
            <a:ext cx="914400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1"/>
          <p:cNvSpPr txBox="1"/>
          <p:nvPr/>
        </p:nvSpPr>
        <p:spPr>
          <a:xfrm>
            <a:off x="10549433" y="4918558"/>
            <a:ext cx="5221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1.5億円</a:t>
            </a:r>
            <a:endParaRPr lang="en-US" sz="900" dirty="0"/>
          </a:p>
        </p:txBody>
      </p:sp>
      <p:sp>
        <p:nvSpPr>
          <p:cNvPr id="91" name="Shape 82"/>
          <p:cNvSpPr/>
          <p:nvPr/>
        </p:nvSpPr>
        <p:spPr>
          <a:xfrm>
            <a:off x="8746236" y="5362042"/>
            <a:ext cx="2638044" cy="790956"/>
          </a:xfrm>
          <a:prstGeom prst="roundRect">
            <a:avLst>
              <a:gd name="adj" fmla="val 5571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2" name="Text 83"/>
          <p:cNvSpPr txBox="1"/>
          <p:nvPr/>
        </p:nvSpPr>
        <p:spPr>
          <a:xfrm>
            <a:off x="8860536" y="5485486"/>
            <a:ext cx="24963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※伸長シナリオは、ナレッジ検索基盤が整備され、現場データの活用が進んだPhase 2段階を想定。</a:t>
            </a:r>
            <a:endParaRPr lang="en-US" sz="900" dirty="0"/>
          </a:p>
        </p:txBody>
      </p:sp>
      <p:sp>
        <p:nvSpPr>
          <p:cNvPr id="93" name="Text 84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856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27650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448056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" y="580644"/>
            <a:ext cx="190195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95705" y="321869"/>
            <a:ext cx="599846" cy="200254"/>
          </a:xfrm>
          <a:prstGeom prst="roundRect">
            <a:avLst>
              <a:gd name="adj" fmla="val 86975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371600" y="340157"/>
            <a:ext cx="5266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 ①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966874" y="30449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 Phase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95705" y="543154"/>
            <a:ext cx="29242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メール対応の効率化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860536" y="7808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8964778" y="8284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全社共通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679838" y="7808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9784080" y="8284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営業部門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499141" y="780898"/>
            <a:ext cx="1009498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603382" y="828446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バックオフィス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1285646"/>
            <a:ext cx="12191695" cy="65151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609905" y="1591056"/>
            <a:ext cx="5333695" cy="3810305"/>
          </a:xfrm>
          <a:prstGeom prst="roundRect">
            <a:avLst>
              <a:gd name="adj" fmla="val 7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867205"/>
            <a:ext cx="152705" cy="1527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76249" y="1828800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具体的なユースケース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47649" y="2210105"/>
            <a:ext cx="4972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受信メール要約： 長文メールや往復スレッドの要点をOutlook上で瞬時に要約表示し、読む時間を短縮。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47649" y="2781605"/>
            <a:ext cx="4972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返信ドラフト生成： 「承諾して日程調整」「丁寧に断る」などの意図を伝えるだけで、TPOに合わせた返信文案を作成。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47649" y="3353105"/>
            <a:ext cx="4972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対応履歴の整理： 特定顧客との過去のやり取りを検索・要約し、経緯把握を支援。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47649" y="4000500"/>
            <a:ext cx="4858207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2"/>
          <p:cNvSpPr/>
          <p:nvPr/>
        </p:nvSpPr>
        <p:spPr>
          <a:xfrm>
            <a:off x="847649" y="4200754"/>
            <a:ext cx="1524305" cy="961949"/>
          </a:xfrm>
          <a:prstGeom prst="roundRect">
            <a:avLst>
              <a:gd name="adj" fmla="val 7529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3"/>
          <p:cNvSpPr txBox="1"/>
          <p:nvPr/>
        </p:nvSpPr>
        <p:spPr>
          <a:xfrm>
            <a:off x="972007" y="4324198"/>
            <a:ext cx="812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メール閲覧時間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972007" y="4519879"/>
            <a:ext cx="1167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7〜18% 削減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2517343" y="4200754"/>
            <a:ext cx="1524305" cy="961949"/>
          </a:xfrm>
          <a:prstGeom prst="roundRect">
            <a:avLst>
              <a:gd name="adj" fmla="val 7529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6"/>
          <p:cNvSpPr txBox="1"/>
          <p:nvPr/>
        </p:nvSpPr>
        <p:spPr>
          <a:xfrm>
            <a:off x="2641702" y="4324198"/>
            <a:ext cx="9171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定量効果（週次）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2641702" y="4519879"/>
            <a:ext cx="13386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12〜30分 短縮/人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187952" y="4200754"/>
            <a:ext cx="1524305" cy="961949"/>
          </a:xfrm>
          <a:prstGeom prst="roundRect">
            <a:avLst>
              <a:gd name="adj" fmla="val 7529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9"/>
          <p:cNvSpPr txBox="1"/>
          <p:nvPr/>
        </p:nvSpPr>
        <p:spPr>
          <a:xfrm>
            <a:off x="4311396" y="4324198"/>
            <a:ext cx="498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定性効果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4311396" y="4509821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返信作成の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4311396" y="4738421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心理的負荷軽減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09905" y="5624474"/>
            <a:ext cx="5333695" cy="1867205"/>
          </a:xfrm>
          <a:prstGeom prst="roundRect">
            <a:avLst>
              <a:gd name="adj" fmla="val 29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47649" y="5900623"/>
            <a:ext cx="190195" cy="152705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114654" y="5862218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導入・定着のポイント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847649" y="6243523"/>
            <a:ext cx="4944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共通プロンプトの配布： 「要約」「日程調整」「断り」など、頻出シーンの指示文テンプレートを全社共有。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847649" y="6662318"/>
            <a:ext cx="4944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NG表現ガイドライン： AI生成文をそのまま送らず、必ず人間が確認・修正するルールを徹底。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847649" y="6910121"/>
            <a:ext cx="4944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モバイル活用： 移動中のスマホ返信でこそCopilotの下書き機能が効果を発揮することを周知。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248095" y="1591056"/>
            <a:ext cx="5333695" cy="4200754"/>
          </a:xfrm>
          <a:prstGeom prst="roundRect">
            <a:avLst>
              <a:gd name="adj" fmla="val 59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rcRect l="14526" r="14526"/>
          <a:stretch/>
        </p:blipFill>
        <p:spPr>
          <a:xfrm>
            <a:off x="6258154" y="1600200"/>
            <a:ext cx="5315407" cy="4181551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6248095" y="6016752"/>
            <a:ext cx="5333695" cy="1476756"/>
          </a:xfrm>
          <a:prstGeom prst="roundRect">
            <a:avLst>
              <a:gd name="adj" fmla="val 479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39"/>
          <p:cNvSpPr/>
          <p:nvPr/>
        </p:nvSpPr>
        <p:spPr>
          <a:xfrm>
            <a:off x="6448349" y="5930798"/>
            <a:ext cx="1000354" cy="181051"/>
          </a:xfrm>
          <a:prstGeom prst="roundRect">
            <a:avLst>
              <a:gd name="adj" fmla="val 26581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0"/>
          <p:cNvSpPr txBox="1"/>
          <p:nvPr/>
        </p:nvSpPr>
        <p:spPr>
          <a:xfrm>
            <a:off x="6543446" y="5950001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SAMPLE PROMPT</a:t>
            </a:r>
            <a:endParaRPr lang="en-US" sz="800" dirty="0"/>
          </a:p>
        </p:txBody>
      </p:sp>
      <p:sp>
        <p:nvSpPr>
          <p:cNvPr id="47" name="Text 41"/>
          <p:cNvSpPr txBox="1"/>
          <p:nvPr/>
        </p:nvSpPr>
        <p:spPr>
          <a:xfrm>
            <a:off x="6409944" y="6169457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返信作成の指示例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6409944" y="6387998"/>
            <a:ext cx="5009998" cy="942746"/>
          </a:xfrm>
          <a:prstGeom prst="roundRect">
            <a:avLst>
              <a:gd name="adj" fmla="val 587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3"/>
          <p:cNvSpPr txBox="1"/>
          <p:nvPr/>
        </p:nvSpPr>
        <p:spPr>
          <a:xfrm>
            <a:off x="6515100" y="6512357"/>
            <a:ext cx="2524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「このメールへの返信案を作成してください。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6515100" y="6695237"/>
            <a:ext cx="48106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内容は『提案内容に合意する』『来週月曜の14時から15時で会議を設定したい』の2点を含め、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6515100" y="7060997"/>
            <a:ext cx="29818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取引先向けの丁寧なビジネス敬語で書いてください。」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48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23901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448056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8718" y="580644"/>
            <a:ext cx="237744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95705" y="321869"/>
            <a:ext cx="599846" cy="200254"/>
          </a:xfrm>
          <a:prstGeom prst="roundRect">
            <a:avLst>
              <a:gd name="adj" fmla="val 86975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371600" y="340157"/>
            <a:ext cx="5266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 ②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966874" y="30449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 Phase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95705" y="543154"/>
            <a:ext cx="442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会議準備と議事録作成の自動化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632850" y="7808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8737092" y="8284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全社共通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452153" y="780898"/>
            <a:ext cx="1238098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9556394" y="828446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プロジェクトチーム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839298" y="7808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944454" y="8284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部門横断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1248156"/>
            <a:ext cx="12191695" cy="56098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609905" y="1476756"/>
            <a:ext cx="5867705" cy="5076749"/>
          </a:xfrm>
          <a:prstGeom prst="roundRect">
            <a:avLst>
              <a:gd name="adj" fmla="val 4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752905"/>
            <a:ext cx="152705" cy="1527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76249" y="1714500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具体的なユースケース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47649" y="2095805"/>
            <a:ext cx="5505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会議前準備： 会議のテーマに関連する過去のメールやチャット、文書をCopilotが横断検索・要約し、背景情報を提示。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47649" y="2667305"/>
            <a:ext cx="5505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会議中支援： Teams会議の発言をリアルタイムで文字起こしし、議論の要点を抽出。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47649" y="3238805"/>
            <a:ext cx="5505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事後処理自動化： 会議終了直後に「議事録」「決定事項」「アクションアイテム（ToDo）」を自動生成して共有。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47649" y="5381244"/>
            <a:ext cx="5391302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2"/>
          <p:cNvSpPr/>
          <p:nvPr/>
        </p:nvSpPr>
        <p:spPr>
          <a:xfrm>
            <a:off x="847649" y="5544007"/>
            <a:ext cx="1723644" cy="771754"/>
          </a:xfrm>
          <a:prstGeom prst="roundRect">
            <a:avLst>
              <a:gd name="adj" fmla="val 11702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3"/>
          <p:cNvSpPr txBox="1"/>
          <p:nvPr/>
        </p:nvSpPr>
        <p:spPr>
          <a:xfrm>
            <a:off x="972007" y="5667451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会議周辺作業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972007" y="5829300"/>
            <a:ext cx="1402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大幅削減（自動化）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680106" y="5544007"/>
            <a:ext cx="1723644" cy="771754"/>
          </a:xfrm>
          <a:prstGeom prst="roundRect">
            <a:avLst>
              <a:gd name="adj" fmla="val 11702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6"/>
          <p:cNvSpPr txBox="1"/>
          <p:nvPr/>
        </p:nvSpPr>
        <p:spPr>
          <a:xfrm>
            <a:off x="2804465" y="5667451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KPI例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2804465" y="5829300"/>
            <a:ext cx="12600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議事録公開までの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2804465" y="6001207"/>
            <a:ext cx="9646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リードタイム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513478" y="5544007"/>
            <a:ext cx="1723644" cy="771754"/>
          </a:xfrm>
          <a:prstGeom prst="roundRect">
            <a:avLst>
              <a:gd name="adj" fmla="val 11702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0"/>
          <p:cNvSpPr txBox="1"/>
          <p:nvPr/>
        </p:nvSpPr>
        <p:spPr>
          <a:xfrm>
            <a:off x="4636922" y="5667451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定性効果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4636922" y="5829300"/>
            <a:ext cx="12600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決定事項の明確化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4636922" y="6001207"/>
            <a:ext cx="974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再作業の防止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698894" y="1476756"/>
            <a:ext cx="4886554" cy="1904695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 b="30562"/>
          <a:stretch/>
        </p:blipFill>
        <p:spPr>
          <a:xfrm>
            <a:off x="6708038" y="1485900"/>
            <a:ext cx="4867351" cy="1886407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6698894" y="3534156"/>
            <a:ext cx="4886554" cy="1257300"/>
          </a:xfrm>
          <a:prstGeom prst="roundRect">
            <a:avLst>
              <a:gd name="adj" fmla="val 66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5"/>
          <p:cNvSpPr/>
          <p:nvPr/>
        </p:nvSpPr>
        <p:spPr>
          <a:xfrm>
            <a:off x="6860743" y="3457346"/>
            <a:ext cx="961949" cy="181051"/>
          </a:xfrm>
          <a:prstGeom prst="roundRect">
            <a:avLst>
              <a:gd name="adj" fmla="val 26581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6"/>
          <p:cNvSpPr txBox="1"/>
          <p:nvPr/>
        </p:nvSpPr>
        <p:spPr>
          <a:xfrm>
            <a:off x="6936638" y="3476549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SAMPLE PROMPT</a:t>
            </a:r>
            <a:endParaRPr lang="en-US" sz="800" dirty="0"/>
          </a:p>
        </p:txBody>
      </p:sp>
      <p:sp>
        <p:nvSpPr>
          <p:cNvPr id="42" name="Text 37"/>
          <p:cNvSpPr txBox="1"/>
          <p:nvPr/>
        </p:nvSpPr>
        <p:spPr>
          <a:xfrm>
            <a:off x="6860743" y="3685946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会議終了後の指示例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860743" y="3905402"/>
            <a:ext cx="4562856" cy="724205"/>
          </a:xfrm>
          <a:prstGeom prst="roundRect">
            <a:avLst>
              <a:gd name="adj" fmla="val 996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39"/>
          <p:cNvSpPr txBox="1"/>
          <p:nvPr/>
        </p:nvSpPr>
        <p:spPr>
          <a:xfrm>
            <a:off x="6964985" y="4028846"/>
            <a:ext cx="2286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「この会議の議事録を作成してください。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964985" y="4200754"/>
            <a:ext cx="36484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『決定された事項』『保留事項』『次回までの宿題（担当者付き）』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6964985" y="4371746"/>
            <a:ext cx="34107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の3つのセクションに分けて、箇条書きで整理してください。」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6698894" y="4943246"/>
            <a:ext cx="4886554" cy="1657807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6860743" y="5143500"/>
            <a:ext cx="190195" cy="152705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7126834" y="5105095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導入・定着のポイント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6860743" y="5486400"/>
            <a:ext cx="46488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会議ルールの統一： Teamsの録画・トランスクリプト（文字起こし）を有効にする運用ルールを策定。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6860743" y="5882335"/>
            <a:ext cx="46488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アジェンダの事前共有： Copilotが文脈を理解しやすいよう、会議通知に目的とアジェンダを明記。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6860743" y="6279185"/>
            <a:ext cx="4562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発言の明確化： 主語を明確にして話すことで、文字起こしと要約の精度を向上させる。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90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F6BCD064-3AA1-1246-B9C4-0B802036F0B4}"/>
              </a:ext>
            </a:extLst>
          </p:cNvPr>
          <p:cNvSpPr/>
          <p:nvPr/>
        </p:nvSpPr>
        <p:spPr>
          <a:xfrm>
            <a:off x="169333" y="3905402"/>
            <a:ext cx="3274297" cy="1303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社内活用済み？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362102"/>
            <a:ext cx="400507" cy="400507"/>
          </a:xfrm>
          <a:prstGeom prst="ellipse">
            <a:avLst/>
          </a:prstGeom>
          <a:solidFill>
            <a:srgbClr val="0078D4"/>
          </a:solidFill>
          <a:ln/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714146" y="476402"/>
            <a:ext cx="190195" cy="171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62202" y="231343"/>
            <a:ext cx="599846" cy="200254"/>
          </a:xfrm>
          <a:prstGeom prst="roundRect">
            <a:avLst>
              <a:gd name="adj" fmla="val 86975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238098" y="249631"/>
            <a:ext cx="5266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 ③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833372" y="228600"/>
            <a:ext cx="1291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 Phase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62202" y="428854"/>
            <a:ext cx="33009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文書ドラフト・要約支援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562795" y="662026"/>
            <a:ext cx="590702" cy="237744"/>
          </a:xfrm>
          <a:prstGeom prst="roundRect">
            <a:avLst>
              <a:gd name="adj" fmla="val 6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9648749" y="700430"/>
            <a:ext cx="498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企画部門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248595" y="662026"/>
            <a:ext cx="590702" cy="237744"/>
          </a:xfrm>
          <a:prstGeom prst="roundRect">
            <a:avLst>
              <a:gd name="adj" fmla="val 6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334549" y="700430"/>
            <a:ext cx="498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商品開発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0934395" y="662026"/>
            <a:ext cx="590702" cy="237744"/>
          </a:xfrm>
          <a:prstGeom prst="roundRect">
            <a:avLst>
              <a:gd name="adj" fmla="val 6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11020349" y="700430"/>
            <a:ext cx="498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管理部門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0" y="1095451"/>
            <a:ext cx="12191695" cy="576254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609905" y="1324051"/>
            <a:ext cx="5629046" cy="5305349"/>
          </a:xfrm>
          <a:prstGeom prst="roundRect">
            <a:avLst>
              <a:gd name="adj" fmla="val 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1559966"/>
            <a:ext cx="142646" cy="14264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28700" y="1524305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具体的なユースケース（Word / PowerPoint）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09244" y="1852574"/>
            <a:ext cx="534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白紙からのドラフト生成： 箇条書きのメモやキーワードから、企画書、報告書、提案書の初稿をWordで一括生成。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09244" y="2404872"/>
            <a:ext cx="534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要約とレビュー支援： 長文の仕様書や契約書の要点を抽出し、レビュー観点（リスク箇所など）を提示。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09244" y="2957170"/>
            <a:ext cx="534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スライド自動生成： 完成したWordの企画書を指定し、PowerPointで「このファイルからプレゼンを作成」を実行。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09244" y="5667451"/>
            <a:ext cx="5229454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2"/>
          <p:cNvSpPr/>
          <p:nvPr/>
        </p:nvSpPr>
        <p:spPr>
          <a:xfrm>
            <a:off x="809244" y="5829300"/>
            <a:ext cx="1666951" cy="599846"/>
          </a:xfrm>
          <a:prstGeom prst="roundRect">
            <a:avLst>
              <a:gd name="adj" fmla="val 193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3"/>
          <p:cNvSpPr txBox="1"/>
          <p:nvPr/>
        </p:nvSpPr>
        <p:spPr>
          <a:xfrm>
            <a:off x="914400" y="5934456"/>
            <a:ext cx="933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文書完成までの期間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914400" y="6096305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0.5〜1日 短縮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2590495" y="5829300"/>
            <a:ext cx="1666951" cy="599846"/>
          </a:xfrm>
          <a:prstGeom prst="roundRect">
            <a:avLst>
              <a:gd name="adj" fmla="val 193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6"/>
          <p:cNvSpPr txBox="1"/>
          <p:nvPr/>
        </p:nvSpPr>
        <p:spPr>
          <a:xfrm>
            <a:off x="2694737" y="5934456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ドラフト作成時間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2694737" y="6096305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24分 短縮/日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370832" y="5829300"/>
            <a:ext cx="1666951" cy="599846"/>
          </a:xfrm>
          <a:prstGeom prst="roundRect">
            <a:avLst>
              <a:gd name="adj" fmla="val 1935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9"/>
          <p:cNvSpPr txBox="1"/>
          <p:nvPr/>
        </p:nvSpPr>
        <p:spPr>
          <a:xfrm>
            <a:off x="4475988" y="5934456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作成サイクル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4475988" y="6096305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12% スピード向上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465722" y="1324051"/>
            <a:ext cx="5124298" cy="1790395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rcRect b="37807"/>
          <a:stretch/>
        </p:blipFill>
        <p:spPr>
          <a:xfrm>
            <a:off x="6475781" y="1333195"/>
            <a:ext cx="5105095" cy="1772107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6465722" y="3259836"/>
            <a:ext cx="5124298" cy="1429207"/>
          </a:xfrm>
          <a:prstGeom prst="roundRect">
            <a:avLst>
              <a:gd name="adj" fmla="val 51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3"/>
          <p:cNvSpPr/>
          <p:nvPr/>
        </p:nvSpPr>
        <p:spPr>
          <a:xfrm>
            <a:off x="6628486" y="3183026"/>
            <a:ext cx="961949" cy="181051"/>
          </a:xfrm>
          <a:prstGeom prst="roundRect">
            <a:avLst>
              <a:gd name="adj" fmla="val 26581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4"/>
          <p:cNvSpPr txBox="1"/>
          <p:nvPr/>
        </p:nvSpPr>
        <p:spPr>
          <a:xfrm>
            <a:off x="6704381" y="3202229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SAMPLE PROMPT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6628486" y="3411626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企画書ドラフト作成の指示例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628486" y="3631082"/>
            <a:ext cx="4800600" cy="895198"/>
          </a:xfrm>
          <a:prstGeom prst="roundRect">
            <a:avLst>
              <a:gd name="adj" fmla="val 6520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7"/>
          <p:cNvSpPr txBox="1"/>
          <p:nvPr/>
        </p:nvSpPr>
        <p:spPr>
          <a:xfrm>
            <a:off x="6732727" y="3754526"/>
            <a:ext cx="45820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「以下の要件メモを基に、社内標準の企画書フォーマット（背景、目的、実施計画、予算、期待効果）に沿ってドラフトを作成してください。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732727" y="4097426"/>
            <a:ext cx="46387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文体は『です・ます』調で統一し、経営層向けに結論ファーストで約1500文字にまとめてください。」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6465722" y="4840834"/>
            <a:ext cx="5124298" cy="1790395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6665976" y="5074006"/>
            <a:ext cx="171907" cy="133502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913778" y="5041087"/>
            <a:ext cx="1433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導入・定着のポイント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6665976" y="5317236"/>
            <a:ext cx="48106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標準テンプレの整備： Copilotが構造を理解しやすいよう、Word/PPTの社内テンプレートに見出しスタイルを正しく適用。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6665976" y="5713171"/>
            <a:ext cx="48106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レビュー基準の変更： 「0から書く」能力よりも「AI成果物を正しく評価・修正する」スキルを評価軸に。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6665976" y="6109106"/>
            <a:ext cx="48106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ファイル参照の習慣化： 「/（スラッシュ）」で関連ファイルを呼び出し、コンテキストを含めた生成を推奨。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900" dirty="0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2580299-2D4E-7910-EB80-23FF2A4C8A3B}"/>
              </a:ext>
            </a:extLst>
          </p:cNvPr>
          <p:cNvSpPr/>
          <p:nvPr/>
        </p:nvSpPr>
        <p:spPr>
          <a:xfrm>
            <a:off x="169333" y="3905402"/>
            <a:ext cx="3274297" cy="1303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社内活用済み？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48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23901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448056"/>
            <a:ext cx="457200" cy="457200"/>
          </a:xfrm>
          <a:prstGeom prst="ellipse">
            <a:avLst/>
          </a:prstGeom>
          <a:solidFill>
            <a:srgbClr val="0078D4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728777" y="580644"/>
            <a:ext cx="219456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95705" y="321869"/>
            <a:ext cx="599846" cy="200254"/>
          </a:xfrm>
          <a:prstGeom prst="roundRect">
            <a:avLst>
              <a:gd name="adj" fmla="val 86975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371600" y="340157"/>
            <a:ext cx="5266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 ④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966874" y="30449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 Phase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95705" y="543154"/>
            <a:ext cx="3820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データ分析・レポート作成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200693" y="7808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9305849" y="8284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営業部門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019995" y="7808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125151" y="8284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商品開発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839298" y="7808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944454" y="8284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管理本部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1248156"/>
            <a:ext cx="12191695" cy="56098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609905" y="1476756"/>
            <a:ext cx="5982005" cy="5076749"/>
          </a:xfrm>
          <a:prstGeom prst="roundRect">
            <a:avLst>
              <a:gd name="adj" fmla="val 4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752905"/>
            <a:ext cx="152705" cy="1527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76249" y="1714500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具体的なユースケース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47649" y="2057400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Excel自然言語分析： 複雑な数式を使わず、「今月の売上上位5製品は？」のように質問するだけで集計・グラフ化。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47649" y="2609698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定型レポート自動化： 月次営業報告や進捗レポートなど、決まったフォーマットへのデータ流し込みと下書き作成。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47649" y="3161995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洞察の自動抽出： データの傾向、外れ値、パターンを自動で特定し、分析コメントの叩き台を提供。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47649" y="3817620"/>
            <a:ext cx="5505602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47649" y="4017874"/>
            <a:ext cx="190195" cy="152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14654" y="3979469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導入・定着のポイント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847649" y="4322369"/>
            <a:ext cx="50173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標準KPI辞書・用語集： AIの解釈揺れを防ぐため、「売上」「粗利」などの定義を明確化。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847649" y="4584802"/>
            <a:ext cx="559887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数値検証フロー： 高度な検証が必要な財務報告ではなく、まずは傾向把握のための定型レポートから着手。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847649" y="5031943"/>
            <a:ext cx="51983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分析テンプレ化： 定型プロンプトを用意し、誰でも同品質のレポートが出せるようにする。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47649" y="5415991"/>
            <a:ext cx="5505602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7"/>
          <p:cNvSpPr/>
          <p:nvPr/>
        </p:nvSpPr>
        <p:spPr>
          <a:xfrm>
            <a:off x="847649" y="5577840"/>
            <a:ext cx="1733702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 txBox="1"/>
          <p:nvPr/>
        </p:nvSpPr>
        <p:spPr>
          <a:xfrm>
            <a:off x="972007" y="5682996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レポート作成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972007" y="5815584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大幅時間短縮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2731313" y="5577840"/>
            <a:ext cx="1733702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1"/>
          <p:cNvSpPr txBox="1"/>
          <p:nvPr/>
        </p:nvSpPr>
        <p:spPr>
          <a:xfrm>
            <a:off x="2854757" y="5682996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定量効果（日次）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2854757" y="5815584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分析着手の迅速化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614977" y="5577840"/>
            <a:ext cx="1733702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4"/>
          <p:cNvSpPr txBox="1"/>
          <p:nvPr/>
        </p:nvSpPr>
        <p:spPr>
          <a:xfrm>
            <a:off x="4738421" y="5682996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定性効果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4738421" y="5815584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分析スキルの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4738421" y="599846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民主化・平準化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6888175" y="1476756"/>
            <a:ext cx="4695444" cy="2628900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rcRect t="15" b="15"/>
          <a:stretch/>
        </p:blipFill>
        <p:spPr>
          <a:xfrm>
            <a:off x="6898234" y="1485900"/>
            <a:ext cx="4677156" cy="2609698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6888175" y="4294937"/>
            <a:ext cx="4695444" cy="2266798"/>
          </a:xfrm>
          <a:prstGeom prst="roundRect">
            <a:avLst>
              <a:gd name="adj" fmla="val 203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39"/>
          <p:cNvSpPr/>
          <p:nvPr/>
        </p:nvSpPr>
        <p:spPr>
          <a:xfrm>
            <a:off x="7088429" y="4208983"/>
            <a:ext cx="1000354" cy="181051"/>
          </a:xfrm>
          <a:prstGeom prst="roundRect">
            <a:avLst>
              <a:gd name="adj" fmla="val 26581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0"/>
          <p:cNvSpPr txBox="1"/>
          <p:nvPr/>
        </p:nvSpPr>
        <p:spPr>
          <a:xfrm>
            <a:off x="7183526" y="4228186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SAMPLE PROMPT</a:t>
            </a:r>
            <a:endParaRPr lang="en-US" sz="800" dirty="0"/>
          </a:p>
        </p:txBody>
      </p:sp>
      <p:sp>
        <p:nvSpPr>
          <p:cNvPr id="47" name="Text 41"/>
          <p:cNvSpPr txBox="1"/>
          <p:nvPr/>
        </p:nvSpPr>
        <p:spPr>
          <a:xfrm>
            <a:off x="7088429" y="4447642"/>
            <a:ext cx="1400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Excelデータ分析の指示例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7088429" y="4685386"/>
            <a:ext cx="4295851" cy="981151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3"/>
          <p:cNvSpPr txBox="1"/>
          <p:nvPr/>
        </p:nvSpPr>
        <p:spPr>
          <a:xfrm>
            <a:off x="7212787" y="4828032"/>
            <a:ext cx="35625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「この売上データテーブルを基に、以下の処理を行ってください。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7212787" y="5010912"/>
            <a:ext cx="29626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製品カテゴリごとの月次推移を棒グラフで作成する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7212787" y="5194706"/>
            <a:ext cx="3838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前年比で大きく成長しているカテゴリとその要因の仮説を3点挙げる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7212787" y="5377586"/>
            <a:ext cx="2724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グラフと分析結果を新しいシートに出力する」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90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C295E964-E46A-6FBC-A19C-102CB402362E}"/>
              </a:ext>
            </a:extLst>
          </p:cNvPr>
          <p:cNvSpPr/>
          <p:nvPr/>
        </p:nvSpPr>
        <p:spPr>
          <a:xfrm>
            <a:off x="5778263" y="213055"/>
            <a:ext cx="3966870" cy="1303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高度化することで価値ありか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社内ナレッジ構築→専用分析</a:t>
            </a:r>
            <a:r>
              <a:rPr kumimoji="1" lang="en-US" altLang="ja-JP" dirty="0"/>
              <a:t>AI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48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23901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321869"/>
            <a:ext cx="657454" cy="200254"/>
          </a:xfrm>
          <a:prstGeom prst="roundRect">
            <a:avLst>
              <a:gd name="adj" fmla="val 86975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340157"/>
            <a:ext cx="584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341425" y="30449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 Phase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43154"/>
            <a:ext cx="58777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即効性ユースケースのまとめ（期待効果）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559138" y="857707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アイリスオーヤマ様向け 活用提案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1248156"/>
            <a:ext cx="12191695" cy="56098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09905" y="1552651"/>
            <a:ext cx="2600554" cy="235275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19049" y="1561795"/>
            <a:ext cx="2581351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09244" y="1752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857146"/>
            <a:ext cx="171907" cy="17190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09244" y="2247595"/>
            <a:ext cx="831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メール対応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" y="2529230"/>
            <a:ext cx="8193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12-30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53896" y="2661818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" y="286573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週あたり削減 / 人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09244" y="3151937"/>
            <a:ext cx="22000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 txBox="1"/>
          <p:nvPr/>
        </p:nvSpPr>
        <p:spPr>
          <a:xfrm>
            <a:off x="809244" y="3275381"/>
            <a:ext cx="22677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閲覧・要約時間の短縮に加え、返信下書きによる心理的負荷を軽減。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400654" y="1552651"/>
            <a:ext cx="2600554" cy="235275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0"/>
          <p:cNvSpPr/>
          <p:nvPr/>
        </p:nvSpPr>
        <p:spPr>
          <a:xfrm>
            <a:off x="3409798" y="1561795"/>
            <a:ext cx="2581351" cy="384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1"/>
          <p:cNvSpPr/>
          <p:nvPr/>
        </p:nvSpPr>
        <p:spPr>
          <a:xfrm>
            <a:off x="3600907" y="1752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3681374" y="1857146"/>
            <a:ext cx="219456" cy="171907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600907" y="2247595"/>
            <a:ext cx="974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会議周辺業務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3600907" y="2529230"/>
            <a:ext cx="7717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事後0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4197096" y="2661818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3600907" y="2865730"/>
            <a:ext cx="1286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議事録・ToDo自動生成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600907" y="3151937"/>
            <a:ext cx="22000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7"/>
          <p:cNvSpPr txBox="1"/>
          <p:nvPr/>
        </p:nvSpPr>
        <p:spPr>
          <a:xfrm>
            <a:off x="3600907" y="3275381"/>
            <a:ext cx="22677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会議後の整理時間を削減し、決定事項の即時共有を実現。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191402" y="1552651"/>
            <a:ext cx="2600554" cy="235275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9"/>
          <p:cNvSpPr/>
          <p:nvPr/>
        </p:nvSpPr>
        <p:spPr>
          <a:xfrm>
            <a:off x="6200546" y="1561795"/>
            <a:ext cx="2581351" cy="3840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0"/>
          <p:cNvSpPr/>
          <p:nvPr/>
        </p:nvSpPr>
        <p:spPr>
          <a:xfrm>
            <a:off x="6391656" y="1752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6515100" y="1857146"/>
            <a:ext cx="133502" cy="171907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391656" y="2247595"/>
            <a:ext cx="6885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文書作成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6391656" y="2529230"/>
            <a:ext cx="762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0.5-1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6976872" y="2661818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6391656" y="2865730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リードタイム短縮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391656" y="3151937"/>
            <a:ext cx="22000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6"/>
          <p:cNvSpPr txBox="1"/>
          <p:nvPr/>
        </p:nvSpPr>
        <p:spPr>
          <a:xfrm>
            <a:off x="6391656" y="3275381"/>
            <a:ext cx="22576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ドラフト作成の高速化により、企画・報告サイクルの回転数を向上。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8982151" y="1552651"/>
            <a:ext cx="2600554" cy="235275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38"/>
          <p:cNvSpPr/>
          <p:nvPr/>
        </p:nvSpPr>
        <p:spPr>
          <a:xfrm>
            <a:off x="8991295" y="1561795"/>
            <a:ext cx="2581351" cy="3840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39"/>
          <p:cNvSpPr/>
          <p:nvPr/>
        </p:nvSpPr>
        <p:spPr>
          <a:xfrm>
            <a:off x="9182405" y="1752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86646" y="1857146"/>
            <a:ext cx="171907" cy="171907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9182405" y="2247595"/>
            <a:ext cx="831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データ分析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9182405" y="2529230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即日</a:t>
            </a:r>
            <a:endParaRPr lang="en-US" sz="1800" dirty="0"/>
          </a:p>
        </p:txBody>
      </p:sp>
      <p:sp>
        <p:nvSpPr>
          <p:cNvPr id="48" name="Text 42"/>
          <p:cNvSpPr txBox="1"/>
          <p:nvPr/>
        </p:nvSpPr>
        <p:spPr>
          <a:xfrm>
            <a:off x="9639605" y="266181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着手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9182405" y="2865730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分析業務の敷居低減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9182405" y="3151937"/>
            <a:ext cx="22000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5"/>
          <p:cNvSpPr txBox="1"/>
          <p:nvPr/>
        </p:nvSpPr>
        <p:spPr>
          <a:xfrm>
            <a:off x="9182405" y="3275381"/>
            <a:ext cx="22677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非専門職でも定型レポート作成が可能になり、意思決定スピード向上。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609905" y="4134002"/>
            <a:ext cx="5372100" cy="2419502"/>
          </a:xfrm>
          <a:prstGeom prst="roundRect">
            <a:avLst>
              <a:gd name="adj" fmla="val 1785"/>
            </a:avLst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47"/>
          <p:cNvSpPr/>
          <p:nvPr/>
        </p:nvSpPr>
        <p:spPr>
          <a:xfrm>
            <a:off x="847649" y="4714646"/>
            <a:ext cx="4895698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7649" y="4401007"/>
            <a:ext cx="171907" cy="171907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1114654" y="4371746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経営的インパクト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847649" y="4972507"/>
            <a:ext cx="228600" cy="228600"/>
          </a:xfrm>
          <a:prstGeom prst="ellipse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09828" y="5029200"/>
            <a:ext cx="105156" cy="114300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1190549" y="4886554"/>
            <a:ext cx="452993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意思決定の迅速化： 情報整理・報告のリードタイム短縮によるスピード経営の加速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847649" y="5486400"/>
            <a:ext cx="228600" cy="228600"/>
          </a:xfrm>
          <a:prstGeom prst="ellipse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09828" y="5544007"/>
            <a:ext cx="105156" cy="114300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1190549" y="5400446"/>
            <a:ext cx="452993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リソースの最適化： 単純作業の削減による、残業抑制および創造的業務へのシフト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847649" y="6001207"/>
            <a:ext cx="228600" cy="228600"/>
          </a:xfrm>
          <a:prstGeom prst="ellipse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09828" y="6057900"/>
            <a:ext cx="105156" cy="114300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1190549" y="5915254"/>
            <a:ext cx="45390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業務品質の標準化： 個人のスキルに依存しない、一定水準のアウトプット品質維持</a:t>
            </a:r>
            <a:endParaRPr lang="en-US" sz="1000" dirty="0"/>
          </a:p>
        </p:txBody>
      </p:sp>
      <p:sp>
        <p:nvSpPr>
          <p:cNvPr id="65" name="Shape 55"/>
          <p:cNvSpPr/>
          <p:nvPr/>
        </p:nvSpPr>
        <p:spPr>
          <a:xfrm>
            <a:off x="6210605" y="4134002"/>
            <a:ext cx="5372100" cy="2419502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56"/>
          <p:cNvSpPr/>
          <p:nvPr/>
        </p:nvSpPr>
        <p:spPr>
          <a:xfrm>
            <a:off x="6448349" y="4714646"/>
            <a:ext cx="4895698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6448349" y="4401007"/>
            <a:ext cx="133502" cy="171907"/>
          </a:xfrm>
          <a:prstGeom prst="rect">
            <a:avLst/>
          </a:prstGeom>
        </p:spPr>
      </p:pic>
      <p:sp>
        <p:nvSpPr>
          <p:cNvPr id="68" name="Text 57"/>
          <p:cNvSpPr txBox="1"/>
          <p:nvPr/>
        </p:nvSpPr>
        <p:spPr>
          <a:xfrm>
            <a:off x="6676949" y="4371746"/>
            <a:ext cx="2648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導入の前提条件（Success Factors）</a:t>
            </a:r>
            <a:endParaRPr lang="en-US" sz="1200" dirty="0"/>
          </a:p>
        </p:txBody>
      </p:sp>
      <p:sp>
        <p:nvSpPr>
          <p:cNvPr id="69" name="Shape 58"/>
          <p:cNvSpPr/>
          <p:nvPr/>
        </p:nvSpPr>
        <p:spPr>
          <a:xfrm>
            <a:off x="6448349" y="5143500"/>
            <a:ext cx="228600" cy="228600"/>
          </a:xfrm>
          <a:prstGeom prst="ellipse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9"/>
          <p:cNvSpPr txBox="1"/>
          <p:nvPr/>
        </p:nvSpPr>
        <p:spPr>
          <a:xfrm>
            <a:off x="6530645" y="5171846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Text 60"/>
          <p:cNvSpPr txBox="1"/>
          <p:nvPr/>
        </p:nvSpPr>
        <p:spPr>
          <a:xfrm>
            <a:off x="6791249" y="5158130"/>
            <a:ext cx="4463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基礎トレーニング： Copilotの得意・不得意を理解させるリテラシー教育</a:t>
            </a:r>
            <a:endParaRPr lang="en-US" sz="1000" dirty="0"/>
          </a:p>
        </p:txBody>
      </p:sp>
      <p:sp>
        <p:nvSpPr>
          <p:cNvPr id="72" name="Shape 61"/>
          <p:cNvSpPr/>
          <p:nvPr/>
        </p:nvSpPr>
        <p:spPr>
          <a:xfrm>
            <a:off x="6448349" y="5486400"/>
            <a:ext cx="228600" cy="228600"/>
          </a:xfrm>
          <a:prstGeom prst="ellipse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Text 62"/>
          <p:cNvSpPr txBox="1"/>
          <p:nvPr/>
        </p:nvSpPr>
        <p:spPr>
          <a:xfrm>
            <a:off x="6530645" y="5514746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74" name="Text 63"/>
          <p:cNvSpPr txBox="1"/>
          <p:nvPr/>
        </p:nvSpPr>
        <p:spPr>
          <a:xfrm>
            <a:off x="6791249" y="5501030"/>
            <a:ext cx="3986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テンプレート整備： AIが読み取りやすい標準フォーマットの配布</a:t>
            </a:r>
            <a:endParaRPr lang="en-US" sz="1000" dirty="0"/>
          </a:p>
        </p:txBody>
      </p:sp>
      <p:sp>
        <p:nvSpPr>
          <p:cNvPr id="75" name="Shape 64"/>
          <p:cNvSpPr/>
          <p:nvPr/>
        </p:nvSpPr>
        <p:spPr>
          <a:xfrm>
            <a:off x="6448349" y="5829300"/>
            <a:ext cx="228600" cy="228600"/>
          </a:xfrm>
          <a:prstGeom prst="ellipse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65"/>
          <p:cNvSpPr txBox="1"/>
          <p:nvPr/>
        </p:nvSpPr>
        <p:spPr>
          <a:xfrm>
            <a:off x="6530645" y="5857646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77" name="Text 66"/>
          <p:cNvSpPr txBox="1"/>
          <p:nvPr/>
        </p:nvSpPr>
        <p:spPr>
          <a:xfrm>
            <a:off x="6791249" y="5843930"/>
            <a:ext cx="4405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運用ルールの策定： 生成物のファクトチェック義務化と機密情報の扱い</a:t>
            </a:r>
            <a:endParaRPr lang="en-US" sz="1000" dirty="0"/>
          </a:p>
        </p:txBody>
      </p:sp>
      <p:sp>
        <p:nvSpPr>
          <p:cNvPr id="78" name="Text 67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856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27650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448056"/>
            <a:ext cx="457200" cy="457200"/>
          </a:xfrm>
          <a:prstGeom prst="ellipse">
            <a:avLst/>
          </a:prstGeom>
          <a:solidFill>
            <a:srgbClr val="1E40A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" y="580644"/>
            <a:ext cx="190195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95705" y="321869"/>
            <a:ext cx="705002" cy="200254"/>
          </a:xfrm>
          <a:prstGeom prst="roundRect">
            <a:avLst>
              <a:gd name="adj" fmla="val 8697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371600" y="340157"/>
            <a:ext cx="6318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将来展開 ①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2072030" y="30449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 Phase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95705" y="543154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社内ナレッジ横断検索・Q&amp;Aエージェント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0" y="1285646"/>
            <a:ext cx="12191695" cy="6629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1923898"/>
            <a:ext cx="5781751" cy="19202"/>
          </a:xfrm>
          <a:prstGeom prst="rect">
            <a:avLst/>
          </a:prstGeom>
          <a:solidFill>
            <a:srgbClr val="BFDB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1633118"/>
            <a:ext cx="171907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75995" y="1591056"/>
            <a:ext cx="20052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対象領域とユースケース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9905" y="2057400"/>
            <a:ext cx="809244" cy="247802"/>
          </a:xfrm>
          <a:prstGeom prst="roundRect">
            <a:avLst>
              <a:gd name="adj" fmla="val 28384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3"/>
          <p:cNvSpPr txBox="1"/>
          <p:nvPr/>
        </p:nvSpPr>
        <p:spPr>
          <a:xfrm>
            <a:off x="724205" y="209580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人事・総務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485900" y="2057400"/>
            <a:ext cx="914400" cy="247802"/>
          </a:xfrm>
          <a:prstGeom prst="roundRect">
            <a:avLst>
              <a:gd name="adj" fmla="val 28384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 txBox="1"/>
          <p:nvPr/>
        </p:nvSpPr>
        <p:spPr>
          <a:xfrm>
            <a:off x="1600200" y="2095805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情報システム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473452" y="2057400"/>
            <a:ext cx="466344" cy="247802"/>
          </a:xfrm>
          <a:prstGeom prst="roundRect">
            <a:avLst>
              <a:gd name="adj" fmla="val 28384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 txBox="1"/>
          <p:nvPr/>
        </p:nvSpPr>
        <p:spPr>
          <a:xfrm>
            <a:off x="2587752" y="2095805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法務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006547" y="2057400"/>
            <a:ext cx="694944" cy="247802"/>
          </a:xfrm>
          <a:prstGeom prst="roundRect">
            <a:avLst>
              <a:gd name="adj" fmla="val 28384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 txBox="1"/>
          <p:nvPr/>
        </p:nvSpPr>
        <p:spPr>
          <a:xfrm>
            <a:off x="3120847" y="209580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商品開発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9905" y="2648102"/>
            <a:ext cx="5781751" cy="4962449"/>
          </a:xfrm>
          <a:prstGeom prst="roundRect">
            <a:avLst>
              <a:gd name="adj" fmla="val 5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1"/>
          <p:cNvSpPr txBox="1"/>
          <p:nvPr/>
        </p:nvSpPr>
        <p:spPr>
          <a:xfrm>
            <a:off x="2211019" y="2876702"/>
            <a:ext cx="2667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365 COPILOT CHAT イメージ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805526" y="3267151"/>
            <a:ext cx="342900" cy="3429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5910682" y="3362249"/>
            <a:ext cx="133502" cy="152705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1378001" y="3267151"/>
            <a:ext cx="4315054" cy="629107"/>
          </a:xfrm>
          <a:prstGeom prst="roundRect">
            <a:avLst>
              <a:gd name="adj" fmla="val 2642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4"/>
          <p:cNvSpPr txBox="1"/>
          <p:nvPr/>
        </p:nvSpPr>
        <p:spPr>
          <a:xfrm>
            <a:off x="1530706" y="3381451"/>
            <a:ext cx="40910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〇〇製品の返品手順と、関連する最新の規程ドキュメントを教えてください。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47649" y="4048049"/>
            <a:ext cx="342900" cy="3429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923544" y="4143146"/>
            <a:ext cx="190195" cy="15270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304849" y="4048049"/>
            <a:ext cx="4000500" cy="2162556"/>
          </a:xfrm>
          <a:prstGeom prst="roundRect">
            <a:avLst>
              <a:gd name="adj" fmla="val 745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7"/>
          <p:cNvSpPr txBox="1"/>
          <p:nvPr/>
        </p:nvSpPr>
        <p:spPr>
          <a:xfrm>
            <a:off x="1457554" y="4162349"/>
            <a:ext cx="3691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〇〇製品の返品については、以下の手順に従ってください。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1609344" y="4438498"/>
            <a:ext cx="1729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CSシステムで返品票を発行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609344" y="4629607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倉庫への入荷連絡（商品管理部宛）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609344" y="4819802"/>
            <a:ext cx="2367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顧客への返金処理（経理承認が必要）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457554" y="5086807"/>
            <a:ext cx="3796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関連する規程は「商品返品・交換規程 第4条」に基づきます。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1457554" y="5362956"/>
            <a:ext cx="3696005" cy="333756"/>
          </a:xfrm>
          <a:prstGeom prst="roundRect">
            <a:avLst>
              <a:gd name="adj" fmla="val 469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t="-1958" b="-1958"/>
          <a:stretch/>
        </p:blipFill>
        <p:spPr>
          <a:xfrm>
            <a:off x="1543507" y="5474513"/>
            <a:ext cx="75895" cy="1051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76095" y="5447995"/>
            <a:ext cx="27175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[SharePoint] 2024年度_商品返品・交換規程.docx (P.12)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1457554" y="5767121"/>
            <a:ext cx="3696005" cy="333756"/>
          </a:xfrm>
          <a:prstGeom prst="roundRect">
            <a:avLst>
              <a:gd name="adj" fmla="val 4696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43507" y="5879592"/>
            <a:ext cx="105156" cy="105156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705356" y="5853074"/>
            <a:ext cx="25081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[Outlook] 件名: 【重要】返品フローの改定について</a:t>
            </a:r>
            <a:endParaRPr lang="en-US" sz="800" dirty="0"/>
          </a:p>
        </p:txBody>
      </p:sp>
      <p:sp>
        <p:nvSpPr>
          <p:cNvPr id="44" name="Shape 36"/>
          <p:cNvSpPr/>
          <p:nvPr/>
        </p:nvSpPr>
        <p:spPr>
          <a:xfrm>
            <a:off x="6768389" y="1591056"/>
            <a:ext cx="4819802" cy="1981505"/>
          </a:xfrm>
          <a:prstGeom prst="roundRect">
            <a:avLst>
              <a:gd name="adj" fmla="val 2662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37"/>
          <p:cNvSpPr/>
          <p:nvPr/>
        </p:nvSpPr>
        <p:spPr>
          <a:xfrm>
            <a:off x="6768389" y="1591056"/>
            <a:ext cx="47549" cy="19815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06133" y="1816913"/>
            <a:ext cx="142646" cy="142646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7225589" y="1781251"/>
            <a:ext cx="688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期待効果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7006133" y="2109521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問合せ対応の自動化： 社内FAQへの一次回答をAIが代行し、担当者の負荷を削減。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7006133" y="2557577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検索時間の短縮： ファイルサーバを巡回する時間をゼロにし、欲しい情報へ即座にアクセス。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7006133" y="3004718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属人化の解消： 「あの人に聞かないとわからない」情報を形式知として活用可能に。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6768389" y="3795674"/>
            <a:ext cx="4819802" cy="1533449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43"/>
          <p:cNvSpPr/>
          <p:nvPr/>
        </p:nvSpPr>
        <p:spPr>
          <a:xfrm>
            <a:off x="6768389" y="3795674"/>
            <a:ext cx="47549" cy="15334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06133" y="4021531"/>
            <a:ext cx="142646" cy="142646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225589" y="3985870"/>
            <a:ext cx="1546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事前整備要件（必須）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7006133" y="4315054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SharePointへの集約： ファイルサーバ上のドキュメントをクラウド（SharePoint Online）へ移行。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7006133" y="4762195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アクセス権限の整理： 「誰でも見てよい情報」と「機密情報」の閲覧権限を正しく設定（Over-sharing防止）。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6768389" y="5553151"/>
            <a:ext cx="4819802" cy="20574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48"/>
          <p:cNvSpPr/>
          <p:nvPr/>
        </p:nvSpPr>
        <p:spPr>
          <a:xfrm>
            <a:off x="6768389" y="5553151"/>
            <a:ext cx="47549" cy="2057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006133" y="5779008"/>
            <a:ext cx="142646" cy="142646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7225589" y="5743346"/>
            <a:ext cx="498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KPI例</a:t>
            </a:r>
            <a:endParaRPr lang="en-US" sz="1100" dirty="0"/>
          </a:p>
        </p:txBody>
      </p:sp>
      <p:sp>
        <p:nvSpPr>
          <p:cNvPr id="61" name="Shape 50"/>
          <p:cNvSpPr/>
          <p:nvPr/>
        </p:nvSpPr>
        <p:spPr>
          <a:xfrm>
            <a:off x="7006133" y="6072530"/>
            <a:ext cx="2143354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Text 51"/>
          <p:cNvSpPr txBox="1"/>
          <p:nvPr/>
        </p:nvSpPr>
        <p:spPr>
          <a:xfrm>
            <a:off x="7759598" y="6167628"/>
            <a:ext cx="7077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情報検索時間</a:t>
            </a:r>
            <a:endParaRPr lang="en-US" sz="800" dirty="0"/>
          </a:p>
        </p:txBody>
      </p:sp>
      <p:sp>
        <p:nvSpPr>
          <p:cNvPr id="63" name="Text 52"/>
          <p:cNvSpPr txBox="1"/>
          <p:nvPr/>
        </p:nvSpPr>
        <p:spPr>
          <a:xfrm>
            <a:off x="7812634" y="6362395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 50%</a:t>
            </a:r>
            <a:endParaRPr lang="en-US" sz="1200" dirty="0"/>
          </a:p>
        </p:txBody>
      </p:sp>
      <p:sp>
        <p:nvSpPr>
          <p:cNvPr id="64" name="Shape 53"/>
          <p:cNvSpPr/>
          <p:nvPr/>
        </p:nvSpPr>
        <p:spPr>
          <a:xfrm>
            <a:off x="9256471" y="6072530"/>
            <a:ext cx="2143354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 54"/>
          <p:cNvSpPr txBox="1"/>
          <p:nvPr/>
        </p:nvSpPr>
        <p:spPr>
          <a:xfrm>
            <a:off x="9962388" y="6167628"/>
            <a:ext cx="8028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FAQ自己解決率</a:t>
            </a:r>
            <a:endParaRPr lang="en-US" sz="800" dirty="0"/>
          </a:p>
        </p:txBody>
      </p:sp>
      <p:sp>
        <p:nvSpPr>
          <p:cNvPr id="66" name="Text 55"/>
          <p:cNvSpPr txBox="1"/>
          <p:nvPr/>
        </p:nvSpPr>
        <p:spPr>
          <a:xfrm>
            <a:off x="10056571" y="6362395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↑ 30pt</a:t>
            </a:r>
            <a:endParaRPr lang="en-US" sz="1200" dirty="0"/>
          </a:p>
        </p:txBody>
      </p:sp>
      <p:sp>
        <p:nvSpPr>
          <p:cNvPr id="67" name="Shape 56"/>
          <p:cNvSpPr/>
          <p:nvPr/>
        </p:nvSpPr>
        <p:spPr>
          <a:xfrm>
            <a:off x="7006133" y="6801307"/>
            <a:ext cx="2143354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Text 57"/>
          <p:cNvSpPr txBox="1"/>
          <p:nvPr/>
        </p:nvSpPr>
        <p:spPr>
          <a:xfrm>
            <a:off x="7759598" y="6896405"/>
            <a:ext cx="7077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有人対応件数</a:t>
            </a:r>
            <a:endParaRPr lang="en-US" sz="800" dirty="0"/>
          </a:p>
        </p:txBody>
      </p:sp>
      <p:sp>
        <p:nvSpPr>
          <p:cNvPr id="69" name="Text 58"/>
          <p:cNvSpPr txBox="1"/>
          <p:nvPr/>
        </p:nvSpPr>
        <p:spPr>
          <a:xfrm>
            <a:off x="7921447" y="7091172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削減</a:t>
            </a:r>
            <a:endParaRPr lang="en-US" sz="1200" dirty="0"/>
          </a:p>
        </p:txBody>
      </p:sp>
      <p:sp>
        <p:nvSpPr>
          <p:cNvPr id="70" name="Shape 59"/>
          <p:cNvSpPr/>
          <p:nvPr/>
        </p:nvSpPr>
        <p:spPr>
          <a:xfrm>
            <a:off x="9256471" y="6801307"/>
            <a:ext cx="2143354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0"/>
          <p:cNvSpPr txBox="1"/>
          <p:nvPr/>
        </p:nvSpPr>
        <p:spPr>
          <a:xfrm>
            <a:off x="9956902" y="6896405"/>
            <a:ext cx="812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ナレッジ登録数</a:t>
            </a:r>
            <a:endParaRPr lang="en-US" sz="800" dirty="0"/>
          </a:p>
        </p:txBody>
      </p:sp>
      <p:sp>
        <p:nvSpPr>
          <p:cNvPr id="72" name="Text 61"/>
          <p:cNvSpPr txBox="1"/>
          <p:nvPr/>
        </p:nvSpPr>
        <p:spPr>
          <a:xfrm>
            <a:off x="10171786" y="7091172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増加</a:t>
            </a:r>
            <a:endParaRPr lang="en-US" sz="1200" dirty="0"/>
          </a:p>
        </p:txBody>
      </p:sp>
      <p:sp>
        <p:nvSpPr>
          <p:cNvPr id="73" name="Text 62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900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18FD5520-EAA6-EEB0-B6A7-1062992BFA07}"/>
              </a:ext>
            </a:extLst>
          </p:cNvPr>
          <p:cNvSpPr/>
          <p:nvPr/>
        </p:nvSpPr>
        <p:spPr>
          <a:xfrm>
            <a:off x="3466660" y="6267755"/>
            <a:ext cx="3274297" cy="1303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ナレッジ整備大事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チャットボット→エージェントへのアジャイル開発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856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27650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448056"/>
            <a:ext cx="457200" cy="457200"/>
          </a:xfrm>
          <a:prstGeom prst="ellipse">
            <a:avLst/>
          </a:prstGeom>
          <a:solidFill>
            <a:srgbClr val="1E40A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8718" y="580644"/>
            <a:ext cx="237744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95705" y="321869"/>
            <a:ext cx="705002" cy="200254"/>
          </a:xfrm>
          <a:prstGeom prst="roundRect">
            <a:avLst>
              <a:gd name="adj" fmla="val 8697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371600" y="340157"/>
            <a:ext cx="6318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将来展開 ②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2072030" y="30449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 Phase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95705" y="543154"/>
            <a:ext cx="6762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部門特化AIエージェント・オンボーディング支援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0" y="1285646"/>
            <a:ext cx="12191695" cy="557235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1923898"/>
            <a:ext cx="5781751" cy="19202"/>
          </a:xfrm>
          <a:prstGeom prst="rect">
            <a:avLst/>
          </a:prstGeom>
          <a:solidFill>
            <a:srgbClr val="BFDB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609905" y="1633118"/>
            <a:ext cx="190195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95198" y="1591056"/>
            <a:ext cx="2529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部門別AIエージェントの活用例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9905" y="2057400"/>
            <a:ext cx="1248156" cy="247802"/>
          </a:xfrm>
          <a:prstGeom prst="roundRect">
            <a:avLst>
              <a:gd name="adj" fmla="val 28384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3"/>
          <p:cNvSpPr txBox="1"/>
          <p:nvPr/>
        </p:nvSpPr>
        <p:spPr>
          <a:xfrm>
            <a:off x="724205" y="2095805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Studio活用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932127" y="2057400"/>
            <a:ext cx="694944" cy="247802"/>
          </a:xfrm>
          <a:prstGeom prst="roundRect">
            <a:avLst>
              <a:gd name="adj" fmla="val 28384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 txBox="1"/>
          <p:nvPr/>
        </p:nvSpPr>
        <p:spPr>
          <a:xfrm>
            <a:off x="2046427" y="209580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業務特化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694737" y="2057400"/>
            <a:ext cx="580644" cy="247802"/>
          </a:xfrm>
          <a:prstGeom prst="roundRect">
            <a:avLst>
              <a:gd name="adj" fmla="val 28384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 txBox="1"/>
          <p:nvPr/>
        </p:nvSpPr>
        <p:spPr>
          <a:xfrm>
            <a:off x="2809037" y="209580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効率化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09905" y="2648102"/>
            <a:ext cx="5781751" cy="923544"/>
          </a:xfrm>
          <a:prstGeom prst="roundRect">
            <a:avLst>
              <a:gd name="adj" fmla="val 122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9"/>
          <p:cNvSpPr/>
          <p:nvPr/>
        </p:nvSpPr>
        <p:spPr>
          <a:xfrm>
            <a:off x="809244" y="2809951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890626" y="2915107"/>
            <a:ext cx="219456" cy="17190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343254" y="2809951"/>
            <a:ext cx="19650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法務レビュー・エージェント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343254" y="3053182"/>
            <a:ext cx="492221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契約書ドラフトをアップロードすると、社内標準約款との差異を指摘し、リスク条項をハイライト。過去の類似契約での修正履歴も提示。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09905" y="3723437"/>
            <a:ext cx="5781751" cy="923544"/>
          </a:xfrm>
          <a:prstGeom prst="roundRect">
            <a:avLst>
              <a:gd name="adj" fmla="val 122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3"/>
          <p:cNvSpPr/>
          <p:nvPr/>
        </p:nvSpPr>
        <p:spPr>
          <a:xfrm>
            <a:off x="809244" y="388528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890626" y="3990442"/>
            <a:ext cx="219456" cy="1719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343254" y="3885286"/>
            <a:ext cx="18223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商品知識・CSサポートBot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1343254" y="4128516"/>
            <a:ext cx="48463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膨大な商品マスタと過去の顧客QAを学習。顧客からの技術的な問い合わせに対し、即座にスペック詳細や対応履歴を回答。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09905" y="4798771"/>
            <a:ext cx="5781751" cy="923544"/>
          </a:xfrm>
          <a:prstGeom prst="roundRect">
            <a:avLst>
              <a:gd name="adj" fmla="val 122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7"/>
          <p:cNvSpPr/>
          <p:nvPr/>
        </p:nvSpPr>
        <p:spPr>
          <a:xfrm>
            <a:off x="809244" y="4960620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890626" y="5065776"/>
            <a:ext cx="219456" cy="17190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343254" y="4960620"/>
            <a:ext cx="20985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ITヘルプデスク・エージェント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1343254" y="5203850"/>
            <a:ext cx="488472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PCトラブルやシステム申請手順を自動案内。「VPNがつながらない」等の質問に、社内Wikiを参照して解決策をステップ提示。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768389" y="1591056"/>
            <a:ext cx="4819802" cy="2714854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1"/>
          <p:cNvSpPr/>
          <p:nvPr/>
        </p:nvSpPr>
        <p:spPr>
          <a:xfrm>
            <a:off x="6768389" y="1591056"/>
            <a:ext cx="47549" cy="271485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 t="-556" b="-556"/>
          <a:stretch/>
        </p:blipFill>
        <p:spPr>
          <a:xfrm>
            <a:off x="7006133" y="1816913"/>
            <a:ext cx="123444" cy="14264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206386" y="1781251"/>
            <a:ext cx="2527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オンボーディング・人材育成への効果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7006133" y="2109521"/>
            <a:ext cx="43680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新入社員や異動者が、膨大な過去資料を読まずに対話形式で業務知識を習得可能に。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7006133" y="2605126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立ち上がり期間の短縮： 「誰に聞けばいいか分からない」時間を削減し、自己学習を促進。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7006133" y="3053182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メンター負荷の軽減： 基本的な質問はAIが回答するため、メンターは本質的な指導に集中。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7006133" y="3538728"/>
            <a:ext cx="4390949" cy="571500"/>
          </a:xfrm>
          <a:prstGeom prst="roundRect">
            <a:avLst>
              <a:gd name="adj" fmla="val 2133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t="-92663" b="-92663"/>
          <a:stretch/>
        </p:blipFill>
        <p:spPr>
          <a:xfrm>
            <a:off x="7120433" y="3653028"/>
            <a:ext cx="105156" cy="3429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301484" y="3653028"/>
            <a:ext cx="3905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英国政府の試行では、ユーザーの82%が「Copilotなしには戻れない」と回答。知識アクセスの向上が学習意欲を高める。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6768389" y="4529023"/>
            <a:ext cx="4819802" cy="1533449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39"/>
          <p:cNvSpPr/>
          <p:nvPr/>
        </p:nvSpPr>
        <p:spPr>
          <a:xfrm>
            <a:off x="6768389" y="4529023"/>
            <a:ext cx="47549" cy="15334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06133" y="4755794"/>
            <a:ext cx="142646" cy="142646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7225589" y="471921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事前整備とガバナンス</a:t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7006133" y="5048402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Studioの利用ルール： 誰がエージェントを作成・公開できるかの権限設計。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7006133" y="5495544"/>
            <a:ext cx="448421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参照データのホワイトリスト： エージェントが学習・参照してよい情報源（SharePointサイト等）の明確化。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247687FD-06AE-6904-4F70-CDC34C651009}"/>
              </a:ext>
            </a:extLst>
          </p:cNvPr>
          <p:cNvSpPr/>
          <p:nvPr/>
        </p:nvSpPr>
        <p:spPr>
          <a:xfrm>
            <a:off x="3760606" y="5384901"/>
            <a:ext cx="5865604" cy="1303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業務工数や負荷の高い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業務ヒアリングをもとに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支援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のワークフロー構築するのがよさそうか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0954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362102"/>
            <a:ext cx="400507" cy="400507"/>
          </a:xfrm>
          <a:prstGeom prst="ellipse">
            <a:avLst/>
          </a:prstGeom>
          <a:solidFill>
            <a:srgbClr val="059669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714146" y="476402"/>
            <a:ext cx="190195" cy="171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62202" y="231343"/>
            <a:ext cx="705002" cy="200254"/>
          </a:xfrm>
          <a:prstGeom prst="roundRect">
            <a:avLst>
              <a:gd name="adj" fmla="val 8697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238098" y="249631"/>
            <a:ext cx="6318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将来展開 ③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938528" y="228600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 Phase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62202" y="428854"/>
            <a:ext cx="60725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現場業務へのAI活用（アイリスオーヤマ特有）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923630" y="642823"/>
            <a:ext cx="733349" cy="256946"/>
          </a:xfrm>
          <a:prstGeom prst="roundRect">
            <a:avLst>
              <a:gd name="adj" fmla="val 5272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9028786" y="690372"/>
            <a:ext cx="602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小売・製造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752076" y="642823"/>
            <a:ext cx="743407" cy="256946"/>
          </a:xfrm>
          <a:prstGeom prst="roundRect">
            <a:avLst>
              <a:gd name="adj" fmla="val 5272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9857232" y="690372"/>
            <a:ext cx="6126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POSデータ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0582351" y="642823"/>
            <a:ext cx="942746" cy="256946"/>
          </a:xfrm>
          <a:prstGeom prst="roundRect">
            <a:avLst>
              <a:gd name="adj" fmla="val 5272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687507" y="690372"/>
            <a:ext cx="812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コールセンター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0" y="1095451"/>
            <a:ext cx="12191695" cy="576254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609905" y="1324051"/>
            <a:ext cx="5781751" cy="5305349"/>
          </a:xfrm>
          <a:prstGeom prst="roundRect">
            <a:avLst>
              <a:gd name="adj" fmla="val 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769" r="-769"/>
          <a:stretch/>
        </p:blipFill>
        <p:spPr>
          <a:xfrm>
            <a:off x="809244" y="1559966"/>
            <a:ext cx="181051" cy="14264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67105" y="1524305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具体的なユースケース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09244" y="1852574"/>
            <a:ext cx="549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POSデータの自動分析： 各店舗の売上動向や在庫アラートを日次でダイジェスト化し、店長・マネージャーへプッシュ通知。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09244" y="2404872"/>
            <a:ext cx="549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コールセンター (VOC) 活用： 通話録音をテキスト化・要約し、顧客の感情傾向や製品改善のヒントを自動抽出。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09244" y="2957170"/>
            <a:ext cx="549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画像データの活用： Azure AI Visionと連携し、倉庫の在庫状況や店舗の棚割りを画像認識し、異常値をCopilotで報告。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769" r="-769"/>
          <a:stretch/>
        </p:blipFill>
        <p:spPr>
          <a:xfrm>
            <a:off x="809244" y="3602736"/>
            <a:ext cx="181051" cy="14264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67105" y="3567074"/>
            <a:ext cx="9747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実現への要件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09244" y="3895344"/>
            <a:ext cx="5438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データ接続の整備： DWHやデータレイク上のデータを、Copilotがセキュアに参照できるコネクタ設計。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809244" y="4132174"/>
            <a:ext cx="5438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Azure AI連携： 画像や音声などの非構造化データを、AIが解釈可能なテキストデータへ変換する前処理。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809244" y="4368089"/>
            <a:ext cx="4800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現場への権限委譲： 本部だけでなく、店長や工場長が自らデータを問合せできる権限設計。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809244" y="5530291"/>
            <a:ext cx="5381244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6"/>
          <p:cNvSpPr/>
          <p:nvPr/>
        </p:nvSpPr>
        <p:spPr>
          <a:xfrm>
            <a:off x="809244" y="5692140"/>
            <a:ext cx="1723644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7"/>
          <p:cNvSpPr txBox="1"/>
          <p:nvPr/>
        </p:nvSpPr>
        <p:spPr>
          <a:xfrm>
            <a:off x="914400" y="5797296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意思決定速度</a:t>
            </a:r>
            <a:endParaRPr lang="en-US" sz="800" dirty="0"/>
          </a:p>
        </p:txBody>
      </p:sp>
      <p:sp>
        <p:nvSpPr>
          <p:cNvPr id="33" name="Text 28"/>
          <p:cNvSpPr txBox="1"/>
          <p:nvPr/>
        </p:nvSpPr>
        <p:spPr>
          <a:xfrm>
            <a:off x="914400" y="592988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データ集計から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914400" y="6112764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即日判断へ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2640787" y="5692140"/>
            <a:ext cx="1723644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1"/>
          <p:cNvSpPr txBox="1"/>
          <p:nvPr/>
        </p:nvSpPr>
        <p:spPr>
          <a:xfrm>
            <a:off x="2745029" y="5797296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分析レポート工数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2745029" y="5929884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自動化（ほぼゼロ）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471416" y="5692140"/>
            <a:ext cx="1723644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4"/>
          <p:cNvSpPr txBox="1"/>
          <p:nvPr/>
        </p:nvSpPr>
        <p:spPr>
          <a:xfrm>
            <a:off x="4576572" y="5797296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VOC分析範囲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4576572" y="5929884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全件網羅（抽出不要）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6692494" y="1324051"/>
            <a:ext cx="4895698" cy="2286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rcRect t="8358" b="8358"/>
          <a:stretch/>
        </p:blipFill>
        <p:spPr>
          <a:xfrm>
            <a:off x="6702552" y="1333195"/>
            <a:ext cx="4876495" cy="2266798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6692494" y="3762756"/>
            <a:ext cx="4895698" cy="2866644"/>
          </a:xfrm>
          <a:prstGeom prst="roundRect">
            <a:avLst>
              <a:gd name="adj" fmla="val 127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38"/>
          <p:cNvSpPr/>
          <p:nvPr/>
        </p:nvSpPr>
        <p:spPr>
          <a:xfrm>
            <a:off x="6855257" y="3685946"/>
            <a:ext cx="1438351" cy="181051"/>
          </a:xfrm>
          <a:prstGeom prst="roundRect">
            <a:avLst>
              <a:gd name="adj" fmla="val 265816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39"/>
          <p:cNvSpPr txBox="1"/>
          <p:nvPr/>
        </p:nvSpPr>
        <p:spPr>
          <a:xfrm>
            <a:off x="6931152" y="3705149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SAMPLE PROMPT (POS連携)</a:t>
            </a:r>
            <a:endParaRPr lang="en-US" sz="800" dirty="0"/>
          </a:p>
        </p:txBody>
      </p:sp>
      <p:sp>
        <p:nvSpPr>
          <p:cNvPr id="46" name="Text 40"/>
          <p:cNvSpPr txBox="1"/>
          <p:nvPr/>
        </p:nvSpPr>
        <p:spPr>
          <a:xfrm>
            <a:off x="6855257" y="3914546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POSデータ分析の指示例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855257" y="4153205"/>
            <a:ext cx="4572000" cy="942746"/>
          </a:xfrm>
          <a:prstGeom prst="roundRect">
            <a:avLst>
              <a:gd name="adj" fmla="val 5878"/>
            </a:avLst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2"/>
          <p:cNvSpPr txBox="1"/>
          <p:nvPr/>
        </p:nvSpPr>
        <p:spPr>
          <a:xfrm>
            <a:off x="6959498" y="4276649"/>
            <a:ext cx="44293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「昨日までの全店POSデータを参照し、先週比で売上が10%以上変動した店舗をリストアップしてください。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6959498" y="4642409"/>
            <a:ext cx="43626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また、その変動の主な要因（売れ筋商品、天候要因、欠品など）について、データの傾向から推測される理由を3点要約してください。」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48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23901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321869"/>
            <a:ext cx="657454" cy="200254"/>
          </a:xfrm>
          <a:prstGeom prst="roundRect">
            <a:avLst>
              <a:gd name="adj" fmla="val 86975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340157"/>
            <a:ext cx="584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341425" y="30449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 Phase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43154"/>
            <a:ext cx="68013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将来展開のまとめ（ナレッジ基盤整備後の効果）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559138" y="857707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アイリスオーヤマ様向け 活用提案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1248156"/>
            <a:ext cx="12191695" cy="56098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09905" y="1552651"/>
            <a:ext cx="2600554" cy="2609698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19049" y="1561795"/>
            <a:ext cx="2581351" cy="3840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09244" y="1752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857146"/>
            <a:ext cx="171907" cy="17190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09244" y="2247595"/>
            <a:ext cx="831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検索・探索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" y="2529230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削減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" y="2865730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検索時間/件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9244" y="3151937"/>
            <a:ext cx="22000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 txBox="1"/>
          <p:nvPr/>
        </p:nvSpPr>
        <p:spPr>
          <a:xfrm>
            <a:off x="809244" y="3275381"/>
            <a:ext cx="22576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膨大な文書からの回答抽出により、情報探しの時間を最小化。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400654" y="1552651"/>
            <a:ext cx="2600554" cy="2609698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9"/>
          <p:cNvSpPr/>
          <p:nvPr/>
        </p:nvSpPr>
        <p:spPr>
          <a:xfrm>
            <a:off x="3409798" y="1561795"/>
            <a:ext cx="2581351" cy="3840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0"/>
          <p:cNvSpPr/>
          <p:nvPr/>
        </p:nvSpPr>
        <p:spPr>
          <a:xfrm>
            <a:off x="3600907" y="1752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3E8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 l="-1773" r="-1773"/>
          <a:stretch/>
        </p:blipFill>
        <p:spPr>
          <a:xfrm>
            <a:off x="3724351" y="1857146"/>
            <a:ext cx="133502" cy="17190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600907" y="2247595"/>
            <a:ext cx="831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3600907" y="2529230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向上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3600907" y="2865730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自己解決率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600907" y="3151937"/>
            <a:ext cx="22000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5"/>
          <p:cNvSpPr txBox="1"/>
          <p:nvPr/>
        </p:nvSpPr>
        <p:spPr>
          <a:xfrm>
            <a:off x="3600907" y="3275381"/>
            <a:ext cx="2238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FAQや規程の自動回答により、管理部門への問い合わせ工数を削減。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191402" y="1552651"/>
            <a:ext cx="2600554" cy="2609698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7"/>
          <p:cNvSpPr/>
          <p:nvPr/>
        </p:nvSpPr>
        <p:spPr>
          <a:xfrm>
            <a:off x="6200546" y="1561795"/>
            <a:ext cx="2581351" cy="3840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8"/>
          <p:cNvSpPr/>
          <p:nvPr/>
        </p:nvSpPr>
        <p:spPr>
          <a:xfrm>
            <a:off x="6391656" y="1752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505956" y="1857146"/>
            <a:ext cx="152705" cy="171907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391656" y="2247595"/>
            <a:ext cx="6885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人材育成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6391656" y="2529230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短縮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6391656" y="2865730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立ち上がり期間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391656" y="3151937"/>
            <a:ext cx="22000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3"/>
          <p:cNvSpPr txBox="1"/>
          <p:nvPr/>
        </p:nvSpPr>
        <p:spPr>
          <a:xfrm>
            <a:off x="6391656" y="3275381"/>
            <a:ext cx="22576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過去の経緯やノウハウへのアクセス性を高め、経験の浅い社員の自律を支援。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8982151" y="1552651"/>
            <a:ext cx="2600554" cy="2609698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5"/>
          <p:cNvSpPr/>
          <p:nvPr/>
        </p:nvSpPr>
        <p:spPr>
          <a:xfrm>
            <a:off x="8991295" y="1561795"/>
            <a:ext cx="2581351" cy="38405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6"/>
          <p:cNvSpPr/>
          <p:nvPr/>
        </p:nvSpPr>
        <p:spPr>
          <a:xfrm>
            <a:off x="9182405" y="17529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CE7F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9277502" y="1857146"/>
            <a:ext cx="190195" cy="171907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182405" y="2247595"/>
            <a:ext cx="6885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現場活用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9182405" y="2529230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即時</a:t>
            </a:r>
            <a:endParaRPr lang="en-US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9639605" y="2661818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9182405" y="2865730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現場意思決定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9182405" y="3151937"/>
            <a:ext cx="22000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2"/>
          <p:cNvSpPr txBox="1"/>
          <p:nvPr/>
        </p:nvSpPr>
        <p:spPr>
          <a:xfrm>
            <a:off x="9182405" y="3275381"/>
            <a:ext cx="21817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POS/在庫データ等の即時分析により、現場マネージャーの判断をサポート。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09905" y="4383634"/>
            <a:ext cx="5372100" cy="2171700"/>
          </a:xfrm>
          <a:prstGeom prst="roundRect">
            <a:avLst>
              <a:gd name="adj" fmla="val 2216"/>
            </a:avLst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4"/>
          <p:cNvSpPr/>
          <p:nvPr/>
        </p:nvSpPr>
        <p:spPr>
          <a:xfrm>
            <a:off x="847649" y="4965192"/>
            <a:ext cx="4895698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847649" y="4650638"/>
            <a:ext cx="190195" cy="171907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1133856" y="4622292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ナレッジ活用による組織変革</a:t>
            </a:r>
            <a:endParaRPr lang="en-US" sz="1200" dirty="0"/>
          </a:p>
        </p:txBody>
      </p:sp>
      <p:sp>
        <p:nvSpPr>
          <p:cNvPr id="53" name="Shape 46"/>
          <p:cNvSpPr/>
          <p:nvPr/>
        </p:nvSpPr>
        <p:spPr>
          <a:xfrm>
            <a:off x="847649" y="5268773"/>
            <a:ext cx="228600" cy="22860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09828" y="5325466"/>
            <a:ext cx="105156" cy="114300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1190549" y="5282489"/>
            <a:ext cx="4433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知の可視化・再利用： 個人のPCに眠る知見を組織全体の資産として活用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847649" y="5611673"/>
            <a:ext cx="228600" cy="22860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09828" y="5668366"/>
            <a:ext cx="105156" cy="114300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1190549" y="5625389"/>
            <a:ext cx="4405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属人化の解消： ベテラン依存の業務プロセスを標準化し、リスクを低減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847649" y="5954573"/>
            <a:ext cx="228600" cy="22860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909828" y="6011266"/>
            <a:ext cx="105156" cy="114300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1190549" y="5968289"/>
            <a:ext cx="3719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ガバナンス強化： 正しい規程に基づく業務遂行をAIがガイド</a:t>
            </a:r>
            <a:endParaRPr lang="en-US" sz="1000" dirty="0"/>
          </a:p>
        </p:txBody>
      </p:sp>
      <p:sp>
        <p:nvSpPr>
          <p:cNvPr id="62" name="Shape 52"/>
          <p:cNvSpPr/>
          <p:nvPr/>
        </p:nvSpPr>
        <p:spPr>
          <a:xfrm>
            <a:off x="6210605" y="4383634"/>
            <a:ext cx="5372100" cy="2171700"/>
          </a:xfrm>
          <a:prstGeom prst="roundRect">
            <a:avLst>
              <a:gd name="adj" fmla="val 22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53"/>
          <p:cNvSpPr/>
          <p:nvPr/>
        </p:nvSpPr>
        <p:spPr>
          <a:xfrm>
            <a:off x="6448349" y="4965192"/>
            <a:ext cx="4895698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9"/>
          <a:srcRect t="-842" b="-842"/>
          <a:stretch/>
        </p:blipFill>
        <p:spPr>
          <a:xfrm>
            <a:off x="6448349" y="4650638"/>
            <a:ext cx="190195" cy="171907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6734556" y="4622292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全社展開へのステップ</a:t>
            </a:r>
            <a:endParaRPr lang="en-US" sz="1200" dirty="0"/>
          </a:p>
        </p:txBody>
      </p:sp>
      <p:sp>
        <p:nvSpPr>
          <p:cNvPr id="66" name="Shape 55"/>
          <p:cNvSpPr/>
          <p:nvPr/>
        </p:nvSpPr>
        <p:spPr>
          <a:xfrm>
            <a:off x="6448349" y="5268773"/>
            <a:ext cx="228600" cy="22860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56"/>
          <p:cNvSpPr txBox="1"/>
          <p:nvPr/>
        </p:nvSpPr>
        <p:spPr>
          <a:xfrm>
            <a:off x="6530645" y="5297119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6791249" y="5282489"/>
            <a:ext cx="4005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パイロット展開： 特定部門での成功事例創出とチャンピオン育成</a:t>
            </a:r>
            <a:endParaRPr lang="en-US" sz="1000" dirty="0"/>
          </a:p>
        </p:txBody>
      </p:sp>
      <p:sp>
        <p:nvSpPr>
          <p:cNvPr id="69" name="Shape 58"/>
          <p:cNvSpPr/>
          <p:nvPr/>
        </p:nvSpPr>
        <p:spPr>
          <a:xfrm>
            <a:off x="6448349" y="5611673"/>
            <a:ext cx="228600" cy="22860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9"/>
          <p:cNvSpPr txBox="1"/>
          <p:nvPr/>
        </p:nvSpPr>
        <p:spPr>
          <a:xfrm>
            <a:off x="6530645" y="5640019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71" name="Text 60"/>
          <p:cNvSpPr txBox="1"/>
          <p:nvPr/>
        </p:nvSpPr>
        <p:spPr>
          <a:xfrm>
            <a:off x="6791249" y="5625389"/>
            <a:ext cx="3633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基盤整備： SharePointへの文書集約とアクセス権限の整理</a:t>
            </a:r>
            <a:endParaRPr lang="en-US" sz="1000" dirty="0"/>
          </a:p>
        </p:txBody>
      </p:sp>
      <p:sp>
        <p:nvSpPr>
          <p:cNvPr id="72" name="Shape 61"/>
          <p:cNvSpPr/>
          <p:nvPr/>
        </p:nvSpPr>
        <p:spPr>
          <a:xfrm>
            <a:off x="6448349" y="5954573"/>
            <a:ext cx="228600" cy="22860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Text 62"/>
          <p:cNvSpPr txBox="1"/>
          <p:nvPr/>
        </p:nvSpPr>
        <p:spPr>
          <a:xfrm>
            <a:off x="6530645" y="5982919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74" name="Text 63"/>
          <p:cNvSpPr txBox="1"/>
          <p:nvPr/>
        </p:nvSpPr>
        <p:spPr>
          <a:xfrm>
            <a:off x="6791249" y="5968289"/>
            <a:ext cx="3329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標準化： 部門別エージェントの横展開と内製化の推進</a:t>
            </a:r>
            <a:endParaRPr lang="en-US" sz="1000" dirty="0"/>
          </a:p>
        </p:txBody>
      </p:sp>
      <p:sp>
        <p:nvSpPr>
          <p:cNvPr id="75" name="Text 64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248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23901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321869"/>
            <a:ext cx="828446" cy="200254"/>
          </a:xfrm>
          <a:prstGeom prst="roundRect">
            <a:avLst>
              <a:gd name="adj" fmla="val 86975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340157"/>
            <a:ext cx="7552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Management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512418" y="304495"/>
            <a:ext cx="1448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Checklist &amp; Metrics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43154"/>
            <a:ext cx="442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導入に向けた留意点と効果測定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1410798" y="790956"/>
            <a:ext cx="171907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1248156"/>
            <a:ext cx="12191695" cy="48582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609905" y="1552651"/>
            <a:ext cx="5333695" cy="4248302"/>
          </a:xfrm>
          <a:prstGeom prst="roundRect">
            <a:avLst>
              <a:gd name="adj" fmla="val 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847649" y="2247595"/>
            <a:ext cx="4858207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847649" y="179039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602" y="1876349"/>
            <a:ext cx="171907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04849" y="1833372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導入・運用の留意点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124738" b="-124738"/>
          <a:stretch/>
        </p:blipFill>
        <p:spPr>
          <a:xfrm>
            <a:off x="847649" y="2476195"/>
            <a:ext cx="152705" cy="6099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52144" y="2457907"/>
            <a:ext cx="22695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品質管理（Human in the loop）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152144" y="2710282"/>
            <a:ext cx="463692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生成AIは誤情報（ハルシネーション）を含む可能性があります。AI生成物は必ず人間がレビューし、修正するプロセスを業務フローに組み込みます。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176609" b="-176609"/>
          <a:stretch/>
        </p:blipFill>
        <p:spPr>
          <a:xfrm>
            <a:off x="847649" y="3258007"/>
            <a:ext cx="152705" cy="7909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52144" y="3238805"/>
            <a:ext cx="12508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データガバナンス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152144" y="3491179"/>
            <a:ext cx="458937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個人情報や機密性の高い顧客データの入力ルールを策定します。Microsoftの仕様上、データは学習に使われませんが、共有範囲（Over-sharing）の確認は必須です。</a:t>
            </a:r>
            <a:endParaRPr lang="en-US" sz="9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t="-124738" b="-124738"/>
          <a:stretch/>
        </p:blipFill>
        <p:spPr>
          <a:xfrm>
            <a:off x="847649" y="4219956"/>
            <a:ext cx="152705" cy="6099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52144" y="4200754"/>
            <a:ext cx="1402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人材育成と推進体制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1152144" y="4453128"/>
            <a:ext cx="442752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「使い方が分からない」を防ぐため、各部署に推進役（チャンピオン）を配置し、成功事例や有効なプロンプトを横展開する仕組みを作ります。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248095" y="1552651"/>
            <a:ext cx="5333695" cy="4248302"/>
          </a:xfrm>
          <a:prstGeom prst="roundRect">
            <a:avLst>
              <a:gd name="adj" fmla="val 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0"/>
          <p:cNvSpPr/>
          <p:nvPr/>
        </p:nvSpPr>
        <p:spPr>
          <a:xfrm>
            <a:off x="6486754" y="2247595"/>
            <a:ext cx="4858207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1"/>
          <p:cNvSpPr/>
          <p:nvPr/>
        </p:nvSpPr>
        <p:spPr>
          <a:xfrm>
            <a:off x="6486754" y="179039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2707" y="1876349"/>
            <a:ext cx="171907" cy="17190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943954" y="1833372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多面的な効果測定の設計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6486754" y="2457907"/>
            <a:ext cx="4858207" cy="93360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4"/>
          <p:cNvSpPr/>
          <p:nvPr/>
        </p:nvSpPr>
        <p:spPr>
          <a:xfrm>
            <a:off x="6486754" y="2457907"/>
            <a:ext cx="38405" cy="9336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5"/>
          <p:cNvSpPr/>
          <p:nvPr/>
        </p:nvSpPr>
        <p:spPr>
          <a:xfrm>
            <a:off x="6676949" y="2734056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91249" y="2848356"/>
            <a:ext cx="152705" cy="1527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210044" y="2728570"/>
            <a:ext cx="1862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行動ログ指標 (Quantitative)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7210044" y="2948026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M365管理センター等のログを活用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9949586" y="2833726"/>
            <a:ext cx="1248156" cy="181051"/>
          </a:xfrm>
          <a:prstGeom prst="roundRect">
            <a:avLst>
              <a:gd name="adj" fmla="val 106327"/>
            </a:avLst>
          </a:prstGeom>
          <a:solidFill>
            <a:srgbClr val="BFDB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29"/>
          <p:cNvSpPr txBox="1"/>
          <p:nvPr/>
        </p:nvSpPr>
        <p:spPr>
          <a:xfrm>
            <a:off x="10007194" y="2852928"/>
            <a:ext cx="1209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メール処理時間 / 会議時間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6486754" y="3543300"/>
            <a:ext cx="4858207" cy="93360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1"/>
          <p:cNvSpPr/>
          <p:nvPr/>
        </p:nvSpPr>
        <p:spPr>
          <a:xfrm>
            <a:off x="6486754" y="3543300"/>
            <a:ext cx="38405" cy="9336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2"/>
          <p:cNvSpPr/>
          <p:nvPr/>
        </p:nvSpPr>
        <p:spPr>
          <a:xfrm>
            <a:off x="6676949" y="3819449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91249" y="3933749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210044" y="3814877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アウトカム指標 (Qualitative)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7210044" y="4033418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業務の質的変化を評価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9854489" y="3919118"/>
            <a:ext cx="1343254" cy="181051"/>
          </a:xfrm>
          <a:prstGeom prst="roundRect">
            <a:avLst>
              <a:gd name="adj" fmla="val 106327"/>
            </a:avLst>
          </a:prstGeom>
          <a:solidFill>
            <a:srgbClr val="BFDB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6"/>
          <p:cNvSpPr txBox="1"/>
          <p:nvPr/>
        </p:nvSpPr>
        <p:spPr>
          <a:xfrm>
            <a:off x="9911182" y="3938321"/>
            <a:ext cx="1305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決定事項の明確度 / 再作業率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6486754" y="4629607"/>
            <a:ext cx="4858207" cy="93360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38"/>
          <p:cNvSpPr/>
          <p:nvPr/>
        </p:nvSpPr>
        <p:spPr>
          <a:xfrm>
            <a:off x="6486754" y="4629607"/>
            <a:ext cx="38405" cy="9336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39"/>
          <p:cNvSpPr/>
          <p:nvPr/>
        </p:nvSpPr>
        <p:spPr>
          <a:xfrm>
            <a:off x="6676949" y="4905756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91249" y="5020056"/>
            <a:ext cx="15270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210044" y="4900270"/>
            <a:ext cx="1853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アンケート指標 (Subjective)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7210044" y="5119726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従業員の体感を定期収集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9798710" y="5005426"/>
            <a:ext cx="1399946" cy="181051"/>
          </a:xfrm>
          <a:prstGeom prst="roundRect">
            <a:avLst>
              <a:gd name="adj" fmla="val 106327"/>
            </a:avLst>
          </a:prstGeom>
          <a:solidFill>
            <a:srgbClr val="BFDB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Text 43"/>
          <p:cNvSpPr txBox="1"/>
          <p:nvPr/>
        </p:nvSpPr>
        <p:spPr>
          <a:xfrm>
            <a:off x="9856318" y="5024628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1日あたりの時短実感 / 満足度</a:t>
            </a:r>
            <a:endParaRPr lang="en-US" sz="800" dirty="0"/>
          </a:p>
        </p:txBody>
      </p:sp>
      <p:sp>
        <p:nvSpPr>
          <p:cNvPr id="55" name="Shape 44"/>
          <p:cNvSpPr/>
          <p:nvPr/>
        </p:nvSpPr>
        <p:spPr>
          <a:xfrm>
            <a:off x="0" y="6105449"/>
            <a:ext cx="12191695" cy="7525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45"/>
          <p:cNvSpPr/>
          <p:nvPr/>
        </p:nvSpPr>
        <p:spPr>
          <a:xfrm>
            <a:off x="0" y="6105449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46"/>
          <p:cNvSpPr txBox="1"/>
          <p:nvPr/>
        </p:nvSpPr>
        <p:spPr>
          <a:xfrm>
            <a:off x="609905" y="6393485"/>
            <a:ext cx="9217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PDCAサイクル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1735531" y="630570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02129" y="6429146"/>
            <a:ext cx="114300" cy="114300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2592324" y="6400800"/>
            <a:ext cx="1000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ベースライン測定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4206240" y="6305702"/>
            <a:ext cx="2438705" cy="3621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4855464" y="6429146"/>
            <a:ext cx="85954" cy="114300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5017313" y="6400800"/>
            <a:ext cx="1067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Copilot導入・展開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6677863" y="6305702"/>
            <a:ext cx="2438705" cy="3621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399325" y="6429146"/>
            <a:ext cx="114300" cy="1143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7589520" y="6400800"/>
            <a:ext cx="896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定期測定・分析</a:t>
            </a:r>
            <a:endParaRPr lang="en-US" sz="900" dirty="0"/>
          </a:p>
        </p:txBody>
      </p:sp>
      <p:sp>
        <p:nvSpPr>
          <p:cNvPr id="67" name="Shape 53"/>
          <p:cNvSpPr/>
          <p:nvPr/>
        </p:nvSpPr>
        <p:spPr>
          <a:xfrm>
            <a:off x="9149486" y="6305702"/>
            <a:ext cx="2438705" cy="36210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813341" y="6429146"/>
            <a:ext cx="114300" cy="114300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10003536" y="6400800"/>
            <a:ext cx="10104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運用改善・横展開</a:t>
            </a:r>
            <a:endParaRPr lang="en-US" sz="900" dirty="0"/>
          </a:p>
        </p:txBody>
      </p:sp>
      <p:sp>
        <p:nvSpPr>
          <p:cNvPr id="70" name="Text 55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266444"/>
            <a:ext cx="12191695" cy="60771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09905" y="3575304"/>
            <a:ext cx="10972800" cy="38405"/>
          </a:xfrm>
          <a:prstGeom prst="roundRect">
            <a:avLst>
              <a:gd name="adj" fmla="val 238094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09905" y="6255410"/>
            <a:ext cx="10972800" cy="705002"/>
          </a:xfrm>
          <a:prstGeom prst="rect">
            <a:avLst/>
          </a:prstGeom>
          <a:solidFill>
            <a:srgbClr val="EFF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09905" y="6255410"/>
            <a:ext cx="38405" cy="70500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995" y="6512357"/>
            <a:ext cx="142646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1346" y="6407201"/>
            <a:ext cx="6491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POINT：オンプレミス文書管理からの脱却（SharePoint移行）が「Phase 3」以降の成功の鍵となります。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71346" y="6607454"/>
            <a:ext cx="7339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前半は「個人の時短（Tier 1効果）」に注力し、後半で「組織知の活用（Tier 3効果）」へシフトする構成が推奨されます。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750040" y="6486754"/>
            <a:ext cx="228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91695" cy="12664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10305288" y="752551"/>
            <a:ext cx="1285646" cy="314554"/>
          </a:xfrm>
          <a:prstGeom prst="roundRect">
            <a:avLst>
              <a:gd name="adj" fmla="val 3523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609905" y="314554"/>
            <a:ext cx="5468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導入ロードマップへの示唆（12ヶ月）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09905" y="838505"/>
            <a:ext cx="5448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段階的な展開による「個人の生産性」から「組織知の活用」への進化ステップ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10457078" y="844906"/>
            <a:ext cx="142646" cy="1335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676534" y="809244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ROADMAP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9010498" y="1647749"/>
            <a:ext cx="2572207" cy="4381805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6"/>
          <p:cNvSpPr/>
          <p:nvPr/>
        </p:nvSpPr>
        <p:spPr>
          <a:xfrm>
            <a:off x="9010498" y="1647749"/>
            <a:ext cx="2572207" cy="576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7"/>
          <p:cNvSpPr/>
          <p:nvPr/>
        </p:nvSpPr>
        <p:spPr>
          <a:xfrm>
            <a:off x="9010498" y="1705356"/>
            <a:ext cx="2572207" cy="15435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8"/>
          <p:cNvSpPr/>
          <p:nvPr/>
        </p:nvSpPr>
        <p:spPr>
          <a:xfrm>
            <a:off x="9010498" y="3239719"/>
            <a:ext cx="2572207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9"/>
          <p:cNvSpPr/>
          <p:nvPr/>
        </p:nvSpPr>
        <p:spPr>
          <a:xfrm>
            <a:off x="9239098" y="1895551"/>
            <a:ext cx="381305" cy="381305"/>
          </a:xfrm>
          <a:prstGeom prst="ellipse">
            <a:avLst/>
          </a:prstGeom>
          <a:solidFill>
            <a:srgbClr val="0F172A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9320479" y="2000707"/>
            <a:ext cx="219456" cy="171907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9098" y="3503066"/>
            <a:ext cx="75895" cy="75895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9098" y="3989527"/>
            <a:ext cx="75895" cy="75895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9098" y="4475074"/>
            <a:ext cx="75895" cy="7589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239098" y="5046574"/>
            <a:ext cx="2115007" cy="790956"/>
          </a:xfrm>
          <a:prstGeom prst="roundRect">
            <a:avLst>
              <a:gd name="adj" fmla="val 83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1"/>
          <p:cNvSpPr txBox="1"/>
          <p:nvPr/>
        </p:nvSpPr>
        <p:spPr>
          <a:xfrm>
            <a:off x="9239098" y="2391156"/>
            <a:ext cx="10579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10 - 12 MONTHS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9239098" y="2581351"/>
            <a:ext cx="2119579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全社展開・自動化Scale &amp; Automate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9411005" y="3436315"/>
            <a:ext cx="192206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Agents内製化（ノーコード活用）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9411005" y="3922776"/>
            <a:ext cx="195041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部門特化エージェントの全社スケール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9411005" y="4408322"/>
            <a:ext cx="16934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アクセシビリティ対応の拡充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9363456" y="5170018"/>
            <a:ext cx="6885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 KPI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9363456" y="5355641"/>
            <a:ext cx="13414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業務プロセス削減時間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9363456" y="5529377"/>
            <a:ext cx="12079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エージェント稼働数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609905" y="1647749"/>
            <a:ext cx="2572207" cy="4381805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0"/>
          <p:cNvSpPr/>
          <p:nvPr/>
        </p:nvSpPr>
        <p:spPr>
          <a:xfrm>
            <a:off x="609905" y="1647749"/>
            <a:ext cx="2572207" cy="57607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609905" y="1705356"/>
            <a:ext cx="2572207" cy="15435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2"/>
          <p:cNvSpPr/>
          <p:nvPr/>
        </p:nvSpPr>
        <p:spPr>
          <a:xfrm>
            <a:off x="609905" y="3239719"/>
            <a:ext cx="2572207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3"/>
          <p:cNvSpPr/>
          <p:nvPr/>
        </p:nvSpPr>
        <p:spPr>
          <a:xfrm>
            <a:off x="838505" y="1895551"/>
            <a:ext cx="381305" cy="381305"/>
          </a:xfrm>
          <a:prstGeom prst="ellipse">
            <a:avLst/>
          </a:prstGeom>
          <a:solidFill>
            <a:srgbClr val="93C5FD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952805" y="2000707"/>
            <a:ext cx="152705" cy="17190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38505" y="2391156"/>
            <a:ext cx="914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0 - 3 MONTHS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838505" y="2581351"/>
            <a:ext cx="217718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基盤整備・初期導入Setup &amp; Baseline</a:t>
            </a:r>
            <a:endParaRPr lang="en-US" sz="13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8505" y="3503066"/>
            <a:ext cx="75895" cy="7589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009498" y="3436315"/>
            <a:ext cx="199796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ガバナンス/セキュリティ確認・設定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8505" y="3989527"/>
            <a:ext cx="75895" cy="7589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1009498" y="3922776"/>
            <a:ext cx="195041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推進リーダー（チャンピオン）任命と教育</a:t>
            </a:r>
            <a:endParaRPr lang="en-US" sz="9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8505" y="4475074"/>
            <a:ext cx="75895" cy="75895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1009498" y="4408322"/>
            <a:ext cx="194127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メール・会議ユースケースの優先展開</a:t>
            </a:r>
            <a:endParaRPr lang="en-US" sz="900" dirty="0"/>
          </a:p>
        </p:txBody>
      </p:sp>
      <p:sp>
        <p:nvSpPr>
          <p:cNvPr id="51" name="Shape 39"/>
          <p:cNvSpPr/>
          <p:nvPr/>
        </p:nvSpPr>
        <p:spPr>
          <a:xfrm>
            <a:off x="838505" y="5046574"/>
            <a:ext cx="2115007" cy="790956"/>
          </a:xfrm>
          <a:prstGeom prst="roundRect">
            <a:avLst>
              <a:gd name="adj" fmla="val 83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40"/>
          <p:cNvSpPr txBox="1"/>
          <p:nvPr/>
        </p:nvSpPr>
        <p:spPr>
          <a:xfrm>
            <a:off x="961949" y="5170018"/>
            <a:ext cx="6885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 KPI</a:t>
            </a:r>
            <a:endParaRPr lang="en-US" sz="800" dirty="0"/>
          </a:p>
        </p:txBody>
      </p:sp>
      <p:sp>
        <p:nvSpPr>
          <p:cNvPr id="53" name="Text 41"/>
          <p:cNvSpPr txBox="1"/>
          <p:nvPr/>
        </p:nvSpPr>
        <p:spPr>
          <a:xfrm>
            <a:off x="961949" y="5355641"/>
            <a:ext cx="108356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ベースライン計測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961949" y="5529377"/>
            <a:ext cx="13414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（メール処理時間等）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3409798" y="1647749"/>
            <a:ext cx="2572207" cy="4381805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44"/>
          <p:cNvSpPr/>
          <p:nvPr/>
        </p:nvSpPr>
        <p:spPr>
          <a:xfrm>
            <a:off x="3409798" y="1647749"/>
            <a:ext cx="2572207" cy="5760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45"/>
          <p:cNvSpPr/>
          <p:nvPr/>
        </p:nvSpPr>
        <p:spPr>
          <a:xfrm>
            <a:off x="3409798" y="1705356"/>
            <a:ext cx="2572207" cy="15435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46"/>
          <p:cNvSpPr/>
          <p:nvPr/>
        </p:nvSpPr>
        <p:spPr>
          <a:xfrm>
            <a:off x="3409798" y="3239719"/>
            <a:ext cx="2572207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47"/>
          <p:cNvSpPr/>
          <p:nvPr/>
        </p:nvSpPr>
        <p:spPr>
          <a:xfrm>
            <a:off x="3638398" y="1895551"/>
            <a:ext cx="381305" cy="381305"/>
          </a:xfrm>
          <a:prstGeom prst="ellipse">
            <a:avLst/>
          </a:prstGeom>
          <a:solidFill>
            <a:srgbClr val="3B82F6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743554" y="2000707"/>
            <a:ext cx="171907" cy="171907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3638398" y="2391156"/>
            <a:ext cx="914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4 - 6 MONTHS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3638398" y="2581351"/>
            <a:ext cx="1662379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定着化・習慣形成Adoption &amp; Habits</a:t>
            </a:r>
            <a:endParaRPr lang="en-US" sz="130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638398" y="3503066"/>
            <a:ext cx="75895" cy="75895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3810305" y="3436315"/>
            <a:ext cx="195041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成功事例・プロンプト集の社内配布</a:t>
            </a:r>
            <a:endParaRPr lang="en-US" sz="900" dirty="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638398" y="3989527"/>
            <a:ext cx="75895" cy="75895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3810305" y="3922776"/>
            <a:ext cx="196047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部門別シェア会・定着化キャンペーン</a:t>
            </a:r>
            <a:endParaRPr lang="en-US" sz="900" dirty="0"/>
          </a:p>
        </p:txBody>
      </p:sp>
      <p:pic>
        <p:nvPicPr>
          <p:cNvPr id="67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638398" y="4475074"/>
            <a:ext cx="75895" cy="75895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3810305" y="4408322"/>
            <a:ext cx="203636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文書作成（Word/PPT）ユースケース拡大</a:t>
            </a:r>
            <a:endParaRPr lang="en-US" sz="900" dirty="0"/>
          </a:p>
        </p:txBody>
      </p:sp>
      <p:sp>
        <p:nvSpPr>
          <p:cNvPr id="69" name="Shape 53"/>
          <p:cNvSpPr/>
          <p:nvPr/>
        </p:nvSpPr>
        <p:spPr>
          <a:xfrm>
            <a:off x="3638398" y="5046574"/>
            <a:ext cx="2115007" cy="790956"/>
          </a:xfrm>
          <a:prstGeom prst="roundRect">
            <a:avLst>
              <a:gd name="adj" fmla="val 83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4"/>
          <p:cNvSpPr txBox="1"/>
          <p:nvPr/>
        </p:nvSpPr>
        <p:spPr>
          <a:xfrm>
            <a:off x="3762756" y="5170018"/>
            <a:ext cx="6885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 KPI</a:t>
            </a:r>
            <a:endParaRPr lang="en-US" sz="800" dirty="0"/>
          </a:p>
        </p:txBody>
      </p:sp>
      <p:sp>
        <p:nvSpPr>
          <p:cNvPr id="71" name="Text 55"/>
          <p:cNvSpPr txBox="1"/>
          <p:nvPr/>
        </p:nvSpPr>
        <p:spPr>
          <a:xfrm>
            <a:off x="3762756" y="5355641"/>
            <a:ext cx="113111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定常利用率 40%超</a:t>
            </a:r>
            <a:endParaRPr lang="en-US" sz="900" dirty="0"/>
          </a:p>
        </p:txBody>
      </p:sp>
      <p:sp>
        <p:nvSpPr>
          <p:cNvPr id="72" name="Text 56"/>
          <p:cNvSpPr txBox="1"/>
          <p:nvPr/>
        </p:nvSpPr>
        <p:spPr>
          <a:xfrm>
            <a:off x="3762756" y="5529377"/>
            <a:ext cx="12838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（週1回以上の利用）</a:t>
            </a:r>
            <a:endParaRPr lang="en-US" sz="900" dirty="0"/>
          </a:p>
        </p:txBody>
      </p:sp>
      <p:sp>
        <p:nvSpPr>
          <p:cNvPr id="73" name="Shape 57"/>
          <p:cNvSpPr/>
          <p:nvPr/>
        </p:nvSpPr>
        <p:spPr>
          <a:xfrm>
            <a:off x="6210605" y="1647749"/>
            <a:ext cx="2572207" cy="4381805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58"/>
          <p:cNvSpPr/>
          <p:nvPr/>
        </p:nvSpPr>
        <p:spPr>
          <a:xfrm>
            <a:off x="6210605" y="1647749"/>
            <a:ext cx="2572207" cy="576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59"/>
          <p:cNvSpPr/>
          <p:nvPr/>
        </p:nvSpPr>
        <p:spPr>
          <a:xfrm>
            <a:off x="6210605" y="1705356"/>
            <a:ext cx="2572207" cy="15435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60"/>
          <p:cNvSpPr/>
          <p:nvPr/>
        </p:nvSpPr>
        <p:spPr>
          <a:xfrm>
            <a:off x="6210605" y="3239719"/>
            <a:ext cx="2572207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Shape 61"/>
          <p:cNvSpPr/>
          <p:nvPr/>
        </p:nvSpPr>
        <p:spPr>
          <a:xfrm>
            <a:off x="6439205" y="1895551"/>
            <a:ext cx="381305" cy="381305"/>
          </a:xfrm>
          <a:prstGeom prst="ellipse">
            <a:avLst/>
          </a:prstGeom>
          <a:solidFill>
            <a:srgbClr val="1D4ED8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8" name="Image 14" descr="preencoded.png"/>
          <p:cNvPicPr>
            <a:picLocks noChangeAspect="1"/>
          </p:cNvPicPr>
          <p:nvPr/>
        </p:nvPicPr>
        <p:blipFill>
          <a:blip r:embed="rId11"/>
          <a:srcRect l="-1064" r="-1064"/>
          <a:stretch/>
        </p:blipFill>
        <p:spPr>
          <a:xfrm>
            <a:off x="6519672" y="2000707"/>
            <a:ext cx="219456" cy="171907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6439205" y="2391156"/>
            <a:ext cx="914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7 - 9 MONTHS</a:t>
            </a:r>
            <a:endParaRPr lang="en-US" sz="900" dirty="0"/>
          </a:p>
        </p:txBody>
      </p:sp>
      <p:sp>
        <p:nvSpPr>
          <p:cNvPr id="80" name="Text 63"/>
          <p:cNvSpPr txBox="1"/>
          <p:nvPr/>
        </p:nvSpPr>
        <p:spPr>
          <a:xfrm>
            <a:off x="6439205" y="2581351"/>
            <a:ext cx="205282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高度化・情報連携Knowledge Integration</a:t>
            </a:r>
            <a:endParaRPr lang="en-US" sz="1300" dirty="0"/>
          </a:p>
        </p:txBody>
      </p:sp>
      <p:pic>
        <p:nvPicPr>
          <p:cNvPr id="81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439205" y="3503066"/>
            <a:ext cx="75895" cy="75895"/>
          </a:xfrm>
          <a:prstGeom prst="rect">
            <a:avLst/>
          </a:prstGeom>
        </p:spPr>
      </p:pic>
      <p:sp>
        <p:nvSpPr>
          <p:cNvPr id="82" name="Text 64"/>
          <p:cNvSpPr txBox="1"/>
          <p:nvPr/>
        </p:nvSpPr>
        <p:spPr>
          <a:xfrm>
            <a:off x="6610198" y="3436315"/>
            <a:ext cx="19796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SharePoint文書整理・検索性向上</a:t>
            </a:r>
            <a:endParaRPr lang="en-US" sz="900" dirty="0"/>
          </a:p>
        </p:txBody>
      </p:sp>
      <p:pic>
        <p:nvPicPr>
          <p:cNvPr id="83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439205" y="3803904"/>
            <a:ext cx="75895" cy="75895"/>
          </a:xfrm>
          <a:prstGeom prst="rect">
            <a:avLst/>
          </a:prstGeom>
        </p:spPr>
      </p:pic>
      <p:sp>
        <p:nvSpPr>
          <p:cNvPr id="84" name="Text 65"/>
          <p:cNvSpPr txBox="1"/>
          <p:nvPr/>
        </p:nvSpPr>
        <p:spPr>
          <a:xfrm>
            <a:off x="6610198" y="3737153"/>
            <a:ext cx="202722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横断検索(AMA)・社内FAQボット試作</a:t>
            </a:r>
            <a:endParaRPr lang="en-US" sz="900" dirty="0"/>
          </a:p>
        </p:txBody>
      </p:sp>
      <p:pic>
        <p:nvPicPr>
          <p:cNvPr id="85" name="Image 17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439205" y="4289450"/>
            <a:ext cx="75895" cy="75895"/>
          </a:xfrm>
          <a:prstGeom prst="rect">
            <a:avLst/>
          </a:prstGeom>
        </p:spPr>
      </p:pic>
      <p:sp>
        <p:nvSpPr>
          <p:cNvPr id="86" name="Text 66"/>
          <p:cNvSpPr txBox="1"/>
          <p:nvPr/>
        </p:nvSpPr>
        <p:spPr>
          <a:xfrm>
            <a:off x="6610198" y="4222699"/>
            <a:ext cx="17126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品質評価ワークフローの策定</a:t>
            </a:r>
            <a:endParaRPr lang="en-US" sz="900" dirty="0"/>
          </a:p>
        </p:txBody>
      </p:sp>
      <p:sp>
        <p:nvSpPr>
          <p:cNvPr id="87" name="Shape 67"/>
          <p:cNvSpPr/>
          <p:nvPr/>
        </p:nvSpPr>
        <p:spPr>
          <a:xfrm>
            <a:off x="6439205" y="5046574"/>
            <a:ext cx="2115007" cy="790956"/>
          </a:xfrm>
          <a:prstGeom prst="roundRect">
            <a:avLst>
              <a:gd name="adj" fmla="val 83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Text 68"/>
          <p:cNvSpPr txBox="1"/>
          <p:nvPr/>
        </p:nvSpPr>
        <p:spPr>
          <a:xfrm>
            <a:off x="6562649" y="5170018"/>
            <a:ext cx="6885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 KPI</a:t>
            </a:r>
            <a:endParaRPr lang="en-US" sz="800" dirty="0"/>
          </a:p>
        </p:txBody>
      </p:sp>
      <p:sp>
        <p:nvSpPr>
          <p:cNvPr id="89" name="Text 69"/>
          <p:cNvSpPr txBox="1"/>
          <p:nvPr/>
        </p:nvSpPr>
        <p:spPr>
          <a:xfrm>
            <a:off x="6562649" y="5355641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検索時間削減</a:t>
            </a:r>
            <a:endParaRPr lang="en-US" sz="900" dirty="0"/>
          </a:p>
        </p:txBody>
      </p:sp>
      <p:sp>
        <p:nvSpPr>
          <p:cNvPr id="90" name="Text 70"/>
          <p:cNvSpPr txBox="1"/>
          <p:nvPr/>
        </p:nvSpPr>
        <p:spPr>
          <a:xfrm>
            <a:off x="6562649" y="5529377"/>
            <a:ext cx="14648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（具体的成果の可視化）</a:t>
            </a:r>
            <a:endParaRPr lang="en-US" sz="900" dirty="0"/>
          </a:p>
        </p:txBody>
      </p:sp>
      <p:pic>
        <p:nvPicPr>
          <p:cNvPr id="91" name="Image 18" descr="preencoded.png"/>
          <p:cNvPicPr>
            <a:picLocks noChangeAspect="1"/>
          </p:cNvPicPr>
          <p:nvPr/>
        </p:nvPicPr>
        <p:blipFill>
          <a:blip r:embed="rId13"/>
          <a:srcRect l="-1923" r="-1923"/>
          <a:stretch/>
        </p:blipFill>
        <p:spPr>
          <a:xfrm>
            <a:off x="3228746" y="3775558"/>
            <a:ext cx="123444" cy="190195"/>
          </a:xfrm>
          <a:prstGeom prst="rect">
            <a:avLst/>
          </a:prstGeom>
        </p:spPr>
      </p:pic>
      <p:pic>
        <p:nvPicPr>
          <p:cNvPr id="92" name="Image 19" descr="preencoded.png"/>
          <p:cNvPicPr>
            <a:picLocks noChangeAspect="1"/>
          </p:cNvPicPr>
          <p:nvPr/>
        </p:nvPicPr>
        <p:blipFill>
          <a:blip r:embed="rId13"/>
          <a:srcRect l="-1923" r="-1923"/>
          <a:stretch/>
        </p:blipFill>
        <p:spPr>
          <a:xfrm>
            <a:off x="6029554" y="3775558"/>
            <a:ext cx="123444" cy="190195"/>
          </a:xfrm>
          <a:prstGeom prst="rect">
            <a:avLst/>
          </a:prstGeom>
        </p:spPr>
      </p:pic>
      <p:pic>
        <p:nvPicPr>
          <p:cNvPr id="93" name="Image 20" descr="preencoded.png"/>
          <p:cNvPicPr>
            <a:picLocks noChangeAspect="1"/>
          </p:cNvPicPr>
          <p:nvPr/>
        </p:nvPicPr>
        <p:blipFill>
          <a:blip r:embed="rId13"/>
          <a:srcRect l="-1923" r="-1923"/>
          <a:stretch/>
        </p:blipFill>
        <p:spPr>
          <a:xfrm>
            <a:off x="8829446" y="3775558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2664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609905" y="314554"/>
            <a:ext cx="2981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参考文献・出典一覧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838505"/>
            <a:ext cx="3467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本資料で引用したデータソースおよび関連リンク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1382451" y="790956"/>
            <a:ext cx="200254" cy="228600"/>
          </a:xfrm>
          <a:prstGeom prst="rect">
            <a:avLst/>
          </a:prstGeom>
        </p:spPr>
      </p:pic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9B4D4DF9-B3B8-E02F-B677-04A81B2E3704}"/>
              </a:ext>
            </a:extLst>
          </p:cNvPr>
          <p:cNvGrpSpPr/>
          <p:nvPr/>
        </p:nvGrpSpPr>
        <p:grpSpPr>
          <a:xfrm>
            <a:off x="609905" y="1142086"/>
            <a:ext cx="10971885" cy="2885846"/>
            <a:chOff x="609905" y="1647749"/>
            <a:chExt cx="10971885" cy="2885846"/>
          </a:xfrm>
        </p:grpSpPr>
        <p:sp>
          <p:nvSpPr>
            <p:cNvPr id="11" name="Shape 8"/>
            <p:cNvSpPr/>
            <p:nvPr/>
          </p:nvSpPr>
          <p:spPr>
            <a:xfrm>
              <a:off x="609905" y="1647749"/>
              <a:ext cx="5333695" cy="2885846"/>
            </a:xfrm>
            <a:prstGeom prst="roundRect">
              <a:avLst>
                <a:gd name="adj" fmla="val 1255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609905" y="1647749"/>
              <a:ext cx="5333695" cy="38405"/>
            </a:xfrm>
            <a:prstGeom prst="rect">
              <a:avLst/>
            </a:prstGeom>
            <a:solidFill>
              <a:srgbClr val="004E8C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838505" y="1919326"/>
              <a:ext cx="543154" cy="247802"/>
            </a:xfrm>
            <a:prstGeom prst="roundRect">
              <a:avLst>
                <a:gd name="adj" fmla="val 56770"/>
              </a:avLst>
            </a:prstGeom>
            <a:solidFill>
              <a:srgbClr val="004E8C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838505" y="2361895"/>
              <a:ext cx="4876495" cy="981151"/>
            </a:xfrm>
            <a:prstGeom prst="roundRect">
              <a:avLst>
                <a:gd name="adj" fmla="val 7239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Shape 12"/>
            <p:cNvSpPr/>
            <p:nvPr/>
          </p:nvSpPr>
          <p:spPr>
            <a:xfrm>
              <a:off x="838505" y="3490265"/>
              <a:ext cx="4876495" cy="819302"/>
            </a:xfrm>
            <a:prstGeom prst="roundRect">
              <a:avLst>
                <a:gd name="adj" fmla="val 10382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6248095" y="1647749"/>
              <a:ext cx="5333695" cy="2885846"/>
            </a:xfrm>
            <a:prstGeom prst="roundRect">
              <a:avLst>
                <a:gd name="adj" fmla="val 1255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6248095" y="1647749"/>
              <a:ext cx="5333695" cy="38405"/>
            </a:xfrm>
            <a:prstGeom prst="rect">
              <a:avLst/>
            </a:prstGeom>
            <a:solidFill>
              <a:srgbClr val="0078D4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Shape 15"/>
            <p:cNvSpPr/>
            <p:nvPr/>
          </p:nvSpPr>
          <p:spPr>
            <a:xfrm>
              <a:off x="6476695" y="1919326"/>
              <a:ext cx="543154" cy="247802"/>
            </a:xfrm>
            <a:prstGeom prst="roundRect">
              <a:avLst>
                <a:gd name="adj" fmla="val 56770"/>
              </a:avLst>
            </a:prstGeom>
            <a:solidFill>
              <a:srgbClr val="0078D4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Shape 16"/>
            <p:cNvSpPr/>
            <p:nvPr/>
          </p:nvSpPr>
          <p:spPr>
            <a:xfrm>
              <a:off x="6476695" y="2361895"/>
              <a:ext cx="4876495" cy="1295705"/>
            </a:xfrm>
            <a:prstGeom prst="roundRect">
              <a:avLst>
                <a:gd name="adj" fmla="val 4151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933602" y="1957730"/>
              <a:ext cx="4389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TIER 1</a:t>
              </a:r>
              <a:endParaRPr lang="en-US" sz="9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494130" y="1914754"/>
              <a:ext cx="26435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事例A：ランダム化実験（論文）</a:t>
              </a:r>
              <a:endParaRPr lang="en-US" sz="1300" dirty="0"/>
            </a:p>
          </p:txBody>
        </p:sp>
        <p:pic>
          <p:nvPicPr>
            <p:cNvPr id="29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81151" y="2562149"/>
              <a:ext cx="152705" cy="152705"/>
            </a:xfrm>
            <a:prstGeom prst="rect">
              <a:avLst/>
            </a:prstGeom>
          </p:spPr>
        </p:pic>
        <p:sp>
          <p:nvSpPr>
            <p:cNvPr id="30" name="Text 26"/>
            <p:cNvSpPr txBox="1"/>
            <p:nvPr/>
          </p:nvSpPr>
          <p:spPr>
            <a:xfrm>
              <a:off x="1266444" y="2476195"/>
              <a:ext cx="42153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The Impact of Generative AI on Knowledge Worker Productivity</a:t>
              </a:r>
              <a:endParaRPr lang="en-US" sz="1000" dirty="0"/>
            </a:p>
          </p:txBody>
        </p:sp>
        <p:sp>
          <p:nvSpPr>
            <p:cNvPr id="31" name="Text 27"/>
            <p:cNvSpPr txBox="1"/>
            <p:nvPr/>
          </p:nvSpPr>
          <p:spPr>
            <a:xfrm>
              <a:off x="1266444" y="2701138"/>
              <a:ext cx="432511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Microsoft Research, MIT, et al. による大規模RCT論文。56社・6000人超の行動ログ分析。</a:t>
              </a:r>
              <a:endParaRPr lang="en-US" sz="900" dirty="0"/>
            </a:p>
          </p:txBody>
        </p:sp>
        <p:sp>
          <p:nvSpPr>
            <p:cNvPr id="32" name="Text 28"/>
            <p:cNvSpPr txBox="1"/>
            <p:nvPr/>
          </p:nvSpPr>
          <p:spPr>
            <a:xfrm>
              <a:off x="1266444" y="3068726"/>
              <a:ext cx="167883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0078D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https://arxiv.org/abs/2504.11443</a:t>
              </a:r>
              <a:endParaRPr lang="en-US" sz="800" dirty="0"/>
            </a:p>
          </p:txBody>
        </p:sp>
        <p:pic>
          <p:nvPicPr>
            <p:cNvPr id="33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81151" y="3689604"/>
              <a:ext cx="152705" cy="152705"/>
            </a:xfrm>
            <a:prstGeom prst="rect">
              <a:avLst/>
            </a:prstGeom>
          </p:spPr>
        </p:pic>
        <p:sp>
          <p:nvSpPr>
            <p:cNvPr id="34" name="Text 29"/>
            <p:cNvSpPr txBox="1"/>
            <p:nvPr/>
          </p:nvSpPr>
          <p:spPr>
            <a:xfrm>
              <a:off x="1266444" y="3604565"/>
              <a:ext cx="13578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ar5iv HTML Version</a:t>
              </a:r>
              <a:endParaRPr lang="en-US" sz="1000" dirty="0"/>
            </a:p>
          </p:txBody>
        </p:sp>
        <p:sp>
          <p:nvSpPr>
            <p:cNvPr id="35" name="Text 30"/>
            <p:cNvSpPr txBox="1"/>
            <p:nvPr/>
          </p:nvSpPr>
          <p:spPr>
            <a:xfrm>
              <a:off x="1266444" y="3828593"/>
              <a:ext cx="2171700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上記論文のHTML版（読みやすい形式）。</a:t>
              </a:r>
              <a:endParaRPr lang="en-US" sz="900" dirty="0"/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1266444" y="4036162"/>
              <a:ext cx="223205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0078D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https://ar5iv.labs.arxiv.org/html/2504.11443</a:t>
              </a:r>
              <a:endParaRPr lang="en-US" sz="800" dirty="0"/>
            </a:p>
          </p:txBody>
        </p:sp>
        <p:sp>
          <p:nvSpPr>
            <p:cNvPr id="37" name="Text 32"/>
            <p:cNvSpPr txBox="1"/>
            <p:nvPr/>
          </p:nvSpPr>
          <p:spPr>
            <a:xfrm>
              <a:off x="6572707" y="1957730"/>
              <a:ext cx="4389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TIER 2</a:t>
              </a:r>
              <a:endParaRPr lang="en-US" sz="900" dirty="0"/>
            </a:p>
          </p:txBody>
        </p:sp>
        <p:sp>
          <p:nvSpPr>
            <p:cNvPr id="38" name="Text 33"/>
            <p:cNvSpPr txBox="1"/>
            <p:nvPr/>
          </p:nvSpPr>
          <p:spPr>
            <a:xfrm>
              <a:off x="7132320" y="1914754"/>
              <a:ext cx="2310689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事例B：英国政府トライアル</a:t>
              </a:r>
              <a:endParaRPr lang="en-US" sz="1300" dirty="0"/>
            </a:p>
          </p:txBody>
        </p:sp>
        <p:pic>
          <p:nvPicPr>
            <p:cNvPr id="39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620256" y="2562149"/>
              <a:ext cx="152705" cy="152705"/>
            </a:xfrm>
            <a:prstGeom prst="rect">
              <a:avLst/>
            </a:prstGeom>
          </p:spPr>
        </p:pic>
        <p:sp>
          <p:nvSpPr>
            <p:cNvPr id="40" name="Text 34"/>
            <p:cNvSpPr txBox="1"/>
            <p:nvPr/>
          </p:nvSpPr>
          <p:spPr>
            <a:xfrm>
              <a:off x="6905549" y="2476195"/>
              <a:ext cx="4176979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Microsoft 365 Copilot Experiment: Cross-Government Findings Report</a:t>
              </a:r>
              <a:endParaRPr lang="en-US" sz="1000" dirty="0"/>
            </a:p>
          </p:txBody>
        </p:sp>
        <p:sp>
          <p:nvSpPr>
            <p:cNvPr id="41" name="Text 35"/>
            <p:cNvSpPr txBox="1"/>
            <p:nvPr/>
          </p:nvSpPr>
          <p:spPr>
            <a:xfrm>
              <a:off x="6905549" y="2887675"/>
              <a:ext cx="4372661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英国政府（GOV.UK）による公的機関向け実証実験レポート。アンケートおよび利用データ分析。</a:t>
              </a:r>
              <a:endParaRPr lang="en-US" sz="900" dirty="0"/>
            </a:p>
          </p:txBody>
        </p:sp>
        <p:sp>
          <p:nvSpPr>
            <p:cNvPr id="42" name="Text 36"/>
            <p:cNvSpPr txBox="1"/>
            <p:nvPr/>
          </p:nvSpPr>
          <p:spPr>
            <a:xfrm>
              <a:off x="6905549" y="3255264"/>
              <a:ext cx="439369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0078D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https://www.gov.uk/government/publications/microsoft-365-copilot-experiment-cross-government-findings-report</a:t>
              </a:r>
              <a:endParaRPr lang="en-US" sz="800" dirty="0"/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47324152-311C-E7C3-C366-8B52E688EF53}"/>
              </a:ext>
            </a:extLst>
          </p:cNvPr>
          <p:cNvGrpSpPr/>
          <p:nvPr/>
        </p:nvGrpSpPr>
        <p:grpSpPr>
          <a:xfrm>
            <a:off x="609905" y="4053230"/>
            <a:ext cx="11368735" cy="2734056"/>
            <a:chOff x="609905" y="4839005"/>
            <a:chExt cx="11368735" cy="2734056"/>
          </a:xfrm>
        </p:grpSpPr>
        <p:sp>
          <p:nvSpPr>
            <p:cNvPr id="4" name="Text 2"/>
            <p:cNvSpPr txBox="1"/>
            <p:nvPr/>
          </p:nvSpPr>
          <p:spPr>
            <a:xfrm>
              <a:off x="11750040" y="6486754"/>
              <a:ext cx="228600" cy="1335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18</a:t>
              </a:r>
              <a:endParaRPr lang="en-US" sz="9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609905" y="4839005"/>
              <a:ext cx="10972800" cy="2734056"/>
            </a:xfrm>
            <a:prstGeom prst="roundRect">
              <a:avLst>
                <a:gd name="adj" fmla="val 1398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Shape 18"/>
            <p:cNvSpPr/>
            <p:nvPr/>
          </p:nvSpPr>
          <p:spPr>
            <a:xfrm>
              <a:off x="609905" y="4839005"/>
              <a:ext cx="10972800" cy="38405"/>
            </a:xfrm>
            <a:prstGeom prst="rect">
              <a:avLst/>
            </a:prstGeom>
            <a:solidFill>
              <a:srgbClr val="50E6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Shape 19"/>
            <p:cNvSpPr/>
            <p:nvPr/>
          </p:nvSpPr>
          <p:spPr>
            <a:xfrm>
              <a:off x="838505" y="5109667"/>
              <a:ext cx="543154" cy="247802"/>
            </a:xfrm>
            <a:prstGeom prst="roundRect">
              <a:avLst>
                <a:gd name="adj" fmla="val 56770"/>
              </a:avLst>
            </a:prstGeom>
            <a:solidFill>
              <a:srgbClr val="00B7C3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Shape 20"/>
            <p:cNvSpPr/>
            <p:nvPr/>
          </p:nvSpPr>
          <p:spPr>
            <a:xfrm>
              <a:off x="838505" y="5553151"/>
              <a:ext cx="5181905" cy="819302"/>
            </a:xfrm>
            <a:prstGeom prst="roundRect">
              <a:avLst>
                <a:gd name="adj" fmla="val 10382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Shape 21"/>
            <p:cNvSpPr/>
            <p:nvPr/>
          </p:nvSpPr>
          <p:spPr>
            <a:xfrm>
              <a:off x="6172200" y="5553151"/>
              <a:ext cx="5181905" cy="819302"/>
            </a:xfrm>
            <a:prstGeom prst="roundRect">
              <a:avLst>
                <a:gd name="adj" fmla="val 10382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Shape 22"/>
            <p:cNvSpPr/>
            <p:nvPr/>
          </p:nvSpPr>
          <p:spPr>
            <a:xfrm>
              <a:off x="838505" y="6520586"/>
              <a:ext cx="5181905" cy="819302"/>
            </a:xfrm>
            <a:prstGeom prst="roundRect">
              <a:avLst>
                <a:gd name="adj" fmla="val 10382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Shape 23"/>
            <p:cNvSpPr/>
            <p:nvPr/>
          </p:nvSpPr>
          <p:spPr>
            <a:xfrm>
              <a:off x="6172200" y="6520586"/>
              <a:ext cx="5181905" cy="819302"/>
            </a:xfrm>
            <a:prstGeom prst="roundRect">
              <a:avLst>
                <a:gd name="adj" fmla="val 10382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Text 37"/>
            <p:cNvSpPr txBox="1"/>
            <p:nvPr/>
          </p:nvSpPr>
          <p:spPr>
            <a:xfrm>
              <a:off x="933602" y="5148072"/>
              <a:ext cx="4389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TIER 3</a:t>
              </a:r>
              <a:endParaRPr lang="en-US" sz="900" dirty="0"/>
            </a:p>
          </p:txBody>
        </p:sp>
        <p:sp>
          <p:nvSpPr>
            <p:cNvPr id="44" name="Text 38"/>
            <p:cNvSpPr txBox="1"/>
            <p:nvPr/>
          </p:nvSpPr>
          <p:spPr>
            <a:xfrm>
              <a:off x="1494130" y="5105095"/>
              <a:ext cx="467258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事例C〜F：企業導入事例（Microsoft Customer Stories）</a:t>
              </a:r>
              <a:endParaRPr lang="en-US" sz="1300" dirty="0"/>
            </a:p>
          </p:txBody>
        </p:sp>
        <p:pic>
          <p:nvPicPr>
            <p:cNvPr id="45" name="Image 4" descr="preencoded.png"/>
            <p:cNvPicPr>
              <a:picLocks noChangeAspect="1"/>
            </p:cNvPicPr>
            <p:nvPr/>
          </p:nvPicPr>
          <p:blipFill>
            <a:blip r:embed="rId7"/>
            <a:srcRect t="-100" b="-100"/>
            <a:stretch/>
          </p:blipFill>
          <p:spPr>
            <a:xfrm>
              <a:off x="1000354" y="5753405"/>
              <a:ext cx="114300" cy="152705"/>
            </a:xfrm>
            <a:prstGeom prst="rect">
              <a:avLst/>
            </a:prstGeom>
          </p:spPr>
        </p:pic>
        <p:sp>
          <p:nvSpPr>
            <p:cNvPr id="46" name="Text 39"/>
            <p:cNvSpPr txBox="1"/>
            <p:nvPr/>
          </p:nvSpPr>
          <p:spPr>
            <a:xfrm>
              <a:off x="1266444" y="5667451"/>
              <a:ext cx="11576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事例C: Vodafone</a:t>
              </a:r>
              <a:endParaRPr lang="en-US" sz="1000" dirty="0"/>
            </a:p>
          </p:txBody>
        </p:sp>
        <p:sp>
          <p:nvSpPr>
            <p:cNvPr id="47" name="Text 40"/>
            <p:cNvSpPr txBox="1"/>
            <p:nvPr/>
          </p:nvSpPr>
          <p:spPr>
            <a:xfrm>
              <a:off x="1266444" y="5892394"/>
              <a:ext cx="21534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68,000人への展開と法務部門での活用。</a:t>
              </a:r>
              <a:endParaRPr lang="en-US" sz="900" dirty="0"/>
            </a:p>
          </p:txBody>
        </p:sp>
        <p:sp>
          <p:nvSpPr>
            <p:cNvPr id="48" name="Text 41"/>
            <p:cNvSpPr txBox="1"/>
            <p:nvPr/>
          </p:nvSpPr>
          <p:spPr>
            <a:xfrm>
              <a:off x="1266444" y="6099962"/>
              <a:ext cx="268925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0078D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microsoft.com/en/customers/story/19346-vodafone...</a:t>
              </a:r>
              <a:endParaRPr lang="en-US" sz="800" dirty="0"/>
            </a:p>
          </p:txBody>
        </p:sp>
        <p:pic>
          <p:nvPicPr>
            <p:cNvPr id="49" name="Image 5" descr="preencoded.png"/>
            <p:cNvPicPr>
              <a:picLocks noChangeAspect="1"/>
            </p:cNvPicPr>
            <p:nvPr/>
          </p:nvPicPr>
          <p:blipFill>
            <a:blip r:embed="rId8"/>
            <a:srcRect l="-33" r="-33"/>
            <a:stretch/>
          </p:blipFill>
          <p:spPr>
            <a:xfrm>
              <a:off x="6305702" y="5753405"/>
              <a:ext cx="171907" cy="152705"/>
            </a:xfrm>
            <a:prstGeom prst="rect">
              <a:avLst/>
            </a:prstGeom>
          </p:spPr>
        </p:pic>
        <p:sp>
          <p:nvSpPr>
            <p:cNvPr id="50" name="Text 42"/>
            <p:cNvSpPr txBox="1"/>
            <p:nvPr/>
          </p:nvSpPr>
          <p:spPr>
            <a:xfrm>
              <a:off x="6601054" y="5667451"/>
              <a:ext cx="15005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事例D: Prague Airport</a:t>
              </a:r>
              <a:endParaRPr lang="en-US" sz="1000" dirty="0"/>
            </a:p>
          </p:txBody>
        </p:sp>
        <p:sp>
          <p:nvSpPr>
            <p:cNvPr id="51" name="Text 43"/>
            <p:cNvSpPr txBox="1"/>
            <p:nvPr/>
          </p:nvSpPr>
          <p:spPr>
            <a:xfrm>
              <a:off x="6601054" y="5892394"/>
              <a:ext cx="23152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週2時間削減とデジタルアンバサダー活用。</a:t>
              </a:r>
              <a:endParaRPr lang="en-US" sz="900" dirty="0"/>
            </a:p>
          </p:txBody>
        </p:sp>
        <p:sp>
          <p:nvSpPr>
            <p:cNvPr id="52" name="Text 44"/>
            <p:cNvSpPr txBox="1"/>
            <p:nvPr/>
          </p:nvSpPr>
          <p:spPr>
            <a:xfrm>
              <a:off x="6601054" y="6099962"/>
              <a:ext cx="295534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0078D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microsoft.com/en/customers/story/24667-prague-airport...</a:t>
              </a:r>
              <a:endParaRPr lang="en-US" sz="800" dirty="0"/>
            </a:p>
          </p:txBody>
        </p:sp>
        <p:pic>
          <p:nvPicPr>
            <p:cNvPr id="53" name="Image 6" descr="preencoded.png"/>
            <p:cNvPicPr>
              <a:picLocks noChangeAspect="1"/>
            </p:cNvPicPr>
            <p:nvPr/>
          </p:nvPicPr>
          <p:blipFill>
            <a:blip r:embed="rId9"/>
            <a:srcRect l="-33" r="-33"/>
            <a:stretch/>
          </p:blipFill>
          <p:spPr>
            <a:xfrm>
              <a:off x="972007" y="6720840"/>
              <a:ext cx="171907" cy="152705"/>
            </a:xfrm>
            <a:prstGeom prst="rect">
              <a:avLst/>
            </a:prstGeom>
          </p:spPr>
        </p:pic>
        <p:sp>
          <p:nvSpPr>
            <p:cNvPr id="54" name="Text 45"/>
            <p:cNvSpPr txBox="1"/>
            <p:nvPr/>
          </p:nvSpPr>
          <p:spPr>
            <a:xfrm>
              <a:off x="1266444" y="6634886"/>
              <a:ext cx="10908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事例E: Ma'aden</a:t>
              </a:r>
              <a:endParaRPr lang="en-US" sz="1000" dirty="0"/>
            </a:p>
          </p:txBody>
        </p:sp>
        <p:sp>
          <p:nvSpPr>
            <p:cNvPr id="55" name="Text 46"/>
            <p:cNvSpPr txBox="1"/>
            <p:nvPr/>
          </p:nvSpPr>
          <p:spPr>
            <a:xfrm>
              <a:off x="1266444" y="6859829"/>
              <a:ext cx="2162556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月2,200時間削減とCopilot Studio統合。</a:t>
              </a:r>
              <a:endParaRPr lang="en-US" sz="900" dirty="0"/>
            </a:p>
          </p:txBody>
        </p:sp>
        <p:sp>
          <p:nvSpPr>
            <p:cNvPr id="56" name="Text 47"/>
            <p:cNvSpPr txBox="1"/>
            <p:nvPr/>
          </p:nvSpPr>
          <p:spPr>
            <a:xfrm>
              <a:off x="1266444" y="7067398"/>
              <a:ext cx="26417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0078D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microsoft.com/en/customers/story/21514-maaden...</a:t>
              </a:r>
              <a:endParaRPr lang="en-US" sz="800" dirty="0"/>
            </a:p>
          </p:txBody>
        </p:sp>
        <p:pic>
          <p:nvPicPr>
            <p:cNvPr id="57" name="Image 7" descr="preencoded.png"/>
            <p:cNvPicPr>
              <a:picLocks noChangeAspect="1"/>
            </p:cNvPicPr>
            <p:nvPr/>
          </p:nvPicPr>
          <p:blipFill>
            <a:blip r:embed="rId10"/>
            <a:srcRect t="-180" b="-180"/>
            <a:stretch/>
          </p:blipFill>
          <p:spPr>
            <a:xfrm>
              <a:off x="6295644" y="6720840"/>
              <a:ext cx="190195" cy="152705"/>
            </a:xfrm>
            <a:prstGeom prst="rect">
              <a:avLst/>
            </a:prstGeom>
          </p:spPr>
        </p:pic>
        <p:sp>
          <p:nvSpPr>
            <p:cNvPr id="58" name="Text 48"/>
            <p:cNvSpPr txBox="1"/>
            <p:nvPr/>
          </p:nvSpPr>
          <p:spPr>
            <a:xfrm>
              <a:off x="6601054" y="6634886"/>
              <a:ext cx="9482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3415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事例F: Capita</a:t>
              </a:r>
              <a:endParaRPr lang="en-US" sz="1000" dirty="0"/>
            </a:p>
          </p:txBody>
        </p:sp>
        <p:sp>
          <p:nvSpPr>
            <p:cNvPr id="59" name="Text 49"/>
            <p:cNvSpPr txBox="1"/>
            <p:nvPr/>
          </p:nvSpPr>
          <p:spPr>
            <a:xfrm>
              <a:off x="6601054" y="6859829"/>
              <a:ext cx="258135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SharePoint横断検索(AMA)とアクセシビリティ。</a:t>
              </a:r>
              <a:endParaRPr lang="en-US" sz="900" dirty="0"/>
            </a:p>
          </p:txBody>
        </p:sp>
        <p:sp>
          <p:nvSpPr>
            <p:cNvPr id="60" name="Text 50"/>
            <p:cNvSpPr txBox="1"/>
            <p:nvPr/>
          </p:nvSpPr>
          <p:spPr>
            <a:xfrm>
              <a:off x="6601054" y="7067398"/>
              <a:ext cx="253654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0078D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microsoft.com/en/customers/story/24350-capita...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1904</Words>
  <Application>Microsoft Office PowerPoint</Application>
  <PresentationFormat>ワイド画面</PresentationFormat>
  <Paragraphs>487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Noto Sans JP</vt:lpstr>
      <vt:lpstr>ui-monospace</vt:lpstr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Ryota</cp:lastModifiedBy>
  <cp:revision>8</cp:revision>
  <dcterms:created xsi:type="dcterms:W3CDTF">2025-12-26T06:23:02Z</dcterms:created>
  <dcterms:modified xsi:type="dcterms:W3CDTF">2025-12-26T06:30:38Z</dcterms:modified>
</cp:coreProperties>
</file>