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58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AB50C91F-C760-428F-8610-257326F8B10F}">
          <p14:sldIdLst>
            <p14:sldId id="256"/>
            <p14:sldId id="257"/>
            <p14:sldId id="259"/>
            <p14:sldId id="260"/>
            <p14:sldId id="261"/>
            <p14:sldId id="262"/>
            <p14:sldId id="264"/>
          </p14:sldIdLst>
        </p14:section>
        <p14:section name="補足" id="{94B1D055-0EDD-4065-8FD1-5978CD649498}">
          <p14:sldIdLst>
            <p14:sldId id="258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06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2.png"/><Relationship Id="rId1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9.jpe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16.png"/><Relationship Id="rId9" Type="http://schemas.openxmlformats.org/officeDocument/2006/relationships/image" Target="../media/image39.jpeg"/><Relationship Id="rId1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>
            <a:spLocks/>
          </p:cNvSpPr>
          <p:nvPr/>
        </p:nvSpPr>
        <p:spPr>
          <a:xfrm>
            <a:off x="761695" y="4129430"/>
            <a:ext cx="9753905" cy="11045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61695" y="1614830"/>
            <a:ext cx="95728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営業提案AI</a:t>
            </a:r>
            <a:r>
              <a:rPr lang="en-US" sz="36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「REACHA」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2348179"/>
            <a:ext cx="33576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検証・実装ロードマップ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1695" y="3109874"/>
            <a:ext cx="761695" cy="38405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61695" y="3471977"/>
            <a:ext cx="86685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営業提案という知的生産活動を </a:t>
            </a:r>
            <a:r>
              <a:rPr lang="en-US" sz="1800" dirty="0" err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段階的にAIへ委譲するための</a:t>
            </a:r>
            <a:r>
              <a:rPr lang="ja-JP" altLang="en-US" sz="18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設計とロードマップ案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695" y="4129430"/>
            <a:ext cx="38405" cy="110459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ja-JP" altLang="en-US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0EEA037-F4AB-47D2-9754-73A77421D873}"/>
              </a:ext>
            </a:extLst>
          </p:cNvPr>
          <p:cNvGrpSpPr/>
          <p:nvPr/>
        </p:nvGrpSpPr>
        <p:grpSpPr>
          <a:xfrm>
            <a:off x="1104595" y="4433926"/>
            <a:ext cx="5274360" cy="561441"/>
            <a:chOff x="1104595" y="4433926"/>
            <a:chExt cx="3977640" cy="496519"/>
          </a:xfrm>
        </p:grpSpPr>
        <p:sp>
          <p:nvSpPr>
            <p:cNvPr id="13" name="Text 11"/>
            <p:cNvSpPr txBox="1"/>
            <p:nvPr/>
          </p:nvSpPr>
          <p:spPr>
            <a:xfrm>
              <a:off x="1104595" y="4433926"/>
              <a:ext cx="5861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Phase 1</a:t>
              </a:r>
              <a:endParaRPr lang="en-US" sz="11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1104595" y="4653382"/>
              <a:ext cx="51480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PoC</a:t>
              </a:r>
              <a:endParaRPr lang="en-US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1699870" y="4539082"/>
              <a:ext cx="333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9CA3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→</a:t>
              </a:r>
              <a:endParaRPr lang="en-US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2004365" y="4433926"/>
              <a:ext cx="5861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Phase 2</a:t>
              </a:r>
              <a:endParaRPr lang="en-US" sz="11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2004365" y="4653382"/>
              <a:ext cx="9052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業務利用</a:t>
              </a:r>
              <a:endParaRPr lang="en-US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2881274" y="4539082"/>
              <a:ext cx="333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9CA3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→</a:t>
              </a:r>
              <a:endParaRPr lang="en-US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3185770" y="4433926"/>
              <a:ext cx="5861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Phase 3</a:t>
              </a:r>
              <a:endParaRPr lang="en-US" sz="11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3185770" y="4653382"/>
              <a:ext cx="9052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構造改革</a:t>
              </a:r>
              <a:endParaRPr lang="en-US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4061765" y="4539082"/>
              <a:ext cx="333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9CA3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→</a:t>
              </a:r>
              <a:endParaRPr lang="en-US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4367174" y="4433926"/>
              <a:ext cx="5861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Phase 4</a:t>
              </a:r>
              <a:endParaRPr lang="en-US" sz="11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4367174" y="4653382"/>
              <a:ext cx="71506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基盤化</a:t>
              </a:r>
              <a:endParaRPr lang="en-US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8695944" y="4548226"/>
            <a:ext cx="9144" cy="26700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181405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448056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ROADMAP OVERVIEW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647395"/>
            <a:ext cx="3072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全体ロードマップ俯瞰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81006" y="866851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1352398"/>
            <a:ext cx="64437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51C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REACHAの進化ステップ：各フェーズの「実現状態」と「具体的成果物」の明確化</a:t>
            </a:r>
            <a:endParaRPr lang="en-US" sz="13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D45FD9FA-FEC8-9B1F-B3F4-4DF1DF88E2A3}"/>
              </a:ext>
            </a:extLst>
          </p:cNvPr>
          <p:cNvGrpSpPr/>
          <p:nvPr/>
        </p:nvGrpSpPr>
        <p:grpSpPr>
          <a:xfrm>
            <a:off x="457352" y="2367789"/>
            <a:ext cx="11277295" cy="3810047"/>
            <a:chOff x="457200" y="1762049"/>
            <a:chExt cx="11277295" cy="4257446"/>
          </a:xfrm>
        </p:grpSpPr>
        <p:sp>
          <p:nvSpPr>
            <p:cNvPr id="10" name="Shape 8"/>
            <p:cNvSpPr/>
            <p:nvPr/>
          </p:nvSpPr>
          <p:spPr>
            <a:xfrm>
              <a:off x="457200" y="1762049"/>
              <a:ext cx="2704795" cy="4257446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50800">
              <a:solidFill>
                <a:srgbClr val="E5E7EB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657454" y="1943100"/>
              <a:ext cx="743407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01</a:t>
              </a:r>
              <a:endParaRPr lang="en-US" sz="3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2581351" y="2104949"/>
              <a:ext cx="390449" cy="228600"/>
            </a:xfrm>
            <a:prstGeom prst="roundRect">
              <a:avLst>
                <a:gd name="adj" fmla="val 66667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2657246" y="2133295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検証</a:t>
              </a:r>
              <a:endParaRPr lang="en-US" sz="9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57454" y="2572207"/>
              <a:ext cx="9866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初期AI検証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57454" y="3133649"/>
              <a:ext cx="2305202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57454" y="2866644"/>
              <a:ext cx="18342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「会議に持っていける叩き」</a:t>
              </a:r>
              <a:endParaRPr lang="en-US" sz="10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57454" y="3247949"/>
              <a:ext cx="7818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主な実現内容</a:t>
              </a:r>
              <a:endParaRPr lang="en-US" sz="9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57454" y="3457346"/>
              <a:ext cx="2382012" cy="185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自社ソリューション</a:t>
              </a: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の</a:t>
              </a:r>
              <a:r>
                <a:rPr lang="ja-JP" alt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みの提案</a:t>
              </a:r>
              <a:r>
                <a:rPr lang="en-US" sz="900" dirty="0" err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を廃止</a:t>
              </a: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。</a:t>
              </a:r>
              <a:endParaRPr lang="en-US" sz="9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57454" y="3642970"/>
              <a:ext cx="2382012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「とりあえずこれを持って会議に出られる」水準のドラフトを生成し、思考の初速を上げる。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57454" y="4867351"/>
              <a:ext cx="2305202" cy="952805"/>
            </a:xfrm>
            <a:prstGeom prst="roundRect">
              <a:avLst>
                <a:gd name="adj" fmla="val 5758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21" name="Image 0" descr="preencoded.png"/>
            <p:cNvPicPr>
              <a:picLocks noChangeAspect="1"/>
            </p:cNvPicPr>
            <p:nvPr/>
          </p:nvPicPr>
          <p:blipFill>
            <a:blip r:embed="rId3"/>
            <a:srcRect l="-133" r="-133"/>
            <a:stretch/>
          </p:blipFill>
          <p:spPr>
            <a:xfrm>
              <a:off x="771754" y="5005426"/>
              <a:ext cx="85954" cy="114300"/>
            </a:xfrm>
            <a:prstGeom prst="rect">
              <a:avLst/>
            </a:prstGeom>
          </p:spPr>
        </p:pic>
        <p:sp>
          <p:nvSpPr>
            <p:cNvPr id="22" name="Text 19"/>
            <p:cNvSpPr txBox="1"/>
            <p:nvPr/>
          </p:nvSpPr>
          <p:spPr>
            <a:xfrm>
              <a:off x="895198" y="4972507"/>
              <a:ext cx="11247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具体的アウトプット</a:t>
              </a:r>
              <a:endParaRPr lang="en-US" sz="900" dirty="0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771754" y="5171846"/>
              <a:ext cx="147675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•Deep Research (事実羅列)</a:t>
              </a:r>
              <a:endParaRPr lang="en-US" sz="90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771754" y="5362956"/>
              <a:ext cx="132405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•提案ドラフト案 (Top 5)</a:t>
              </a:r>
              <a:endParaRPr lang="en-US" sz="900" dirty="0"/>
            </a:p>
          </p:txBody>
        </p:sp>
        <p:sp>
          <p:nvSpPr>
            <p:cNvPr id="25" name="Text 22"/>
            <p:cNvSpPr txBox="1"/>
            <p:nvPr/>
          </p:nvSpPr>
          <p:spPr>
            <a:xfrm>
              <a:off x="771754" y="5553151"/>
              <a:ext cx="8193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•初期論点メモ</a:t>
              </a:r>
              <a:endParaRPr lang="en-US" sz="9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3314700" y="1762049"/>
              <a:ext cx="2704795" cy="4257446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50800">
              <a:solidFill>
                <a:srgbClr val="E5E7EB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3514954" y="1943100"/>
              <a:ext cx="743407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02</a:t>
              </a:r>
              <a:endParaRPr lang="en-US" sz="3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5438851" y="2104949"/>
              <a:ext cx="390449" cy="228600"/>
            </a:xfrm>
            <a:prstGeom prst="roundRect">
              <a:avLst>
                <a:gd name="adj" fmla="val 66667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5514746" y="2133295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実装</a:t>
              </a:r>
              <a:endParaRPr lang="en-US" sz="900" dirty="0"/>
            </a:p>
          </p:txBody>
        </p:sp>
        <p:sp>
          <p:nvSpPr>
            <p:cNvPr id="30" name="Text 27"/>
            <p:cNvSpPr txBox="1"/>
            <p:nvPr/>
          </p:nvSpPr>
          <p:spPr>
            <a:xfrm>
              <a:off x="3514954" y="2572207"/>
              <a:ext cx="1672438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初版実装・業務利用</a:t>
              </a:r>
              <a:endParaRPr lang="en-US" sz="1300" dirty="0"/>
            </a:p>
          </p:txBody>
        </p:sp>
        <p:sp>
          <p:nvSpPr>
            <p:cNvPr id="31" name="Shape 28"/>
            <p:cNvSpPr/>
            <p:nvPr/>
          </p:nvSpPr>
          <p:spPr>
            <a:xfrm>
              <a:off x="3514954" y="3133649"/>
              <a:ext cx="2305202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Text 29"/>
            <p:cNvSpPr txBox="1"/>
            <p:nvPr/>
          </p:nvSpPr>
          <p:spPr>
            <a:xfrm>
              <a:off x="3514954" y="2866644"/>
              <a:ext cx="156728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人</a:t>
              </a:r>
              <a:r>
                <a:rPr lang="ja-JP" altLang="en-US" sz="10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が</a:t>
              </a:r>
              <a:r>
                <a:rPr lang="en-US" sz="10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「選んで磨く」</a:t>
              </a:r>
              <a:endParaRPr lang="en-US" sz="1000" dirty="0"/>
            </a:p>
          </p:txBody>
        </p:sp>
        <p:sp>
          <p:nvSpPr>
            <p:cNvPr id="33" name="Text 30"/>
            <p:cNvSpPr txBox="1"/>
            <p:nvPr/>
          </p:nvSpPr>
          <p:spPr>
            <a:xfrm>
              <a:off x="3514954" y="3247949"/>
              <a:ext cx="7818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主な実現内容</a:t>
              </a:r>
              <a:endParaRPr lang="en-US" sz="900" dirty="0"/>
            </a:p>
          </p:txBody>
        </p:sp>
        <p:sp>
          <p:nvSpPr>
            <p:cNvPr id="34" name="Text 31"/>
            <p:cNvSpPr txBox="1"/>
            <p:nvPr/>
          </p:nvSpPr>
          <p:spPr>
            <a:xfrm>
              <a:off x="3514954" y="3457346"/>
              <a:ext cx="236281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役割を固定化。AIは選択肢を提示し、人が最終判断・修正を行う。</a:t>
              </a:r>
              <a:endParaRPr lang="en-US" sz="900" dirty="0"/>
            </a:p>
          </p:txBody>
        </p:sp>
        <p:sp>
          <p:nvSpPr>
            <p:cNvPr id="35" name="Text 32"/>
            <p:cNvSpPr txBox="1"/>
            <p:nvPr/>
          </p:nvSpPr>
          <p:spPr>
            <a:xfrm>
              <a:off x="3514954" y="3829507"/>
              <a:ext cx="2382012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リサーチ結果などを再利用・編集可能な形式で提供。</a:t>
              </a:r>
              <a:endParaRPr lang="en-US" sz="9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3514954" y="4867351"/>
              <a:ext cx="2305202" cy="952805"/>
            </a:xfrm>
            <a:prstGeom prst="roundRect">
              <a:avLst>
                <a:gd name="adj" fmla="val 5758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37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629254" y="5005426"/>
              <a:ext cx="114300" cy="114300"/>
            </a:xfrm>
            <a:prstGeom prst="rect">
              <a:avLst/>
            </a:prstGeom>
          </p:spPr>
        </p:pic>
        <p:sp>
          <p:nvSpPr>
            <p:cNvPr id="38" name="Text 34"/>
            <p:cNvSpPr txBox="1"/>
            <p:nvPr/>
          </p:nvSpPr>
          <p:spPr>
            <a:xfrm>
              <a:off x="3781044" y="4972507"/>
              <a:ext cx="11247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具体的アウトプット</a:t>
              </a:r>
              <a:endParaRPr lang="en-US" sz="900" dirty="0"/>
            </a:p>
          </p:txBody>
        </p:sp>
        <p:sp>
          <p:nvSpPr>
            <p:cNvPr id="39" name="Text 35"/>
            <p:cNvSpPr txBox="1"/>
            <p:nvPr/>
          </p:nvSpPr>
          <p:spPr>
            <a:xfrm>
              <a:off x="3629254" y="5171846"/>
              <a:ext cx="16194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•編集・再実行可能なリサーチ</a:t>
              </a:r>
              <a:endParaRPr lang="en-US" sz="900" dirty="0"/>
            </a:p>
          </p:txBody>
        </p:sp>
        <p:sp>
          <p:nvSpPr>
            <p:cNvPr id="40" name="Text 36"/>
            <p:cNvSpPr txBox="1"/>
            <p:nvPr/>
          </p:nvSpPr>
          <p:spPr>
            <a:xfrm>
              <a:off x="3629254" y="5362956"/>
              <a:ext cx="12765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•修正指示対応ドラフト</a:t>
              </a:r>
              <a:endParaRPr lang="en-US" sz="900" dirty="0"/>
            </a:p>
          </p:txBody>
        </p:sp>
        <p:sp>
          <p:nvSpPr>
            <p:cNvPr id="41" name="Text 37"/>
            <p:cNvSpPr txBox="1"/>
            <p:nvPr/>
          </p:nvSpPr>
          <p:spPr>
            <a:xfrm>
              <a:off x="3629254" y="5553151"/>
              <a:ext cx="16194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•初期資料アウトライン(PPTX)</a:t>
              </a:r>
              <a:endParaRPr lang="en-US" sz="900" dirty="0"/>
            </a:p>
          </p:txBody>
        </p:sp>
        <p:sp>
          <p:nvSpPr>
            <p:cNvPr id="42" name="Shape 38"/>
            <p:cNvSpPr/>
            <p:nvPr/>
          </p:nvSpPr>
          <p:spPr>
            <a:xfrm>
              <a:off x="6172200" y="1762049"/>
              <a:ext cx="2704795" cy="4257446"/>
            </a:xfrm>
            <a:prstGeom prst="roundRect">
              <a:avLst>
                <a:gd name="adj" fmla="val 952"/>
              </a:avLst>
            </a:prstGeom>
            <a:solidFill>
              <a:srgbClr val="EEF2FF"/>
            </a:solidFill>
            <a:ln w="50800">
              <a:solidFill>
                <a:srgbClr val="4F46E5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Shape 39"/>
            <p:cNvSpPr/>
            <p:nvPr/>
          </p:nvSpPr>
          <p:spPr>
            <a:xfrm>
              <a:off x="7915046" y="1800454"/>
              <a:ext cx="952805" cy="304495"/>
            </a:xfrm>
            <a:prstGeom prst="rect">
              <a:avLst/>
            </a:prstGeom>
            <a:solidFill>
              <a:srgbClr val="4F46E5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Text 40"/>
            <p:cNvSpPr txBox="1"/>
            <p:nvPr/>
          </p:nvSpPr>
          <p:spPr>
            <a:xfrm>
              <a:off x="7991856" y="1837944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KEY POINT</a:t>
              </a:r>
              <a:endParaRPr lang="en-US" sz="1200" dirty="0"/>
            </a:p>
          </p:txBody>
        </p:sp>
        <p:sp>
          <p:nvSpPr>
            <p:cNvPr id="45" name="Text 41"/>
            <p:cNvSpPr txBox="1"/>
            <p:nvPr/>
          </p:nvSpPr>
          <p:spPr>
            <a:xfrm>
              <a:off x="6372454" y="1943100"/>
              <a:ext cx="743407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rgbClr val="4F46E5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03</a:t>
              </a:r>
              <a:endParaRPr lang="en-US" sz="3000" dirty="0"/>
            </a:p>
          </p:txBody>
        </p:sp>
        <p:sp>
          <p:nvSpPr>
            <p:cNvPr id="46" name="Shape 42"/>
            <p:cNvSpPr/>
            <p:nvPr/>
          </p:nvSpPr>
          <p:spPr>
            <a:xfrm>
              <a:off x="8296351" y="2104949"/>
              <a:ext cx="390449" cy="228600"/>
            </a:xfrm>
            <a:prstGeom prst="roundRect">
              <a:avLst>
                <a:gd name="adj" fmla="val 66667"/>
              </a:avLst>
            </a:prstGeom>
            <a:solidFill>
              <a:srgbClr val="E0E7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Text 43"/>
            <p:cNvSpPr txBox="1"/>
            <p:nvPr/>
          </p:nvSpPr>
          <p:spPr>
            <a:xfrm>
              <a:off x="8372246" y="2133295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730A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改革</a:t>
              </a:r>
              <a:endParaRPr lang="en-US" sz="900" dirty="0"/>
            </a:p>
          </p:txBody>
        </p:sp>
        <p:sp>
          <p:nvSpPr>
            <p:cNvPr id="48" name="Text 44"/>
            <p:cNvSpPr txBox="1"/>
            <p:nvPr/>
          </p:nvSpPr>
          <p:spPr>
            <a:xfrm>
              <a:off x="6372454" y="2572207"/>
              <a:ext cx="11576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312E8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業務構造改革</a:t>
              </a:r>
              <a:endParaRPr lang="en-US" sz="1300" dirty="0"/>
            </a:p>
          </p:txBody>
        </p:sp>
        <p:sp>
          <p:nvSpPr>
            <p:cNvPr id="49" name="Shape 45"/>
            <p:cNvSpPr/>
            <p:nvPr/>
          </p:nvSpPr>
          <p:spPr>
            <a:xfrm>
              <a:off x="6372454" y="3133649"/>
              <a:ext cx="2305202" cy="9144"/>
            </a:xfrm>
            <a:prstGeom prst="rect">
              <a:avLst/>
            </a:prstGeom>
            <a:solidFill>
              <a:srgbClr val="C7D2FE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46"/>
            <p:cNvSpPr txBox="1"/>
            <p:nvPr/>
          </p:nvSpPr>
          <p:spPr>
            <a:xfrm>
              <a:off x="6372454" y="2866644"/>
              <a:ext cx="16623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338C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AI主導のPDCA・自律提案</a:t>
              </a:r>
              <a:endParaRPr lang="en-US" sz="1000" dirty="0"/>
            </a:p>
          </p:txBody>
        </p:sp>
        <p:sp>
          <p:nvSpPr>
            <p:cNvPr id="51" name="Text 47"/>
            <p:cNvSpPr txBox="1"/>
            <p:nvPr/>
          </p:nvSpPr>
          <p:spPr>
            <a:xfrm>
              <a:off x="6372454" y="3247949"/>
              <a:ext cx="7818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366F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主な実現内容</a:t>
              </a:r>
              <a:endParaRPr lang="en-US" sz="900" dirty="0"/>
            </a:p>
          </p:txBody>
        </p:sp>
        <p:sp>
          <p:nvSpPr>
            <p:cNvPr id="52" name="Text 48"/>
            <p:cNvSpPr txBox="1"/>
            <p:nvPr/>
          </p:nvSpPr>
          <p:spPr>
            <a:xfrm>
              <a:off x="6372454" y="3457346"/>
              <a:ext cx="8961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12E8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ここが転換点。</a:t>
              </a:r>
              <a:endParaRPr lang="en-US" sz="900" dirty="0"/>
            </a:p>
          </p:txBody>
        </p:sp>
        <p:sp>
          <p:nvSpPr>
            <p:cNvPr id="53" name="Text 49"/>
            <p:cNvSpPr txBox="1"/>
            <p:nvPr/>
          </p:nvSpPr>
          <p:spPr>
            <a:xfrm>
              <a:off x="6372454" y="3642970"/>
              <a:ext cx="2371954" cy="534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12E8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過去の成否データをAIが学習し、「もっとこうすべき」という改善案や成功確率を自律的に提示する。</a:t>
              </a:r>
              <a:endParaRPr lang="en-US" sz="900" dirty="0"/>
            </a:p>
          </p:txBody>
        </p:sp>
        <p:sp>
          <p:nvSpPr>
            <p:cNvPr id="54" name="Shape 50"/>
            <p:cNvSpPr/>
            <p:nvPr/>
          </p:nvSpPr>
          <p:spPr>
            <a:xfrm>
              <a:off x="6372454" y="4867351"/>
              <a:ext cx="2305202" cy="952805"/>
            </a:xfrm>
            <a:prstGeom prst="roundRect">
              <a:avLst>
                <a:gd name="adj" fmla="val 5758"/>
              </a:avLst>
            </a:prstGeom>
            <a:solidFill>
              <a:srgbClr val="E0E7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55" name="Image 2" descr="preencoded.png"/>
            <p:cNvPicPr>
              <a:picLocks noChangeAspect="1"/>
            </p:cNvPicPr>
            <p:nvPr/>
          </p:nvPicPr>
          <p:blipFill>
            <a:blip r:embed="rId5"/>
            <a:srcRect t="-80" b="-80"/>
            <a:stretch/>
          </p:blipFill>
          <p:spPr>
            <a:xfrm>
              <a:off x="6486754" y="5005426"/>
              <a:ext cx="142646" cy="114300"/>
            </a:xfrm>
            <a:prstGeom prst="rect">
              <a:avLst/>
            </a:prstGeom>
          </p:spPr>
        </p:pic>
        <p:sp>
          <p:nvSpPr>
            <p:cNvPr id="56" name="Text 51"/>
            <p:cNvSpPr txBox="1"/>
            <p:nvPr/>
          </p:nvSpPr>
          <p:spPr>
            <a:xfrm>
              <a:off x="6667805" y="4972507"/>
              <a:ext cx="11247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730A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具体的アウトプット</a:t>
              </a:r>
              <a:endParaRPr lang="en-US" sz="900" dirty="0"/>
            </a:p>
          </p:txBody>
        </p:sp>
        <p:sp>
          <p:nvSpPr>
            <p:cNvPr id="57" name="Text 52"/>
            <p:cNvSpPr txBox="1"/>
            <p:nvPr/>
          </p:nvSpPr>
          <p:spPr>
            <a:xfrm>
              <a:off x="6486754" y="5171846"/>
              <a:ext cx="165780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12E8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✓自律改善された提案ドラフト</a:t>
              </a:r>
              <a:endParaRPr lang="en-US" sz="900" dirty="0"/>
            </a:p>
          </p:txBody>
        </p:sp>
        <p:sp>
          <p:nvSpPr>
            <p:cNvPr id="58" name="Text 53"/>
            <p:cNvSpPr txBox="1"/>
            <p:nvPr/>
          </p:nvSpPr>
          <p:spPr>
            <a:xfrm>
              <a:off x="6486754" y="5362956"/>
              <a:ext cx="165780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12E8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✓過去提案との比較・勝率予測</a:t>
              </a:r>
              <a:endParaRPr lang="en-US" sz="900" dirty="0"/>
            </a:p>
          </p:txBody>
        </p:sp>
        <p:sp>
          <p:nvSpPr>
            <p:cNvPr id="59" name="Text 54"/>
            <p:cNvSpPr txBox="1"/>
            <p:nvPr/>
          </p:nvSpPr>
          <p:spPr>
            <a:xfrm>
              <a:off x="6486754" y="5553151"/>
              <a:ext cx="171450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12E8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✓次アクション推奨 (Go/No-Go)</a:t>
              </a:r>
              <a:endParaRPr lang="en-US" sz="900" dirty="0"/>
            </a:p>
          </p:txBody>
        </p:sp>
        <p:sp>
          <p:nvSpPr>
            <p:cNvPr id="60" name="Shape 55"/>
            <p:cNvSpPr/>
            <p:nvPr/>
          </p:nvSpPr>
          <p:spPr>
            <a:xfrm>
              <a:off x="9029700" y="1762049"/>
              <a:ext cx="2704795" cy="4257446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50800">
              <a:solidFill>
                <a:srgbClr val="E5E7EB"/>
              </a:solidFill>
              <a:prstDash val="solid"/>
            </a:ln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1" name="Text 56"/>
            <p:cNvSpPr txBox="1"/>
            <p:nvPr/>
          </p:nvSpPr>
          <p:spPr>
            <a:xfrm>
              <a:off x="9229954" y="1943100"/>
              <a:ext cx="743407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04</a:t>
              </a:r>
              <a:endParaRPr lang="en-US" sz="3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Shape 57"/>
            <p:cNvSpPr/>
            <p:nvPr/>
          </p:nvSpPr>
          <p:spPr>
            <a:xfrm>
              <a:off x="11153851" y="2104949"/>
              <a:ext cx="390449" cy="228600"/>
            </a:xfrm>
            <a:prstGeom prst="roundRect">
              <a:avLst>
                <a:gd name="adj" fmla="val 66667"/>
              </a:avLst>
            </a:prstGeom>
            <a:solidFill>
              <a:srgbClr val="ECFDF5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Text 58"/>
            <p:cNvSpPr txBox="1"/>
            <p:nvPr/>
          </p:nvSpPr>
          <p:spPr>
            <a:xfrm>
              <a:off x="11229746" y="2133295"/>
              <a:ext cx="3246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65F4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基盤</a:t>
              </a:r>
              <a:endParaRPr lang="en-US" sz="900" dirty="0"/>
            </a:p>
          </p:txBody>
        </p:sp>
        <p:sp>
          <p:nvSpPr>
            <p:cNvPr id="64" name="Text 59"/>
            <p:cNvSpPr txBox="1"/>
            <p:nvPr/>
          </p:nvSpPr>
          <p:spPr>
            <a:xfrm>
              <a:off x="9229954" y="2572207"/>
              <a:ext cx="1157630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82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社内本格導入</a:t>
              </a:r>
              <a:endParaRPr lang="en-US" sz="1300" dirty="0"/>
            </a:p>
          </p:txBody>
        </p:sp>
        <p:sp>
          <p:nvSpPr>
            <p:cNvPr id="65" name="Shape 60"/>
            <p:cNvSpPr/>
            <p:nvPr/>
          </p:nvSpPr>
          <p:spPr>
            <a:xfrm>
              <a:off x="9229954" y="3133649"/>
              <a:ext cx="2305202" cy="9144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6" name="Text 61"/>
            <p:cNvSpPr txBox="1"/>
            <p:nvPr/>
          </p:nvSpPr>
          <p:spPr>
            <a:xfrm>
              <a:off x="9229954" y="2866644"/>
              <a:ext cx="14337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 err="1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基盤として内製化</a:t>
              </a:r>
              <a:endParaRPr lang="en-US" sz="1000" dirty="0"/>
            </a:p>
          </p:txBody>
        </p:sp>
        <p:sp>
          <p:nvSpPr>
            <p:cNvPr id="67" name="Text 62"/>
            <p:cNvSpPr txBox="1"/>
            <p:nvPr/>
          </p:nvSpPr>
          <p:spPr>
            <a:xfrm>
              <a:off x="9229954" y="3247949"/>
              <a:ext cx="7818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主な実現内容</a:t>
              </a:r>
              <a:endParaRPr lang="en-US" sz="900" dirty="0"/>
            </a:p>
          </p:txBody>
        </p:sp>
        <p:sp>
          <p:nvSpPr>
            <p:cNvPr id="68" name="Text 63"/>
            <p:cNvSpPr txBox="1"/>
            <p:nvPr/>
          </p:nvSpPr>
          <p:spPr>
            <a:xfrm>
              <a:off x="9229954" y="3457346"/>
              <a:ext cx="2257654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一過性のツールではなく、組織のインフラへ。</a:t>
              </a:r>
              <a:endParaRPr lang="en-US" sz="900" dirty="0"/>
            </a:p>
          </p:txBody>
        </p:sp>
        <p:sp>
          <p:nvSpPr>
            <p:cNvPr id="69" name="Text 64"/>
            <p:cNvSpPr txBox="1"/>
            <p:nvPr/>
          </p:nvSpPr>
          <p:spPr>
            <a:xfrm>
              <a:off x="9229954" y="3829507"/>
              <a:ext cx="2305202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専用DBとパイプラインを構築し、全社の暗黙知を構造化データとして循環させる。</a:t>
              </a:r>
              <a:endParaRPr lang="en-US" sz="900" dirty="0"/>
            </a:p>
          </p:txBody>
        </p:sp>
        <p:sp>
          <p:nvSpPr>
            <p:cNvPr id="70" name="Shape 65"/>
            <p:cNvSpPr/>
            <p:nvPr/>
          </p:nvSpPr>
          <p:spPr>
            <a:xfrm>
              <a:off x="9229954" y="4867351"/>
              <a:ext cx="2305202" cy="952805"/>
            </a:xfrm>
            <a:prstGeom prst="roundRect">
              <a:avLst>
                <a:gd name="adj" fmla="val 5758"/>
              </a:avLst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71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344254" y="5005426"/>
              <a:ext cx="114300" cy="114300"/>
            </a:xfrm>
            <a:prstGeom prst="rect">
              <a:avLst/>
            </a:prstGeom>
          </p:spPr>
        </p:pic>
        <p:sp>
          <p:nvSpPr>
            <p:cNvPr id="72" name="Text 66"/>
            <p:cNvSpPr txBox="1"/>
            <p:nvPr/>
          </p:nvSpPr>
          <p:spPr>
            <a:xfrm>
              <a:off x="9496044" y="4972507"/>
              <a:ext cx="11247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51C2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具体的アウトプット</a:t>
              </a:r>
              <a:endParaRPr lang="en-US" sz="900" dirty="0"/>
            </a:p>
          </p:txBody>
        </p:sp>
        <p:sp>
          <p:nvSpPr>
            <p:cNvPr id="73" name="Text 67"/>
            <p:cNvSpPr txBox="1"/>
            <p:nvPr/>
          </p:nvSpPr>
          <p:spPr>
            <a:xfrm>
              <a:off x="9344254" y="5171846"/>
              <a:ext cx="154350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•社内ベクトルDB・ナレッジ</a:t>
              </a:r>
              <a:endParaRPr lang="en-US" sz="900" dirty="0"/>
            </a:p>
          </p:txBody>
        </p:sp>
        <p:sp>
          <p:nvSpPr>
            <p:cNvPr id="74" name="Text 68"/>
            <p:cNvSpPr txBox="1"/>
            <p:nvPr/>
          </p:nvSpPr>
          <p:spPr>
            <a:xfrm>
              <a:off x="9344254" y="5362956"/>
              <a:ext cx="16194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•自動データ蓄積パイプライン</a:t>
              </a:r>
              <a:endParaRPr lang="en-US" sz="900" dirty="0"/>
            </a:p>
          </p:txBody>
        </p:sp>
        <p:sp>
          <p:nvSpPr>
            <p:cNvPr id="75" name="Text 69"/>
            <p:cNvSpPr txBox="1"/>
            <p:nvPr/>
          </p:nvSpPr>
          <p:spPr>
            <a:xfrm>
              <a:off x="9344254" y="5553151"/>
              <a:ext cx="1448410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•全社PDCAダッシュボード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27650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495"/>
            <a:ext cx="69494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90295" y="33375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19986" y="333756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INITIAL VERIFICATION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33095"/>
            <a:ext cx="44723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フェーズ①：初期AI検証フェーズ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933602"/>
            <a:ext cx="427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1C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― PoCだが実務基準：会議に持っていける「叩き」の創出 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81006" y="1000354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19379" y="1419149"/>
            <a:ext cx="105156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1695" y="1380744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フェーズ目的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666951"/>
            <a:ext cx="3685946" cy="705002"/>
          </a:xfrm>
          <a:prstGeom prst="rect">
            <a:avLst/>
          </a:prstGeom>
          <a:solidFill>
            <a:srgbClr val="EFF6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1666951"/>
            <a:ext cx="38405" cy="705002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9905" y="1790395"/>
            <a:ext cx="346283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AIアウトプットが単なる情報整理ではなく、 「営業提案検討を前に進める水準」 にあるかを厳密に検証する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69003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5696" y="1419149"/>
            <a:ext cx="114300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73498" y="1380744"/>
            <a:ext cx="948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検証ポイント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69003" y="1666951"/>
            <a:ext cx="7372807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4492447" y="1828800"/>
            <a:ext cx="105156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73498" y="1790395"/>
            <a:ext cx="3024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表層的な業界分析に留まらず、深い洞察があるか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203997" y="1828800"/>
            <a:ext cx="105156" cy="1143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85048" y="1790395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人の行動（初速・思考漏れ防止）が変わるか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4492447" y="2095805"/>
            <a:ext cx="105156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73498" y="2057400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「その会社への必然性」がある切り口か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203997" y="2095805"/>
            <a:ext cx="105156" cy="1143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385048" y="2057400"/>
            <a:ext cx="2367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若手人材でも一定水準に到達できるか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254349" y="2523744"/>
            <a:ext cx="5597551" cy="2276856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l="4961" t="18210" r="4328" b="21151"/>
          <a:stretch>
            <a:fillRect/>
          </a:stretch>
        </p:blipFill>
        <p:spPr>
          <a:xfrm>
            <a:off x="3460750" y="2710219"/>
            <a:ext cx="5307254" cy="199570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57200" y="4953305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 l="-1911" r="-1911"/>
          <a:stretch/>
        </p:blipFill>
        <p:spPr>
          <a:xfrm>
            <a:off x="504749" y="5009998"/>
            <a:ext cx="133502" cy="1143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61695" y="4972507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成果定義・具体的アウトプット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457200" y="5257800"/>
            <a:ext cx="11277295" cy="1067105"/>
          </a:xfrm>
          <a:prstGeom prst="roundRect">
            <a:avLst>
              <a:gd name="adj" fmla="val 6121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13" r="-13"/>
          <a:stretch/>
        </p:blipFill>
        <p:spPr>
          <a:xfrm>
            <a:off x="11048695" y="5410505"/>
            <a:ext cx="914400" cy="1218895"/>
          </a:xfrm>
          <a:prstGeom prst="rect">
            <a:avLst/>
          </a:prstGeom>
        </p:spPr>
      </p:pic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6BE8C797-B06B-358F-5558-70126E8A1095}"/>
              </a:ext>
            </a:extLst>
          </p:cNvPr>
          <p:cNvGrpSpPr/>
          <p:nvPr/>
        </p:nvGrpSpPr>
        <p:grpSpPr>
          <a:xfrm>
            <a:off x="3053181" y="2499602"/>
            <a:ext cx="961949" cy="237744"/>
            <a:chOff x="619049" y="2657246"/>
            <a:chExt cx="961949" cy="237744"/>
          </a:xfrm>
        </p:grpSpPr>
        <p:sp>
          <p:nvSpPr>
            <p:cNvPr id="40" name="Shape 29"/>
            <p:cNvSpPr/>
            <p:nvPr/>
          </p:nvSpPr>
          <p:spPr>
            <a:xfrm>
              <a:off x="619049" y="2657246"/>
              <a:ext cx="961949" cy="237744"/>
            </a:xfrm>
            <a:prstGeom prst="roundRect">
              <a:avLst>
                <a:gd name="adj" fmla="val 384615"/>
              </a:avLst>
            </a:prstGeom>
            <a:solidFill>
              <a:srgbClr val="1F2937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41" name="Image 9" descr="preencoded.png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33349" y="2728570"/>
              <a:ext cx="114300" cy="114300"/>
            </a:xfrm>
            <a:prstGeom prst="rect">
              <a:avLst/>
            </a:prstGeom>
          </p:spPr>
        </p:pic>
        <p:sp>
          <p:nvSpPr>
            <p:cNvPr id="42" name="Text 30"/>
            <p:cNvSpPr txBox="1"/>
            <p:nvPr/>
          </p:nvSpPr>
          <p:spPr>
            <a:xfrm>
              <a:off x="886054" y="2695651"/>
              <a:ext cx="667512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実装フロー</a:t>
              </a:r>
              <a:endParaRPr lang="en-US" sz="900" dirty="0"/>
            </a:p>
          </p:txBody>
        </p:sp>
      </p:grpSp>
      <p:sp>
        <p:nvSpPr>
          <p:cNvPr id="43" name="Shape 31"/>
          <p:cNvSpPr/>
          <p:nvPr/>
        </p:nvSpPr>
        <p:spPr>
          <a:xfrm>
            <a:off x="4981651" y="5372100"/>
            <a:ext cx="9144" cy="91440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647395" y="5381244"/>
            <a:ext cx="105156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85800" y="5600700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Deep Research （詳細リサーチ）</a:t>
            </a:r>
            <a:endParaRPr lang="en-US" sz="1000" dirty="0"/>
          </a:p>
        </p:txBody>
      </p:sp>
      <p:sp>
        <p:nvSpPr>
          <p:cNvPr id="46" name="Text 33"/>
          <p:cNvSpPr txBox="1"/>
          <p:nvPr/>
        </p:nvSpPr>
        <p:spPr>
          <a:xfrm>
            <a:off x="685800" y="5848502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提案ドラフト (Top 5)</a:t>
            </a:r>
            <a:endParaRPr lang="en-US" sz="1000" dirty="0"/>
          </a:p>
        </p:txBody>
      </p:sp>
      <p:sp>
        <p:nvSpPr>
          <p:cNvPr id="47" name="Text 34"/>
          <p:cNvSpPr txBox="1"/>
          <p:nvPr/>
        </p:nvSpPr>
        <p:spPr>
          <a:xfrm>
            <a:off x="685800" y="6096305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初期論点メモ</a:t>
            </a:r>
            <a:endParaRPr lang="en-US" sz="1000" dirty="0"/>
          </a:p>
        </p:txBody>
      </p:sp>
      <p:sp>
        <p:nvSpPr>
          <p:cNvPr id="48" name="Text 35"/>
          <p:cNvSpPr txBox="1"/>
          <p:nvPr/>
        </p:nvSpPr>
        <p:spPr>
          <a:xfrm>
            <a:off x="828446" y="5362956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具体的アウトプット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8296351" y="5372100"/>
            <a:ext cx="9144" cy="91440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143500" y="5617159"/>
            <a:ext cx="133502" cy="1335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5352898" y="5597957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到達状態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5143500" y="5817413"/>
            <a:ext cx="3081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会議に持っていける 「叩き台」が出る</a:t>
            </a:r>
            <a:endParaRPr lang="en-US" sz="13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2"/>
          <a:srcRect l="-2512" r="-2512"/>
          <a:stretch/>
        </p:blipFill>
        <p:spPr>
          <a:xfrm>
            <a:off x="8534095" y="5505602"/>
            <a:ext cx="105156" cy="133502"/>
          </a:xfrm>
          <a:prstGeom prst="rect">
            <a:avLst/>
          </a:prstGeom>
        </p:spPr>
      </p:pic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534095" y="5762549"/>
            <a:ext cx="105156" cy="1143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715146" y="5724144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提案検討のゼロベース廃止</a:t>
            </a:r>
            <a:endParaRPr lang="en-US" sz="10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8534095" y="6010351"/>
            <a:ext cx="105156" cy="11430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715146" y="5971946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論点の明確化</a:t>
            </a:r>
            <a:endParaRPr lang="en-US" sz="1000" dirty="0"/>
          </a:p>
        </p:txBody>
      </p:sp>
      <p:sp>
        <p:nvSpPr>
          <p:cNvPr id="58" name="Text 41"/>
          <p:cNvSpPr txBox="1"/>
          <p:nvPr/>
        </p:nvSpPr>
        <p:spPr>
          <a:xfrm>
            <a:off x="8715146" y="5486400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ビジネス価値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27650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495"/>
            <a:ext cx="69494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90295" y="33375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19986" y="333756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IMPLEMENTATION &amp; USAGE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33095"/>
            <a:ext cx="56153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フェーズ②：初版実装・業務利用フェーズ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933602"/>
            <a:ext cx="2009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1C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― 人主導・AI補助の固定 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81006" y="1000354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19379" y="1419149"/>
            <a:ext cx="105156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1695" y="1380744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フェーズ目的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666951"/>
            <a:ext cx="3685946" cy="1086307"/>
          </a:xfrm>
          <a:prstGeom prst="rect">
            <a:avLst/>
          </a:prstGeom>
          <a:solidFill>
            <a:srgbClr val="EFF6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1666951"/>
            <a:ext cx="38405" cy="1086307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9905" y="1790395"/>
            <a:ext cx="345368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PoCを業務レベルへ拡張し、AIが生成した案を 人が「選んで磨く」役割分担を固定 することで、実務運用を開始する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69003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4411980" y="1419149"/>
            <a:ext cx="142646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73498" y="1380744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具体的アウトプット・実現内容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69003" y="1666951"/>
            <a:ext cx="7372807" cy="1086307"/>
          </a:xfrm>
          <a:prstGeom prst="roundRect">
            <a:avLst>
              <a:gd name="adj" fmla="val 295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92447" y="1828800"/>
            <a:ext cx="114300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82642" y="1790395"/>
            <a:ext cx="32817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編集可能なDeep Research人による加筆・条件変更での再実行が可能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03997" y="1828800"/>
            <a:ext cx="114300" cy="1143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95106" y="1790395"/>
            <a:ext cx="33009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修正指示対応ドラフト(Top5)指示に基づく再生成・微修正が可能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4492447" y="2286000"/>
            <a:ext cx="85954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4296" y="2247595"/>
            <a:ext cx="33101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資料アウトライン(PPTX)そのまま資料化可能な構成案を出力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8203997" y="2286000"/>
            <a:ext cx="142646" cy="1143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423453" y="2247595"/>
            <a:ext cx="3148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安全な権限設計AIは学習せず、判断は全て人が行う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2463801" y="2905049"/>
            <a:ext cx="6981038" cy="2305202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3728" t="27050" r="4223" b="20149"/>
          <a:stretch>
            <a:fillRect/>
          </a:stretch>
        </p:blipFill>
        <p:spPr>
          <a:xfrm>
            <a:off x="2952293" y="3103592"/>
            <a:ext cx="6187592" cy="199647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57200" y="5238598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l="-1911" r="-1911"/>
          <a:stretch/>
        </p:blipFill>
        <p:spPr>
          <a:xfrm>
            <a:off x="504749" y="5296205"/>
            <a:ext cx="133502" cy="1143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61695" y="5257800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成果定義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457200" y="5544007"/>
            <a:ext cx="11277295" cy="780898"/>
          </a:xfrm>
          <a:prstGeom prst="roundRect">
            <a:avLst>
              <a:gd name="adj" fmla="val 11424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 l="-13" r="-13"/>
          <a:stretch/>
        </p:blipFill>
        <p:spPr>
          <a:xfrm>
            <a:off x="10705795" y="5410505"/>
            <a:ext cx="1371600" cy="1218895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897173" y="5743346"/>
            <a:ext cx="9144" cy="381305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27"/>
          <p:cNvSpPr/>
          <p:nvPr/>
        </p:nvSpPr>
        <p:spPr>
          <a:xfrm>
            <a:off x="8284464" y="5743346"/>
            <a:ext cx="9144" cy="381305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ja-JP" altLang="en-US"/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E8709102-D56C-6744-DE3F-EF2E57759908}"/>
              </a:ext>
            </a:extLst>
          </p:cNvPr>
          <p:cNvGrpSpPr/>
          <p:nvPr/>
        </p:nvGrpSpPr>
        <p:grpSpPr>
          <a:xfrm>
            <a:off x="1476299" y="2800807"/>
            <a:ext cx="1981505" cy="237744"/>
            <a:chOff x="1476299" y="2800807"/>
            <a:chExt cx="1981505" cy="237744"/>
          </a:xfrm>
        </p:grpSpPr>
        <p:sp>
          <p:nvSpPr>
            <p:cNvPr id="42" name="Shape 31"/>
            <p:cNvSpPr/>
            <p:nvPr/>
          </p:nvSpPr>
          <p:spPr>
            <a:xfrm>
              <a:off x="1476299" y="2800807"/>
              <a:ext cx="1981505" cy="237744"/>
            </a:xfrm>
            <a:prstGeom prst="roundRect">
              <a:avLst>
                <a:gd name="adj" fmla="val 384615"/>
              </a:avLst>
            </a:prstGeom>
            <a:solidFill>
              <a:srgbClr val="374151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43" name="Image 9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1590599" y="2872130"/>
              <a:ext cx="114300" cy="114300"/>
            </a:xfrm>
            <a:prstGeom prst="rect">
              <a:avLst/>
            </a:prstGeom>
          </p:spPr>
        </p:pic>
        <p:sp>
          <p:nvSpPr>
            <p:cNvPr id="44" name="Text 32"/>
            <p:cNvSpPr txBox="1"/>
            <p:nvPr/>
          </p:nvSpPr>
          <p:spPr>
            <a:xfrm>
              <a:off x="1743304" y="2839212"/>
              <a:ext cx="1686154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実装フロー（修正ループ重視）</a:t>
              </a:r>
              <a:endParaRPr lang="en-US" sz="900" dirty="0"/>
            </a:p>
          </p:txBody>
        </p:sp>
      </p:grpSp>
      <p:sp>
        <p:nvSpPr>
          <p:cNvPr id="45" name="Shape 33"/>
          <p:cNvSpPr/>
          <p:nvPr/>
        </p:nvSpPr>
        <p:spPr>
          <a:xfrm>
            <a:off x="861365" y="57433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5665" y="5857646"/>
            <a:ext cx="152705" cy="15270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356055" y="5695798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48" name="Text 35"/>
          <p:cNvSpPr txBox="1"/>
          <p:nvPr/>
        </p:nvSpPr>
        <p:spPr>
          <a:xfrm>
            <a:off x="1356055" y="5915254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提案準備時間の大幅削減</a:t>
            </a:r>
            <a:endParaRPr lang="en-US" sz="1300" dirty="0"/>
          </a:p>
        </p:txBody>
      </p:sp>
      <p:sp>
        <p:nvSpPr>
          <p:cNvPr id="49" name="Shape 36"/>
          <p:cNvSpPr/>
          <p:nvPr/>
        </p:nvSpPr>
        <p:spPr>
          <a:xfrm>
            <a:off x="4561942" y="57433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4657954" y="5857646"/>
            <a:ext cx="190195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5057546" y="5695798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Focus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5057546" y="5915254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人は「選ぶ・磨く・説明」に集中</a:t>
            </a:r>
            <a:endParaRPr lang="en-US" sz="1300" dirty="0"/>
          </a:p>
        </p:txBody>
      </p:sp>
      <p:sp>
        <p:nvSpPr>
          <p:cNvPr id="53" name="Shape 39"/>
          <p:cNvSpPr/>
          <p:nvPr/>
        </p:nvSpPr>
        <p:spPr>
          <a:xfrm>
            <a:off x="8949233" y="57433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rcRect t="-100" b="-100"/>
          <a:stretch/>
        </p:blipFill>
        <p:spPr>
          <a:xfrm>
            <a:off x="9082735" y="5857646"/>
            <a:ext cx="114300" cy="15270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9444838" y="5695798"/>
            <a:ext cx="557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Quality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9444838" y="5915254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初期品質の底上げを実現</a:t>
            </a:r>
            <a:endParaRPr lang="en-US" sz="1300" dirty="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9114160C-94BB-8C2F-DE74-28C2C9ADBABB}"/>
              </a:ext>
            </a:extLst>
          </p:cNvPr>
          <p:cNvSpPr/>
          <p:nvPr/>
        </p:nvSpPr>
        <p:spPr>
          <a:xfrm>
            <a:off x="9081999" y="2628900"/>
            <a:ext cx="2995396" cy="2584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/>
              <a:t>12/18 </a:t>
            </a:r>
            <a:r>
              <a:rPr kumimoji="1" lang="ja-JP" altLang="en-US" sz="1200" dirty="0"/>
              <a:t>メモ</a:t>
            </a:r>
            <a:endParaRPr kumimoji="1" lang="en-US" altLang="ja-JP" sz="1200" dirty="0"/>
          </a:p>
          <a:p>
            <a:r>
              <a:rPr kumimoji="1" lang="ja-JP" altLang="en-US" sz="1200" dirty="0"/>
              <a:t>以下を整理したうえで全体設計図作る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・人の修正や指示のパターン定義</a:t>
            </a:r>
            <a:endParaRPr kumimoji="1" lang="en-US" altLang="ja-JP" sz="1200" dirty="0"/>
          </a:p>
          <a:p>
            <a:r>
              <a:rPr kumimoji="1" lang="ja-JP" altLang="en-US" sz="1200" dirty="0"/>
              <a:t>　・骨子レベル　→再実行</a:t>
            </a:r>
            <a:endParaRPr kumimoji="1" lang="en-US" altLang="ja-JP" sz="1200" dirty="0"/>
          </a:p>
          <a:p>
            <a:r>
              <a:rPr kumimoji="1" lang="ja-JP" altLang="en-US" sz="1200" dirty="0"/>
              <a:t>　・チャット修正レベル　→個別</a:t>
            </a:r>
            <a:r>
              <a:rPr kumimoji="1" lang="en-US" altLang="ja-JP" sz="1200" dirty="0"/>
              <a:t>LLM</a:t>
            </a:r>
          </a:p>
          <a:p>
            <a:r>
              <a:rPr kumimoji="1" lang="ja-JP" altLang="en-US" sz="1200" dirty="0"/>
              <a:t>　・微修正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最終化　→人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・入力時のオプション</a:t>
            </a:r>
            <a:endParaRPr kumimoji="1" lang="en-US" altLang="ja-JP" sz="1200" dirty="0"/>
          </a:p>
          <a:p>
            <a:r>
              <a:rPr kumimoji="1" lang="ja-JP" altLang="en-US" sz="1200" dirty="0"/>
              <a:t>　・営業企画時に何が必要か</a:t>
            </a:r>
            <a:endParaRPr kumimoji="1" lang="en-US" altLang="ja-JP" sz="1200" dirty="0"/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(</a:t>
            </a:r>
            <a:r>
              <a:rPr kumimoji="1" lang="ja-JP" altLang="en-US" sz="1200" dirty="0"/>
              <a:t>実務担当者とすり合わせつつアジャイル開発か</a:t>
            </a:r>
            <a:r>
              <a:rPr kumimoji="1" lang="en-US" altLang="ja-JP" sz="1200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27650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495"/>
            <a:ext cx="694944" cy="228600"/>
          </a:xfrm>
          <a:prstGeom prst="roundRect">
            <a:avLst>
              <a:gd name="adj" fmla="val 6666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90295" y="33375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19986" y="333756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TRANSFORMATION &amp; PDCA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33095"/>
            <a:ext cx="55293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フェーズ③：業務構造改革・AI主導PDCA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933602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1C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― 経験依存から構造的改善へ：ここがプロジェクトの転換点 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81006" y="1000354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19379" y="1419149"/>
            <a:ext cx="105156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1695" y="1380744"/>
            <a:ext cx="1634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フェーズ目的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666951"/>
            <a:ext cx="3685946" cy="1095451"/>
          </a:xfrm>
          <a:prstGeom prst="rect">
            <a:avLst/>
          </a:prstGeom>
          <a:solidFill>
            <a:srgbClr val="EEF2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1666951"/>
            <a:ext cx="38405" cy="1095451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9905" y="1899209"/>
            <a:ext cx="346283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蓄積された勝敗データを基に、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「AIが自律的に改善案を提示する」 構造へ移行し、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人の経験則を超える勝ち筋を導く。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69003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5696" y="1419149"/>
            <a:ext cx="114300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73498" y="1380744"/>
            <a:ext cx="1776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フェーズ②との決定的違い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69003" y="1666951"/>
            <a:ext cx="7372807" cy="1095451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8"/>
          <p:cNvSpPr/>
          <p:nvPr/>
        </p:nvSpPr>
        <p:spPr>
          <a:xfrm>
            <a:off x="4378147" y="1676095"/>
            <a:ext cx="1476756" cy="107624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9"/>
          <p:cNvSpPr/>
          <p:nvPr/>
        </p:nvSpPr>
        <p:spPr>
          <a:xfrm>
            <a:off x="5845759" y="1676095"/>
            <a:ext cx="9144" cy="10762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0"/>
          <p:cNvSpPr txBox="1"/>
          <p:nvPr/>
        </p:nvSpPr>
        <p:spPr>
          <a:xfrm>
            <a:off x="4454042" y="1986077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ITEM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454042" y="2281428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比較項目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781898" y="1676095"/>
            <a:ext cx="9144" cy="107624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3"/>
          <p:cNvSpPr/>
          <p:nvPr/>
        </p:nvSpPr>
        <p:spPr>
          <a:xfrm>
            <a:off x="5847588" y="1676095"/>
            <a:ext cx="2933395" cy="3145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4"/>
          <p:cNvSpPr/>
          <p:nvPr/>
        </p:nvSpPr>
        <p:spPr>
          <a:xfrm>
            <a:off x="5847588" y="1981505"/>
            <a:ext cx="293339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5"/>
          <p:cNvSpPr txBox="1"/>
          <p:nvPr/>
        </p:nvSpPr>
        <p:spPr>
          <a:xfrm>
            <a:off x="6953098" y="1714500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02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923483" y="205740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修正主体: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8586216" y="2057400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923483" y="228600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改善提案: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8586216" y="2286000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923483" y="2514600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学習: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471916" y="2514600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なし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8786470" y="1676095"/>
            <a:ext cx="2943454" cy="1076249"/>
          </a:xfrm>
          <a:prstGeom prst="rect">
            <a:avLst/>
          </a:prstGeom>
          <a:solidFill>
            <a:srgbClr val="EEF2FF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3"/>
          <p:cNvSpPr/>
          <p:nvPr/>
        </p:nvSpPr>
        <p:spPr>
          <a:xfrm>
            <a:off x="8786470" y="1676095"/>
            <a:ext cx="2943454" cy="314554"/>
          </a:xfrm>
          <a:prstGeom prst="rect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4"/>
          <p:cNvSpPr/>
          <p:nvPr/>
        </p:nvSpPr>
        <p:spPr>
          <a:xfrm>
            <a:off x="8786470" y="1981505"/>
            <a:ext cx="2943454" cy="9144"/>
          </a:xfrm>
          <a:prstGeom prst="rect">
            <a:avLst/>
          </a:prstGeom>
          <a:solidFill>
            <a:srgbClr val="C7D2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5"/>
          <p:cNvSpPr txBox="1"/>
          <p:nvPr/>
        </p:nvSpPr>
        <p:spPr>
          <a:xfrm>
            <a:off x="9644177" y="1714500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30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03 (THIS)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8862365" y="205740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修正主体: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534242" y="2057400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862365" y="2295144"/>
            <a:ext cx="2790749" cy="152705"/>
          </a:xfrm>
          <a:prstGeom prst="roundRect">
            <a:avLst>
              <a:gd name="adj" fmla="val 149700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39"/>
          <p:cNvSpPr txBox="1"/>
          <p:nvPr/>
        </p:nvSpPr>
        <p:spPr>
          <a:xfrm>
            <a:off x="8900770" y="228600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12E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改善提案: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0089490" y="2286000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2E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(自律提示)</a:t>
            </a:r>
            <a:endParaRPr lang="en-US" sz="90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rcRect t="-13533" b="-13533"/>
          <a:stretch/>
        </p:blipFill>
        <p:spPr>
          <a:xfrm>
            <a:off x="11505895" y="2295144"/>
            <a:ext cx="105156" cy="152705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8862365" y="2523744"/>
            <a:ext cx="2790749" cy="152705"/>
          </a:xfrm>
          <a:prstGeom prst="roundRect">
            <a:avLst>
              <a:gd name="adj" fmla="val 149700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2"/>
          <p:cNvSpPr txBox="1"/>
          <p:nvPr/>
        </p:nvSpPr>
        <p:spPr>
          <a:xfrm>
            <a:off x="8900770" y="2514600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12E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学習・PDCA: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10181844" y="2514600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2E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 (AI主導)</a:t>
            </a:r>
            <a:endParaRPr lang="en-US" sz="900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/>
          <a:srcRect t="-13533" b="-13533"/>
          <a:stretch/>
        </p:blipFill>
        <p:spPr>
          <a:xfrm>
            <a:off x="11505895" y="2523744"/>
            <a:ext cx="105156" cy="152705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3114446" y="3024377"/>
            <a:ext cx="5480914" cy="2124151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rcRect l="3980" t="24819" r="3806" b="15610"/>
          <a:stretch>
            <a:fillRect/>
          </a:stretch>
        </p:blipFill>
        <p:spPr>
          <a:xfrm>
            <a:off x="3192956" y="3154223"/>
            <a:ext cx="5342179" cy="1941270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457200" y="5152644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4807" y="5210251"/>
            <a:ext cx="114300" cy="11430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761695" y="517184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具体的アウトプット（AI生成）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457200" y="5458054"/>
            <a:ext cx="2704795" cy="790956"/>
          </a:xfrm>
          <a:prstGeom prst="roundRect">
            <a:avLst>
              <a:gd name="adj" fmla="val 5571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09905" y="5609844"/>
            <a:ext cx="105156" cy="133502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790956" y="558149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30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自律改善された提案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609905" y="5800954"/>
            <a:ext cx="2477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過去の勝因・敗因を反映し、AIが論点や構成を自律的にブラッシュアップしたドラフト。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3314700" y="5458054"/>
            <a:ext cx="2704795" cy="790956"/>
          </a:xfrm>
          <a:prstGeom prst="roundRect">
            <a:avLst>
              <a:gd name="adj" fmla="val 5571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3467405" y="5609844"/>
            <a:ext cx="171907" cy="133502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3715207" y="558149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比較分析レポート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3467405" y="5800954"/>
            <a:ext cx="24862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過去の類似案件との差分を可視化し、今回の提案で強化すべきポイントを指摘。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6172200" y="5458054"/>
            <a:ext cx="2704795" cy="790956"/>
          </a:xfrm>
          <a:prstGeom prst="roundRect">
            <a:avLst>
              <a:gd name="adj" fmla="val 5571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24905" y="5609844"/>
            <a:ext cx="133502" cy="133502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6534302" y="558149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D174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勝率予測（スコア）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6324905" y="5800954"/>
            <a:ext cx="24862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過去データに基づき、現在の提案内容での受注確度（スコア）を算出・提示。</a:t>
            </a:r>
            <a:endParaRPr lang="en-US" sz="900" dirty="0"/>
          </a:p>
        </p:txBody>
      </p:sp>
      <p:sp>
        <p:nvSpPr>
          <p:cNvPr id="67" name="Shape 56"/>
          <p:cNvSpPr/>
          <p:nvPr/>
        </p:nvSpPr>
        <p:spPr>
          <a:xfrm>
            <a:off x="9029700" y="5458054"/>
            <a:ext cx="2704795" cy="790956"/>
          </a:xfrm>
          <a:prstGeom prst="roundRect">
            <a:avLst>
              <a:gd name="adj" fmla="val 5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/>
        </p:blipFill>
        <p:spPr>
          <a:xfrm>
            <a:off x="9182405" y="5609844"/>
            <a:ext cx="105156" cy="133502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9363456" y="558149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次アクション推奨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9182405" y="5800954"/>
            <a:ext cx="24862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勝率を上げるための追加アクションや、撤退すべきかの戦略的サジェスト。</a:t>
            </a:r>
            <a:endParaRPr lang="en-US" sz="900" dirty="0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2BBDE72E-18EC-C16A-EE6E-980854F58776}"/>
              </a:ext>
            </a:extLst>
          </p:cNvPr>
          <p:cNvGrpSpPr/>
          <p:nvPr/>
        </p:nvGrpSpPr>
        <p:grpSpPr>
          <a:xfrm>
            <a:off x="2780689" y="2921051"/>
            <a:ext cx="1371600" cy="237744"/>
            <a:chOff x="619049" y="3010205"/>
            <a:chExt cx="1371600" cy="237744"/>
          </a:xfrm>
        </p:grpSpPr>
        <p:sp>
          <p:nvSpPr>
            <p:cNvPr id="74" name="Shape 62"/>
            <p:cNvSpPr/>
            <p:nvPr/>
          </p:nvSpPr>
          <p:spPr>
            <a:xfrm>
              <a:off x="619049" y="3010205"/>
              <a:ext cx="1371600" cy="237744"/>
            </a:xfrm>
            <a:prstGeom prst="roundRect">
              <a:avLst>
                <a:gd name="adj" fmla="val 384615"/>
              </a:avLst>
            </a:prstGeom>
            <a:solidFill>
              <a:srgbClr val="3730A3"/>
            </a:solidFill>
            <a:ln/>
            <a:effectLst>
              <a:outerShdw blurRad="12700" dist="12700" dir="16200000" algn="bl" rotWithShape="0">
                <a:srgbClr val="000000">
                  <a:alpha val="75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75" name="Image 10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733349" y="3081528"/>
              <a:ext cx="114300" cy="114300"/>
            </a:xfrm>
            <a:prstGeom prst="rect">
              <a:avLst/>
            </a:prstGeom>
          </p:spPr>
        </p:pic>
        <p:sp>
          <p:nvSpPr>
            <p:cNvPr id="76" name="Text 63"/>
            <p:cNvSpPr txBox="1"/>
            <p:nvPr/>
          </p:nvSpPr>
          <p:spPr>
            <a:xfrm>
              <a:off x="886054" y="3047695"/>
              <a:ext cx="10771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AI主導PDCAフロー</a:t>
              </a:r>
              <a:endParaRPr lang="en-US" sz="900" dirty="0"/>
            </a:p>
          </p:txBody>
        </p:sp>
      </p:grp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385BDE2-62DF-A4E8-7FB9-3CD525AFD799}"/>
              </a:ext>
            </a:extLst>
          </p:cNvPr>
          <p:cNvSpPr/>
          <p:nvPr/>
        </p:nvSpPr>
        <p:spPr>
          <a:xfrm>
            <a:off x="9081999" y="3028696"/>
            <a:ext cx="2995396" cy="1905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/>
              <a:t>メモ：</a:t>
            </a:r>
            <a:endParaRPr kumimoji="1" lang="en-US" altLang="ja-JP" sz="1200" dirty="0"/>
          </a:p>
          <a:p>
            <a:r>
              <a:rPr kumimoji="1" lang="ja-JP" altLang="en-US" sz="1200" dirty="0"/>
              <a:t>・結構がっつり</a:t>
            </a:r>
            <a:r>
              <a:rPr kumimoji="1" lang="en-US" altLang="ja-JP" sz="1200" dirty="0"/>
              <a:t>python</a:t>
            </a:r>
            <a:r>
              <a:rPr kumimoji="1" lang="ja-JP" altLang="en-US" sz="1200" dirty="0"/>
              <a:t>開発になりそう今のところ</a:t>
            </a:r>
            <a:endParaRPr kumimoji="1" lang="en-US" altLang="ja-JP" sz="1200" dirty="0"/>
          </a:p>
          <a:p>
            <a:r>
              <a:rPr kumimoji="1" lang="ja-JP" altLang="en-US" sz="1200" dirty="0"/>
              <a:t>　</a:t>
            </a:r>
            <a:r>
              <a:rPr kumimoji="1" lang="en-US" altLang="ja-JP" sz="1200" dirty="0"/>
              <a:t>(</a:t>
            </a:r>
            <a:r>
              <a:rPr kumimoji="1" lang="en-US" altLang="ja-JP" sz="1200" dirty="0" err="1"/>
              <a:t>Dify</a:t>
            </a:r>
            <a:r>
              <a:rPr kumimoji="1" lang="ja-JP" altLang="en-US" sz="1200" dirty="0"/>
              <a:t>のアプデ次第では、、</a:t>
            </a:r>
            <a:r>
              <a:rPr kumimoji="1" lang="en-US" altLang="ja-JP" sz="1200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5"/>
          <p:cNvSpPr/>
          <p:nvPr/>
        </p:nvSpPr>
        <p:spPr>
          <a:xfrm>
            <a:off x="6993331" y="3068726"/>
            <a:ext cx="4633265" cy="2627224"/>
          </a:xfrm>
          <a:prstGeom prst="roundRect">
            <a:avLst>
              <a:gd name="adj" fmla="val 11424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27650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495"/>
            <a:ext cx="694944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90295" y="33375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19986" y="333756"/>
            <a:ext cx="2220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FULL SCALE &amp; INFRASTRUCTURE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33095"/>
            <a:ext cx="61868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フェーズ④：社内本格導入・基盤構築フェーズ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933602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1C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― 営業基盤としての完全内製化 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81006" y="1000354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19379" y="1419149"/>
            <a:ext cx="105156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1695" y="1380744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フェーズ目的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666951"/>
            <a:ext cx="3685946" cy="886054"/>
          </a:xfrm>
          <a:prstGeom prst="rect">
            <a:avLst/>
          </a:prstGeom>
          <a:solidFill>
            <a:srgbClr val="F9FAF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1666951"/>
            <a:ext cx="38405" cy="88605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609905" y="1790395"/>
            <a:ext cx="344363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REACHAを一過性の施策で終わらせず</a:t>
            </a: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「企業の営業基盤（インフラ）」 として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システム的に内製化・定着させる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69003" y="1362456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5696" y="1419149"/>
            <a:ext cx="114300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73498" y="1380744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実装検討要素（システム統合）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69003" y="1666951"/>
            <a:ext cx="7372807" cy="886054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4492447" y="1915668"/>
            <a:ext cx="105156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73498" y="1877263"/>
            <a:ext cx="1748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社内ベクトルDB設計・構築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03997" y="1915668"/>
            <a:ext cx="114300" cy="1143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95106" y="1877263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自動データ蓄積・クレンジングパイプライン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92447" y="2182673"/>
            <a:ext cx="114300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82642" y="2144268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全社PDCA可視化ダッシュボード実装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203997" y="2182673"/>
            <a:ext cx="105156" cy="1143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385048" y="2144268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学習対象・非対象のセキュリティ線引き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7200" y="2698394"/>
            <a:ext cx="6131941" cy="3898088"/>
          </a:xfrm>
          <a:prstGeom prst="roundRect">
            <a:avLst>
              <a:gd name="adj" fmla="val 121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8998" t="11176" r="11492" b="8462"/>
          <a:stretch>
            <a:fillRect/>
          </a:stretch>
        </p:blipFill>
        <p:spPr>
          <a:xfrm>
            <a:off x="757308" y="3185969"/>
            <a:ext cx="5521859" cy="3139393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584DA4C3-8784-CA45-B10F-C1F5961A688A}"/>
              </a:ext>
            </a:extLst>
          </p:cNvPr>
          <p:cNvGrpSpPr/>
          <p:nvPr/>
        </p:nvGrpSpPr>
        <p:grpSpPr>
          <a:xfrm>
            <a:off x="6736384" y="2740761"/>
            <a:ext cx="2233879" cy="228600"/>
            <a:chOff x="457200" y="5238598"/>
            <a:chExt cx="2233879" cy="228600"/>
          </a:xfrm>
        </p:grpSpPr>
        <p:sp>
          <p:nvSpPr>
            <p:cNvPr id="32" name="Shape 23"/>
            <p:cNvSpPr/>
            <p:nvPr/>
          </p:nvSpPr>
          <p:spPr>
            <a:xfrm>
              <a:off x="457200" y="5238598"/>
              <a:ext cx="228600" cy="228600"/>
            </a:xfrm>
            <a:prstGeom prst="roundRect">
              <a:avLst>
                <a:gd name="adj" fmla="val 66667"/>
              </a:avLst>
            </a:prstGeom>
            <a:solidFill>
              <a:srgbClr val="E5E7EB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33" name="Image 7" descr="preencoded.png"/>
            <p:cNvPicPr>
              <a:picLocks noChangeAspect="1"/>
            </p:cNvPicPr>
            <p:nvPr/>
          </p:nvPicPr>
          <p:blipFill>
            <a:blip r:embed="rId10"/>
            <a:srcRect t="-80" b="-80"/>
            <a:stretch/>
          </p:blipFill>
          <p:spPr>
            <a:xfrm>
              <a:off x="500177" y="5296205"/>
              <a:ext cx="142646" cy="114300"/>
            </a:xfrm>
            <a:prstGeom prst="rect">
              <a:avLst/>
            </a:prstGeom>
          </p:spPr>
        </p:pic>
        <p:sp>
          <p:nvSpPr>
            <p:cNvPr id="34" name="Text 24"/>
            <p:cNvSpPr txBox="1"/>
            <p:nvPr/>
          </p:nvSpPr>
          <p:spPr>
            <a:xfrm>
              <a:off x="761695" y="5257800"/>
              <a:ext cx="19293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基盤化の具体的アウトプット</a:t>
              </a:r>
              <a:endParaRPr lang="en-US" sz="1000" dirty="0"/>
            </a:p>
          </p:txBody>
        </p:sp>
      </p:grpSp>
      <p:sp>
        <p:nvSpPr>
          <p:cNvPr id="42" name="Shape 31"/>
          <p:cNvSpPr/>
          <p:nvPr/>
        </p:nvSpPr>
        <p:spPr>
          <a:xfrm>
            <a:off x="619049" y="2830982"/>
            <a:ext cx="1638605" cy="237744"/>
          </a:xfrm>
          <a:prstGeom prst="roundRect">
            <a:avLst>
              <a:gd name="adj" fmla="val 384615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3349" y="2902306"/>
            <a:ext cx="114300" cy="1143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86054" y="2869387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システム基盤統合フロー</a:t>
            </a:r>
            <a:endParaRPr lang="en-US" sz="9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7344351" y="3314581"/>
            <a:ext cx="392142" cy="517216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950078" y="3431647"/>
            <a:ext cx="2476298" cy="28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社内ベクトルDB</a:t>
            </a:r>
            <a:endParaRPr lang="en-US" sz="13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26765" y="4098911"/>
            <a:ext cx="427315" cy="47167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942002" y="4224492"/>
            <a:ext cx="3056198" cy="220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自動データ蓄積パイプライン</a:t>
            </a:r>
            <a:endParaRPr lang="en-US" sz="130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359902" y="4933305"/>
            <a:ext cx="394178" cy="388572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7925661" y="5017337"/>
            <a:ext cx="3237334" cy="220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全社PDCAダッシュボード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963CA07-56F3-5CB6-C7F5-EAC3BAC44AC8}"/>
              </a:ext>
            </a:extLst>
          </p:cNvPr>
          <p:cNvSpPr/>
          <p:nvPr/>
        </p:nvSpPr>
        <p:spPr>
          <a:xfrm>
            <a:off x="1728698" y="1377696"/>
            <a:ext cx="7904251" cy="3873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全体設計図作る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6715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181405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448056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 PREMISES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647395"/>
            <a:ext cx="3072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ロードマップの補足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81006" y="866851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1695" y="1761134"/>
            <a:ext cx="38405" cy="56235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1233" r="-21233"/>
          <a:stretch/>
        </p:blipFill>
        <p:spPr>
          <a:xfrm>
            <a:off x="1104595" y="1794967"/>
            <a:ext cx="190195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1761134"/>
            <a:ext cx="10817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初期段階の原則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04595" y="1989734"/>
            <a:ext cx="6991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初期段階で「AIがすべてを学習・自律改善する」ことは目指さない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695" y="2700223"/>
            <a:ext cx="38405" cy="56235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1233" r="-21233"/>
          <a:stretch/>
        </p:blipFill>
        <p:spPr>
          <a:xfrm>
            <a:off x="1104595" y="2734056"/>
            <a:ext cx="190195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2700223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リスク設計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04595" y="2928823"/>
            <a:ext cx="5877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各フェーズで技術的・組織的リスクを意図的に分離する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761695" y="3639312"/>
            <a:ext cx="38405" cy="56235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31409" r="-31409"/>
          <a:stretch/>
        </p:blipFill>
        <p:spPr>
          <a:xfrm>
            <a:off x="1104595" y="3673145"/>
            <a:ext cx="190195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639312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権限設計：PHASE 1-2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04595" y="3867912"/>
            <a:ext cx="67729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フェーズ②までは人主導／AIは思考支援ツールとして位置づける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761695" y="4578401"/>
            <a:ext cx="38405" cy="56235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6986" r="-6986"/>
          <a:stretch/>
        </p:blipFill>
        <p:spPr>
          <a:xfrm>
            <a:off x="1104595" y="4612234"/>
            <a:ext cx="190195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4578401"/>
            <a:ext cx="1681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権限設計：PHASE 3以降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04595" y="4807001"/>
            <a:ext cx="6001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AI主導の学習・PDCAはフェーズ③以降で初めて解禁する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61695" y="5594299"/>
            <a:ext cx="10668305" cy="543154"/>
          </a:xfrm>
          <a:prstGeom prst="roundRect">
            <a:avLst>
              <a:gd name="adj" fmla="val 1181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3544" y="5794553"/>
            <a:ext cx="152705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90549" y="5765292"/>
            <a:ext cx="9272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これらの前提は、AI導入における「責任所在の不明確化」や「誤学習による品質低下」を防ぐための重要な安全装置（ガードレール）として機能します。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640080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2"/>
          <p:cNvSpPr txBox="1"/>
          <p:nvPr/>
        </p:nvSpPr>
        <p:spPr>
          <a:xfrm>
            <a:off x="457200" y="6548018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2025 REACHA Project Team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379708" y="6548018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537106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432511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990295" y="460858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STRATEGY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51076" y="460858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 THIS ROADMAP?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98602"/>
            <a:ext cx="33576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なぜこの段階設計なのか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127455"/>
            <a:ext cx="37965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― 安全にAIの権限を拡張するための設計思想 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881006" y="1222553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2025-12-18 | Confidential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51660"/>
            <a:ext cx="11277295" cy="1505102"/>
          </a:xfrm>
          <a:prstGeom prst="rect">
            <a:avLst/>
          </a:prstGeom>
          <a:solidFill>
            <a:srgbClr val="EFF6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851660"/>
            <a:ext cx="75895" cy="1505102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3661258"/>
            <a:ext cx="3610051" cy="2428646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3120847" y="3538728"/>
            <a:ext cx="1152144" cy="115214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92194" y="3661258"/>
            <a:ext cx="3610051" cy="2428646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t="-8042" b="-8042"/>
          <a:stretch/>
        </p:blipFill>
        <p:spPr>
          <a:xfrm>
            <a:off x="6778447" y="3469234"/>
            <a:ext cx="1333195" cy="123809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28102" y="3661258"/>
            <a:ext cx="3610051" cy="2428646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/>
        </p:blipFill>
        <p:spPr>
          <a:xfrm>
            <a:off x="10791749" y="3538728"/>
            <a:ext cx="1152144" cy="11521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7200" y="6547104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 txBox="1"/>
          <p:nvPr/>
        </p:nvSpPr>
        <p:spPr>
          <a:xfrm>
            <a:off x="457200" y="6622085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2025 REACHA Project Team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379708" y="662208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Slide 8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38505" y="2156155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CRITICAL POINT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38505" y="2413102"/>
            <a:ext cx="107158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フェーズ②で「学習しない」のは、機能の欠如ではありません。 これは、AI導入で最も多い失敗を回避するための「意図的な安全装置」です。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94944" y="38990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013302"/>
            <a:ext cx="152705" cy="15270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94944" y="5299862"/>
            <a:ext cx="3133649" cy="552298"/>
          </a:xfrm>
          <a:prstGeom prst="roundRect">
            <a:avLst>
              <a:gd name="adj" fmla="val 1141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2"/>
          <p:cNvSpPr txBox="1"/>
          <p:nvPr/>
        </p:nvSpPr>
        <p:spPr>
          <a:xfrm>
            <a:off x="1190549" y="3965753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誤学習の回避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94944" y="4442155"/>
            <a:ext cx="31583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初期の運用が定まっていない段階のデータをAIに学習させると、低品質な提案パターンや誤った相関関係を固定化してしまうリスクがあります。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19302" y="5447081"/>
            <a:ext cx="105156" cy="1143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1949" y="5414162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対策: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819302" y="5414162"/>
            <a:ext cx="2895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人の目で品質担保したデータのみをフェーズ③で学習させる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30852" y="38990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45152" y="4013302"/>
            <a:ext cx="152705" cy="15270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530852" y="5299862"/>
            <a:ext cx="3133649" cy="552298"/>
          </a:xfrm>
          <a:prstGeom prst="roundRect">
            <a:avLst>
              <a:gd name="adj" fmla="val 1141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8"/>
          <p:cNvSpPr txBox="1"/>
          <p:nvPr/>
        </p:nvSpPr>
        <p:spPr>
          <a:xfrm>
            <a:off x="5025542" y="3965753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責任所在の明確化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4530852" y="4442155"/>
            <a:ext cx="316748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「AIが勝手にやった」という状況を防ぎます。フェーズ②までは修正・最終判断を人間に強制することで、提案内容への当事者意識と責任を維持します。</a:t>
            </a:r>
            <a:endParaRPr lang="en-US" sz="10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4654296" y="5447081"/>
            <a:ext cx="105156" cy="1143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4796942" y="5414162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対策: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4654296" y="5414162"/>
            <a:ext cx="28867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AIを「思考ツール」と定義し、自律性を制限する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8365846" y="38990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80146" y="4013302"/>
            <a:ext cx="152705" cy="152705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8365846" y="5451653"/>
            <a:ext cx="3133649" cy="400507"/>
          </a:xfrm>
          <a:prstGeom prst="roundRect">
            <a:avLst>
              <a:gd name="adj" fmla="val 2174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4"/>
          <p:cNvSpPr txBox="1"/>
          <p:nvPr/>
        </p:nvSpPr>
        <p:spPr>
          <a:xfrm>
            <a:off x="8861450" y="3965753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ガバナンスと拡張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8365846" y="4442155"/>
            <a:ext cx="3167482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運用ルールとガバナンスが確立してからAIの権限（学習・提案）を拡張するロードマップにより、組織的な混乱を招くことなくスムーズな導入を実現します。</a:t>
            </a:r>
            <a:endParaRPr lang="en-US" sz="10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490204" y="5599786"/>
            <a:ext cx="105156" cy="1143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632850" y="5565953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対策: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8898941" y="5565953"/>
            <a:ext cx="2371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段階的な権限移譲によるリスクコントロール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769</Words>
  <Application>Microsoft Office PowerPoint</Application>
  <PresentationFormat>ワイド画面</PresentationFormat>
  <Paragraphs>219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Ryota</cp:lastModifiedBy>
  <cp:revision>22</cp:revision>
  <dcterms:created xsi:type="dcterms:W3CDTF">2025-12-18T08:05:40Z</dcterms:created>
  <dcterms:modified xsi:type="dcterms:W3CDTF">2025-12-18T08:28:43Z</dcterms:modified>
</cp:coreProperties>
</file>